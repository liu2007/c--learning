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6" r:id="rId2"/>
    <p:sldId id="257" r:id="rId3"/>
    <p:sldId id="318" r:id="rId4"/>
    <p:sldId id="298" r:id="rId5"/>
    <p:sldId id="319" r:id="rId6"/>
    <p:sldId id="320" r:id="rId7"/>
    <p:sldId id="321" r:id="rId8"/>
    <p:sldId id="322" r:id="rId9"/>
    <p:sldId id="323" r:id="rId10"/>
    <p:sldId id="324" r:id="rId11"/>
    <p:sldId id="325" r:id="rId12"/>
    <p:sldId id="328" r:id="rId13"/>
    <p:sldId id="327" r:id="rId14"/>
    <p:sldId id="326" r:id="rId15"/>
    <p:sldId id="329" r:id="rId16"/>
    <p:sldId id="330" r:id="rId17"/>
    <p:sldId id="331" r:id="rId18"/>
    <p:sldId id="332" r:id="rId19"/>
    <p:sldId id="333" r:id="rId20"/>
    <p:sldId id="315" r:id="rId21"/>
  </p:sldIdLst>
  <p:sldSz cx="9144000" cy="6858000" type="screen4x3"/>
  <p:notesSz cx="6858000" cy="9144000"/>
  <p:embeddedFontLst>
    <p:embeddedFont>
      <p:font typeface="新細明體" panose="020B0604020202020204" charset="-120"/>
      <p:regular r:id="rId24"/>
    </p:embeddedFont>
    <p:embeddedFont>
      <p:font typeface="Calibri" panose="020F0502020204030204" pitchFamily="34" charset="0"/>
      <p:regular r:id="rId25"/>
      <p:bold r:id="rId26"/>
      <p:italic r:id="rId27"/>
      <p:boldItalic r:id="rId28"/>
    </p:embeddedFont>
    <p:embeddedFont>
      <p:font typeface="Consolas" panose="020B0609020204030204" pitchFamily="49" charset="0"/>
      <p:regular r:id="rId29"/>
      <p:bold r:id="rId30"/>
      <p:italic r:id="rId31"/>
      <p:boldItalic r:id="rId32"/>
    </p:embeddedFont>
  </p:embeddedFontLst>
  <p:custDataLst>
    <p:tags r:id="rId3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uck jee Chau (CSD)" initials="CjC(" lastIdx="2" clrIdx="0">
    <p:extLst>
      <p:ext uri="{19B8F6BF-5375-455C-9EA6-DF929625EA0E}">
        <p15:presenceInfo xmlns:p15="http://schemas.microsoft.com/office/powerpoint/2012/main" userId="S::chuckjee.chau@cuhk.edu.hk::7aa7a09e-983f-4214-9e5a-071cbb678e8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99FF"/>
    <a:srgbClr val="FFFFCC"/>
    <a:srgbClr val="750F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13" autoAdjust="0"/>
    <p:restoredTop sz="66055" autoAdjust="0"/>
  </p:normalViewPr>
  <p:slideViewPr>
    <p:cSldViewPr>
      <p:cViewPr varScale="1">
        <p:scale>
          <a:sx n="77" d="100"/>
          <a:sy n="77" d="100"/>
        </p:scale>
        <p:origin x="2448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528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-2244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tags" Target="tags/tag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font" Target="fonts/font5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uck jee Chau (CSD)" userId="7aa7a09e-983f-4214-9e5a-071cbb678e81" providerId="ADAL" clId="{4EB9ABB3-A4B2-1840-9DCE-F90F02926596}"/>
    <pc:docChg chg="undo redo custSel modSld">
      <pc:chgData name="Chuck jee Chau (CSD)" userId="7aa7a09e-983f-4214-9e5a-071cbb678e81" providerId="ADAL" clId="{4EB9ABB3-A4B2-1840-9DCE-F90F02926596}" dt="2019-11-01T03:08:24.250" v="65" actId="20577"/>
      <pc:docMkLst>
        <pc:docMk/>
      </pc:docMkLst>
      <pc:sldChg chg="modSp addCm modCm">
        <pc:chgData name="Chuck jee Chau (CSD)" userId="7aa7a09e-983f-4214-9e5a-071cbb678e81" providerId="ADAL" clId="{4EB9ABB3-A4B2-1840-9DCE-F90F02926596}" dt="2019-11-01T03:00:54.842" v="8"/>
        <pc:sldMkLst>
          <pc:docMk/>
          <pc:sldMk cId="2581181443" sldId="319"/>
        </pc:sldMkLst>
        <pc:spChg chg="mod">
          <ac:chgData name="Chuck jee Chau (CSD)" userId="7aa7a09e-983f-4214-9e5a-071cbb678e81" providerId="ADAL" clId="{4EB9ABB3-A4B2-1840-9DCE-F90F02926596}" dt="2019-11-01T03:00:27.639" v="6" actId="12"/>
          <ac:spMkLst>
            <pc:docMk/>
            <pc:sldMk cId="2581181443" sldId="319"/>
            <ac:spMk id="3" creationId="{00000000-0000-0000-0000-000000000000}"/>
          </ac:spMkLst>
        </pc:spChg>
      </pc:sldChg>
      <pc:sldChg chg="modSp">
        <pc:chgData name="Chuck jee Chau (CSD)" userId="7aa7a09e-983f-4214-9e5a-071cbb678e81" providerId="ADAL" clId="{4EB9ABB3-A4B2-1840-9DCE-F90F02926596}" dt="2019-11-01T03:05:24.676" v="45" actId="12"/>
        <pc:sldMkLst>
          <pc:docMk/>
          <pc:sldMk cId="3604505640" sldId="320"/>
        </pc:sldMkLst>
        <pc:spChg chg="mod">
          <ac:chgData name="Chuck jee Chau (CSD)" userId="7aa7a09e-983f-4214-9e5a-071cbb678e81" providerId="ADAL" clId="{4EB9ABB3-A4B2-1840-9DCE-F90F02926596}" dt="2019-11-01T03:05:24.676" v="45" actId="12"/>
          <ac:spMkLst>
            <pc:docMk/>
            <pc:sldMk cId="3604505640" sldId="320"/>
            <ac:spMk id="3" creationId="{00000000-0000-0000-0000-000000000000}"/>
          </ac:spMkLst>
        </pc:spChg>
      </pc:sldChg>
      <pc:sldChg chg="modSp">
        <pc:chgData name="Chuck jee Chau (CSD)" userId="7aa7a09e-983f-4214-9e5a-071cbb678e81" providerId="ADAL" clId="{4EB9ABB3-A4B2-1840-9DCE-F90F02926596}" dt="2019-11-01T02:59:47.690" v="0" actId="20577"/>
        <pc:sldMkLst>
          <pc:docMk/>
          <pc:sldMk cId="1869893607" sldId="321"/>
        </pc:sldMkLst>
        <pc:spChg chg="mod">
          <ac:chgData name="Chuck jee Chau (CSD)" userId="7aa7a09e-983f-4214-9e5a-071cbb678e81" providerId="ADAL" clId="{4EB9ABB3-A4B2-1840-9DCE-F90F02926596}" dt="2019-11-01T02:59:47.690" v="0" actId="20577"/>
          <ac:spMkLst>
            <pc:docMk/>
            <pc:sldMk cId="1869893607" sldId="321"/>
            <ac:spMk id="3" creationId="{00000000-0000-0000-0000-000000000000}"/>
          </ac:spMkLst>
        </pc:spChg>
      </pc:sldChg>
      <pc:sldChg chg="addSp delSp modSp">
        <pc:chgData name="Chuck jee Chau (CSD)" userId="7aa7a09e-983f-4214-9e5a-071cbb678e81" providerId="ADAL" clId="{4EB9ABB3-A4B2-1840-9DCE-F90F02926596}" dt="2019-11-01T03:05:21.989" v="43" actId="14100"/>
        <pc:sldMkLst>
          <pc:docMk/>
          <pc:sldMk cId="3477919231" sldId="323"/>
        </pc:sldMkLst>
        <pc:spChg chg="mod">
          <ac:chgData name="Chuck jee Chau (CSD)" userId="7aa7a09e-983f-4214-9e5a-071cbb678e81" providerId="ADAL" clId="{4EB9ABB3-A4B2-1840-9DCE-F90F02926596}" dt="2019-11-01T03:05:15.371" v="32" actId="1076"/>
          <ac:spMkLst>
            <pc:docMk/>
            <pc:sldMk cId="3477919231" sldId="323"/>
            <ac:spMk id="13" creationId="{00000000-0000-0000-0000-000000000000}"/>
          </ac:spMkLst>
        </pc:spChg>
        <pc:spChg chg="mod">
          <ac:chgData name="Chuck jee Chau (CSD)" userId="7aa7a09e-983f-4214-9e5a-071cbb678e81" providerId="ADAL" clId="{4EB9ABB3-A4B2-1840-9DCE-F90F02926596}" dt="2019-11-01T03:05:17.508" v="36" actId="1076"/>
          <ac:spMkLst>
            <pc:docMk/>
            <pc:sldMk cId="3477919231" sldId="323"/>
            <ac:spMk id="20" creationId="{00000000-0000-0000-0000-000000000000}"/>
          </ac:spMkLst>
        </pc:spChg>
        <pc:cxnChg chg="add del mod">
          <ac:chgData name="Chuck jee Chau (CSD)" userId="7aa7a09e-983f-4214-9e5a-071cbb678e81" providerId="ADAL" clId="{4EB9ABB3-A4B2-1840-9DCE-F90F02926596}" dt="2019-11-01T03:05:19.004" v="39" actId="11529"/>
          <ac:cxnSpMkLst>
            <pc:docMk/>
            <pc:sldMk cId="3477919231" sldId="323"/>
            <ac:cxnSpMk id="8" creationId="{9BF1D00A-4867-7343-A2F2-042B5D3BEB5B}"/>
          </ac:cxnSpMkLst>
        </pc:cxnChg>
        <pc:cxnChg chg="add del mod">
          <ac:chgData name="Chuck jee Chau (CSD)" userId="7aa7a09e-983f-4214-9e5a-071cbb678e81" providerId="ADAL" clId="{4EB9ABB3-A4B2-1840-9DCE-F90F02926596}" dt="2019-11-01T03:05:21.989" v="43" actId="14100"/>
          <ac:cxnSpMkLst>
            <pc:docMk/>
            <pc:sldMk cId="3477919231" sldId="323"/>
            <ac:cxnSpMk id="67" creationId="{00000000-0000-0000-0000-000000000000}"/>
          </ac:cxnSpMkLst>
        </pc:cxnChg>
        <pc:cxnChg chg="mod">
          <ac:chgData name="Chuck jee Chau (CSD)" userId="7aa7a09e-983f-4214-9e5a-071cbb678e81" providerId="ADAL" clId="{4EB9ABB3-A4B2-1840-9DCE-F90F02926596}" dt="2019-11-01T03:05:20.829" v="41" actId="14100"/>
          <ac:cxnSpMkLst>
            <pc:docMk/>
            <pc:sldMk cId="3477919231" sldId="323"/>
            <ac:cxnSpMk id="68" creationId="{00000000-0000-0000-0000-000000000000}"/>
          </ac:cxnSpMkLst>
        </pc:cxnChg>
        <pc:cxnChg chg="mod">
          <ac:chgData name="Chuck jee Chau (CSD)" userId="7aa7a09e-983f-4214-9e5a-071cbb678e81" providerId="ADAL" clId="{4EB9ABB3-A4B2-1840-9DCE-F90F02926596}" dt="2019-11-01T03:05:16.037" v="33" actId="14100"/>
          <ac:cxnSpMkLst>
            <pc:docMk/>
            <pc:sldMk cId="3477919231" sldId="323"/>
            <ac:cxnSpMk id="69" creationId="{00000000-0000-0000-0000-000000000000}"/>
          </ac:cxnSpMkLst>
        </pc:cxnChg>
      </pc:sldChg>
      <pc:sldChg chg="addSp delSp modSp">
        <pc:chgData name="Chuck jee Chau (CSD)" userId="7aa7a09e-983f-4214-9e5a-071cbb678e81" providerId="ADAL" clId="{4EB9ABB3-A4B2-1840-9DCE-F90F02926596}" dt="2019-11-01T03:05:12.575" v="30" actId="478"/>
        <pc:sldMkLst>
          <pc:docMk/>
          <pc:sldMk cId="3527222687" sldId="324"/>
        </pc:sldMkLst>
        <pc:spChg chg="add del">
          <ac:chgData name="Chuck jee Chau (CSD)" userId="7aa7a09e-983f-4214-9e5a-071cbb678e81" providerId="ADAL" clId="{4EB9ABB3-A4B2-1840-9DCE-F90F02926596}" dt="2019-11-01T03:04:36.378" v="24" actId="478"/>
          <ac:spMkLst>
            <pc:docMk/>
            <pc:sldMk cId="3527222687" sldId="324"/>
            <ac:spMk id="3" creationId="{00000000-0000-0000-0000-000000000000}"/>
          </ac:spMkLst>
        </pc:spChg>
        <pc:spChg chg="add del mod">
          <ac:chgData name="Chuck jee Chau (CSD)" userId="7aa7a09e-983f-4214-9e5a-071cbb678e81" providerId="ADAL" clId="{4EB9ABB3-A4B2-1840-9DCE-F90F02926596}" dt="2019-11-01T03:04:36.378" v="24" actId="478"/>
          <ac:spMkLst>
            <pc:docMk/>
            <pc:sldMk cId="3527222687" sldId="324"/>
            <ac:spMk id="5" creationId="{92D764C1-49FE-5C47-9021-50522A5DF9FB}"/>
          </ac:spMkLst>
        </pc:spChg>
        <pc:grpChg chg="add del">
          <ac:chgData name="Chuck jee Chau (CSD)" userId="7aa7a09e-983f-4214-9e5a-071cbb678e81" providerId="ADAL" clId="{4EB9ABB3-A4B2-1840-9DCE-F90F02926596}" dt="2019-11-01T03:05:12.244" v="29"/>
          <ac:grpSpMkLst>
            <pc:docMk/>
            <pc:sldMk cId="3527222687" sldId="324"/>
            <ac:grpSpMk id="30" creationId="{33439022-5033-BA4E-8934-B965E33F8148}"/>
          </ac:grpSpMkLst>
        </pc:grpChg>
        <pc:grpChg chg="add del">
          <ac:chgData name="Chuck jee Chau (CSD)" userId="7aa7a09e-983f-4214-9e5a-071cbb678e81" providerId="ADAL" clId="{4EB9ABB3-A4B2-1840-9DCE-F90F02926596}" dt="2019-11-01T03:05:12.575" v="30" actId="478"/>
          <ac:grpSpMkLst>
            <pc:docMk/>
            <pc:sldMk cId="3527222687" sldId="324"/>
            <ac:grpSpMk id="90" creationId="{00000000-0000-0000-0000-000000000000}"/>
          </ac:grpSpMkLst>
        </pc:grpChg>
        <pc:cxnChg chg="mod">
          <ac:chgData name="Chuck jee Chau (CSD)" userId="7aa7a09e-983f-4214-9e5a-071cbb678e81" providerId="ADAL" clId="{4EB9ABB3-A4B2-1840-9DCE-F90F02926596}" dt="2019-11-01T03:05:12.575" v="30" actId="478"/>
          <ac:cxnSpMkLst>
            <pc:docMk/>
            <pc:sldMk cId="3527222687" sldId="324"/>
            <ac:cxnSpMk id="10" creationId="{00000000-0000-0000-0000-000000000000}"/>
          </ac:cxnSpMkLst>
        </pc:cxnChg>
        <pc:cxnChg chg="mod">
          <ac:chgData name="Chuck jee Chau (CSD)" userId="7aa7a09e-983f-4214-9e5a-071cbb678e81" providerId="ADAL" clId="{4EB9ABB3-A4B2-1840-9DCE-F90F02926596}" dt="2019-11-01T03:05:12.575" v="30" actId="478"/>
          <ac:cxnSpMkLst>
            <pc:docMk/>
            <pc:sldMk cId="3527222687" sldId="324"/>
            <ac:cxnSpMk id="11" creationId="{00000000-0000-0000-0000-000000000000}"/>
          </ac:cxnSpMkLst>
        </pc:cxnChg>
        <pc:cxnChg chg="mod">
          <ac:chgData name="Chuck jee Chau (CSD)" userId="7aa7a09e-983f-4214-9e5a-071cbb678e81" providerId="ADAL" clId="{4EB9ABB3-A4B2-1840-9DCE-F90F02926596}" dt="2019-11-01T03:05:12.575" v="30" actId="478"/>
          <ac:cxnSpMkLst>
            <pc:docMk/>
            <pc:sldMk cId="3527222687" sldId="324"/>
            <ac:cxnSpMk id="33" creationId="{00000000-0000-0000-0000-000000000000}"/>
          </ac:cxnSpMkLst>
        </pc:cxnChg>
        <pc:cxnChg chg="mod">
          <ac:chgData name="Chuck jee Chau (CSD)" userId="7aa7a09e-983f-4214-9e5a-071cbb678e81" providerId="ADAL" clId="{4EB9ABB3-A4B2-1840-9DCE-F90F02926596}" dt="2019-11-01T03:05:12.575" v="30" actId="478"/>
          <ac:cxnSpMkLst>
            <pc:docMk/>
            <pc:sldMk cId="3527222687" sldId="324"/>
            <ac:cxnSpMk id="68" creationId="{00000000-0000-0000-0000-000000000000}"/>
          </ac:cxnSpMkLst>
        </pc:cxnChg>
      </pc:sldChg>
      <pc:sldChg chg="addSp delSp modSp">
        <pc:chgData name="Chuck jee Chau (CSD)" userId="7aa7a09e-983f-4214-9e5a-071cbb678e81" providerId="ADAL" clId="{4EB9ABB3-A4B2-1840-9DCE-F90F02926596}" dt="2019-11-01T03:04:50.602" v="28" actId="478"/>
        <pc:sldMkLst>
          <pc:docMk/>
          <pc:sldMk cId="465270234" sldId="328"/>
        </pc:sldMkLst>
        <pc:grpChg chg="add del">
          <ac:chgData name="Chuck jee Chau (CSD)" userId="7aa7a09e-983f-4214-9e5a-071cbb678e81" providerId="ADAL" clId="{4EB9ABB3-A4B2-1840-9DCE-F90F02926596}" dt="2019-11-01T03:04:50.602" v="28" actId="478"/>
          <ac:grpSpMkLst>
            <pc:docMk/>
            <pc:sldMk cId="465270234" sldId="328"/>
            <ac:grpSpMk id="4" creationId="{00000000-0000-0000-0000-000000000000}"/>
          </ac:grpSpMkLst>
        </pc:grpChg>
        <pc:cxnChg chg="mod">
          <ac:chgData name="Chuck jee Chau (CSD)" userId="7aa7a09e-983f-4214-9e5a-071cbb678e81" providerId="ADAL" clId="{4EB9ABB3-A4B2-1840-9DCE-F90F02926596}" dt="2019-11-01T03:04:50.602" v="28" actId="478"/>
          <ac:cxnSpMkLst>
            <pc:docMk/>
            <pc:sldMk cId="465270234" sldId="328"/>
            <ac:cxnSpMk id="10" creationId="{00000000-0000-0000-0000-000000000000}"/>
          </ac:cxnSpMkLst>
        </pc:cxnChg>
        <pc:cxnChg chg="mod">
          <ac:chgData name="Chuck jee Chau (CSD)" userId="7aa7a09e-983f-4214-9e5a-071cbb678e81" providerId="ADAL" clId="{4EB9ABB3-A4B2-1840-9DCE-F90F02926596}" dt="2019-11-01T03:04:50.602" v="28" actId="478"/>
          <ac:cxnSpMkLst>
            <pc:docMk/>
            <pc:sldMk cId="465270234" sldId="328"/>
            <ac:cxnSpMk id="11" creationId="{00000000-0000-0000-0000-000000000000}"/>
          </ac:cxnSpMkLst>
        </pc:cxnChg>
        <pc:cxnChg chg="mod">
          <ac:chgData name="Chuck jee Chau (CSD)" userId="7aa7a09e-983f-4214-9e5a-071cbb678e81" providerId="ADAL" clId="{4EB9ABB3-A4B2-1840-9DCE-F90F02926596}" dt="2019-11-01T03:04:50.602" v="28" actId="478"/>
          <ac:cxnSpMkLst>
            <pc:docMk/>
            <pc:sldMk cId="465270234" sldId="328"/>
            <ac:cxnSpMk id="33" creationId="{00000000-0000-0000-0000-000000000000}"/>
          </ac:cxnSpMkLst>
        </pc:cxnChg>
        <pc:cxnChg chg="mod">
          <ac:chgData name="Chuck jee Chau (CSD)" userId="7aa7a09e-983f-4214-9e5a-071cbb678e81" providerId="ADAL" clId="{4EB9ABB3-A4B2-1840-9DCE-F90F02926596}" dt="2019-11-01T03:04:50.602" v="28" actId="478"/>
          <ac:cxnSpMkLst>
            <pc:docMk/>
            <pc:sldMk cId="465270234" sldId="328"/>
            <ac:cxnSpMk id="68" creationId="{00000000-0000-0000-0000-000000000000}"/>
          </ac:cxnSpMkLst>
        </pc:cxnChg>
      </pc:sldChg>
      <pc:sldChg chg="modSp addCm modCm">
        <pc:chgData name="Chuck jee Chau (CSD)" userId="7aa7a09e-983f-4214-9e5a-071cbb678e81" providerId="ADAL" clId="{4EB9ABB3-A4B2-1840-9DCE-F90F02926596}" dt="2019-11-01T03:08:05.111" v="59"/>
        <pc:sldMkLst>
          <pc:docMk/>
          <pc:sldMk cId="3990502109" sldId="330"/>
        </pc:sldMkLst>
        <pc:spChg chg="mod">
          <ac:chgData name="Chuck jee Chau (CSD)" userId="7aa7a09e-983f-4214-9e5a-071cbb678e81" providerId="ADAL" clId="{4EB9ABB3-A4B2-1840-9DCE-F90F02926596}" dt="2019-11-01T03:07:48.880" v="57" actId="20577"/>
          <ac:spMkLst>
            <pc:docMk/>
            <pc:sldMk cId="3990502109" sldId="330"/>
            <ac:spMk id="4" creationId="{00000000-0000-0000-0000-000000000000}"/>
          </ac:spMkLst>
        </pc:spChg>
        <pc:spChg chg="mod">
          <ac:chgData name="Chuck jee Chau (CSD)" userId="7aa7a09e-983f-4214-9e5a-071cbb678e81" providerId="ADAL" clId="{4EB9ABB3-A4B2-1840-9DCE-F90F02926596}" dt="2019-11-01T03:07:46.487" v="51" actId="20577"/>
          <ac:spMkLst>
            <pc:docMk/>
            <pc:sldMk cId="3990502109" sldId="330"/>
            <ac:spMk id="9" creationId="{00000000-0000-0000-0000-000000000000}"/>
          </ac:spMkLst>
        </pc:spChg>
      </pc:sldChg>
      <pc:sldChg chg="modSp">
        <pc:chgData name="Chuck jee Chau (CSD)" userId="7aa7a09e-983f-4214-9e5a-071cbb678e81" providerId="ADAL" clId="{4EB9ABB3-A4B2-1840-9DCE-F90F02926596}" dt="2019-11-01T03:08:24.250" v="65" actId="20577"/>
        <pc:sldMkLst>
          <pc:docMk/>
          <pc:sldMk cId="894105150" sldId="332"/>
        </pc:sldMkLst>
        <pc:spChg chg="mod">
          <ac:chgData name="Chuck jee Chau (CSD)" userId="7aa7a09e-983f-4214-9e5a-071cbb678e81" providerId="ADAL" clId="{4EB9ABB3-A4B2-1840-9DCE-F90F02926596}" dt="2019-11-01T03:08:24.250" v="65" actId="20577"/>
          <ac:spMkLst>
            <pc:docMk/>
            <pc:sldMk cId="894105150" sldId="332"/>
            <ac:spMk id="70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F39E7D-0933-49A8-85E9-DAA850E73190}" type="datetimeFigureOut">
              <a:rPr lang="en-US" smtClean="0"/>
              <a:pPr/>
              <a:t>2022-11-02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6993CB-FC2D-4E9E-AEBC-5A9FE389B4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9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BC9B9A-975C-46BF-9E10-71766046399C}" type="datetimeFigureOut">
              <a:rPr lang="en-US" smtClean="0"/>
              <a:pPr/>
              <a:t>2022-11-02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68DB09-4D6E-4772-BB61-FE91E715B1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492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b="1" dirty="0" smtClean="0"/>
              <a:t>Big</a:t>
            </a:r>
            <a:r>
              <a:rPr lang="en-US" b="1" baseline="0" dirty="0" smtClean="0"/>
              <a:t> problem: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b="1" dirty="0" smtClean="0"/>
              <a:t>Write </a:t>
            </a:r>
            <a:r>
              <a:rPr lang="en-US" b="1" smtClean="0"/>
              <a:t>a program </a:t>
            </a:r>
            <a:r>
              <a:rPr lang="en-US" b="1" baseline="0" smtClean="0"/>
              <a:t>for </a:t>
            </a:r>
            <a:r>
              <a:rPr lang="en-US" b="1" baseline="0" dirty="0" smtClean="0"/>
              <a:t>a human player to play tic-tac-toe with a computer player</a:t>
            </a:r>
            <a:endParaRPr lang="en-US" b="1" dirty="0" smtClean="0"/>
          </a:p>
          <a:p>
            <a:pPr marL="171450" indent="-171450">
              <a:buFontTx/>
              <a:buChar char="-"/>
            </a:pPr>
            <a:r>
              <a:rPr lang="en-US" b="1" baseline="0" dirty="0" smtClean="0"/>
              <a:t>Sub problems:</a:t>
            </a:r>
          </a:p>
          <a:p>
            <a:pPr marL="628650" lvl="1" indent="-171450">
              <a:buFontTx/>
              <a:buChar char="-"/>
            </a:pPr>
            <a:r>
              <a:rPr lang="en-US" b="1" baseline="0" dirty="0" smtClean="0"/>
              <a:t>How to display the game board?</a:t>
            </a:r>
          </a:p>
          <a:p>
            <a:pPr marL="628650" lvl="1" indent="-171450">
              <a:buFontTx/>
              <a:buChar char="-"/>
            </a:pPr>
            <a:r>
              <a:rPr lang="en-US" b="1" baseline="0" dirty="0" smtClean="0"/>
              <a:t>How to ask the human player for the input?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b="1" baseline="0" dirty="0" smtClean="0"/>
              <a:t>How to decide the move of the computer player?</a:t>
            </a:r>
          </a:p>
          <a:p>
            <a:pPr marL="628650" lvl="1" indent="-171450">
              <a:buFontTx/>
              <a:buChar char="-"/>
            </a:pPr>
            <a:r>
              <a:rPr lang="en-US" b="1" baseline="0" dirty="0" smtClean="0"/>
              <a:t>How to check if there is a winner?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b="1" baseline="0" dirty="0" smtClean="0"/>
              <a:t>How to check if it is a draw game?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1605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altLang="zh-TW" sz="1200" b="1" dirty="0" smtClean="0"/>
              <a:t>Basic functionalities:</a:t>
            </a:r>
            <a:endParaRPr lang="en-US" b="1" baseline="0" dirty="0" smtClean="0"/>
          </a:p>
          <a:p>
            <a:pPr marL="628650" lvl="1" indent="-171450">
              <a:buFontTx/>
              <a:buChar char="-"/>
            </a:pPr>
            <a:r>
              <a:rPr lang="en-US" b="1" baseline="0" dirty="0" smtClean="0"/>
              <a:t>Display the game board on the screen</a:t>
            </a:r>
          </a:p>
          <a:p>
            <a:pPr marL="628650" lvl="1" indent="-171450">
              <a:buFontTx/>
              <a:buChar char="-"/>
            </a:pPr>
            <a:r>
              <a:rPr lang="en-US" b="1" baseline="0" dirty="0" smtClean="0"/>
              <a:t>Ask the human player to make the move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b="1" baseline="0" dirty="0" smtClean="0"/>
              <a:t>Decide the move of the computer player</a:t>
            </a:r>
          </a:p>
          <a:p>
            <a:pPr marL="628650" lvl="1" indent="-171450">
              <a:buFontTx/>
              <a:buChar char="-"/>
            </a:pPr>
            <a:r>
              <a:rPr lang="en-US" b="1" baseline="0" dirty="0" smtClean="0"/>
              <a:t>Check whether there is a winner</a:t>
            </a:r>
          </a:p>
          <a:p>
            <a:pPr marL="628650" lvl="1" indent="-171450">
              <a:buFontTx/>
              <a:buChar char="-"/>
            </a:pPr>
            <a:r>
              <a:rPr lang="en-US" b="1" baseline="0" dirty="0" smtClean="0"/>
              <a:t>Check whether it is a draw game</a:t>
            </a:r>
          </a:p>
          <a:p>
            <a:pPr marL="628650" lvl="1" indent="-171450">
              <a:buFontTx/>
              <a:buChar char="-"/>
            </a:pPr>
            <a:endParaRPr lang="en-US" b="1" baseline="0" dirty="0" smtClean="0"/>
          </a:p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8681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7193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0354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baseline="0" dirty="0" smtClean="0"/>
              <a:t>The “Home” menu is for newer </a:t>
            </a:r>
            <a:r>
              <a:rPr lang="en-US" b="1" baseline="0" dirty="0" smtClean="0"/>
              <a:t>Microsoft Office </a:t>
            </a:r>
            <a:r>
              <a:rPr lang="en-US" b="1" baseline="0" dirty="0" smtClean="0"/>
              <a:t>versions.  In old versions, it is called the “Format” menu.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 smtClean="0"/>
              <a:t>Let’s </a:t>
            </a:r>
            <a:r>
              <a:rPr lang="en-US" b="1" dirty="0" smtClean="0"/>
              <a:t>see the flowchart for top menu on the next</a:t>
            </a:r>
            <a:r>
              <a:rPr lang="en-US" b="1" baseline="0" dirty="0" smtClean="0"/>
              <a:t> page.</a:t>
            </a:r>
          </a:p>
          <a:p>
            <a:endParaRPr lang="en-US" b="1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7962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 smtClean="0"/>
              <a:t>Let’s see the flowchart for sub-menus on the next</a:t>
            </a:r>
            <a:r>
              <a:rPr lang="en-US" b="1" baseline="0" dirty="0" smtClean="0"/>
              <a:t> page.</a:t>
            </a:r>
            <a:endParaRPr lang="en-US" b="1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3229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 smtClean="0"/>
              <a:t>Let’s see the flowchart for the file menu on the next</a:t>
            </a:r>
            <a:r>
              <a:rPr lang="en-US" b="1" baseline="0" dirty="0" smtClean="0"/>
              <a:t> page.</a:t>
            </a:r>
            <a:endParaRPr lang="en-US" b="1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1441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997462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338" y="1066800"/>
            <a:ext cx="8932985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997462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990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6248400"/>
            <a:ext cx="9144000" cy="609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" y="76200"/>
            <a:ext cx="89916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" y="1066800"/>
            <a:ext cx="8991600" cy="5105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>
    <p:fade/>
  </p:transition>
  <p:hf hdr="0" ftr="0" dt="0"/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130427"/>
            <a:ext cx="8534400" cy="2898773"/>
          </a:xfrm>
        </p:spPr>
        <p:txBody>
          <a:bodyPr>
            <a:normAutofit/>
          </a:bodyPr>
          <a:lstStyle/>
          <a:p>
            <a:pPr algn="ctr"/>
            <a:r>
              <a:rPr lang="en-US" altLang="zh-TW" b="1" dirty="0" smtClean="0">
                <a:ea typeface="新細明體" pitchFamily="18" charset="-120"/>
              </a:rPr>
              <a:t>Logic Flow</a:t>
            </a:r>
            <a:endParaRPr lang="en-US" altLang="zh-TW" b="1" dirty="0">
              <a:ea typeface="新細明體" pitchFamily="18" charset="-120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921262" cy="838200"/>
          </a:xfrm>
        </p:spPr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Introduction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 smtClean="0">
                <a:ea typeface="新細明體" pitchFamily="18" charset="-120"/>
              </a:rPr>
              <a:t>Top-down and bottom-up</a:t>
            </a:r>
            <a:endParaRPr lang="en-US" altLang="zh-TW" dirty="0">
              <a:ea typeface="新細明體" pitchFamily="18" charset="-12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ea typeface="新細明體" pitchFamily="18" charset="-120"/>
              </a:rPr>
              <a:t>Flowchart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 smtClean="0">
                <a:ea typeface="新細明體" pitchFamily="18" charset="-120"/>
              </a:rPr>
              <a:t>Menu Navigation</a:t>
            </a:r>
            <a:endParaRPr lang="en-US" altLang="zh-TW" dirty="0">
              <a:ea typeface="新細明體" pitchFamily="18" charset="-12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717289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921262" cy="838200"/>
          </a:xfrm>
        </p:spPr>
        <p:txBody>
          <a:bodyPr>
            <a:normAutofit/>
          </a:bodyPr>
          <a:lstStyle/>
          <a:p>
            <a:r>
              <a:rPr lang="en-US" dirty="0"/>
              <a:t>1</a:t>
            </a:r>
            <a:r>
              <a:rPr lang="en-US" dirty="0" smtClean="0"/>
              <a:t>. 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zh-TW" sz="3200" dirty="0" smtClean="0">
                <a:ea typeface="新細明體" pitchFamily="18" charset="-120"/>
              </a:rPr>
              <a:t>When you see a problem in the lab, what comes to your mind first</a:t>
            </a:r>
            <a:r>
              <a:rPr lang="en-US" altLang="zh-TW" sz="3200" dirty="0">
                <a:ea typeface="新細明體" pitchFamily="18" charset="-120"/>
              </a:rPr>
              <a:t>?</a:t>
            </a:r>
          </a:p>
          <a:p>
            <a:pPr lvl="1">
              <a:defRPr/>
            </a:pPr>
            <a:r>
              <a:rPr lang="en-US" altLang="zh-TW" sz="2800" dirty="0" smtClean="0">
                <a:ea typeface="新細明體" pitchFamily="18" charset="-120"/>
              </a:rPr>
              <a:t>How many variables do I need</a:t>
            </a:r>
            <a:r>
              <a:rPr lang="en-US" altLang="zh-TW" sz="2800" dirty="0">
                <a:ea typeface="新細明體" pitchFamily="18" charset="-120"/>
              </a:rPr>
              <a:t>?</a:t>
            </a:r>
          </a:p>
          <a:p>
            <a:pPr lvl="1">
              <a:defRPr/>
            </a:pPr>
            <a:r>
              <a:rPr lang="en-US" altLang="zh-TW" sz="2800" dirty="0" smtClean="0">
                <a:ea typeface="新細明體" pitchFamily="18" charset="-120"/>
              </a:rPr>
              <a:t>Should I use nested for loops</a:t>
            </a:r>
            <a:r>
              <a:rPr lang="en-US" altLang="zh-TW" sz="2800" dirty="0">
                <a:ea typeface="新細明體" pitchFamily="18" charset="-120"/>
              </a:rPr>
              <a:t>?</a:t>
            </a:r>
          </a:p>
          <a:p>
            <a:pPr lvl="1">
              <a:defRPr/>
            </a:pPr>
            <a:r>
              <a:rPr lang="en-US" altLang="zh-TW" sz="2800" dirty="0" smtClean="0">
                <a:ea typeface="新細明體" pitchFamily="18" charset="-120"/>
              </a:rPr>
              <a:t>Where is my dictionary</a:t>
            </a:r>
            <a:r>
              <a:rPr lang="en-US" altLang="zh-TW" sz="2800" dirty="0">
                <a:ea typeface="新細明體" pitchFamily="18" charset="-120"/>
              </a:rPr>
              <a:t>?</a:t>
            </a:r>
          </a:p>
          <a:p>
            <a:pPr>
              <a:defRPr/>
            </a:pPr>
            <a:r>
              <a:rPr lang="en-US" altLang="zh-TW" sz="3200" dirty="0" smtClean="0">
                <a:ea typeface="新細明體" pitchFamily="18" charset="-120"/>
              </a:rPr>
              <a:t>Before you write down the first line of code, you should have a </a:t>
            </a:r>
            <a:r>
              <a:rPr lang="en-US" altLang="zh-TW" sz="3200" u="sng" dirty="0" smtClean="0">
                <a:ea typeface="新細明體" pitchFamily="18" charset="-120"/>
              </a:rPr>
              <a:t>plan</a:t>
            </a:r>
            <a:r>
              <a:rPr lang="en-US" altLang="zh-TW" sz="3200" dirty="0" smtClean="0">
                <a:ea typeface="新細明體" pitchFamily="18" charset="-120"/>
              </a:rPr>
              <a:t> on how to tackle the problem</a:t>
            </a:r>
            <a:r>
              <a:rPr lang="en-US" altLang="zh-TW" sz="3200" dirty="0">
                <a:ea typeface="新細明體" pitchFamily="18" charset="-120"/>
              </a:rPr>
              <a:t>.</a:t>
            </a:r>
          </a:p>
          <a:p>
            <a:pPr lvl="1">
              <a:defRPr/>
            </a:pPr>
            <a:endParaRPr lang="en-US" altLang="zh-TW" sz="2800" dirty="0">
              <a:ea typeface="新細明體" pitchFamily="18" charset="-12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694448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921262" cy="838200"/>
          </a:xfrm>
        </p:spPr>
        <p:txBody>
          <a:bodyPr>
            <a:normAutofit/>
          </a:bodyPr>
          <a:lstStyle/>
          <a:p>
            <a:r>
              <a:rPr lang="en-US" dirty="0"/>
              <a:t>2</a:t>
            </a:r>
            <a:r>
              <a:rPr lang="en-US" dirty="0" smtClean="0"/>
              <a:t>. Top-down and bottom-up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zh-TW" sz="3200" dirty="0" smtClean="0">
                <a:ea typeface="新細明體" pitchFamily="18" charset="-120"/>
              </a:rPr>
              <a:t>There are many ways to solve a problem</a:t>
            </a:r>
            <a:r>
              <a:rPr lang="en-US" altLang="zh-TW" sz="3200" dirty="0">
                <a:ea typeface="新細明體" pitchFamily="18" charset="-120"/>
              </a:rPr>
              <a:t>.</a:t>
            </a:r>
          </a:p>
          <a:p>
            <a:pPr>
              <a:defRPr/>
            </a:pPr>
            <a:r>
              <a:rPr lang="en-US" altLang="zh-TW" sz="3200" dirty="0">
                <a:ea typeface="新細明體" pitchFamily="18" charset="-120"/>
              </a:rPr>
              <a:t>e.g</a:t>
            </a:r>
            <a:r>
              <a:rPr lang="en-US" altLang="zh-TW" sz="3200" dirty="0" smtClean="0">
                <a:ea typeface="新細明體" pitchFamily="18" charset="-120"/>
              </a:rPr>
              <a:t>., Top-down, bottom-up, or a combination of both</a:t>
            </a:r>
            <a:endParaRPr lang="en-US" altLang="zh-TW" sz="3200" dirty="0">
              <a:ea typeface="新細明體" pitchFamily="18" charset="-120"/>
            </a:endParaRPr>
          </a:p>
          <a:p>
            <a:pPr>
              <a:defRPr/>
            </a:pPr>
            <a:r>
              <a:rPr lang="en-US" altLang="zh-TW" sz="3200" dirty="0" smtClean="0"/>
              <a:t>Each has its own advantages and disadvantages, but all involves careful planning</a:t>
            </a:r>
            <a:r>
              <a:rPr lang="en-US" altLang="zh-TW" sz="3200" dirty="0"/>
              <a:t>.</a:t>
            </a:r>
          </a:p>
          <a:p>
            <a:pPr lvl="1">
              <a:defRPr/>
            </a:pPr>
            <a:endParaRPr lang="en-US" altLang="zh-TW" sz="2800" dirty="0"/>
          </a:p>
          <a:p>
            <a:pPr>
              <a:defRPr/>
            </a:pPr>
            <a:endParaRPr lang="en-US" altLang="zh-TW" sz="3200" dirty="0"/>
          </a:p>
          <a:p>
            <a:pPr>
              <a:defRPr/>
            </a:pPr>
            <a:endParaRPr lang="en-US" altLang="zh-TW" sz="3200" dirty="0"/>
          </a:p>
          <a:p>
            <a:pPr>
              <a:defRPr/>
            </a:pPr>
            <a:endParaRPr lang="en-US" altLang="zh-TW" sz="3200" dirty="0">
              <a:ea typeface="新細明體" pitchFamily="18" charset="-12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262746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921262" cy="838200"/>
          </a:xfrm>
        </p:spPr>
        <p:txBody>
          <a:bodyPr>
            <a:normAutofit/>
          </a:bodyPr>
          <a:lstStyle/>
          <a:p>
            <a:r>
              <a:rPr lang="en-US" dirty="0"/>
              <a:t>2</a:t>
            </a:r>
            <a:r>
              <a:rPr lang="en-US" dirty="0" smtClean="0"/>
              <a:t>. Top-down and bottom-up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zh-TW" sz="3200" dirty="0"/>
              <a:t>Top-down</a:t>
            </a:r>
          </a:p>
          <a:p>
            <a:pPr marL="971550" lvl="1" indent="-514350">
              <a:buFont typeface="+mj-lt"/>
              <a:buAutoNum type="arabicPeriod"/>
              <a:defRPr/>
            </a:pPr>
            <a:r>
              <a:rPr lang="en-US" altLang="zh-TW" sz="2800" dirty="0" smtClean="0"/>
              <a:t>Start with the big problem</a:t>
            </a:r>
            <a:endParaRPr lang="en-US" altLang="zh-TW" sz="2800" dirty="0"/>
          </a:p>
          <a:p>
            <a:pPr marL="971550" lvl="1" indent="-514350">
              <a:buFont typeface="+mj-lt"/>
              <a:buAutoNum type="arabicPeriod"/>
              <a:defRPr/>
            </a:pPr>
            <a:r>
              <a:rPr lang="en-US" altLang="zh-TW" sz="2800" dirty="0" smtClean="0"/>
              <a:t>Break it down into sub-problems</a:t>
            </a:r>
            <a:endParaRPr lang="en-US" altLang="zh-TW" sz="2800" dirty="0"/>
          </a:p>
          <a:p>
            <a:pPr marL="971550" lvl="1" indent="-514350">
              <a:buFont typeface="+mj-lt"/>
              <a:buAutoNum type="arabicPeriod"/>
              <a:defRPr/>
            </a:pPr>
            <a:r>
              <a:rPr lang="en-US" altLang="zh-TW" sz="2800" dirty="0" smtClean="0"/>
              <a:t>Try to solve the sub-problem</a:t>
            </a:r>
            <a:endParaRPr lang="en-US" altLang="zh-TW" sz="2800" dirty="0"/>
          </a:p>
          <a:p>
            <a:pPr lvl="2">
              <a:defRPr/>
            </a:pPr>
            <a:r>
              <a:rPr lang="en-US" altLang="zh-TW" dirty="0" smtClean="0"/>
              <a:t>If a sub-problem is too difficult, break it down into smaller sub-problems</a:t>
            </a:r>
            <a:endParaRPr lang="en-US" altLang="zh-TW" dirty="0"/>
          </a:p>
          <a:p>
            <a:pPr lvl="2">
              <a:defRPr/>
            </a:pPr>
            <a:r>
              <a:rPr lang="en-US" altLang="zh-TW" dirty="0" smtClean="0"/>
              <a:t>If a sub-problem can be solved, implement the solution</a:t>
            </a:r>
            <a:endParaRPr lang="en-US" altLang="zh-TW" dirty="0"/>
          </a:p>
          <a:p>
            <a:pPr lvl="1">
              <a:defRPr/>
            </a:pPr>
            <a:r>
              <a:rPr lang="en-US" altLang="zh-TW" sz="2800" dirty="0" smtClean="0"/>
              <a:t>Repeat until all sub-problems are easy enough to be solved</a:t>
            </a:r>
            <a:endParaRPr lang="en-US" altLang="zh-TW" sz="2800" dirty="0"/>
          </a:p>
          <a:p>
            <a:pPr lvl="1">
              <a:defRPr/>
            </a:pPr>
            <a:endParaRPr lang="en-US" altLang="zh-TW" sz="2800" dirty="0"/>
          </a:p>
          <a:p>
            <a:pPr lvl="1">
              <a:defRPr/>
            </a:pPr>
            <a:endParaRPr lang="en-US" altLang="zh-TW" sz="2800" dirty="0"/>
          </a:p>
          <a:p>
            <a:pPr lvl="1">
              <a:defRPr/>
            </a:pPr>
            <a:endParaRPr lang="en-US" altLang="zh-TW" sz="2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181443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921262" cy="838200"/>
          </a:xfrm>
        </p:spPr>
        <p:txBody>
          <a:bodyPr>
            <a:normAutofit/>
          </a:bodyPr>
          <a:lstStyle/>
          <a:p>
            <a:r>
              <a:rPr lang="en-US" dirty="0"/>
              <a:t>2</a:t>
            </a:r>
            <a:r>
              <a:rPr lang="en-US" dirty="0" smtClean="0"/>
              <a:t>. Top-down and bottom-up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zh-TW" sz="3200" dirty="0"/>
              <a:t>Bottom-up</a:t>
            </a:r>
          </a:p>
          <a:p>
            <a:pPr marL="971550" lvl="1" indent="-514350">
              <a:buFont typeface="+mj-lt"/>
              <a:buAutoNum type="arabicPeriod"/>
              <a:defRPr/>
            </a:pPr>
            <a:r>
              <a:rPr lang="en-US" altLang="zh-TW" sz="2800" dirty="0" smtClean="0"/>
              <a:t>Start with implementing the basic functionalities that you are going to need</a:t>
            </a:r>
            <a:endParaRPr lang="en-US" altLang="zh-TW" sz="2800" dirty="0"/>
          </a:p>
          <a:p>
            <a:pPr marL="971550" lvl="1" indent="-514350">
              <a:buFont typeface="+mj-lt"/>
              <a:buAutoNum type="arabicPeriod"/>
              <a:defRPr/>
            </a:pPr>
            <a:r>
              <a:rPr lang="en-US" altLang="zh-TW" sz="2800" dirty="0" smtClean="0"/>
              <a:t>Combine the building blocks to build a bigger solution</a:t>
            </a:r>
            <a:endParaRPr lang="en-US" altLang="zh-TW" sz="2800" dirty="0"/>
          </a:p>
          <a:p>
            <a:pPr marL="971550" lvl="1" indent="-514350">
              <a:buFont typeface="+mj-lt"/>
              <a:buAutoNum type="arabicPeriod"/>
              <a:defRPr/>
            </a:pPr>
            <a:r>
              <a:rPr lang="en-US" altLang="zh-TW" sz="2800" dirty="0" smtClean="0"/>
              <a:t>Tie the combined solutions together to solve the big problem</a:t>
            </a:r>
            <a:endParaRPr lang="en-US" altLang="zh-TW" sz="2800" dirty="0"/>
          </a:p>
          <a:p>
            <a:pPr lvl="1">
              <a:defRPr/>
            </a:pPr>
            <a:endParaRPr lang="en-US" altLang="zh-TW" sz="2800" dirty="0"/>
          </a:p>
          <a:p>
            <a:pPr lvl="1">
              <a:defRPr/>
            </a:pPr>
            <a:endParaRPr lang="en-US" altLang="zh-TW" sz="2800" dirty="0"/>
          </a:p>
          <a:p>
            <a:pPr lvl="1">
              <a:defRPr/>
            </a:pPr>
            <a:endParaRPr lang="en-US" altLang="zh-TW" sz="2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505640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921262" cy="838200"/>
          </a:xfrm>
        </p:spPr>
        <p:txBody>
          <a:bodyPr>
            <a:normAutofit/>
          </a:bodyPr>
          <a:lstStyle/>
          <a:p>
            <a:r>
              <a:rPr lang="en-US" dirty="0"/>
              <a:t>3</a:t>
            </a:r>
            <a:r>
              <a:rPr lang="en-US" dirty="0" smtClean="0"/>
              <a:t>. Flowcharts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zh-TW" sz="3200" dirty="0" smtClean="0"/>
              <a:t>As in dry running, you will need to think like a computer before you can instruct the computer</a:t>
            </a:r>
            <a:r>
              <a:rPr lang="en-US" altLang="zh-TW" sz="3200" dirty="0"/>
              <a:t>.</a:t>
            </a:r>
          </a:p>
          <a:p>
            <a:pPr>
              <a:defRPr/>
            </a:pPr>
            <a:r>
              <a:rPr lang="en-US" altLang="zh-TW" sz="3200" dirty="0" smtClean="0"/>
              <a:t>Computer program runs </a:t>
            </a:r>
            <a:r>
              <a:rPr lang="en-US" altLang="zh-TW" sz="3200" u="sng" dirty="0" smtClean="0"/>
              <a:t>line-by-line</a:t>
            </a:r>
            <a:r>
              <a:rPr lang="en-US" altLang="zh-TW" sz="3200" dirty="0" smtClean="0"/>
              <a:t> (</a:t>
            </a:r>
            <a:r>
              <a:rPr lang="en-US" altLang="zh-TW" sz="3200" dirty="0"/>
              <a:t>sequentially).</a:t>
            </a:r>
          </a:p>
          <a:p>
            <a:pPr>
              <a:defRPr/>
            </a:pPr>
            <a:r>
              <a:rPr lang="en-US" altLang="zh-TW" sz="3200" dirty="0" smtClean="0"/>
              <a:t>You can think like it using flowcharts</a:t>
            </a:r>
            <a:r>
              <a:rPr lang="en-US" altLang="zh-TW" sz="3200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893607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921262" cy="838200"/>
          </a:xfrm>
        </p:spPr>
        <p:txBody>
          <a:bodyPr>
            <a:normAutofit/>
          </a:bodyPr>
          <a:lstStyle/>
          <a:p>
            <a:r>
              <a:rPr lang="en-US" dirty="0"/>
              <a:t>3</a:t>
            </a:r>
            <a:r>
              <a:rPr lang="en-US" dirty="0" smtClean="0"/>
              <a:t>. Flowcharts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zh-TW" sz="3200" dirty="0" smtClean="0"/>
              <a:t>If you need to write a program that asks user for a preferred beverage, and repeats if invalid choice is entered, what should you do</a:t>
            </a:r>
            <a:r>
              <a:rPr lang="en-US" altLang="zh-TW" sz="3200" dirty="0"/>
              <a:t>?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412023" y="2819400"/>
            <a:ext cx="4033837" cy="3200400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kumimoji="0" lang="en-US" altLang="zh-TW" sz="2000" b="0" dirty="0" smtClean="0">
                <a:latin typeface="Consolas" panose="020B0609020204030204" pitchFamily="49" charset="0"/>
              </a:rPr>
              <a:t>What beverage do you prefer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?</a:t>
            </a:r>
          </a:p>
          <a:p>
            <a:pPr marL="457200" indent="-457200" eaLnBrk="1" hangingPunct="1">
              <a:buAutoNum type="arabicPeriod"/>
            </a:pPr>
            <a:r>
              <a:rPr lang="en-US" altLang="zh-TW" sz="2000" b="0" dirty="0">
                <a:latin typeface="Consolas" panose="020B0609020204030204" pitchFamily="49" charset="0"/>
              </a:rPr>
              <a:t>coffee</a:t>
            </a:r>
          </a:p>
          <a:p>
            <a:pPr marL="457200" indent="-457200" eaLnBrk="1" hangingPunct="1">
              <a:buAutoNum type="arabicPeriod"/>
            </a:pPr>
            <a:r>
              <a:rPr lang="en-US" altLang="zh-TW" sz="2000" b="0" dirty="0">
                <a:latin typeface="Consolas" panose="020B0609020204030204" pitchFamily="49" charset="0"/>
              </a:rPr>
              <a:t>tea</a:t>
            </a:r>
          </a:p>
          <a:p>
            <a:pPr marL="457200" indent="-457200" eaLnBrk="1" hangingPunct="1">
              <a:buAutoNum type="arabicPeriod"/>
            </a:pPr>
            <a:r>
              <a:rPr lang="en-US" altLang="zh-TW" sz="2000" b="0" dirty="0" smtClean="0">
                <a:latin typeface="Consolas" panose="020B0609020204030204" pitchFamily="49" charset="0"/>
              </a:rPr>
              <a:t>soft drink</a:t>
            </a:r>
            <a:endParaRPr lang="en-US" altLang="zh-TW" sz="2000" b="0" dirty="0">
              <a:latin typeface="Consolas" panose="020B0609020204030204" pitchFamily="49" charset="0"/>
            </a:endParaRPr>
          </a:p>
          <a:p>
            <a:pPr marL="457200" indent="-457200" eaLnBrk="1" hangingPunct="1">
              <a:buAutoNum type="arabicPeriod"/>
            </a:pPr>
            <a:r>
              <a:rPr lang="en-US" altLang="zh-TW" sz="2000" b="0" dirty="0">
                <a:latin typeface="Consolas" panose="020B0609020204030204" pitchFamily="49" charset="0"/>
              </a:rPr>
              <a:t>j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uice</a:t>
            </a:r>
          </a:p>
          <a:p>
            <a:pPr marL="457200" indent="-457200" eaLnBrk="1" hangingPunct="1">
              <a:buAutoNum type="arabicPeriod"/>
            </a:pPr>
            <a:r>
              <a:rPr lang="en-US" altLang="zh-TW" sz="2000" b="0" dirty="0">
                <a:latin typeface="Consolas" panose="020B0609020204030204" pitchFamily="49" charset="0"/>
              </a:rPr>
              <a:t>water</a:t>
            </a:r>
          </a:p>
          <a:p>
            <a:pPr eaLnBrk="1" hangingPunct="1"/>
            <a:r>
              <a:rPr kumimoji="0" lang="en-US" altLang="zh-TW" sz="2000" b="0" dirty="0" smtClean="0">
                <a:latin typeface="Consolas" panose="020B0609020204030204" pitchFamily="49" charset="0"/>
              </a:rPr>
              <a:t>Your choice? </a:t>
            </a:r>
            <a:r>
              <a:rPr kumimoji="0" lang="en-US" altLang="zh-TW" sz="2000" u="sng" dirty="0" smtClean="0">
                <a:solidFill>
                  <a:srgbClr val="0070C0"/>
                </a:solidFill>
                <a:latin typeface="Consolas" panose="020B0609020204030204" pitchFamily="49" charset="0"/>
              </a:rPr>
              <a:t>1</a:t>
            </a:r>
            <a:endParaRPr kumimoji="0" lang="en-US" altLang="zh-TW" sz="2000" u="sng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pPr eaLnBrk="1" hangingPunct="1"/>
            <a:r>
              <a:rPr lang="en-US" altLang="zh-TW" sz="2000" b="0" dirty="0">
                <a:latin typeface="Consolas" panose="020B0609020204030204" pitchFamily="49" charset="0"/>
              </a:rPr>
              <a:t>Good</a:t>
            </a:r>
            <a:r>
              <a:rPr lang="en-US" altLang="zh-TW" sz="2000" b="0" dirty="0" smtClean="0">
                <a:latin typeface="Consolas" panose="020B0609020204030204" pitchFamily="49" charset="0"/>
              </a:rPr>
              <a:t>! You like coffee</a:t>
            </a:r>
            <a:r>
              <a:rPr lang="en-US" altLang="zh-TW" sz="2000" b="0" dirty="0">
                <a:latin typeface="Consolas" panose="020B0609020204030204" pitchFamily="49" charset="0"/>
              </a:rPr>
              <a:t>!</a:t>
            </a:r>
            <a:endParaRPr kumimoji="0" lang="en-US" altLang="zh-TW" sz="2000" b="0" dirty="0">
              <a:latin typeface="Consolas" panose="020B0609020204030204" pitchFamily="49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4787544" y="2832970"/>
            <a:ext cx="4033837" cy="3186830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kumimoji="0" lang="en-US" altLang="zh-TW" sz="2000" b="0" dirty="0" smtClean="0">
                <a:latin typeface="Consolas" panose="020B0609020204030204" pitchFamily="49" charset="0"/>
              </a:rPr>
              <a:t>What beverage do you prefer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?</a:t>
            </a:r>
          </a:p>
          <a:p>
            <a:pPr marL="457200" indent="-457200" eaLnBrk="1" hangingPunct="1">
              <a:buAutoNum type="arabicPeriod"/>
            </a:pPr>
            <a:r>
              <a:rPr lang="en-US" altLang="zh-TW" sz="2000" b="0" dirty="0">
                <a:latin typeface="Consolas" panose="020B0609020204030204" pitchFamily="49" charset="0"/>
              </a:rPr>
              <a:t>coffee</a:t>
            </a:r>
          </a:p>
          <a:p>
            <a:pPr marL="457200" indent="-457200" eaLnBrk="1" hangingPunct="1">
              <a:buAutoNum type="arabicPeriod"/>
            </a:pPr>
            <a:r>
              <a:rPr lang="en-US" altLang="zh-TW" sz="2000" b="0" dirty="0">
                <a:latin typeface="Consolas" panose="020B0609020204030204" pitchFamily="49" charset="0"/>
              </a:rPr>
              <a:t>tea</a:t>
            </a:r>
          </a:p>
          <a:p>
            <a:pPr marL="457200" indent="-457200" eaLnBrk="1" hangingPunct="1">
              <a:buAutoNum type="arabicPeriod"/>
            </a:pPr>
            <a:r>
              <a:rPr lang="en-US" altLang="zh-TW" sz="2000" b="0" dirty="0" smtClean="0">
                <a:latin typeface="Consolas" panose="020B0609020204030204" pitchFamily="49" charset="0"/>
              </a:rPr>
              <a:t>soft drink</a:t>
            </a:r>
            <a:endParaRPr lang="en-US" altLang="zh-TW" sz="2000" b="0" dirty="0">
              <a:latin typeface="Consolas" panose="020B0609020204030204" pitchFamily="49" charset="0"/>
            </a:endParaRPr>
          </a:p>
          <a:p>
            <a:pPr marL="457200" indent="-457200" eaLnBrk="1" hangingPunct="1">
              <a:buAutoNum type="arabicPeriod"/>
            </a:pPr>
            <a:r>
              <a:rPr lang="en-US" altLang="zh-TW" sz="2000" b="0" dirty="0">
                <a:latin typeface="Consolas" panose="020B0609020204030204" pitchFamily="49" charset="0"/>
              </a:rPr>
              <a:t>j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uice</a:t>
            </a:r>
          </a:p>
          <a:p>
            <a:pPr marL="457200" indent="-457200" eaLnBrk="1" hangingPunct="1">
              <a:buAutoNum type="arabicPeriod"/>
            </a:pPr>
            <a:r>
              <a:rPr lang="en-US" altLang="zh-TW" sz="2000" b="0" dirty="0">
                <a:latin typeface="Consolas" panose="020B0609020204030204" pitchFamily="49" charset="0"/>
              </a:rPr>
              <a:t>water</a:t>
            </a:r>
          </a:p>
          <a:p>
            <a:pPr eaLnBrk="1" hangingPunct="1"/>
            <a:r>
              <a:rPr kumimoji="0" lang="en-US" altLang="zh-TW" sz="2000" b="0" dirty="0" smtClean="0">
                <a:latin typeface="Consolas" panose="020B0609020204030204" pitchFamily="49" charset="0"/>
              </a:rPr>
              <a:t>Your choice? </a:t>
            </a:r>
            <a:r>
              <a:rPr lang="en-US" altLang="zh-TW" sz="2000" u="sng" dirty="0" smtClean="0">
                <a:solidFill>
                  <a:srgbClr val="0070C0"/>
                </a:solidFill>
                <a:latin typeface="Consolas" panose="020B0609020204030204" pitchFamily="49" charset="0"/>
              </a:rPr>
              <a:t>6</a:t>
            </a:r>
            <a:endParaRPr lang="en-US" altLang="zh-TW" sz="2000" u="sng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pPr eaLnBrk="1" hangingPunct="1"/>
            <a:r>
              <a:rPr lang="en-US" altLang="zh-TW" sz="2000" b="0" dirty="0" smtClean="0">
                <a:latin typeface="Consolas" panose="020B0609020204030204" pitchFamily="49" charset="0"/>
              </a:rPr>
              <a:t>That is not a valid choice</a:t>
            </a:r>
            <a:r>
              <a:rPr lang="en-US" altLang="zh-TW" sz="2000" b="0" dirty="0">
                <a:latin typeface="Consolas" panose="020B0609020204030204" pitchFamily="49" charset="0"/>
              </a:rPr>
              <a:t>.</a:t>
            </a:r>
          </a:p>
          <a:p>
            <a:pPr eaLnBrk="1" hangingPunct="1"/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/>
            <a:r>
              <a:rPr lang="en-US" altLang="zh-TW" sz="2000" b="0" dirty="0" smtClean="0">
                <a:latin typeface="Consolas" panose="020B0609020204030204" pitchFamily="49" charset="0"/>
              </a:rPr>
              <a:t>Your choice</a:t>
            </a:r>
            <a:r>
              <a:rPr lang="en-US" altLang="zh-TW" sz="2000" b="0" dirty="0">
                <a:latin typeface="Consolas" panose="020B0609020204030204" pitchFamily="49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636949657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921262" cy="838200"/>
          </a:xfrm>
        </p:spPr>
        <p:txBody>
          <a:bodyPr>
            <a:normAutofit/>
          </a:bodyPr>
          <a:lstStyle/>
          <a:p>
            <a:r>
              <a:rPr lang="en-US" dirty="0"/>
              <a:t>3</a:t>
            </a:r>
            <a:r>
              <a:rPr lang="en-US" dirty="0" smtClean="0"/>
              <a:t>. Flowcharts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zh-TW" sz="3200" dirty="0" smtClean="0"/>
              <a:t>Although the problem seems simple, we should still think like a computer using flowcharts</a:t>
            </a:r>
            <a:r>
              <a:rPr lang="en-US" altLang="zh-TW" sz="3200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9</a:t>
            </a:fld>
            <a:endParaRPr lang="en-US"/>
          </a:p>
        </p:txBody>
      </p:sp>
      <p:grpSp>
        <p:nvGrpSpPr>
          <p:cNvPr id="90" name="Group 89"/>
          <p:cNvGrpSpPr/>
          <p:nvPr/>
        </p:nvGrpSpPr>
        <p:grpSpPr>
          <a:xfrm>
            <a:off x="2438400" y="2189967"/>
            <a:ext cx="4835451" cy="3962400"/>
            <a:chOff x="2667000" y="1905000"/>
            <a:chExt cx="4835451" cy="3962400"/>
          </a:xfrm>
        </p:grpSpPr>
        <p:sp>
          <p:nvSpPr>
            <p:cNvPr id="9" name="Rectangle 8"/>
            <p:cNvSpPr/>
            <p:nvPr/>
          </p:nvSpPr>
          <p:spPr>
            <a:xfrm>
              <a:off x="2970143" y="5016796"/>
              <a:ext cx="2020957" cy="4253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/>
                <a:t>Comment on selection</a:t>
              </a:r>
              <a:endParaRPr lang="en-US" sz="1400" dirty="0"/>
            </a:p>
          </p:txBody>
        </p:sp>
        <p:cxnSp>
          <p:nvCxnSpPr>
            <p:cNvPr id="10" name="Straight Arrow Connector 9"/>
            <p:cNvCxnSpPr>
              <a:stCxn id="24" idx="2"/>
              <a:endCxn id="19" idx="0"/>
            </p:cNvCxnSpPr>
            <p:nvPr/>
          </p:nvCxnSpPr>
          <p:spPr>
            <a:xfrm>
              <a:off x="3980621" y="3647932"/>
              <a:ext cx="1" cy="34869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>
              <a:endCxn id="9" idx="0"/>
            </p:cNvCxnSpPr>
            <p:nvPr/>
          </p:nvCxnSpPr>
          <p:spPr>
            <a:xfrm>
              <a:off x="3980622" y="4476308"/>
              <a:ext cx="0" cy="54048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>
              <a:off x="3980620" y="5442098"/>
              <a:ext cx="0" cy="425302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4512053" y="4471159"/>
              <a:ext cx="8083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No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374333" y="4569023"/>
              <a:ext cx="5052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Yes</a:t>
              </a:r>
            </a:p>
          </p:txBody>
        </p:sp>
        <p:sp>
          <p:nvSpPr>
            <p:cNvPr id="19" name="Flowchart: Decision 18"/>
            <p:cNvSpPr/>
            <p:nvPr/>
          </p:nvSpPr>
          <p:spPr>
            <a:xfrm>
              <a:off x="2667000" y="3996631"/>
              <a:ext cx="2627243" cy="680484"/>
            </a:xfrm>
            <a:prstGeom prst="flowChartDecis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/>
                <a:t>Is choice valid</a:t>
              </a:r>
              <a:r>
                <a:rPr lang="en-US" sz="1400" dirty="0"/>
                <a:t>?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5481494" y="3705587"/>
              <a:ext cx="2020957" cy="4253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/>
                <a:t>Report error</a:t>
              </a:r>
              <a:endParaRPr lang="en-US" sz="1400" dirty="0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2970143" y="2330302"/>
              <a:ext cx="2020957" cy="4253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/>
                <a:t>Present choices</a:t>
              </a:r>
              <a:endParaRPr lang="en-US" sz="1400" dirty="0"/>
            </a:p>
          </p:txBody>
        </p:sp>
        <p:cxnSp>
          <p:nvCxnSpPr>
            <p:cNvPr id="22" name="Straight Arrow Connector 21"/>
            <p:cNvCxnSpPr/>
            <p:nvPr/>
          </p:nvCxnSpPr>
          <p:spPr>
            <a:xfrm>
              <a:off x="3980622" y="1905000"/>
              <a:ext cx="0" cy="425302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2970142" y="3222630"/>
              <a:ext cx="2020957" cy="4253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/>
                <a:t>Ask for user input</a:t>
              </a:r>
              <a:endParaRPr lang="en-US" sz="1400" dirty="0"/>
            </a:p>
          </p:txBody>
        </p:sp>
        <p:cxnSp>
          <p:nvCxnSpPr>
            <p:cNvPr id="33" name="Straight Arrow Connector 32"/>
            <p:cNvCxnSpPr>
              <a:stCxn id="21" idx="2"/>
              <a:endCxn id="24" idx="0"/>
            </p:cNvCxnSpPr>
            <p:nvPr/>
          </p:nvCxnSpPr>
          <p:spPr>
            <a:xfrm flipH="1">
              <a:off x="3980621" y="2755604"/>
              <a:ext cx="1" cy="46702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hape 13"/>
            <p:cNvCxnSpPr>
              <a:cxnSpLocks/>
            </p:cNvCxnSpPr>
            <p:nvPr/>
          </p:nvCxnSpPr>
          <p:spPr>
            <a:xfrm rot="16200000" flipH="1">
              <a:off x="4919628" y="4193390"/>
              <a:ext cx="653023" cy="712174"/>
            </a:xfrm>
            <a:prstGeom prst="curved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hape 14"/>
            <p:cNvCxnSpPr>
              <a:cxnSpLocks/>
              <a:endCxn id="20" idx="2"/>
            </p:cNvCxnSpPr>
            <p:nvPr/>
          </p:nvCxnSpPr>
          <p:spPr>
            <a:xfrm flipV="1">
              <a:off x="5537142" y="4130889"/>
              <a:ext cx="954831" cy="745101"/>
            </a:xfrm>
            <a:prstGeom prst="curved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hape 15"/>
            <p:cNvCxnSpPr>
              <a:cxnSpLocks/>
            </p:cNvCxnSpPr>
            <p:nvPr/>
          </p:nvCxnSpPr>
          <p:spPr>
            <a:xfrm rot="16200000" flipV="1">
              <a:off x="5629119" y="2808015"/>
              <a:ext cx="831053" cy="964091"/>
            </a:xfrm>
            <a:prstGeom prst="curved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hape 16"/>
            <p:cNvCxnSpPr/>
            <p:nvPr/>
          </p:nvCxnSpPr>
          <p:spPr>
            <a:xfrm rot="10800000" flipV="1">
              <a:off x="4771613" y="2863897"/>
              <a:ext cx="827431" cy="352647"/>
            </a:xfrm>
            <a:prstGeom prst="curved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77919231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921262" cy="838200"/>
          </a:xfrm>
        </p:spPr>
        <p:txBody>
          <a:bodyPr>
            <a:normAutofit/>
          </a:bodyPr>
          <a:lstStyle/>
          <a:p>
            <a:r>
              <a:rPr lang="en-US" dirty="0"/>
              <a:t>3</a:t>
            </a:r>
            <a:r>
              <a:rPr lang="en-US" dirty="0" smtClean="0"/>
              <a:t>. Flowcharts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zh-TW" sz="3200" dirty="0" smtClean="0"/>
              <a:t>In doing so, you implicitly break down the problem into smaller chunks</a:t>
            </a:r>
            <a:r>
              <a:rPr lang="en-US" altLang="zh-TW" sz="3200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10</a:t>
            </a:fld>
            <a:endParaRPr lang="en-US"/>
          </a:p>
        </p:txBody>
      </p:sp>
      <p:grpSp>
        <p:nvGrpSpPr>
          <p:cNvPr id="90" name="Group 89"/>
          <p:cNvGrpSpPr/>
          <p:nvPr/>
        </p:nvGrpSpPr>
        <p:grpSpPr>
          <a:xfrm>
            <a:off x="2438400" y="2189967"/>
            <a:ext cx="4835451" cy="3962400"/>
            <a:chOff x="2667000" y="1905000"/>
            <a:chExt cx="4835451" cy="3962400"/>
          </a:xfrm>
        </p:grpSpPr>
        <p:sp>
          <p:nvSpPr>
            <p:cNvPr id="9" name="Rectangle 8"/>
            <p:cNvSpPr/>
            <p:nvPr/>
          </p:nvSpPr>
          <p:spPr>
            <a:xfrm>
              <a:off x="2970143" y="5016796"/>
              <a:ext cx="2020957" cy="4253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/>
                <a:t>Comment on selection</a:t>
              </a:r>
              <a:endParaRPr lang="en-US" sz="1400" dirty="0"/>
            </a:p>
          </p:txBody>
        </p:sp>
        <p:cxnSp>
          <p:nvCxnSpPr>
            <p:cNvPr id="10" name="Straight Arrow Connector 9"/>
            <p:cNvCxnSpPr>
              <a:cxnSpLocks/>
              <a:stCxn id="24" idx="2"/>
              <a:endCxn id="19" idx="0"/>
            </p:cNvCxnSpPr>
            <p:nvPr/>
          </p:nvCxnSpPr>
          <p:spPr>
            <a:xfrm>
              <a:off x="3980621" y="3647932"/>
              <a:ext cx="1" cy="34869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>
              <a:cxnSpLocks/>
              <a:endCxn id="9" idx="0"/>
            </p:cNvCxnSpPr>
            <p:nvPr/>
          </p:nvCxnSpPr>
          <p:spPr>
            <a:xfrm>
              <a:off x="3980622" y="4476308"/>
              <a:ext cx="0" cy="54048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>
              <a:off x="3980620" y="5442098"/>
              <a:ext cx="0" cy="425302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4512053" y="4471159"/>
              <a:ext cx="8083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No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374333" y="4569023"/>
              <a:ext cx="5052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Yes</a:t>
              </a:r>
            </a:p>
          </p:txBody>
        </p:sp>
        <p:sp>
          <p:nvSpPr>
            <p:cNvPr id="19" name="Flowchart: Decision 18"/>
            <p:cNvSpPr/>
            <p:nvPr/>
          </p:nvSpPr>
          <p:spPr>
            <a:xfrm>
              <a:off x="2667000" y="3996631"/>
              <a:ext cx="2627243" cy="680484"/>
            </a:xfrm>
            <a:prstGeom prst="flowChartDecis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/>
                <a:t>Is choice valid</a:t>
              </a:r>
              <a:r>
                <a:rPr lang="en-US" sz="1400" dirty="0"/>
                <a:t>?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5481494" y="3705587"/>
              <a:ext cx="2020957" cy="4253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/>
                <a:t>Report error</a:t>
              </a:r>
              <a:endParaRPr lang="en-US" sz="1400" dirty="0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2970143" y="2330302"/>
              <a:ext cx="2020957" cy="4253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/>
                <a:t>Present choices</a:t>
              </a:r>
              <a:endParaRPr lang="en-US" sz="1400" dirty="0"/>
            </a:p>
          </p:txBody>
        </p:sp>
        <p:cxnSp>
          <p:nvCxnSpPr>
            <p:cNvPr id="22" name="Straight Arrow Connector 21"/>
            <p:cNvCxnSpPr/>
            <p:nvPr/>
          </p:nvCxnSpPr>
          <p:spPr>
            <a:xfrm>
              <a:off x="3980622" y="1905000"/>
              <a:ext cx="0" cy="425302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2970142" y="3222630"/>
              <a:ext cx="2020957" cy="4253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/>
                <a:t>Ask for user input</a:t>
              </a:r>
              <a:endParaRPr lang="en-US" sz="1400" dirty="0"/>
            </a:p>
          </p:txBody>
        </p:sp>
        <p:cxnSp>
          <p:nvCxnSpPr>
            <p:cNvPr id="33" name="Straight Arrow Connector 32"/>
            <p:cNvCxnSpPr>
              <a:cxnSpLocks/>
              <a:stCxn id="21" idx="2"/>
              <a:endCxn id="24" idx="0"/>
            </p:cNvCxnSpPr>
            <p:nvPr/>
          </p:nvCxnSpPr>
          <p:spPr>
            <a:xfrm flipH="1">
              <a:off x="3980621" y="2755604"/>
              <a:ext cx="1" cy="46702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hape 13"/>
            <p:cNvCxnSpPr/>
            <p:nvPr/>
          </p:nvCxnSpPr>
          <p:spPr>
            <a:xfrm rot="16200000" flipH="1">
              <a:off x="4919628" y="4193390"/>
              <a:ext cx="653023" cy="712174"/>
            </a:xfrm>
            <a:prstGeom prst="curved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hape 14"/>
            <p:cNvCxnSpPr>
              <a:cxnSpLocks/>
              <a:endCxn id="20" idx="2"/>
            </p:cNvCxnSpPr>
            <p:nvPr/>
          </p:nvCxnSpPr>
          <p:spPr>
            <a:xfrm flipV="1">
              <a:off x="5537142" y="4130889"/>
              <a:ext cx="954831" cy="745101"/>
            </a:xfrm>
            <a:prstGeom prst="curved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hape 15"/>
            <p:cNvCxnSpPr/>
            <p:nvPr/>
          </p:nvCxnSpPr>
          <p:spPr>
            <a:xfrm rot="16200000" flipV="1">
              <a:off x="5629119" y="2808015"/>
              <a:ext cx="831053" cy="964091"/>
            </a:xfrm>
            <a:prstGeom prst="curved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hape 16"/>
            <p:cNvCxnSpPr/>
            <p:nvPr/>
          </p:nvCxnSpPr>
          <p:spPr>
            <a:xfrm rot="10800000" flipV="1">
              <a:off x="4771613" y="2863897"/>
              <a:ext cx="827431" cy="352647"/>
            </a:xfrm>
            <a:prstGeom prst="curved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5D20287B-1D55-4497-8ABC-99E56093C4E6}"/>
              </a:ext>
            </a:extLst>
          </p:cNvPr>
          <p:cNvSpPr txBox="1"/>
          <p:nvPr/>
        </p:nvSpPr>
        <p:spPr>
          <a:xfrm>
            <a:off x="1438936" y="2615269"/>
            <a:ext cx="944489" cy="369332"/>
          </a:xfrm>
          <a:prstGeom prst="rect">
            <a:avLst/>
          </a:prstGeom>
          <a:solidFill>
            <a:srgbClr val="CCFFCC"/>
          </a:solidFill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D20287B-1D55-4497-8ABC-99E56093C4E6}"/>
              </a:ext>
            </a:extLst>
          </p:cNvPr>
          <p:cNvSpPr txBox="1"/>
          <p:nvPr/>
        </p:nvSpPr>
        <p:spPr>
          <a:xfrm>
            <a:off x="1438936" y="3397082"/>
            <a:ext cx="944489" cy="646331"/>
          </a:xfrm>
          <a:prstGeom prst="rect">
            <a:avLst/>
          </a:prstGeom>
          <a:solidFill>
            <a:srgbClr val="CCFFCC"/>
          </a:solidFill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endParaRPr lang="en-US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scanf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D20287B-1D55-4497-8ABC-99E56093C4E6}"/>
              </a:ext>
            </a:extLst>
          </p:cNvPr>
          <p:cNvSpPr txBox="1"/>
          <p:nvPr/>
        </p:nvSpPr>
        <p:spPr>
          <a:xfrm>
            <a:off x="1438935" y="5279314"/>
            <a:ext cx="944489" cy="369332"/>
          </a:xfrm>
          <a:prstGeom prst="rect">
            <a:avLst/>
          </a:prstGeom>
          <a:solidFill>
            <a:srgbClr val="CCFFCC"/>
          </a:solidFill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D20287B-1D55-4497-8ABC-99E56093C4E6}"/>
              </a:ext>
            </a:extLst>
          </p:cNvPr>
          <p:cNvSpPr txBox="1"/>
          <p:nvPr/>
        </p:nvSpPr>
        <p:spPr>
          <a:xfrm>
            <a:off x="6161431" y="3021029"/>
            <a:ext cx="1324402" cy="369332"/>
          </a:xfrm>
          <a:prstGeom prst="rect">
            <a:avLst/>
          </a:prstGeom>
          <a:solidFill>
            <a:srgbClr val="CCFFCC"/>
          </a:solidFill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for/while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D20287B-1D55-4497-8ABC-99E56093C4E6}"/>
              </a:ext>
            </a:extLst>
          </p:cNvPr>
          <p:cNvSpPr txBox="1"/>
          <p:nvPr/>
        </p:nvSpPr>
        <p:spPr>
          <a:xfrm>
            <a:off x="7489602" y="4018539"/>
            <a:ext cx="944489" cy="369332"/>
          </a:xfrm>
          <a:prstGeom prst="rect">
            <a:avLst/>
          </a:prstGeom>
          <a:solidFill>
            <a:srgbClr val="CCFFCC"/>
          </a:solidFill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D20287B-1D55-4497-8ABC-99E56093C4E6}"/>
              </a:ext>
            </a:extLst>
          </p:cNvPr>
          <p:cNvSpPr txBox="1"/>
          <p:nvPr/>
        </p:nvSpPr>
        <p:spPr>
          <a:xfrm>
            <a:off x="430288" y="4437174"/>
            <a:ext cx="1957587" cy="369332"/>
          </a:xfrm>
          <a:prstGeom prst="rect">
            <a:avLst/>
          </a:prstGeom>
          <a:solidFill>
            <a:srgbClr val="CCFFCC"/>
          </a:solidFill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if / condition</a:t>
            </a:r>
            <a:endParaRPr lang="en-US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222687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921262" cy="838200"/>
          </a:xfrm>
        </p:spPr>
        <p:txBody>
          <a:bodyPr>
            <a:normAutofit/>
          </a:bodyPr>
          <a:lstStyle/>
          <a:p>
            <a:r>
              <a:rPr lang="en-US" dirty="0"/>
              <a:t>3</a:t>
            </a:r>
            <a:r>
              <a:rPr lang="en-US" dirty="0" smtClean="0"/>
              <a:t>. Flowcharts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339" y="1066800"/>
            <a:ext cx="4501662" cy="51054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zh-TW" dirty="0" smtClean="0"/>
              <a:t>If the menu is to be printed again for invalid choices, the flow can be changed easily. </a:t>
            </a:r>
            <a:endParaRPr lang="en-US" altLang="zh-TW" dirty="0"/>
          </a:p>
          <a:p>
            <a:pPr>
              <a:defRPr/>
            </a:pPr>
            <a:r>
              <a:rPr lang="en-US" altLang="zh-TW" dirty="0" smtClean="0"/>
              <a:t>If code segments are grouped as in the flowchart, it can then be modified with ease</a:t>
            </a:r>
            <a:r>
              <a:rPr lang="en-US" altLang="zh-TW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35" name="Rectangle 34"/>
          <p:cNvSpPr>
            <a:spLocks noChangeArrowheads="1"/>
          </p:cNvSpPr>
          <p:nvPr/>
        </p:nvSpPr>
        <p:spPr bwMode="auto">
          <a:xfrm>
            <a:off x="4787544" y="1066800"/>
            <a:ext cx="4033837" cy="4953000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kumimoji="0" lang="en-US" altLang="zh-TW" sz="2000" b="0" dirty="0" smtClean="0">
                <a:latin typeface="Consolas" panose="020B0609020204030204" pitchFamily="49" charset="0"/>
              </a:rPr>
              <a:t>What beverage do you prefer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?</a:t>
            </a:r>
          </a:p>
          <a:p>
            <a:pPr marL="457200" indent="-457200" eaLnBrk="1" hangingPunct="1">
              <a:buAutoNum type="arabicPeriod"/>
            </a:pPr>
            <a:r>
              <a:rPr lang="en-US" altLang="zh-TW" sz="2000" b="0" dirty="0">
                <a:latin typeface="Consolas" panose="020B0609020204030204" pitchFamily="49" charset="0"/>
              </a:rPr>
              <a:t>coffee</a:t>
            </a:r>
          </a:p>
          <a:p>
            <a:pPr marL="457200" indent="-457200" eaLnBrk="1" hangingPunct="1">
              <a:buAutoNum type="arabicPeriod"/>
            </a:pPr>
            <a:r>
              <a:rPr lang="en-US" altLang="zh-TW" sz="2000" b="0" dirty="0">
                <a:latin typeface="Consolas" panose="020B0609020204030204" pitchFamily="49" charset="0"/>
              </a:rPr>
              <a:t>tea</a:t>
            </a:r>
          </a:p>
          <a:p>
            <a:pPr marL="457200" indent="-457200" eaLnBrk="1" hangingPunct="1">
              <a:buAutoNum type="arabicPeriod"/>
            </a:pPr>
            <a:r>
              <a:rPr lang="en-US" altLang="zh-TW" sz="2000" b="0" dirty="0" smtClean="0">
                <a:latin typeface="Consolas" panose="020B0609020204030204" pitchFamily="49" charset="0"/>
              </a:rPr>
              <a:t>soft drink</a:t>
            </a:r>
            <a:endParaRPr lang="en-US" altLang="zh-TW" sz="2000" b="0" dirty="0">
              <a:latin typeface="Consolas" panose="020B0609020204030204" pitchFamily="49" charset="0"/>
            </a:endParaRPr>
          </a:p>
          <a:p>
            <a:pPr marL="457200" indent="-457200" eaLnBrk="1" hangingPunct="1">
              <a:buAutoNum type="arabicPeriod"/>
            </a:pPr>
            <a:r>
              <a:rPr lang="en-US" altLang="zh-TW" sz="2000" b="0" dirty="0">
                <a:latin typeface="Consolas" panose="020B0609020204030204" pitchFamily="49" charset="0"/>
              </a:rPr>
              <a:t>j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uice</a:t>
            </a:r>
          </a:p>
          <a:p>
            <a:pPr marL="457200" indent="-457200" eaLnBrk="1" hangingPunct="1">
              <a:buAutoNum type="arabicPeriod"/>
            </a:pPr>
            <a:r>
              <a:rPr lang="en-US" altLang="zh-TW" sz="2000" b="0" dirty="0">
                <a:latin typeface="Consolas" panose="020B0609020204030204" pitchFamily="49" charset="0"/>
              </a:rPr>
              <a:t>water</a:t>
            </a:r>
          </a:p>
          <a:p>
            <a:pPr eaLnBrk="1" hangingPunct="1"/>
            <a:r>
              <a:rPr kumimoji="0" lang="en-US" altLang="zh-TW" sz="2000" b="0" dirty="0" smtClean="0">
                <a:latin typeface="Consolas" panose="020B0609020204030204" pitchFamily="49" charset="0"/>
              </a:rPr>
              <a:t>Your choice? </a:t>
            </a:r>
            <a:r>
              <a:rPr lang="en-US" altLang="zh-TW" sz="2000" u="sng" dirty="0" smtClean="0">
                <a:solidFill>
                  <a:srgbClr val="0070C0"/>
                </a:solidFill>
                <a:latin typeface="Consolas" panose="020B0609020204030204" pitchFamily="49" charset="0"/>
              </a:rPr>
              <a:t>6</a:t>
            </a:r>
            <a:endParaRPr kumimoji="0" lang="en-US" altLang="zh-TW" sz="2000" u="sng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pPr eaLnBrk="1" hangingPunct="1"/>
            <a:r>
              <a:rPr lang="en-US" altLang="zh-TW" sz="2000" b="0" dirty="0" smtClean="0">
                <a:latin typeface="Consolas" panose="020B0609020204030204" pitchFamily="49" charset="0"/>
              </a:rPr>
              <a:t>That is not a valid choice</a:t>
            </a:r>
            <a:r>
              <a:rPr lang="en-US" altLang="zh-TW" sz="2000" b="0" dirty="0">
                <a:latin typeface="Consolas" panose="020B0609020204030204" pitchFamily="49" charset="0"/>
              </a:rPr>
              <a:t>.</a:t>
            </a:r>
          </a:p>
          <a:p>
            <a:pPr eaLnBrk="1" hangingPunct="1"/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/>
            <a:r>
              <a:rPr lang="en-US" altLang="zh-TW" sz="2000" b="0" dirty="0" smtClean="0">
                <a:latin typeface="Consolas" panose="020B0609020204030204" pitchFamily="49" charset="0"/>
              </a:rPr>
              <a:t>What beverage do you prefer</a:t>
            </a:r>
            <a:r>
              <a:rPr lang="en-US" altLang="zh-TW" sz="2000" b="0" dirty="0">
                <a:latin typeface="Consolas" panose="020B0609020204030204" pitchFamily="49" charset="0"/>
              </a:rPr>
              <a:t>?</a:t>
            </a:r>
          </a:p>
          <a:p>
            <a:pPr marL="457200" indent="-457200" eaLnBrk="1" hangingPunct="1">
              <a:buAutoNum type="arabicPeriod"/>
            </a:pPr>
            <a:r>
              <a:rPr lang="en-US" altLang="zh-TW" sz="2000" b="0" dirty="0">
                <a:latin typeface="Consolas" panose="020B0609020204030204" pitchFamily="49" charset="0"/>
              </a:rPr>
              <a:t>coffee</a:t>
            </a:r>
          </a:p>
          <a:p>
            <a:pPr marL="457200" indent="-457200" eaLnBrk="1" hangingPunct="1">
              <a:buAutoNum type="arabicPeriod"/>
            </a:pPr>
            <a:r>
              <a:rPr lang="en-US" altLang="zh-TW" sz="2000" b="0" dirty="0">
                <a:latin typeface="Consolas" panose="020B0609020204030204" pitchFamily="49" charset="0"/>
              </a:rPr>
              <a:t>tea</a:t>
            </a:r>
          </a:p>
          <a:p>
            <a:pPr marL="457200" indent="-457200" eaLnBrk="1" hangingPunct="1">
              <a:buAutoNum type="arabicPeriod"/>
            </a:pPr>
            <a:r>
              <a:rPr lang="en-US" altLang="zh-TW" sz="2000" b="0" dirty="0" smtClean="0">
                <a:latin typeface="Consolas" panose="020B0609020204030204" pitchFamily="49" charset="0"/>
              </a:rPr>
              <a:t>soft drink</a:t>
            </a:r>
            <a:endParaRPr lang="en-US" altLang="zh-TW" sz="2000" b="0" dirty="0">
              <a:latin typeface="Consolas" panose="020B0609020204030204" pitchFamily="49" charset="0"/>
            </a:endParaRPr>
          </a:p>
          <a:p>
            <a:pPr marL="457200" indent="-457200" eaLnBrk="1" hangingPunct="1">
              <a:buAutoNum type="arabicPeriod"/>
            </a:pPr>
            <a:r>
              <a:rPr lang="en-US" altLang="zh-TW" sz="2000" b="0" dirty="0">
                <a:latin typeface="Consolas" panose="020B0609020204030204" pitchFamily="49" charset="0"/>
              </a:rPr>
              <a:t>juice</a:t>
            </a:r>
          </a:p>
          <a:p>
            <a:pPr marL="457200" indent="-457200" eaLnBrk="1" hangingPunct="1">
              <a:buAutoNum type="arabicPeriod"/>
            </a:pPr>
            <a:r>
              <a:rPr lang="en-US" altLang="zh-TW" sz="2000" b="0" dirty="0">
                <a:latin typeface="Consolas" panose="020B0609020204030204" pitchFamily="49" charset="0"/>
              </a:rPr>
              <a:t>water</a:t>
            </a:r>
          </a:p>
          <a:p>
            <a:pPr eaLnBrk="1" hangingPunct="1"/>
            <a:r>
              <a:rPr lang="en-US" altLang="zh-TW" sz="2000" b="0" dirty="0" smtClean="0">
                <a:latin typeface="Consolas" panose="020B0609020204030204" pitchFamily="49" charset="0"/>
              </a:rPr>
              <a:t>Your choice</a:t>
            </a:r>
            <a:r>
              <a:rPr lang="en-US" altLang="zh-TW" sz="2000" b="0" dirty="0">
                <a:latin typeface="Consolas" panose="020B0609020204030204" pitchFamily="49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537937812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921262" cy="838200"/>
          </a:xfrm>
        </p:spPr>
        <p:txBody>
          <a:bodyPr>
            <a:normAutofit/>
          </a:bodyPr>
          <a:lstStyle/>
          <a:p>
            <a:r>
              <a:rPr lang="en-US" dirty="0"/>
              <a:t>3</a:t>
            </a:r>
            <a:r>
              <a:rPr lang="en-US" dirty="0" smtClean="0"/>
              <a:t>. Flowcharts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zh-TW" sz="3200" dirty="0"/>
              <a:t>(Before)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12</a:t>
            </a:fld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1438935" y="1981200"/>
            <a:ext cx="6995156" cy="3962400"/>
            <a:chOff x="1438935" y="2189967"/>
            <a:chExt cx="6995156" cy="3962400"/>
          </a:xfrm>
        </p:grpSpPr>
        <p:grpSp>
          <p:nvGrpSpPr>
            <p:cNvPr id="90" name="Group 89"/>
            <p:cNvGrpSpPr/>
            <p:nvPr/>
          </p:nvGrpSpPr>
          <p:grpSpPr>
            <a:xfrm>
              <a:off x="2438400" y="2189967"/>
              <a:ext cx="4835451" cy="3962400"/>
              <a:chOff x="2667000" y="1905000"/>
              <a:chExt cx="4835451" cy="3962400"/>
            </a:xfrm>
          </p:grpSpPr>
          <p:sp>
            <p:nvSpPr>
              <p:cNvPr id="9" name="Rectangle 8"/>
              <p:cNvSpPr/>
              <p:nvPr/>
            </p:nvSpPr>
            <p:spPr>
              <a:xfrm>
                <a:off x="2970143" y="5016796"/>
                <a:ext cx="2020957" cy="42530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smtClean="0"/>
                  <a:t>Comment on selection</a:t>
                </a:r>
                <a:endParaRPr lang="en-US" sz="1400" dirty="0"/>
              </a:p>
            </p:txBody>
          </p:sp>
          <p:cxnSp>
            <p:nvCxnSpPr>
              <p:cNvPr id="10" name="Straight Arrow Connector 9"/>
              <p:cNvCxnSpPr>
                <a:cxnSpLocks/>
                <a:stCxn id="24" idx="2"/>
                <a:endCxn id="19" idx="0"/>
              </p:cNvCxnSpPr>
              <p:nvPr/>
            </p:nvCxnSpPr>
            <p:spPr>
              <a:xfrm>
                <a:off x="3980621" y="3647932"/>
                <a:ext cx="1" cy="348699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/>
              <p:cNvCxnSpPr>
                <a:cxnSpLocks/>
                <a:endCxn id="9" idx="0"/>
              </p:cNvCxnSpPr>
              <p:nvPr/>
            </p:nvCxnSpPr>
            <p:spPr>
              <a:xfrm>
                <a:off x="3980622" y="4476308"/>
                <a:ext cx="0" cy="540488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/>
              <p:cNvCxnSpPr/>
              <p:nvPr/>
            </p:nvCxnSpPr>
            <p:spPr>
              <a:xfrm>
                <a:off x="3980620" y="5442098"/>
                <a:ext cx="0" cy="425302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TextBox 12"/>
              <p:cNvSpPr txBox="1"/>
              <p:nvPr/>
            </p:nvSpPr>
            <p:spPr>
              <a:xfrm>
                <a:off x="4512053" y="4471159"/>
                <a:ext cx="80838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No</a:t>
                </a:r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3374333" y="4569023"/>
                <a:ext cx="5052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Yes</a:t>
                </a:r>
              </a:p>
            </p:txBody>
          </p:sp>
          <p:sp>
            <p:nvSpPr>
              <p:cNvPr id="19" name="Flowchart: Decision 18"/>
              <p:cNvSpPr/>
              <p:nvPr/>
            </p:nvSpPr>
            <p:spPr>
              <a:xfrm>
                <a:off x="2667000" y="3996631"/>
                <a:ext cx="2627243" cy="680484"/>
              </a:xfrm>
              <a:prstGeom prst="flowChartDecision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smtClean="0"/>
                  <a:t>Is choice valid</a:t>
                </a:r>
                <a:r>
                  <a:rPr lang="en-US" sz="1400" dirty="0"/>
                  <a:t>?</a:t>
                </a:r>
              </a:p>
            </p:txBody>
          </p:sp>
          <p:sp>
            <p:nvSpPr>
              <p:cNvPr id="20" name="Rectangle 19"/>
              <p:cNvSpPr/>
              <p:nvPr/>
            </p:nvSpPr>
            <p:spPr>
              <a:xfrm>
                <a:off x="5481494" y="3705587"/>
                <a:ext cx="2020957" cy="42530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smtClean="0"/>
                  <a:t>Report error</a:t>
                </a:r>
                <a:endParaRPr lang="en-US" sz="1400" dirty="0"/>
              </a:p>
            </p:txBody>
          </p:sp>
          <p:sp>
            <p:nvSpPr>
              <p:cNvPr id="21" name="Rectangle 20"/>
              <p:cNvSpPr/>
              <p:nvPr/>
            </p:nvSpPr>
            <p:spPr>
              <a:xfrm>
                <a:off x="2970143" y="2330302"/>
                <a:ext cx="2020957" cy="42530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smtClean="0"/>
                  <a:t>Present choices</a:t>
                </a:r>
                <a:endParaRPr lang="en-US" sz="1400" dirty="0"/>
              </a:p>
            </p:txBody>
          </p:sp>
          <p:cxnSp>
            <p:nvCxnSpPr>
              <p:cNvPr id="22" name="Straight Arrow Connector 21"/>
              <p:cNvCxnSpPr/>
              <p:nvPr/>
            </p:nvCxnSpPr>
            <p:spPr>
              <a:xfrm>
                <a:off x="3980622" y="1905000"/>
                <a:ext cx="0" cy="425302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Rectangle 23"/>
              <p:cNvSpPr/>
              <p:nvPr/>
            </p:nvSpPr>
            <p:spPr>
              <a:xfrm>
                <a:off x="2970142" y="3222630"/>
                <a:ext cx="2020957" cy="42530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smtClean="0"/>
                  <a:t>Ask for user input</a:t>
                </a:r>
                <a:endParaRPr lang="en-US" sz="1400" dirty="0"/>
              </a:p>
            </p:txBody>
          </p:sp>
          <p:cxnSp>
            <p:nvCxnSpPr>
              <p:cNvPr id="33" name="Straight Arrow Connector 32"/>
              <p:cNvCxnSpPr>
                <a:cxnSpLocks/>
                <a:stCxn id="21" idx="2"/>
                <a:endCxn id="24" idx="0"/>
              </p:cNvCxnSpPr>
              <p:nvPr/>
            </p:nvCxnSpPr>
            <p:spPr>
              <a:xfrm flipH="1">
                <a:off x="3980621" y="2755604"/>
                <a:ext cx="1" cy="467026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hape 13"/>
              <p:cNvCxnSpPr/>
              <p:nvPr/>
            </p:nvCxnSpPr>
            <p:spPr>
              <a:xfrm rot="16200000" flipH="1">
                <a:off x="4919628" y="4193390"/>
                <a:ext cx="653023" cy="712174"/>
              </a:xfrm>
              <a:prstGeom prst="curvedConnector2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hape 14"/>
              <p:cNvCxnSpPr>
                <a:cxnSpLocks/>
                <a:endCxn id="20" idx="2"/>
              </p:cNvCxnSpPr>
              <p:nvPr/>
            </p:nvCxnSpPr>
            <p:spPr>
              <a:xfrm flipV="1">
                <a:off x="5537142" y="4130889"/>
                <a:ext cx="954831" cy="745101"/>
              </a:xfrm>
              <a:prstGeom prst="curvedConnector2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hape 15"/>
              <p:cNvCxnSpPr/>
              <p:nvPr/>
            </p:nvCxnSpPr>
            <p:spPr>
              <a:xfrm rot="16200000" flipV="1">
                <a:off x="5629119" y="2808015"/>
                <a:ext cx="831053" cy="964091"/>
              </a:xfrm>
              <a:prstGeom prst="curvedConnector2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hape 16"/>
              <p:cNvCxnSpPr/>
              <p:nvPr/>
            </p:nvCxnSpPr>
            <p:spPr>
              <a:xfrm rot="10800000" flipV="1">
                <a:off x="4771613" y="2863897"/>
                <a:ext cx="827431" cy="352647"/>
              </a:xfrm>
              <a:prstGeom prst="curvedConnector2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D20287B-1D55-4497-8ABC-99E56093C4E6}"/>
                </a:ext>
              </a:extLst>
            </p:cNvPr>
            <p:cNvSpPr txBox="1"/>
            <p:nvPr/>
          </p:nvSpPr>
          <p:spPr>
            <a:xfrm>
              <a:off x="1438936" y="2615269"/>
              <a:ext cx="944489" cy="369332"/>
            </a:xfrm>
            <a:prstGeom prst="rect">
              <a:avLst/>
            </a:prstGeom>
            <a:solidFill>
              <a:srgbClr val="CCFFCC"/>
            </a:solidFill>
            <a:ln>
              <a:solidFill>
                <a:srgbClr val="4472C4"/>
              </a:solidFill>
            </a:ln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printf</a:t>
              </a:r>
              <a:endParaRPr lang="en-US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D20287B-1D55-4497-8ABC-99E56093C4E6}"/>
                </a:ext>
              </a:extLst>
            </p:cNvPr>
            <p:cNvSpPr txBox="1"/>
            <p:nvPr/>
          </p:nvSpPr>
          <p:spPr>
            <a:xfrm>
              <a:off x="1438936" y="3397082"/>
              <a:ext cx="944489" cy="646331"/>
            </a:xfrm>
            <a:prstGeom prst="rect">
              <a:avLst/>
            </a:prstGeom>
            <a:solidFill>
              <a:srgbClr val="CCFFCC"/>
            </a:solidFill>
            <a:ln>
              <a:solidFill>
                <a:srgbClr val="4472C4"/>
              </a:solidFill>
            </a:ln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printf</a:t>
              </a:r>
              <a:endParaRPr lang="en-US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en-US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scanf</a:t>
              </a:r>
              <a:endParaRPr lang="en-US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D20287B-1D55-4497-8ABC-99E56093C4E6}"/>
                </a:ext>
              </a:extLst>
            </p:cNvPr>
            <p:cNvSpPr txBox="1"/>
            <p:nvPr/>
          </p:nvSpPr>
          <p:spPr>
            <a:xfrm>
              <a:off x="1438935" y="5279314"/>
              <a:ext cx="944489" cy="369332"/>
            </a:xfrm>
            <a:prstGeom prst="rect">
              <a:avLst/>
            </a:prstGeom>
            <a:solidFill>
              <a:srgbClr val="CCFFCC"/>
            </a:solidFill>
            <a:ln>
              <a:solidFill>
                <a:srgbClr val="4472C4"/>
              </a:solidFill>
            </a:ln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printf</a:t>
              </a:r>
              <a:endParaRPr lang="en-US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D20287B-1D55-4497-8ABC-99E56093C4E6}"/>
                </a:ext>
              </a:extLst>
            </p:cNvPr>
            <p:cNvSpPr txBox="1"/>
            <p:nvPr/>
          </p:nvSpPr>
          <p:spPr>
            <a:xfrm>
              <a:off x="6161431" y="3021029"/>
              <a:ext cx="1324402" cy="369332"/>
            </a:xfrm>
            <a:prstGeom prst="rect">
              <a:avLst/>
            </a:prstGeom>
            <a:solidFill>
              <a:srgbClr val="CCFFCC"/>
            </a:solidFill>
            <a:ln>
              <a:solidFill>
                <a:srgbClr val="4472C4"/>
              </a:solidFill>
            </a:ln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for/while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D20287B-1D55-4497-8ABC-99E56093C4E6}"/>
                </a:ext>
              </a:extLst>
            </p:cNvPr>
            <p:cNvSpPr txBox="1"/>
            <p:nvPr/>
          </p:nvSpPr>
          <p:spPr>
            <a:xfrm>
              <a:off x="7489602" y="4018539"/>
              <a:ext cx="944489" cy="369332"/>
            </a:xfrm>
            <a:prstGeom prst="rect">
              <a:avLst/>
            </a:prstGeom>
            <a:solidFill>
              <a:srgbClr val="CCFFCC"/>
            </a:solidFill>
            <a:ln>
              <a:solidFill>
                <a:srgbClr val="4472C4"/>
              </a:solidFill>
            </a:ln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printf</a:t>
              </a:r>
              <a:endParaRPr lang="en-US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5D20287B-1D55-4497-8ABC-99E56093C4E6}"/>
              </a:ext>
            </a:extLst>
          </p:cNvPr>
          <p:cNvSpPr txBox="1"/>
          <p:nvPr/>
        </p:nvSpPr>
        <p:spPr>
          <a:xfrm>
            <a:off x="430288" y="4249770"/>
            <a:ext cx="1957587" cy="369332"/>
          </a:xfrm>
          <a:prstGeom prst="rect">
            <a:avLst/>
          </a:prstGeom>
          <a:solidFill>
            <a:srgbClr val="CCFFCC"/>
          </a:solidFill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if / condition</a:t>
            </a:r>
            <a:endParaRPr lang="en-US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5270234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921262" cy="838200"/>
          </a:xfrm>
        </p:spPr>
        <p:txBody>
          <a:bodyPr>
            <a:normAutofit/>
          </a:bodyPr>
          <a:lstStyle/>
          <a:p>
            <a:r>
              <a:rPr lang="en-US" dirty="0"/>
              <a:t>3</a:t>
            </a:r>
            <a:r>
              <a:rPr lang="en-US" dirty="0" smtClean="0"/>
              <a:t>. Flowcharts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zh-TW" sz="3200" dirty="0"/>
              <a:t>(After)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13</a:t>
            </a:fld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1438935" y="1981200"/>
            <a:ext cx="6995156" cy="3962400"/>
            <a:chOff x="1438935" y="2189967"/>
            <a:chExt cx="6995156" cy="3962400"/>
          </a:xfrm>
        </p:grpSpPr>
        <p:grpSp>
          <p:nvGrpSpPr>
            <p:cNvPr id="90" name="Group 89"/>
            <p:cNvGrpSpPr/>
            <p:nvPr/>
          </p:nvGrpSpPr>
          <p:grpSpPr>
            <a:xfrm>
              <a:off x="2438400" y="2189967"/>
              <a:ext cx="4835451" cy="3962400"/>
              <a:chOff x="2667000" y="1905000"/>
              <a:chExt cx="4835451" cy="3962400"/>
            </a:xfrm>
          </p:grpSpPr>
          <p:sp>
            <p:nvSpPr>
              <p:cNvPr id="9" name="Rectangle 8"/>
              <p:cNvSpPr/>
              <p:nvPr/>
            </p:nvSpPr>
            <p:spPr>
              <a:xfrm>
                <a:off x="2970143" y="5016796"/>
                <a:ext cx="2020957" cy="42530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smtClean="0"/>
                  <a:t>Comment on selection</a:t>
                </a:r>
                <a:endParaRPr lang="en-US" sz="1400" dirty="0"/>
              </a:p>
            </p:txBody>
          </p:sp>
          <p:cxnSp>
            <p:nvCxnSpPr>
              <p:cNvPr id="10" name="Straight Arrow Connector 9"/>
              <p:cNvCxnSpPr>
                <a:stCxn id="24" idx="2"/>
                <a:endCxn id="19" idx="0"/>
              </p:cNvCxnSpPr>
              <p:nvPr/>
            </p:nvCxnSpPr>
            <p:spPr>
              <a:xfrm>
                <a:off x="3980621" y="3647932"/>
                <a:ext cx="1" cy="348699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/>
              <p:cNvCxnSpPr>
                <a:endCxn id="9" idx="0"/>
              </p:cNvCxnSpPr>
              <p:nvPr/>
            </p:nvCxnSpPr>
            <p:spPr>
              <a:xfrm>
                <a:off x="3980622" y="4476308"/>
                <a:ext cx="0" cy="540488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/>
              <p:cNvCxnSpPr/>
              <p:nvPr/>
            </p:nvCxnSpPr>
            <p:spPr>
              <a:xfrm>
                <a:off x="3980620" y="5442098"/>
                <a:ext cx="0" cy="425302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TextBox 12"/>
              <p:cNvSpPr txBox="1"/>
              <p:nvPr/>
            </p:nvSpPr>
            <p:spPr>
              <a:xfrm>
                <a:off x="4512053" y="4471159"/>
                <a:ext cx="80838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No</a:t>
                </a:r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3374333" y="4569023"/>
                <a:ext cx="5052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Yes</a:t>
                </a:r>
              </a:p>
            </p:txBody>
          </p:sp>
          <p:sp>
            <p:nvSpPr>
              <p:cNvPr id="19" name="Flowchart: Decision 18"/>
              <p:cNvSpPr/>
              <p:nvPr/>
            </p:nvSpPr>
            <p:spPr>
              <a:xfrm>
                <a:off x="2667000" y="3996631"/>
                <a:ext cx="2627243" cy="680484"/>
              </a:xfrm>
              <a:prstGeom prst="flowChartDecision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smtClean="0"/>
                  <a:t>Is choice valid</a:t>
                </a:r>
                <a:r>
                  <a:rPr lang="en-US" sz="1400" dirty="0"/>
                  <a:t>?</a:t>
                </a:r>
              </a:p>
            </p:txBody>
          </p:sp>
          <p:sp>
            <p:nvSpPr>
              <p:cNvPr id="20" name="Rectangle 19"/>
              <p:cNvSpPr/>
              <p:nvPr/>
            </p:nvSpPr>
            <p:spPr>
              <a:xfrm>
                <a:off x="5481494" y="3705587"/>
                <a:ext cx="2020957" cy="42530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smtClean="0"/>
                  <a:t>Report error</a:t>
                </a:r>
                <a:endParaRPr lang="en-US" sz="1400" dirty="0"/>
              </a:p>
            </p:txBody>
          </p:sp>
          <p:sp>
            <p:nvSpPr>
              <p:cNvPr id="21" name="Rectangle 20"/>
              <p:cNvSpPr/>
              <p:nvPr/>
            </p:nvSpPr>
            <p:spPr>
              <a:xfrm>
                <a:off x="2970143" y="2330302"/>
                <a:ext cx="2020957" cy="42530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smtClean="0"/>
                  <a:t>Present choices</a:t>
                </a:r>
                <a:endParaRPr lang="en-US" sz="1400" dirty="0"/>
              </a:p>
            </p:txBody>
          </p:sp>
          <p:cxnSp>
            <p:nvCxnSpPr>
              <p:cNvPr id="22" name="Straight Arrow Connector 21"/>
              <p:cNvCxnSpPr/>
              <p:nvPr/>
            </p:nvCxnSpPr>
            <p:spPr>
              <a:xfrm>
                <a:off x="3980622" y="1905000"/>
                <a:ext cx="0" cy="425302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Rectangle 23"/>
              <p:cNvSpPr/>
              <p:nvPr/>
            </p:nvSpPr>
            <p:spPr>
              <a:xfrm>
                <a:off x="2970142" y="3222630"/>
                <a:ext cx="2020957" cy="42530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smtClean="0"/>
                  <a:t>Ask for user input</a:t>
                </a:r>
                <a:endParaRPr lang="en-US" sz="1400" dirty="0"/>
              </a:p>
            </p:txBody>
          </p:sp>
          <p:cxnSp>
            <p:nvCxnSpPr>
              <p:cNvPr id="33" name="Straight Arrow Connector 32"/>
              <p:cNvCxnSpPr>
                <a:stCxn id="21" idx="2"/>
                <a:endCxn id="24" idx="0"/>
              </p:cNvCxnSpPr>
              <p:nvPr/>
            </p:nvCxnSpPr>
            <p:spPr>
              <a:xfrm flipH="1">
                <a:off x="3980621" y="2755604"/>
                <a:ext cx="1" cy="467026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hape 13"/>
              <p:cNvCxnSpPr/>
              <p:nvPr/>
            </p:nvCxnSpPr>
            <p:spPr>
              <a:xfrm rot="16200000" flipH="1">
                <a:off x="4919628" y="4193390"/>
                <a:ext cx="653023" cy="712174"/>
              </a:xfrm>
              <a:prstGeom prst="curvedConnector2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hape 14"/>
              <p:cNvCxnSpPr>
                <a:endCxn id="20" idx="2"/>
              </p:cNvCxnSpPr>
              <p:nvPr/>
            </p:nvCxnSpPr>
            <p:spPr>
              <a:xfrm flipV="1">
                <a:off x="5537142" y="4130889"/>
                <a:ext cx="954831" cy="745101"/>
              </a:xfrm>
              <a:prstGeom prst="curvedConnector2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hape 15"/>
              <p:cNvCxnSpPr/>
              <p:nvPr/>
            </p:nvCxnSpPr>
            <p:spPr>
              <a:xfrm rot="16200000" flipV="1">
                <a:off x="5201314" y="2325547"/>
                <a:ext cx="1721242" cy="982530"/>
              </a:xfrm>
              <a:prstGeom prst="curvedConnector2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hape 16"/>
              <p:cNvCxnSpPr/>
              <p:nvPr/>
            </p:nvCxnSpPr>
            <p:spPr>
              <a:xfrm rot="10800000" flipV="1">
                <a:off x="4716731" y="1954459"/>
                <a:ext cx="827431" cy="352647"/>
              </a:xfrm>
              <a:prstGeom prst="curvedConnector2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D20287B-1D55-4497-8ABC-99E56093C4E6}"/>
                </a:ext>
              </a:extLst>
            </p:cNvPr>
            <p:cNvSpPr txBox="1"/>
            <p:nvPr/>
          </p:nvSpPr>
          <p:spPr>
            <a:xfrm>
              <a:off x="1438936" y="2615269"/>
              <a:ext cx="944489" cy="369332"/>
            </a:xfrm>
            <a:prstGeom prst="rect">
              <a:avLst/>
            </a:prstGeom>
            <a:solidFill>
              <a:srgbClr val="CCFFCC"/>
            </a:solidFill>
            <a:ln>
              <a:solidFill>
                <a:srgbClr val="4472C4"/>
              </a:solidFill>
            </a:ln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printf</a:t>
              </a:r>
              <a:endParaRPr lang="en-US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D20287B-1D55-4497-8ABC-99E56093C4E6}"/>
                </a:ext>
              </a:extLst>
            </p:cNvPr>
            <p:cNvSpPr txBox="1"/>
            <p:nvPr/>
          </p:nvSpPr>
          <p:spPr>
            <a:xfrm>
              <a:off x="1438936" y="3397082"/>
              <a:ext cx="944489" cy="646331"/>
            </a:xfrm>
            <a:prstGeom prst="rect">
              <a:avLst/>
            </a:prstGeom>
            <a:solidFill>
              <a:srgbClr val="CCFFCC"/>
            </a:solidFill>
            <a:ln>
              <a:solidFill>
                <a:srgbClr val="4472C4"/>
              </a:solidFill>
            </a:ln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printf</a:t>
              </a:r>
              <a:endParaRPr lang="en-US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en-US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scanf</a:t>
              </a:r>
              <a:endParaRPr lang="en-US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D20287B-1D55-4497-8ABC-99E56093C4E6}"/>
                </a:ext>
              </a:extLst>
            </p:cNvPr>
            <p:cNvSpPr txBox="1"/>
            <p:nvPr/>
          </p:nvSpPr>
          <p:spPr>
            <a:xfrm>
              <a:off x="1438935" y="5279314"/>
              <a:ext cx="944489" cy="369332"/>
            </a:xfrm>
            <a:prstGeom prst="rect">
              <a:avLst/>
            </a:prstGeom>
            <a:solidFill>
              <a:srgbClr val="CCFFCC"/>
            </a:solidFill>
            <a:ln>
              <a:solidFill>
                <a:srgbClr val="4472C4"/>
              </a:solidFill>
            </a:ln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printf</a:t>
              </a:r>
              <a:endParaRPr lang="en-US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D20287B-1D55-4497-8ABC-99E56093C4E6}"/>
                </a:ext>
              </a:extLst>
            </p:cNvPr>
            <p:cNvSpPr txBox="1"/>
            <p:nvPr/>
          </p:nvSpPr>
          <p:spPr>
            <a:xfrm>
              <a:off x="6263372" y="2467860"/>
              <a:ext cx="1324402" cy="369332"/>
            </a:xfrm>
            <a:prstGeom prst="rect">
              <a:avLst/>
            </a:prstGeom>
            <a:solidFill>
              <a:srgbClr val="CCFFCC"/>
            </a:solidFill>
            <a:ln>
              <a:solidFill>
                <a:srgbClr val="4472C4"/>
              </a:solidFill>
            </a:ln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for/while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D20287B-1D55-4497-8ABC-99E56093C4E6}"/>
                </a:ext>
              </a:extLst>
            </p:cNvPr>
            <p:cNvSpPr txBox="1"/>
            <p:nvPr/>
          </p:nvSpPr>
          <p:spPr>
            <a:xfrm>
              <a:off x="7489602" y="4018539"/>
              <a:ext cx="944489" cy="369332"/>
            </a:xfrm>
            <a:prstGeom prst="rect">
              <a:avLst/>
            </a:prstGeom>
            <a:solidFill>
              <a:srgbClr val="CCFFCC"/>
            </a:solidFill>
            <a:ln>
              <a:solidFill>
                <a:srgbClr val="4472C4"/>
              </a:solidFill>
            </a:ln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printf</a:t>
              </a:r>
              <a:endParaRPr lang="en-US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5D20287B-1D55-4497-8ABC-99E56093C4E6}"/>
              </a:ext>
            </a:extLst>
          </p:cNvPr>
          <p:cNvSpPr txBox="1"/>
          <p:nvPr/>
        </p:nvSpPr>
        <p:spPr>
          <a:xfrm>
            <a:off x="430288" y="4249770"/>
            <a:ext cx="1957587" cy="369332"/>
          </a:xfrm>
          <a:prstGeom prst="rect">
            <a:avLst/>
          </a:prstGeom>
          <a:solidFill>
            <a:srgbClr val="CCFFCC"/>
          </a:solidFill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if / condition</a:t>
            </a:r>
            <a:endParaRPr lang="en-US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349293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921262" cy="838200"/>
          </a:xfrm>
        </p:spPr>
        <p:txBody>
          <a:bodyPr>
            <a:normAutofit/>
          </a:bodyPr>
          <a:lstStyle/>
          <a:p>
            <a:r>
              <a:rPr lang="en-US" dirty="0"/>
              <a:t>3</a:t>
            </a:r>
            <a:r>
              <a:rPr lang="en-US" dirty="0" smtClean="0"/>
              <a:t>. Flowcharts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14</a:t>
            </a:fld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1438935" y="1981200"/>
            <a:ext cx="7321537" cy="3962400"/>
            <a:chOff x="1438935" y="2189967"/>
            <a:chExt cx="7321537" cy="3962400"/>
          </a:xfrm>
        </p:grpSpPr>
        <p:grpSp>
          <p:nvGrpSpPr>
            <p:cNvPr id="90" name="Group 89"/>
            <p:cNvGrpSpPr/>
            <p:nvPr/>
          </p:nvGrpSpPr>
          <p:grpSpPr>
            <a:xfrm>
              <a:off x="2438400" y="2189967"/>
              <a:ext cx="4835451" cy="3962400"/>
              <a:chOff x="2667000" y="1905000"/>
              <a:chExt cx="4835451" cy="3962400"/>
            </a:xfrm>
          </p:grpSpPr>
          <p:sp>
            <p:nvSpPr>
              <p:cNvPr id="9" name="Rectangle 8"/>
              <p:cNvSpPr/>
              <p:nvPr/>
            </p:nvSpPr>
            <p:spPr>
              <a:xfrm>
                <a:off x="2970143" y="5016796"/>
                <a:ext cx="2020957" cy="42530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smtClean="0"/>
                  <a:t>Comment on selection</a:t>
                </a:r>
                <a:endParaRPr lang="en-US" sz="1400" dirty="0"/>
              </a:p>
            </p:txBody>
          </p:sp>
          <p:cxnSp>
            <p:nvCxnSpPr>
              <p:cNvPr id="10" name="Straight Arrow Connector 9"/>
              <p:cNvCxnSpPr>
                <a:stCxn id="24" idx="2"/>
                <a:endCxn id="19" idx="0"/>
              </p:cNvCxnSpPr>
              <p:nvPr/>
            </p:nvCxnSpPr>
            <p:spPr>
              <a:xfrm>
                <a:off x="3980621" y="3647932"/>
                <a:ext cx="1" cy="348699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/>
              <p:cNvCxnSpPr>
                <a:endCxn id="9" idx="0"/>
              </p:cNvCxnSpPr>
              <p:nvPr/>
            </p:nvCxnSpPr>
            <p:spPr>
              <a:xfrm>
                <a:off x="3980622" y="4476308"/>
                <a:ext cx="0" cy="540488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/>
              <p:cNvCxnSpPr/>
              <p:nvPr/>
            </p:nvCxnSpPr>
            <p:spPr>
              <a:xfrm>
                <a:off x="3980620" y="5442098"/>
                <a:ext cx="0" cy="425302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TextBox 12"/>
              <p:cNvSpPr txBox="1"/>
              <p:nvPr/>
            </p:nvSpPr>
            <p:spPr>
              <a:xfrm>
                <a:off x="4512053" y="4471159"/>
                <a:ext cx="80838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No</a:t>
                </a:r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3374333" y="4569023"/>
                <a:ext cx="5052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Yes</a:t>
                </a:r>
              </a:p>
            </p:txBody>
          </p:sp>
          <p:sp>
            <p:nvSpPr>
              <p:cNvPr id="19" name="Flowchart: Decision 18"/>
              <p:cNvSpPr/>
              <p:nvPr/>
            </p:nvSpPr>
            <p:spPr>
              <a:xfrm>
                <a:off x="2667000" y="3996631"/>
                <a:ext cx="2627243" cy="680484"/>
              </a:xfrm>
              <a:prstGeom prst="flowChartDecision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smtClean="0"/>
                  <a:t>Is choice valid</a:t>
                </a:r>
                <a:r>
                  <a:rPr lang="en-US" sz="1400" dirty="0"/>
                  <a:t>?</a:t>
                </a:r>
              </a:p>
            </p:txBody>
          </p:sp>
          <p:sp>
            <p:nvSpPr>
              <p:cNvPr id="20" name="Rectangle 19"/>
              <p:cNvSpPr/>
              <p:nvPr/>
            </p:nvSpPr>
            <p:spPr>
              <a:xfrm>
                <a:off x="5481494" y="3705587"/>
                <a:ext cx="2020957" cy="42530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smtClean="0"/>
                  <a:t>Report error</a:t>
                </a:r>
                <a:endParaRPr lang="en-US" sz="1400" dirty="0"/>
              </a:p>
            </p:txBody>
          </p:sp>
          <p:sp>
            <p:nvSpPr>
              <p:cNvPr id="21" name="Rectangle 20"/>
              <p:cNvSpPr/>
              <p:nvPr/>
            </p:nvSpPr>
            <p:spPr>
              <a:xfrm>
                <a:off x="2970143" y="2330302"/>
                <a:ext cx="2020957" cy="42530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smtClean="0"/>
                  <a:t>Present choices</a:t>
                </a:r>
                <a:endParaRPr lang="en-US" sz="1400" dirty="0"/>
              </a:p>
            </p:txBody>
          </p:sp>
          <p:cxnSp>
            <p:nvCxnSpPr>
              <p:cNvPr id="22" name="Straight Arrow Connector 21"/>
              <p:cNvCxnSpPr/>
              <p:nvPr/>
            </p:nvCxnSpPr>
            <p:spPr>
              <a:xfrm>
                <a:off x="3980622" y="1905000"/>
                <a:ext cx="0" cy="425302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Rectangle 23"/>
              <p:cNvSpPr/>
              <p:nvPr/>
            </p:nvSpPr>
            <p:spPr>
              <a:xfrm>
                <a:off x="2970142" y="3222630"/>
                <a:ext cx="2020957" cy="42530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smtClean="0"/>
                  <a:t>Ask for user input</a:t>
                </a:r>
                <a:endParaRPr lang="en-US" sz="1400" dirty="0"/>
              </a:p>
            </p:txBody>
          </p:sp>
          <p:cxnSp>
            <p:nvCxnSpPr>
              <p:cNvPr id="33" name="Straight Arrow Connector 32"/>
              <p:cNvCxnSpPr>
                <a:stCxn id="21" idx="2"/>
                <a:endCxn id="24" idx="0"/>
              </p:cNvCxnSpPr>
              <p:nvPr/>
            </p:nvCxnSpPr>
            <p:spPr>
              <a:xfrm flipH="1">
                <a:off x="3980621" y="2755604"/>
                <a:ext cx="1" cy="467026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hape 13"/>
              <p:cNvCxnSpPr/>
              <p:nvPr/>
            </p:nvCxnSpPr>
            <p:spPr>
              <a:xfrm rot="16200000" flipH="1">
                <a:off x="4919628" y="4193390"/>
                <a:ext cx="653023" cy="712174"/>
              </a:xfrm>
              <a:prstGeom prst="curvedConnector2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hape 14"/>
              <p:cNvCxnSpPr>
                <a:endCxn id="20" idx="2"/>
              </p:cNvCxnSpPr>
              <p:nvPr/>
            </p:nvCxnSpPr>
            <p:spPr>
              <a:xfrm flipV="1">
                <a:off x="5537142" y="4130889"/>
                <a:ext cx="954831" cy="745101"/>
              </a:xfrm>
              <a:prstGeom prst="curvedConnector2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hape 15"/>
              <p:cNvCxnSpPr/>
              <p:nvPr/>
            </p:nvCxnSpPr>
            <p:spPr>
              <a:xfrm rot="16200000" flipV="1">
                <a:off x="5201314" y="2325547"/>
                <a:ext cx="1721242" cy="982530"/>
              </a:xfrm>
              <a:prstGeom prst="curvedConnector2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hape 16"/>
              <p:cNvCxnSpPr/>
              <p:nvPr/>
            </p:nvCxnSpPr>
            <p:spPr>
              <a:xfrm rot="10800000" flipV="1">
                <a:off x="4716731" y="1954459"/>
                <a:ext cx="827431" cy="352647"/>
              </a:xfrm>
              <a:prstGeom prst="curvedConnector2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D20287B-1D55-4497-8ABC-99E56093C4E6}"/>
                </a:ext>
              </a:extLst>
            </p:cNvPr>
            <p:cNvSpPr txBox="1"/>
            <p:nvPr/>
          </p:nvSpPr>
          <p:spPr>
            <a:xfrm>
              <a:off x="1438936" y="2615269"/>
              <a:ext cx="944489" cy="369332"/>
            </a:xfrm>
            <a:prstGeom prst="rect">
              <a:avLst/>
            </a:prstGeom>
            <a:solidFill>
              <a:srgbClr val="CCFFCC"/>
            </a:solidFill>
            <a:ln>
              <a:solidFill>
                <a:srgbClr val="4472C4"/>
              </a:solidFill>
            </a:ln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printf</a:t>
              </a:r>
              <a:endParaRPr lang="en-US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D20287B-1D55-4497-8ABC-99E56093C4E6}"/>
                </a:ext>
              </a:extLst>
            </p:cNvPr>
            <p:cNvSpPr txBox="1"/>
            <p:nvPr/>
          </p:nvSpPr>
          <p:spPr>
            <a:xfrm>
              <a:off x="1438936" y="3397082"/>
              <a:ext cx="944489" cy="646331"/>
            </a:xfrm>
            <a:prstGeom prst="rect">
              <a:avLst/>
            </a:prstGeom>
            <a:solidFill>
              <a:srgbClr val="CCFFCC"/>
            </a:solidFill>
            <a:ln>
              <a:solidFill>
                <a:srgbClr val="4472C4"/>
              </a:solidFill>
            </a:ln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printf</a:t>
              </a:r>
              <a:endParaRPr lang="en-US" b="1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en-US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scanf</a:t>
              </a:r>
              <a:endParaRPr lang="en-US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D20287B-1D55-4497-8ABC-99E56093C4E6}"/>
                </a:ext>
              </a:extLst>
            </p:cNvPr>
            <p:cNvSpPr txBox="1"/>
            <p:nvPr/>
          </p:nvSpPr>
          <p:spPr>
            <a:xfrm>
              <a:off x="1438935" y="5279314"/>
              <a:ext cx="944489" cy="369332"/>
            </a:xfrm>
            <a:prstGeom prst="rect">
              <a:avLst/>
            </a:prstGeom>
            <a:solidFill>
              <a:srgbClr val="CCFFCC"/>
            </a:solidFill>
            <a:ln>
              <a:solidFill>
                <a:srgbClr val="4472C4"/>
              </a:solidFill>
            </a:ln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printf</a:t>
              </a:r>
              <a:endParaRPr lang="en-US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D20287B-1D55-4497-8ABC-99E56093C4E6}"/>
                </a:ext>
              </a:extLst>
            </p:cNvPr>
            <p:cNvSpPr txBox="1"/>
            <p:nvPr/>
          </p:nvSpPr>
          <p:spPr>
            <a:xfrm>
              <a:off x="6263372" y="2467860"/>
              <a:ext cx="1324402" cy="369332"/>
            </a:xfrm>
            <a:prstGeom prst="rect">
              <a:avLst/>
            </a:prstGeom>
            <a:solidFill>
              <a:srgbClr val="CCFFCC"/>
            </a:solidFill>
            <a:ln>
              <a:solidFill>
                <a:srgbClr val="4472C4"/>
              </a:solidFill>
            </a:ln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for/while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D20287B-1D55-4497-8ABC-99E56093C4E6}"/>
                </a:ext>
              </a:extLst>
            </p:cNvPr>
            <p:cNvSpPr txBox="1"/>
            <p:nvPr/>
          </p:nvSpPr>
          <p:spPr>
            <a:xfrm>
              <a:off x="7489602" y="4018539"/>
              <a:ext cx="944489" cy="369332"/>
            </a:xfrm>
            <a:prstGeom prst="rect">
              <a:avLst/>
            </a:prstGeom>
            <a:solidFill>
              <a:srgbClr val="CCFFCC"/>
            </a:solidFill>
            <a:ln>
              <a:solidFill>
                <a:srgbClr val="4472C4"/>
              </a:solidFill>
            </a:ln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printf</a:t>
              </a:r>
              <a:endParaRPr lang="en-US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" name="Oval 4"/>
            <p:cNvSpPr/>
            <p:nvPr/>
          </p:nvSpPr>
          <p:spPr>
            <a:xfrm>
              <a:off x="2438400" y="2362200"/>
              <a:ext cx="2627243" cy="914400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Line 14"/>
            <p:cNvSpPr>
              <a:spLocks noChangeShapeType="1"/>
            </p:cNvSpPr>
            <p:nvPr/>
          </p:nvSpPr>
          <p:spPr bwMode="auto">
            <a:xfrm flipH="1" flipV="1">
              <a:off x="4778192" y="3038037"/>
              <a:ext cx="387833" cy="2775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34" name="Rectangle 13"/>
            <p:cNvSpPr>
              <a:spLocks noChangeArrowheads="1"/>
            </p:cNvSpPr>
            <p:nvPr/>
          </p:nvSpPr>
          <p:spPr bwMode="auto">
            <a:xfrm>
              <a:off x="5166026" y="3315583"/>
              <a:ext cx="3594446" cy="369332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>
                <a:lnSpc>
                  <a:spcPct val="90000"/>
                </a:lnSpc>
                <a:buClr>
                  <a:schemeClr val="accent1"/>
                </a:buClr>
                <a:buFont typeface="Wingdings" pitchFamily="2" charset="2"/>
                <a:buNone/>
              </a:pPr>
              <a:r>
                <a:rPr kumimoji="0" lang="en-US" altLang="zh-TW" sz="2000" b="0" dirty="0" smtClean="0">
                  <a:latin typeface="Calibri" panose="020F0502020204030204" pitchFamily="34" charset="0"/>
                </a:rPr>
                <a:t>This </a:t>
              </a:r>
              <a:r>
                <a:rPr lang="en-US" altLang="zh-TW" sz="2000" b="0" dirty="0" smtClean="0">
                  <a:latin typeface="Calibri" panose="020F0502020204030204" pitchFamily="34" charset="0"/>
                </a:rPr>
                <a:t>block is inside the loop now</a:t>
              </a:r>
              <a:r>
                <a:rPr lang="en-US" altLang="zh-TW" sz="2000" b="0" dirty="0">
                  <a:latin typeface="Calibri" panose="020F0502020204030204" pitchFamily="34" charset="0"/>
                </a:rPr>
                <a:t>.</a:t>
              </a:r>
              <a:endParaRPr kumimoji="0" lang="en-US" altLang="zh-TW" sz="2000" dirty="0">
                <a:solidFill>
                  <a:srgbClr val="0000FF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5D20287B-1D55-4497-8ABC-99E56093C4E6}"/>
              </a:ext>
            </a:extLst>
          </p:cNvPr>
          <p:cNvSpPr txBox="1"/>
          <p:nvPr/>
        </p:nvSpPr>
        <p:spPr>
          <a:xfrm>
            <a:off x="430288" y="4249770"/>
            <a:ext cx="1957587" cy="369332"/>
          </a:xfrm>
          <a:prstGeom prst="rect">
            <a:avLst/>
          </a:prstGeom>
          <a:solidFill>
            <a:srgbClr val="CCFFCC"/>
          </a:solidFill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if / condition</a:t>
            </a:r>
            <a:endParaRPr lang="en-US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4656042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921262" cy="838200"/>
          </a:xfrm>
        </p:spPr>
        <p:txBody>
          <a:bodyPr>
            <a:normAutofit/>
          </a:bodyPr>
          <a:lstStyle/>
          <a:p>
            <a:r>
              <a:rPr lang="en-US" dirty="0"/>
              <a:t>4</a:t>
            </a:r>
            <a:r>
              <a:rPr lang="en-US" dirty="0" smtClean="0"/>
              <a:t>. Menu Navigation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zh-TW" sz="3200" dirty="0" smtClean="0"/>
              <a:t>If there are limited number of choices for users, that means there will be limited number of paths for the program</a:t>
            </a:r>
            <a:r>
              <a:rPr lang="en-US" altLang="zh-TW" sz="3200" dirty="0"/>
              <a:t>.</a:t>
            </a:r>
          </a:p>
          <a:p>
            <a:pPr>
              <a:defRPr/>
            </a:pPr>
            <a:r>
              <a:rPr lang="en-US" altLang="zh-TW" sz="3200" dirty="0" smtClean="0"/>
              <a:t>That makes your program flowchart easy to design</a:t>
            </a:r>
            <a:r>
              <a:rPr lang="en-US" altLang="zh-TW" sz="3200" dirty="0"/>
              <a:t>.</a:t>
            </a:r>
          </a:p>
          <a:p>
            <a:pPr>
              <a:defRPr/>
            </a:pPr>
            <a:r>
              <a:rPr lang="en-US" altLang="zh-TW" sz="3200" dirty="0" smtClean="0"/>
              <a:t>Let’s try to build a (</a:t>
            </a:r>
            <a:r>
              <a:rPr lang="en-US" altLang="zh-TW" sz="3200" dirty="0"/>
              <a:t>simplified</a:t>
            </a:r>
            <a:r>
              <a:rPr lang="en-US" altLang="zh-TW" sz="3200" dirty="0" smtClean="0"/>
              <a:t>) Microsoft Word menu</a:t>
            </a:r>
            <a:r>
              <a:rPr lang="en-US" altLang="zh-TW" sz="3200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011019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921262" cy="838200"/>
          </a:xfrm>
        </p:spPr>
        <p:txBody>
          <a:bodyPr>
            <a:normAutofit/>
          </a:bodyPr>
          <a:lstStyle/>
          <a:p>
            <a:r>
              <a:rPr lang="en-US" dirty="0"/>
              <a:t>4</a:t>
            </a:r>
            <a:r>
              <a:rPr lang="en-US" dirty="0" smtClean="0"/>
              <a:t>. Menu Navigation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16</a:t>
            </a:fld>
            <a:endParaRPr lang="en-US"/>
          </a:p>
        </p:txBody>
      </p:sp>
      <p:grpSp>
        <p:nvGrpSpPr>
          <p:cNvPr id="19" name="Group 18"/>
          <p:cNvGrpSpPr/>
          <p:nvPr/>
        </p:nvGrpSpPr>
        <p:grpSpPr>
          <a:xfrm>
            <a:off x="761999" y="1143000"/>
            <a:ext cx="8077201" cy="4800600"/>
            <a:chOff x="761999" y="1143000"/>
            <a:chExt cx="8077201" cy="4800600"/>
          </a:xfrm>
        </p:grpSpPr>
        <p:sp>
          <p:nvSpPr>
            <p:cNvPr id="4" name="Rounded Rectangle 3"/>
            <p:cNvSpPr/>
            <p:nvPr/>
          </p:nvSpPr>
          <p:spPr>
            <a:xfrm>
              <a:off x="761999" y="2590800"/>
              <a:ext cx="2607623" cy="2204810"/>
            </a:xfrm>
            <a:prstGeom prst="round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400" dirty="0"/>
                <a:t>File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400" dirty="0" smtClean="0"/>
                <a:t>Home/Format</a:t>
              </a:r>
              <a:endParaRPr lang="en-US" sz="240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400" dirty="0"/>
                <a:t>Insert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400" dirty="0"/>
                <a:t>Design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400" dirty="0"/>
                <a:t>…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sz="2400" dirty="0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4038600" y="1143000"/>
              <a:ext cx="1752600" cy="1905000"/>
            </a:xfrm>
            <a:prstGeom prst="round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400" dirty="0"/>
                <a:t>File</a:t>
              </a:r>
            </a:p>
            <a:p>
              <a:pPr marL="540000" lvl="1" indent="-285750">
                <a:buFont typeface="Arial" panose="020B0604020202020204" pitchFamily="34" charset="0"/>
                <a:buChar char="•"/>
              </a:pPr>
              <a:r>
                <a:rPr lang="en-US" sz="2000" dirty="0"/>
                <a:t>New</a:t>
              </a:r>
            </a:p>
            <a:p>
              <a:pPr marL="540000" lvl="1" indent="-285750">
                <a:buFont typeface="Arial" panose="020B0604020202020204" pitchFamily="34" charset="0"/>
                <a:buChar char="•"/>
              </a:pPr>
              <a:r>
                <a:rPr lang="en-US" sz="2000" dirty="0"/>
                <a:t>Open</a:t>
              </a:r>
            </a:p>
            <a:p>
              <a:pPr marL="540000" lvl="1" indent="-285750">
                <a:buFont typeface="Arial" panose="020B0604020202020204" pitchFamily="34" charset="0"/>
                <a:buChar char="•"/>
              </a:pPr>
              <a:r>
                <a:rPr lang="en-US" sz="2000" dirty="0"/>
                <a:t>Save</a:t>
              </a:r>
            </a:p>
            <a:p>
              <a:pPr marL="540000" lvl="1" indent="-285750">
                <a:buFont typeface="Arial" panose="020B0604020202020204" pitchFamily="34" charset="0"/>
                <a:buChar char="•"/>
              </a:pPr>
              <a:r>
                <a:rPr lang="en-US" sz="2000" dirty="0"/>
                <a:t>…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400800" y="2438400"/>
              <a:ext cx="2438400" cy="1905000"/>
            </a:xfrm>
            <a:prstGeom prst="round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400" dirty="0" smtClean="0"/>
                <a:t>Home/Format</a:t>
              </a:r>
              <a:endParaRPr lang="en-US" sz="2400" dirty="0"/>
            </a:p>
            <a:p>
              <a:pPr marL="540000" lvl="1" indent="-285750">
                <a:buFont typeface="Arial" panose="020B0604020202020204" pitchFamily="34" charset="0"/>
                <a:buChar char="•"/>
              </a:pPr>
              <a:r>
                <a:rPr lang="en-US" sz="2000" dirty="0"/>
                <a:t>Font</a:t>
              </a:r>
            </a:p>
            <a:p>
              <a:pPr marL="540000" lvl="1" indent="-285750">
                <a:buFont typeface="Arial" panose="020B0604020202020204" pitchFamily="34" charset="0"/>
                <a:buChar char="•"/>
              </a:pPr>
              <a:r>
                <a:rPr lang="en-US" sz="2000" dirty="0"/>
                <a:t>Paragraph</a:t>
              </a:r>
            </a:p>
            <a:p>
              <a:pPr marL="540000" lvl="1" indent="-285750">
                <a:buFont typeface="Arial" panose="020B0604020202020204" pitchFamily="34" charset="0"/>
                <a:buChar char="•"/>
              </a:pPr>
              <a:r>
                <a:rPr lang="en-US" sz="2000" dirty="0"/>
                <a:t>Styles</a:t>
              </a:r>
            </a:p>
            <a:p>
              <a:pPr marL="540000" lvl="1" indent="-285750">
                <a:buFont typeface="Arial" panose="020B0604020202020204" pitchFamily="34" charset="0"/>
                <a:buChar char="•"/>
              </a:pPr>
              <a:r>
                <a:rPr lang="en-US" sz="2000" dirty="0"/>
                <a:t>…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4530969" y="4038600"/>
              <a:ext cx="1752600" cy="1905000"/>
            </a:xfrm>
            <a:prstGeom prst="round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400" dirty="0"/>
                <a:t>Insert</a:t>
              </a:r>
            </a:p>
            <a:p>
              <a:pPr marL="540000" lvl="1" indent="-285750">
                <a:buFont typeface="Arial" panose="020B0604020202020204" pitchFamily="34" charset="0"/>
                <a:buChar char="•"/>
              </a:pPr>
              <a:r>
                <a:rPr lang="en-US" sz="2000" dirty="0"/>
                <a:t>Tables</a:t>
              </a:r>
            </a:p>
            <a:p>
              <a:pPr marL="540000" lvl="1" indent="-285750">
                <a:buFont typeface="Arial" panose="020B0604020202020204" pitchFamily="34" charset="0"/>
                <a:buChar char="•"/>
              </a:pPr>
              <a:r>
                <a:rPr lang="en-US" sz="2000" dirty="0"/>
                <a:t>Header</a:t>
              </a:r>
            </a:p>
            <a:p>
              <a:pPr marL="540000" lvl="1" indent="-285750">
                <a:buFont typeface="Arial" panose="020B0604020202020204" pitchFamily="34" charset="0"/>
                <a:buChar char="•"/>
              </a:pPr>
              <a:r>
                <a:rPr lang="en-US" sz="2000" dirty="0"/>
                <a:t>Footer</a:t>
              </a:r>
            </a:p>
            <a:p>
              <a:pPr marL="540000" lvl="1" indent="-285750">
                <a:buFont typeface="Arial" panose="020B0604020202020204" pitchFamily="34" charset="0"/>
                <a:buChar char="•"/>
              </a:pPr>
              <a:r>
                <a:rPr lang="en-US" sz="2000" dirty="0"/>
                <a:t>…</a:t>
              </a:r>
            </a:p>
          </p:txBody>
        </p:sp>
        <p:cxnSp>
          <p:nvCxnSpPr>
            <p:cNvPr id="11" name="Straight Arrow Connector 10"/>
            <p:cNvCxnSpPr/>
            <p:nvPr/>
          </p:nvCxnSpPr>
          <p:spPr>
            <a:xfrm flipV="1">
              <a:off x="1861229" y="1693019"/>
              <a:ext cx="1948771" cy="1256557"/>
            </a:xfrm>
            <a:prstGeom prst="straightConnector1">
              <a:avLst/>
            </a:prstGeom>
            <a:ln w="57150">
              <a:solidFill>
                <a:schemeClr val="accent5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 flipV="1">
              <a:off x="3124200" y="3193226"/>
              <a:ext cx="3159369" cy="83374"/>
            </a:xfrm>
            <a:prstGeom prst="straightConnector1">
              <a:avLst/>
            </a:prstGeom>
            <a:ln w="57150">
              <a:solidFill>
                <a:schemeClr val="accent5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>
              <a:off x="2152402" y="3667002"/>
              <a:ext cx="2267198" cy="671450"/>
            </a:xfrm>
            <a:prstGeom prst="straightConnector1">
              <a:avLst/>
            </a:prstGeom>
            <a:ln w="57150">
              <a:solidFill>
                <a:schemeClr val="accent5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19"/>
          <p:cNvSpPr txBox="1"/>
          <p:nvPr/>
        </p:nvSpPr>
        <p:spPr>
          <a:xfrm>
            <a:off x="352835" y="1268185"/>
            <a:ext cx="30167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 smtClean="0"/>
              <a:t>Microsoft Word Menu</a:t>
            </a:r>
            <a:endParaRPr lang="en-US" sz="2400" b="1" u="sng" dirty="0"/>
          </a:p>
        </p:txBody>
      </p:sp>
    </p:spTree>
    <p:extLst>
      <p:ext uri="{BB962C8B-B14F-4D97-AF65-F5344CB8AC3E}">
        <p14:creationId xmlns:p14="http://schemas.microsoft.com/office/powerpoint/2010/main" val="3990502109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921262" cy="838200"/>
          </a:xfrm>
        </p:spPr>
        <p:txBody>
          <a:bodyPr>
            <a:normAutofit/>
          </a:bodyPr>
          <a:lstStyle/>
          <a:p>
            <a:r>
              <a:rPr lang="en-US" dirty="0"/>
              <a:t>4</a:t>
            </a:r>
            <a:r>
              <a:rPr lang="en-US" dirty="0" smtClean="0"/>
              <a:t>. Menu Navigation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32" name="Content Placeholder 2"/>
          <p:cNvSpPr>
            <a:spLocks noGrp="1"/>
          </p:cNvSpPr>
          <p:nvPr>
            <p:ph idx="1"/>
          </p:nvPr>
        </p:nvSpPr>
        <p:spPr>
          <a:xfrm>
            <a:off x="70338" y="1066800"/>
            <a:ext cx="8932985" cy="51054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zh-TW" sz="3200" dirty="0" smtClean="0"/>
              <a:t>We can reuse the previous flowchart</a:t>
            </a:r>
            <a:r>
              <a:rPr lang="en-US" altLang="zh-TW" sz="3200" dirty="0"/>
              <a:t>.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1433484" y="1940240"/>
            <a:ext cx="6194969" cy="4228002"/>
            <a:chOff x="1438886" y="1694486"/>
            <a:chExt cx="6194969" cy="4228002"/>
          </a:xfrm>
        </p:grpSpPr>
        <p:grpSp>
          <p:nvGrpSpPr>
            <p:cNvPr id="3" name="Group 2"/>
            <p:cNvGrpSpPr/>
            <p:nvPr/>
          </p:nvGrpSpPr>
          <p:grpSpPr>
            <a:xfrm>
              <a:off x="1438886" y="1694486"/>
              <a:ext cx="6194969" cy="3791914"/>
              <a:chOff x="1078882" y="1827495"/>
              <a:chExt cx="6194969" cy="3791914"/>
            </a:xfrm>
          </p:grpSpPr>
          <p:sp>
            <p:nvSpPr>
              <p:cNvPr id="33" name="TextBox 32"/>
              <p:cNvSpPr txBox="1"/>
              <p:nvPr/>
            </p:nvSpPr>
            <p:spPr>
              <a:xfrm>
                <a:off x="1078882" y="1827495"/>
                <a:ext cx="14452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u="sng" dirty="0" smtClean="0"/>
                  <a:t>Top menu</a:t>
                </a:r>
                <a:endParaRPr lang="en-US" sz="2400" b="1" u="sng" dirty="0"/>
              </a:p>
            </p:txBody>
          </p:sp>
          <p:grpSp>
            <p:nvGrpSpPr>
              <p:cNvPr id="34" name="Group 33"/>
              <p:cNvGrpSpPr/>
              <p:nvPr/>
            </p:nvGrpSpPr>
            <p:grpSpPr>
              <a:xfrm>
                <a:off x="2438400" y="2189967"/>
                <a:ext cx="4835451" cy="3429442"/>
                <a:chOff x="2667000" y="1905000"/>
                <a:chExt cx="4835451" cy="3429442"/>
              </a:xfrm>
            </p:grpSpPr>
            <p:cxnSp>
              <p:nvCxnSpPr>
                <p:cNvPr id="36" name="Straight Arrow Connector 35"/>
                <p:cNvCxnSpPr>
                  <a:stCxn id="45" idx="2"/>
                  <a:endCxn id="41" idx="0"/>
                </p:cNvCxnSpPr>
                <p:nvPr/>
              </p:nvCxnSpPr>
              <p:spPr>
                <a:xfrm>
                  <a:off x="3980621" y="3647932"/>
                  <a:ext cx="1" cy="348699"/>
                </a:xfrm>
                <a:prstGeom prst="straightConnector1">
                  <a:avLst/>
                </a:prstGeom>
                <a:ln w="3810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Arrow Connector 36"/>
                <p:cNvCxnSpPr/>
                <p:nvPr/>
              </p:nvCxnSpPr>
              <p:spPr>
                <a:xfrm flipH="1">
                  <a:off x="3980620" y="4476308"/>
                  <a:ext cx="2" cy="858134"/>
                </a:xfrm>
                <a:prstGeom prst="straightConnector1">
                  <a:avLst/>
                </a:prstGeom>
                <a:ln w="3810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9" name="TextBox 38"/>
                <p:cNvSpPr txBox="1"/>
                <p:nvPr/>
              </p:nvSpPr>
              <p:spPr>
                <a:xfrm>
                  <a:off x="4512053" y="4471159"/>
                  <a:ext cx="80838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/>
                    <a:t>No</a:t>
                  </a:r>
                </a:p>
              </p:txBody>
            </p:sp>
            <p:sp>
              <p:nvSpPr>
                <p:cNvPr id="40" name="TextBox 39"/>
                <p:cNvSpPr txBox="1"/>
                <p:nvPr/>
              </p:nvSpPr>
              <p:spPr>
                <a:xfrm>
                  <a:off x="3374333" y="4569023"/>
                  <a:ext cx="50524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/>
                    <a:t>Yes</a:t>
                  </a:r>
                </a:p>
              </p:txBody>
            </p:sp>
            <p:sp>
              <p:nvSpPr>
                <p:cNvPr id="41" name="Flowchart: Decision 40"/>
                <p:cNvSpPr/>
                <p:nvPr/>
              </p:nvSpPr>
              <p:spPr>
                <a:xfrm>
                  <a:off x="2667000" y="3996631"/>
                  <a:ext cx="2627243" cy="680484"/>
                </a:xfrm>
                <a:prstGeom prst="flowChartDecision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 smtClean="0"/>
                    <a:t>Is selection valid</a:t>
                  </a:r>
                  <a:r>
                    <a:rPr lang="en-US" sz="1400" dirty="0"/>
                    <a:t>?</a:t>
                  </a:r>
                </a:p>
              </p:txBody>
            </p:sp>
            <p:sp>
              <p:nvSpPr>
                <p:cNvPr id="42" name="Rectangle 41"/>
                <p:cNvSpPr/>
                <p:nvPr/>
              </p:nvSpPr>
              <p:spPr>
                <a:xfrm>
                  <a:off x="5481494" y="3705587"/>
                  <a:ext cx="2020957" cy="425302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 smtClean="0"/>
                    <a:t>Report error</a:t>
                  </a:r>
                  <a:endParaRPr lang="en-US" sz="1400" dirty="0"/>
                </a:p>
              </p:txBody>
            </p:sp>
            <p:sp>
              <p:nvSpPr>
                <p:cNvPr id="43" name="Rectangle 42"/>
                <p:cNvSpPr/>
                <p:nvPr/>
              </p:nvSpPr>
              <p:spPr>
                <a:xfrm>
                  <a:off x="2970143" y="2330302"/>
                  <a:ext cx="2020957" cy="425302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 smtClean="0"/>
                    <a:t>Present choices</a:t>
                  </a:r>
                  <a:endParaRPr lang="en-US" sz="1400" dirty="0"/>
                </a:p>
              </p:txBody>
            </p:sp>
            <p:cxnSp>
              <p:nvCxnSpPr>
                <p:cNvPr id="44" name="Straight Arrow Connector 43"/>
                <p:cNvCxnSpPr/>
                <p:nvPr/>
              </p:nvCxnSpPr>
              <p:spPr>
                <a:xfrm>
                  <a:off x="3980622" y="1905000"/>
                  <a:ext cx="0" cy="425302"/>
                </a:xfrm>
                <a:prstGeom prst="straightConnector1">
                  <a:avLst/>
                </a:prstGeom>
                <a:ln w="3810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5" name="Rectangle 44"/>
                <p:cNvSpPr/>
                <p:nvPr/>
              </p:nvSpPr>
              <p:spPr>
                <a:xfrm>
                  <a:off x="2970142" y="3222630"/>
                  <a:ext cx="2020957" cy="425302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 smtClean="0"/>
                    <a:t>Ask for user selection</a:t>
                  </a:r>
                  <a:endParaRPr lang="en-US" sz="1400" dirty="0"/>
                </a:p>
              </p:txBody>
            </p:sp>
            <p:cxnSp>
              <p:nvCxnSpPr>
                <p:cNvPr id="46" name="Straight Arrow Connector 45"/>
                <p:cNvCxnSpPr>
                  <a:stCxn id="43" idx="2"/>
                  <a:endCxn id="45" idx="0"/>
                </p:cNvCxnSpPr>
                <p:nvPr/>
              </p:nvCxnSpPr>
              <p:spPr>
                <a:xfrm flipH="1">
                  <a:off x="3980621" y="2755604"/>
                  <a:ext cx="1" cy="467026"/>
                </a:xfrm>
                <a:prstGeom prst="straightConnector1">
                  <a:avLst/>
                </a:prstGeom>
                <a:ln w="3810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hape 13"/>
                <p:cNvCxnSpPr/>
                <p:nvPr/>
              </p:nvCxnSpPr>
              <p:spPr>
                <a:xfrm rot="16200000" flipH="1">
                  <a:off x="4919628" y="4193390"/>
                  <a:ext cx="653023" cy="712174"/>
                </a:xfrm>
                <a:prstGeom prst="curvedConnector2">
                  <a:avLst/>
                </a:prstGeom>
                <a:ln w="3810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hape 14"/>
                <p:cNvCxnSpPr>
                  <a:endCxn id="42" idx="2"/>
                </p:cNvCxnSpPr>
                <p:nvPr/>
              </p:nvCxnSpPr>
              <p:spPr>
                <a:xfrm flipV="1">
                  <a:off x="5537142" y="4130889"/>
                  <a:ext cx="954831" cy="745101"/>
                </a:xfrm>
                <a:prstGeom prst="curvedConnector2">
                  <a:avLst/>
                </a:prstGeom>
                <a:ln w="3810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hape 15"/>
                <p:cNvCxnSpPr/>
                <p:nvPr/>
              </p:nvCxnSpPr>
              <p:spPr>
                <a:xfrm rot="16200000" flipV="1">
                  <a:off x="5629119" y="2808015"/>
                  <a:ext cx="831053" cy="964091"/>
                </a:xfrm>
                <a:prstGeom prst="curvedConnector2">
                  <a:avLst/>
                </a:prstGeom>
                <a:ln w="3810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hape 16"/>
                <p:cNvCxnSpPr/>
                <p:nvPr/>
              </p:nvCxnSpPr>
              <p:spPr>
                <a:xfrm rot="10800000" flipV="1">
                  <a:off x="4771613" y="2863897"/>
                  <a:ext cx="827431" cy="352647"/>
                </a:xfrm>
                <a:prstGeom prst="curvedConnector2">
                  <a:avLst/>
                </a:prstGeom>
                <a:ln w="3810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51" name="TextBox 50"/>
            <p:cNvSpPr txBox="1"/>
            <p:nvPr/>
          </p:nvSpPr>
          <p:spPr>
            <a:xfrm>
              <a:off x="3909885" y="5460823"/>
              <a:ext cx="4042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51878552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921262" cy="838200"/>
          </a:xfrm>
        </p:spPr>
        <p:txBody>
          <a:bodyPr>
            <a:normAutofit/>
          </a:bodyPr>
          <a:lstStyle/>
          <a:p>
            <a:r>
              <a:rPr lang="en-US" dirty="0"/>
              <a:t>4</a:t>
            </a:r>
            <a:r>
              <a:rPr lang="en-US" dirty="0" smtClean="0"/>
              <a:t>. Menu Navigation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18</a:t>
            </a:fld>
            <a:endParaRPr lang="en-US"/>
          </a:p>
        </p:txBody>
      </p:sp>
      <p:grpSp>
        <p:nvGrpSpPr>
          <p:cNvPr id="16" name="Group 15"/>
          <p:cNvGrpSpPr/>
          <p:nvPr/>
        </p:nvGrpSpPr>
        <p:grpSpPr>
          <a:xfrm>
            <a:off x="540972" y="1062335"/>
            <a:ext cx="8560570" cy="5200498"/>
            <a:chOff x="540972" y="1062335"/>
            <a:chExt cx="8560570" cy="5200498"/>
          </a:xfrm>
        </p:grpSpPr>
        <p:grpSp>
          <p:nvGrpSpPr>
            <p:cNvPr id="3" name="Group 2"/>
            <p:cNvGrpSpPr/>
            <p:nvPr/>
          </p:nvGrpSpPr>
          <p:grpSpPr>
            <a:xfrm>
              <a:off x="540972" y="3152664"/>
              <a:ext cx="4038995" cy="2805368"/>
              <a:chOff x="1719348" y="1845693"/>
              <a:chExt cx="5554503" cy="3638351"/>
            </a:xfrm>
          </p:grpSpPr>
          <p:sp>
            <p:nvSpPr>
              <p:cNvPr id="33" name="TextBox 32"/>
              <p:cNvSpPr txBox="1"/>
              <p:nvPr/>
            </p:nvSpPr>
            <p:spPr>
              <a:xfrm>
                <a:off x="1719348" y="1845693"/>
                <a:ext cx="1541373" cy="478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u="sng" dirty="0" smtClean="0"/>
                  <a:t>File menu</a:t>
                </a:r>
                <a:endParaRPr lang="en-US" b="1" u="sng" dirty="0"/>
              </a:p>
            </p:txBody>
          </p:sp>
          <p:grpSp>
            <p:nvGrpSpPr>
              <p:cNvPr id="34" name="Group 33"/>
              <p:cNvGrpSpPr/>
              <p:nvPr/>
            </p:nvGrpSpPr>
            <p:grpSpPr>
              <a:xfrm>
                <a:off x="2438400" y="2189967"/>
                <a:ext cx="4835451" cy="3294077"/>
                <a:chOff x="2667000" y="1905000"/>
                <a:chExt cx="4835451" cy="3294077"/>
              </a:xfrm>
            </p:grpSpPr>
            <p:cxnSp>
              <p:nvCxnSpPr>
                <p:cNvPr id="36" name="Straight Arrow Connector 35"/>
                <p:cNvCxnSpPr>
                  <a:stCxn id="45" idx="2"/>
                  <a:endCxn id="41" idx="0"/>
                </p:cNvCxnSpPr>
                <p:nvPr/>
              </p:nvCxnSpPr>
              <p:spPr>
                <a:xfrm>
                  <a:off x="3980621" y="3647932"/>
                  <a:ext cx="1" cy="348699"/>
                </a:xfrm>
                <a:prstGeom prst="straightConnector1">
                  <a:avLst/>
                </a:prstGeom>
                <a:ln w="3810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Arrow Connector 36"/>
                <p:cNvCxnSpPr/>
                <p:nvPr/>
              </p:nvCxnSpPr>
              <p:spPr>
                <a:xfrm>
                  <a:off x="3980622" y="4476308"/>
                  <a:ext cx="0" cy="722769"/>
                </a:xfrm>
                <a:prstGeom prst="straightConnector1">
                  <a:avLst/>
                </a:prstGeom>
                <a:ln w="3810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9" name="TextBox 38"/>
                <p:cNvSpPr txBox="1"/>
                <p:nvPr/>
              </p:nvSpPr>
              <p:spPr>
                <a:xfrm>
                  <a:off x="4512053" y="4471160"/>
                  <a:ext cx="808383" cy="3392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100" dirty="0"/>
                    <a:t>No</a:t>
                  </a:r>
                </a:p>
              </p:txBody>
            </p:sp>
            <p:sp>
              <p:nvSpPr>
                <p:cNvPr id="40" name="TextBox 39"/>
                <p:cNvSpPr txBox="1"/>
                <p:nvPr/>
              </p:nvSpPr>
              <p:spPr>
                <a:xfrm>
                  <a:off x="3205990" y="4569023"/>
                  <a:ext cx="673584" cy="3392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100" dirty="0"/>
                    <a:t>Yes</a:t>
                  </a:r>
                </a:p>
              </p:txBody>
            </p:sp>
            <p:sp>
              <p:nvSpPr>
                <p:cNvPr id="41" name="Flowchart: Decision 40"/>
                <p:cNvSpPr/>
                <p:nvPr/>
              </p:nvSpPr>
              <p:spPr>
                <a:xfrm>
                  <a:off x="2667000" y="3996631"/>
                  <a:ext cx="2627243" cy="680484"/>
                </a:xfrm>
                <a:prstGeom prst="flowChartDecision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100" dirty="0" smtClean="0"/>
                    <a:t>Is choice valid</a:t>
                  </a:r>
                  <a:r>
                    <a:rPr lang="en-US" sz="1100" dirty="0"/>
                    <a:t>?</a:t>
                  </a:r>
                </a:p>
              </p:txBody>
            </p:sp>
            <p:sp>
              <p:nvSpPr>
                <p:cNvPr id="42" name="Rectangle 41"/>
                <p:cNvSpPr/>
                <p:nvPr/>
              </p:nvSpPr>
              <p:spPr>
                <a:xfrm>
                  <a:off x="5481494" y="3705587"/>
                  <a:ext cx="2020957" cy="425302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100" dirty="0" smtClean="0"/>
                    <a:t>Report error</a:t>
                  </a:r>
                  <a:endParaRPr lang="en-US" sz="1100" dirty="0"/>
                </a:p>
              </p:txBody>
            </p:sp>
            <p:sp>
              <p:nvSpPr>
                <p:cNvPr id="43" name="Rectangle 42"/>
                <p:cNvSpPr/>
                <p:nvPr/>
              </p:nvSpPr>
              <p:spPr>
                <a:xfrm>
                  <a:off x="2970143" y="2330302"/>
                  <a:ext cx="2020957" cy="425302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100" dirty="0" smtClean="0"/>
                    <a:t>Present choices</a:t>
                  </a:r>
                  <a:endParaRPr lang="en-US" sz="1100" dirty="0"/>
                </a:p>
              </p:txBody>
            </p:sp>
            <p:cxnSp>
              <p:nvCxnSpPr>
                <p:cNvPr id="44" name="Straight Arrow Connector 43"/>
                <p:cNvCxnSpPr/>
                <p:nvPr/>
              </p:nvCxnSpPr>
              <p:spPr>
                <a:xfrm>
                  <a:off x="3980622" y="1905000"/>
                  <a:ext cx="0" cy="425302"/>
                </a:xfrm>
                <a:prstGeom prst="straightConnector1">
                  <a:avLst/>
                </a:prstGeom>
                <a:ln w="3810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5" name="Rectangle 44"/>
                <p:cNvSpPr/>
                <p:nvPr/>
              </p:nvSpPr>
              <p:spPr>
                <a:xfrm>
                  <a:off x="2970142" y="3222630"/>
                  <a:ext cx="2020957" cy="425302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100" dirty="0" smtClean="0"/>
                    <a:t>Ask for user selection</a:t>
                  </a:r>
                  <a:endParaRPr lang="en-US" sz="1100" dirty="0"/>
                </a:p>
              </p:txBody>
            </p:sp>
            <p:cxnSp>
              <p:nvCxnSpPr>
                <p:cNvPr id="46" name="Straight Arrow Connector 45"/>
                <p:cNvCxnSpPr>
                  <a:stCxn id="43" idx="2"/>
                  <a:endCxn id="45" idx="0"/>
                </p:cNvCxnSpPr>
                <p:nvPr/>
              </p:nvCxnSpPr>
              <p:spPr>
                <a:xfrm flipH="1">
                  <a:off x="3980621" y="2755604"/>
                  <a:ext cx="1" cy="467026"/>
                </a:xfrm>
                <a:prstGeom prst="straightConnector1">
                  <a:avLst/>
                </a:prstGeom>
                <a:ln w="3810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hape 13"/>
                <p:cNvCxnSpPr/>
                <p:nvPr/>
              </p:nvCxnSpPr>
              <p:spPr>
                <a:xfrm rot="16200000" flipH="1">
                  <a:off x="4919628" y="4193390"/>
                  <a:ext cx="653023" cy="712174"/>
                </a:xfrm>
                <a:prstGeom prst="curvedConnector2">
                  <a:avLst/>
                </a:prstGeom>
                <a:ln w="3810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hape 14"/>
                <p:cNvCxnSpPr>
                  <a:endCxn id="42" idx="2"/>
                </p:cNvCxnSpPr>
                <p:nvPr/>
              </p:nvCxnSpPr>
              <p:spPr>
                <a:xfrm flipV="1">
                  <a:off x="5537142" y="4130889"/>
                  <a:ext cx="954831" cy="745101"/>
                </a:xfrm>
                <a:prstGeom prst="curvedConnector2">
                  <a:avLst/>
                </a:prstGeom>
                <a:ln w="3810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hape 15"/>
                <p:cNvCxnSpPr/>
                <p:nvPr/>
              </p:nvCxnSpPr>
              <p:spPr>
                <a:xfrm rot="16200000" flipV="1">
                  <a:off x="5629119" y="2808015"/>
                  <a:ext cx="831053" cy="964091"/>
                </a:xfrm>
                <a:prstGeom prst="curvedConnector2">
                  <a:avLst/>
                </a:prstGeom>
                <a:ln w="3810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hape 16"/>
                <p:cNvCxnSpPr/>
                <p:nvPr/>
              </p:nvCxnSpPr>
              <p:spPr>
                <a:xfrm rot="10800000" flipV="1">
                  <a:off x="4771613" y="2863897"/>
                  <a:ext cx="827431" cy="352647"/>
                </a:xfrm>
                <a:prstGeom prst="curvedConnector2">
                  <a:avLst/>
                </a:prstGeom>
                <a:ln w="3810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4" name="Group 23"/>
            <p:cNvGrpSpPr/>
            <p:nvPr/>
          </p:nvGrpSpPr>
          <p:grpSpPr>
            <a:xfrm>
              <a:off x="5221635" y="3152664"/>
              <a:ext cx="3879907" cy="2805369"/>
              <a:chOff x="2438400" y="1845070"/>
              <a:chExt cx="5335723" cy="3638352"/>
            </a:xfrm>
          </p:grpSpPr>
          <p:sp>
            <p:nvSpPr>
              <p:cNvPr id="25" name="TextBox 24"/>
              <p:cNvSpPr txBox="1"/>
              <p:nvPr/>
            </p:nvSpPr>
            <p:spPr>
              <a:xfrm>
                <a:off x="4822059" y="1845070"/>
                <a:ext cx="2952064" cy="478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u="sng" dirty="0" smtClean="0"/>
                  <a:t>Home/Format </a:t>
                </a:r>
                <a:r>
                  <a:rPr lang="en-US" b="1" u="sng" dirty="0" smtClean="0"/>
                  <a:t>menu</a:t>
                </a:r>
                <a:endParaRPr lang="en-US" b="1" u="sng" dirty="0"/>
              </a:p>
            </p:txBody>
          </p:sp>
          <p:grpSp>
            <p:nvGrpSpPr>
              <p:cNvPr id="26" name="Group 25"/>
              <p:cNvGrpSpPr/>
              <p:nvPr/>
            </p:nvGrpSpPr>
            <p:grpSpPr>
              <a:xfrm>
                <a:off x="2438400" y="2189967"/>
                <a:ext cx="4835451" cy="3293455"/>
                <a:chOff x="2667000" y="1905000"/>
                <a:chExt cx="4835451" cy="3293455"/>
              </a:xfrm>
            </p:grpSpPr>
            <p:cxnSp>
              <p:nvCxnSpPr>
                <p:cNvPr id="28" name="Straight Arrow Connector 27"/>
                <p:cNvCxnSpPr>
                  <a:stCxn id="56" idx="2"/>
                  <a:endCxn id="52" idx="0"/>
                </p:cNvCxnSpPr>
                <p:nvPr/>
              </p:nvCxnSpPr>
              <p:spPr>
                <a:xfrm>
                  <a:off x="3980621" y="3647932"/>
                  <a:ext cx="1" cy="348699"/>
                </a:xfrm>
                <a:prstGeom prst="straightConnector1">
                  <a:avLst/>
                </a:prstGeom>
                <a:ln w="3810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Arrow Connector 28"/>
                <p:cNvCxnSpPr/>
                <p:nvPr/>
              </p:nvCxnSpPr>
              <p:spPr>
                <a:xfrm>
                  <a:off x="3980622" y="4476308"/>
                  <a:ext cx="0" cy="722147"/>
                </a:xfrm>
                <a:prstGeom prst="straightConnector1">
                  <a:avLst/>
                </a:prstGeom>
                <a:ln w="3810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1" name="TextBox 30"/>
                <p:cNvSpPr txBox="1"/>
                <p:nvPr/>
              </p:nvSpPr>
              <p:spPr>
                <a:xfrm>
                  <a:off x="4512053" y="4471160"/>
                  <a:ext cx="808383" cy="3392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100" dirty="0"/>
                    <a:t>No</a:t>
                  </a:r>
                </a:p>
              </p:txBody>
            </p:sp>
            <p:sp>
              <p:nvSpPr>
                <p:cNvPr id="51" name="TextBox 50"/>
                <p:cNvSpPr txBox="1"/>
                <p:nvPr/>
              </p:nvSpPr>
              <p:spPr>
                <a:xfrm>
                  <a:off x="3205990" y="4569023"/>
                  <a:ext cx="673584" cy="3392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100" dirty="0"/>
                    <a:t>Yes</a:t>
                  </a:r>
                </a:p>
              </p:txBody>
            </p:sp>
            <p:sp>
              <p:nvSpPr>
                <p:cNvPr id="52" name="Flowchart: Decision 51"/>
                <p:cNvSpPr/>
                <p:nvPr/>
              </p:nvSpPr>
              <p:spPr>
                <a:xfrm>
                  <a:off x="2667000" y="3996631"/>
                  <a:ext cx="2627243" cy="680484"/>
                </a:xfrm>
                <a:prstGeom prst="flowChartDecision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100" dirty="0" smtClean="0"/>
                    <a:t>Is choice valid</a:t>
                  </a:r>
                  <a:r>
                    <a:rPr lang="en-US" sz="1100" dirty="0"/>
                    <a:t>?</a:t>
                  </a:r>
                </a:p>
              </p:txBody>
            </p:sp>
            <p:sp>
              <p:nvSpPr>
                <p:cNvPr id="53" name="Rectangle 52"/>
                <p:cNvSpPr/>
                <p:nvPr/>
              </p:nvSpPr>
              <p:spPr>
                <a:xfrm>
                  <a:off x="5481494" y="3705587"/>
                  <a:ext cx="2020957" cy="425302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100" dirty="0" smtClean="0"/>
                    <a:t>Report error</a:t>
                  </a:r>
                  <a:endParaRPr lang="en-US" sz="1100" dirty="0"/>
                </a:p>
              </p:txBody>
            </p:sp>
            <p:sp>
              <p:nvSpPr>
                <p:cNvPr id="54" name="Rectangle 53"/>
                <p:cNvSpPr/>
                <p:nvPr/>
              </p:nvSpPr>
              <p:spPr>
                <a:xfrm>
                  <a:off x="2970143" y="2330302"/>
                  <a:ext cx="2020957" cy="425302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100" dirty="0" smtClean="0"/>
                    <a:t>Present choices</a:t>
                  </a:r>
                  <a:endParaRPr lang="en-US" sz="1100" dirty="0"/>
                </a:p>
              </p:txBody>
            </p:sp>
            <p:cxnSp>
              <p:nvCxnSpPr>
                <p:cNvPr id="55" name="Straight Arrow Connector 54"/>
                <p:cNvCxnSpPr/>
                <p:nvPr/>
              </p:nvCxnSpPr>
              <p:spPr>
                <a:xfrm>
                  <a:off x="3980622" y="1905000"/>
                  <a:ext cx="0" cy="425302"/>
                </a:xfrm>
                <a:prstGeom prst="straightConnector1">
                  <a:avLst/>
                </a:prstGeom>
                <a:ln w="3810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6" name="Rectangle 55"/>
                <p:cNvSpPr/>
                <p:nvPr/>
              </p:nvSpPr>
              <p:spPr>
                <a:xfrm>
                  <a:off x="2970142" y="3222630"/>
                  <a:ext cx="2020957" cy="425302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100" dirty="0" smtClean="0"/>
                    <a:t>Ask for user selection</a:t>
                  </a:r>
                  <a:endParaRPr lang="en-US" sz="1100" dirty="0"/>
                </a:p>
              </p:txBody>
            </p:sp>
            <p:cxnSp>
              <p:nvCxnSpPr>
                <p:cNvPr id="57" name="Straight Arrow Connector 56"/>
                <p:cNvCxnSpPr>
                  <a:stCxn id="54" idx="2"/>
                  <a:endCxn id="56" idx="0"/>
                </p:cNvCxnSpPr>
                <p:nvPr/>
              </p:nvCxnSpPr>
              <p:spPr>
                <a:xfrm flipH="1">
                  <a:off x="3980621" y="2755604"/>
                  <a:ext cx="1" cy="467026"/>
                </a:xfrm>
                <a:prstGeom prst="straightConnector1">
                  <a:avLst/>
                </a:prstGeom>
                <a:ln w="3810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hape 13"/>
                <p:cNvCxnSpPr/>
                <p:nvPr/>
              </p:nvCxnSpPr>
              <p:spPr>
                <a:xfrm rot="16200000" flipH="1">
                  <a:off x="4919628" y="4193390"/>
                  <a:ext cx="653023" cy="712174"/>
                </a:xfrm>
                <a:prstGeom prst="curvedConnector2">
                  <a:avLst/>
                </a:prstGeom>
                <a:ln w="3810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hape 14"/>
                <p:cNvCxnSpPr>
                  <a:endCxn id="53" idx="2"/>
                </p:cNvCxnSpPr>
                <p:nvPr/>
              </p:nvCxnSpPr>
              <p:spPr>
                <a:xfrm flipV="1">
                  <a:off x="5537142" y="4130889"/>
                  <a:ext cx="954831" cy="745101"/>
                </a:xfrm>
                <a:prstGeom prst="curvedConnector2">
                  <a:avLst/>
                </a:prstGeom>
                <a:ln w="3810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hape 15"/>
                <p:cNvCxnSpPr/>
                <p:nvPr/>
              </p:nvCxnSpPr>
              <p:spPr>
                <a:xfrm rot="16200000" flipV="1">
                  <a:off x="5629119" y="2808015"/>
                  <a:ext cx="831053" cy="964091"/>
                </a:xfrm>
                <a:prstGeom prst="curvedConnector2">
                  <a:avLst/>
                </a:prstGeom>
                <a:ln w="3810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Shape 16"/>
                <p:cNvCxnSpPr/>
                <p:nvPr/>
              </p:nvCxnSpPr>
              <p:spPr>
                <a:xfrm rot="10800000" flipV="1">
                  <a:off x="4771613" y="2863897"/>
                  <a:ext cx="827431" cy="352647"/>
                </a:xfrm>
                <a:prstGeom prst="curvedConnector2">
                  <a:avLst/>
                </a:prstGeom>
                <a:ln w="3810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63" name="Flowchart: Decision 62"/>
            <p:cNvSpPr/>
            <p:nvPr/>
          </p:nvSpPr>
          <p:spPr>
            <a:xfrm>
              <a:off x="3498035" y="2116738"/>
              <a:ext cx="1910418" cy="524691"/>
            </a:xfrm>
            <a:prstGeom prst="flowChartDecis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 smtClean="0"/>
                <a:t>What selection</a:t>
              </a:r>
              <a:r>
                <a:rPr lang="en-US" sz="1100" dirty="0"/>
                <a:t>?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4243922" y="1062335"/>
              <a:ext cx="4042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…</a:t>
              </a:r>
            </a:p>
          </p:txBody>
        </p:sp>
        <p:cxnSp>
          <p:nvCxnSpPr>
            <p:cNvPr id="66" name="Straight Arrow Connector 65"/>
            <p:cNvCxnSpPr/>
            <p:nvPr/>
          </p:nvCxnSpPr>
          <p:spPr>
            <a:xfrm flipH="1">
              <a:off x="2029180" y="2641429"/>
              <a:ext cx="2063697" cy="78012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/>
            <p:cNvCxnSpPr/>
            <p:nvPr/>
          </p:nvCxnSpPr>
          <p:spPr>
            <a:xfrm>
              <a:off x="4827654" y="2641429"/>
              <a:ext cx="1349189" cy="78832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TextBox 68"/>
            <p:cNvSpPr txBox="1"/>
            <p:nvPr/>
          </p:nvSpPr>
          <p:spPr>
            <a:xfrm>
              <a:off x="3150879" y="2547727"/>
              <a:ext cx="327581" cy="288147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en-US" sz="1400" dirty="0"/>
                <a:t>File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4095328" y="2830821"/>
              <a:ext cx="1105743" cy="288147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en-US" sz="1400" dirty="0" smtClean="0"/>
                <a:t>Home/Format</a:t>
              </a:r>
              <a:endParaRPr lang="en-US" sz="1400" dirty="0"/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1816905" y="5801168"/>
              <a:ext cx="4042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…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5974704" y="5801168"/>
              <a:ext cx="4042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…</a:t>
              </a:r>
            </a:p>
          </p:txBody>
        </p:sp>
        <p:cxnSp>
          <p:nvCxnSpPr>
            <p:cNvPr id="73" name="Straight Arrow Connector 72"/>
            <p:cNvCxnSpPr/>
            <p:nvPr/>
          </p:nvCxnSpPr>
          <p:spPr>
            <a:xfrm flipV="1">
              <a:off x="5339580" y="2509612"/>
              <a:ext cx="1498563" cy="652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Box 73"/>
            <p:cNvSpPr txBox="1"/>
            <p:nvPr/>
          </p:nvSpPr>
          <p:spPr>
            <a:xfrm>
              <a:off x="6911620" y="2250563"/>
              <a:ext cx="4042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…</a:t>
              </a: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5869567" y="2192836"/>
              <a:ext cx="495896" cy="288147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en-US" sz="1400" dirty="0"/>
                <a:t>Insert</a:t>
              </a:r>
            </a:p>
          </p:txBody>
        </p:sp>
        <p:cxnSp>
          <p:nvCxnSpPr>
            <p:cNvPr id="76" name="Straight Arrow Connector 75"/>
            <p:cNvCxnSpPr/>
            <p:nvPr/>
          </p:nvCxnSpPr>
          <p:spPr>
            <a:xfrm>
              <a:off x="4453244" y="1522311"/>
              <a:ext cx="0" cy="56939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Box 76"/>
            <p:cNvSpPr txBox="1"/>
            <p:nvPr/>
          </p:nvSpPr>
          <p:spPr>
            <a:xfrm>
              <a:off x="2374022" y="1143747"/>
              <a:ext cx="17729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(</a:t>
              </a:r>
              <a:r>
                <a:rPr lang="en-US" dirty="0" smtClean="0"/>
                <a:t>from top menu</a:t>
              </a:r>
              <a:r>
                <a:rPr lang="en-US" dirty="0"/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94105150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921262" cy="838200"/>
          </a:xfrm>
        </p:spPr>
        <p:txBody>
          <a:bodyPr>
            <a:normAutofit/>
          </a:bodyPr>
          <a:lstStyle/>
          <a:p>
            <a:r>
              <a:rPr lang="en-US" dirty="0"/>
              <a:t>4</a:t>
            </a:r>
            <a:r>
              <a:rPr lang="en-US" dirty="0" smtClean="0"/>
              <a:t>. Menu Navigation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19</a:t>
            </a:fld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765760" y="1524000"/>
            <a:ext cx="7658658" cy="3706233"/>
            <a:chOff x="653174" y="1062335"/>
            <a:chExt cx="7658658" cy="3706233"/>
          </a:xfrm>
        </p:grpSpPr>
        <p:sp>
          <p:nvSpPr>
            <p:cNvPr id="63" name="Flowchart: Decision 62"/>
            <p:cNvSpPr/>
            <p:nvPr/>
          </p:nvSpPr>
          <p:spPr>
            <a:xfrm>
              <a:off x="3498035" y="2116738"/>
              <a:ext cx="1910418" cy="524691"/>
            </a:xfrm>
            <a:prstGeom prst="flowChartDecis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 smtClean="0"/>
                <a:t>What selection</a:t>
              </a:r>
              <a:r>
                <a:rPr lang="en-US" sz="1100" dirty="0"/>
                <a:t>?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4243922" y="1062335"/>
              <a:ext cx="4042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…</a:t>
              </a:r>
            </a:p>
          </p:txBody>
        </p:sp>
        <p:cxnSp>
          <p:nvCxnSpPr>
            <p:cNvPr id="66" name="Straight Arrow Connector 65"/>
            <p:cNvCxnSpPr>
              <a:stCxn id="63" idx="2"/>
              <a:endCxn id="62" idx="0"/>
            </p:cNvCxnSpPr>
            <p:nvPr/>
          </p:nvCxnSpPr>
          <p:spPr>
            <a:xfrm flipH="1">
              <a:off x="1663653" y="2641429"/>
              <a:ext cx="2789591" cy="774947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/>
            <p:cNvCxnSpPr>
              <a:stCxn id="63" idx="2"/>
              <a:endCxn id="68" idx="0"/>
            </p:cNvCxnSpPr>
            <p:nvPr/>
          </p:nvCxnSpPr>
          <p:spPr>
            <a:xfrm>
              <a:off x="4453244" y="2641429"/>
              <a:ext cx="3678" cy="774947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TextBox 68"/>
            <p:cNvSpPr txBox="1"/>
            <p:nvPr/>
          </p:nvSpPr>
          <p:spPr>
            <a:xfrm>
              <a:off x="2388084" y="2809109"/>
              <a:ext cx="405230" cy="288147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en-US" sz="1400" dirty="0"/>
                <a:t>New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3945250" y="2964324"/>
              <a:ext cx="470248" cy="288147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en-US" sz="1400" dirty="0"/>
                <a:t>Open</a:t>
              </a:r>
            </a:p>
          </p:txBody>
        </p:sp>
        <p:cxnSp>
          <p:nvCxnSpPr>
            <p:cNvPr id="73" name="Straight Arrow Connector 72"/>
            <p:cNvCxnSpPr>
              <a:stCxn id="63" idx="2"/>
              <a:endCxn id="78" idx="0"/>
            </p:cNvCxnSpPr>
            <p:nvPr/>
          </p:nvCxnSpPr>
          <p:spPr>
            <a:xfrm>
              <a:off x="4453244" y="2641429"/>
              <a:ext cx="2689678" cy="774947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TextBox 74"/>
            <p:cNvSpPr txBox="1"/>
            <p:nvPr/>
          </p:nvSpPr>
          <p:spPr>
            <a:xfrm>
              <a:off x="5845816" y="2715350"/>
              <a:ext cx="407859" cy="288147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en-US" sz="1400" dirty="0"/>
                <a:t>Save</a:t>
              </a:r>
            </a:p>
          </p:txBody>
        </p:sp>
        <p:cxnSp>
          <p:nvCxnSpPr>
            <p:cNvPr id="76" name="Straight Arrow Connector 75"/>
            <p:cNvCxnSpPr/>
            <p:nvPr/>
          </p:nvCxnSpPr>
          <p:spPr>
            <a:xfrm>
              <a:off x="4453244" y="1522311"/>
              <a:ext cx="0" cy="56939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Box 76"/>
            <p:cNvSpPr txBox="1"/>
            <p:nvPr/>
          </p:nvSpPr>
          <p:spPr>
            <a:xfrm>
              <a:off x="2374022" y="1143747"/>
              <a:ext cx="17198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(</a:t>
              </a:r>
              <a:r>
                <a:rPr lang="en-US" dirty="0" smtClean="0"/>
                <a:t>from file menu</a:t>
              </a:r>
              <a:r>
                <a:rPr lang="en-US" dirty="0"/>
                <a:t>)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653174" y="3416376"/>
              <a:ext cx="2020957" cy="4253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/>
                <a:t>Create new file</a:t>
              </a:r>
              <a:endParaRPr lang="en-US" sz="1400" dirty="0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3446443" y="3416376"/>
              <a:ext cx="2020957" cy="4253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/>
                <a:t>Open file</a:t>
              </a:r>
              <a:endParaRPr lang="en-US" sz="1400" dirty="0"/>
            </a:p>
          </p:txBody>
        </p:sp>
        <p:sp>
          <p:nvSpPr>
            <p:cNvPr id="78" name="Rectangle 77"/>
            <p:cNvSpPr/>
            <p:nvPr/>
          </p:nvSpPr>
          <p:spPr>
            <a:xfrm>
              <a:off x="6132443" y="3416376"/>
              <a:ext cx="2020957" cy="4253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/>
                <a:t>Save file</a:t>
              </a:r>
              <a:endParaRPr lang="en-US" sz="1400" dirty="0"/>
            </a:p>
          </p:txBody>
        </p:sp>
        <p:sp>
          <p:nvSpPr>
            <p:cNvPr id="80" name="Rectangle 13"/>
            <p:cNvSpPr>
              <a:spLocks noChangeArrowheads="1"/>
            </p:cNvSpPr>
            <p:nvPr/>
          </p:nvSpPr>
          <p:spPr bwMode="auto">
            <a:xfrm>
              <a:off x="722895" y="4368458"/>
              <a:ext cx="7588937" cy="400110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r>
                <a:rPr lang="en-US" sz="2000" b="0" dirty="0" smtClean="0"/>
                <a:t>Performs actual functionalities. Each can be written as a function</a:t>
              </a:r>
              <a:r>
                <a:rPr lang="en-US" sz="2000" b="0" dirty="0"/>
                <a:t>.</a:t>
              </a:r>
            </a:p>
          </p:txBody>
        </p:sp>
      </p:grpSp>
      <p:sp>
        <p:nvSpPr>
          <p:cNvPr id="81" name="Line 14"/>
          <p:cNvSpPr>
            <a:spLocks noChangeShapeType="1"/>
          </p:cNvSpPr>
          <p:nvPr/>
        </p:nvSpPr>
        <p:spPr bwMode="auto">
          <a:xfrm flipH="1" flipV="1">
            <a:off x="2133599" y="4402732"/>
            <a:ext cx="318372" cy="32489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82" name="Line 14"/>
          <p:cNvSpPr>
            <a:spLocks noChangeShapeType="1"/>
          </p:cNvSpPr>
          <p:nvPr/>
        </p:nvSpPr>
        <p:spPr bwMode="auto">
          <a:xfrm flipH="1" flipV="1">
            <a:off x="4565828" y="4402732"/>
            <a:ext cx="1" cy="32489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83" name="Line 14"/>
          <p:cNvSpPr>
            <a:spLocks noChangeShapeType="1"/>
          </p:cNvSpPr>
          <p:nvPr/>
        </p:nvSpPr>
        <p:spPr bwMode="auto">
          <a:xfrm flipV="1">
            <a:off x="6934200" y="4409848"/>
            <a:ext cx="321307" cy="30637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0296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 smtClean="0">
                <a:ea typeface="新細明體" pitchFamily="18" charset="-120"/>
              </a:rPr>
              <a:t>Introduction to logic flows</a:t>
            </a:r>
            <a:endParaRPr lang="en-US" altLang="zh-TW" sz="3200" dirty="0">
              <a:ea typeface="新細明體" pitchFamily="18" charset="-120"/>
            </a:endParaRPr>
          </a:p>
          <a:p>
            <a:r>
              <a:rPr lang="en-US" altLang="zh-TW" sz="3200" dirty="0">
                <a:ea typeface="新細明體" pitchFamily="18" charset="-120"/>
              </a:rPr>
              <a:t>Top-down</a:t>
            </a:r>
            <a:r>
              <a:rPr lang="en-US" altLang="zh-TW" sz="3200" dirty="0" smtClean="0">
                <a:ea typeface="新細明體" pitchFamily="18" charset="-120"/>
              </a:rPr>
              <a:t>, bottom-up, or combination</a:t>
            </a:r>
            <a:endParaRPr lang="en-US" altLang="zh-TW" sz="3200" dirty="0">
              <a:ea typeface="新細明體" pitchFamily="18" charset="-120"/>
            </a:endParaRPr>
          </a:p>
          <a:p>
            <a:r>
              <a:rPr lang="en-US" altLang="zh-TW" sz="3200" dirty="0" smtClean="0">
                <a:ea typeface="新細明體" pitchFamily="18" charset="-120"/>
              </a:rPr>
              <a:t>Using flowcharts </a:t>
            </a:r>
            <a:endParaRPr lang="en-US" altLang="zh-TW" sz="3200" dirty="0">
              <a:ea typeface="新細明體" pitchFamily="18" charset="-120"/>
            </a:endParaRPr>
          </a:p>
          <a:p>
            <a:r>
              <a:rPr lang="en-US" altLang="zh-TW" sz="3200" dirty="0" smtClean="0">
                <a:ea typeface="新細明體" pitchFamily="18" charset="-120"/>
              </a:rPr>
              <a:t>Menu navigation as an example</a:t>
            </a:r>
            <a:endParaRPr lang="en-US" altLang="zh-TW" sz="3200" dirty="0">
              <a:ea typeface="新細明體" pitchFamily="18" charset="-120"/>
            </a:endParaRPr>
          </a:p>
          <a:p>
            <a:endParaRPr lang="en-US" altLang="zh-TW" dirty="0">
              <a:ea typeface="新細明體" pitchFamily="18" charset="-120"/>
            </a:endParaRPr>
          </a:p>
          <a:p>
            <a:endParaRPr lang="en-US" altLang="zh-TW" sz="3200" dirty="0">
              <a:ea typeface="新細明體" pitchFamily="18" charset="-12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232807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FONTSIZE" val="10"/>
  <p:tag name="DEFAULTWIDTH" val="418"/>
  <p:tag name="DEFAULTHEIGHT" val="31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7256</TotalTime>
  <Words>973</Words>
  <PresentationFormat>On-screen Show (4:3)</PresentationFormat>
  <Paragraphs>270</Paragraphs>
  <Slides>20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新細明體</vt:lpstr>
      <vt:lpstr>Arial</vt:lpstr>
      <vt:lpstr>Times New Roman</vt:lpstr>
      <vt:lpstr>Calibri</vt:lpstr>
      <vt:lpstr>Wingdings</vt:lpstr>
      <vt:lpstr>Consolas</vt:lpstr>
      <vt:lpstr>Office Theme</vt:lpstr>
      <vt:lpstr>Logic Flow</vt:lpstr>
      <vt:lpstr>Outline</vt:lpstr>
      <vt:lpstr>1. Introduction</vt:lpstr>
      <vt:lpstr>2. Top-down and bottom-up</vt:lpstr>
      <vt:lpstr>2. Top-down and bottom-up</vt:lpstr>
      <vt:lpstr>2. Top-down and bottom-up</vt:lpstr>
      <vt:lpstr>3. Flowcharts</vt:lpstr>
      <vt:lpstr>3. Flowcharts</vt:lpstr>
      <vt:lpstr>3. Flowcharts</vt:lpstr>
      <vt:lpstr>3. Flowcharts</vt:lpstr>
      <vt:lpstr>3. Flowcharts</vt:lpstr>
      <vt:lpstr>3. Flowcharts</vt:lpstr>
      <vt:lpstr>3. Flowcharts</vt:lpstr>
      <vt:lpstr>3. Flowcharts</vt:lpstr>
      <vt:lpstr>4. Menu Navigation</vt:lpstr>
      <vt:lpstr>4. Menu Navigation</vt:lpstr>
      <vt:lpstr>4. Menu Navigation</vt:lpstr>
      <vt:lpstr>4. Menu Navigation</vt:lpstr>
      <vt:lpstr>4. Menu Navigation</vt:lpstr>
      <vt:lpstr>Summary</vt:lpstr>
    </vt:vector>
  </TitlesOfParts>
  <Manager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subject/>
  <dc:creator/>
  <cp:keywords/>
  <dc:description/>
  <dcterms:created xsi:type="dcterms:W3CDTF">2011-07-19T12:51:33Z</dcterms:created>
  <dcterms:modified xsi:type="dcterms:W3CDTF">2022-11-02T10:56:41Z</dcterms:modified>
  <cp:category/>
</cp:coreProperties>
</file>