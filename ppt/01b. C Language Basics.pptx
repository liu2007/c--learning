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366" r:id="rId3"/>
    <p:sldId id="325" r:id="rId4"/>
    <p:sldId id="326" r:id="rId5"/>
    <p:sldId id="327" r:id="rId6"/>
    <p:sldId id="328" r:id="rId7"/>
    <p:sldId id="329" r:id="rId8"/>
    <p:sldId id="363" r:id="rId9"/>
    <p:sldId id="348" r:id="rId10"/>
    <p:sldId id="364" r:id="rId11"/>
    <p:sldId id="349" r:id="rId12"/>
    <p:sldId id="367" r:id="rId13"/>
    <p:sldId id="368" r:id="rId14"/>
    <p:sldId id="361" r:id="rId15"/>
    <p:sldId id="330" r:id="rId16"/>
    <p:sldId id="331" r:id="rId17"/>
    <p:sldId id="333" r:id="rId18"/>
    <p:sldId id="334" r:id="rId19"/>
    <p:sldId id="332" r:id="rId20"/>
    <p:sldId id="335" r:id="rId21"/>
    <p:sldId id="337" r:id="rId22"/>
    <p:sldId id="338" r:id="rId23"/>
    <p:sldId id="336" r:id="rId24"/>
    <p:sldId id="339" r:id="rId25"/>
    <p:sldId id="340" r:id="rId26"/>
    <p:sldId id="369" r:id="rId27"/>
    <p:sldId id="360" r:id="rId28"/>
    <p:sldId id="341" r:id="rId29"/>
    <p:sldId id="342" r:id="rId30"/>
    <p:sldId id="343" r:id="rId31"/>
    <p:sldId id="344" r:id="rId32"/>
    <p:sldId id="365" r:id="rId33"/>
    <p:sldId id="345" r:id="rId34"/>
    <p:sldId id="371" r:id="rId35"/>
    <p:sldId id="351" r:id="rId36"/>
    <p:sldId id="352" r:id="rId37"/>
    <p:sldId id="353" r:id="rId38"/>
    <p:sldId id="354" r:id="rId39"/>
    <p:sldId id="355" r:id="rId40"/>
    <p:sldId id="356" r:id="rId41"/>
    <p:sldId id="347" r:id="rId42"/>
    <p:sldId id="357" r:id="rId43"/>
    <p:sldId id="358" r:id="rId44"/>
    <p:sldId id="359" r:id="rId45"/>
    <p:sldId id="362" r:id="rId46"/>
  </p:sldIdLst>
  <p:sldSz cx="12192000" cy="6858000"/>
  <p:notesSz cx="6807200" cy="9939338"/>
  <p:custDataLst>
    <p:tags r:id="rId4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20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William Hui (IEG)" initials="W(" lastIdx="2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E454E7-98C5-4575-B77D-B3D25361DAEF}" v="410" dt="2025-09-02T09:46:42.4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16" autoAdjust="0"/>
    <p:restoredTop sz="93462" autoAdjust="0"/>
  </p:normalViewPr>
  <p:slideViewPr>
    <p:cSldViewPr>
      <p:cViewPr varScale="1">
        <p:scale>
          <a:sx n="103" d="100"/>
          <a:sy n="103" d="100"/>
        </p:scale>
        <p:origin x="666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3131"/>
        <p:guide pos="214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commentAuthors" Target="commentAuthor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70462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2300" tIns="46150" rIns="92300" bIns="4615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6" cy="49696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新細明體" charset="-12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1B21B2E8-5D10-460F-AC07-2B2E79348306}" type="slidenum">
              <a:rPr lang="zh-TW" altLang="en-US" smtClean="0">
                <a:latin typeface="Helvetica" pitchFamily="34" charset="0"/>
              </a:rPr>
              <a:pPr/>
              <a:t>6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72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27B08E5-C3DA-4EF9-94CB-1DFB3EB32FA0}" type="slidenum">
              <a:rPr lang="zh-TW" altLang="en-US" smtClean="0">
                <a:latin typeface="Helvetica" pitchFamily="34" charset="0"/>
              </a:rPr>
              <a:pPr/>
              <a:t>14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6859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a typeface="新細明體" charset="-120"/>
              </a:rPr>
              <a:t>This example is used to illustrate some basic concepts: Variables, assignment operators, </a:t>
            </a:r>
            <a:r>
              <a:rPr lang="en-US" altLang="en-US" dirty="0" err="1">
                <a:ea typeface="新細明體" charset="-120"/>
              </a:rPr>
              <a:t>printf</a:t>
            </a:r>
            <a:r>
              <a:rPr lang="en-US" altLang="en-US" dirty="0">
                <a:ea typeface="新細明體" charset="-120"/>
              </a:rPr>
              <a:t>().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C8E7455-0761-4920-B7BE-138E2B933C2A}" type="slidenum">
              <a:rPr lang="zh-TW" altLang="en-US" smtClean="0">
                <a:latin typeface="Helvetica" pitchFamily="34" charset="0"/>
              </a:rPr>
              <a:pPr/>
              <a:t>16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214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4638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70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4638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65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4638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054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27B08E5-C3DA-4EF9-94CB-1DFB3EB32FA0}" type="slidenum">
              <a:rPr lang="zh-TW" altLang="en-US" smtClean="0">
                <a:latin typeface="Helvetica" pitchFamily="34" charset="0"/>
              </a:rPr>
              <a:pPr/>
              <a:t>27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5572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dirty="0">
                <a:ea typeface="新細明體" charset="-120"/>
              </a:rPr>
              <a:t>What would happen if you use these names as identifiers in your program?</a:t>
            </a:r>
          </a:p>
          <a:p>
            <a:endParaRPr lang="en-US" altLang="en-US" dirty="0">
              <a:ea typeface="新細明體" charset="-12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03F6FBF-C61F-44BB-B039-B7D86A8C92C9}" type="slidenum">
              <a:rPr lang="zh-TW" altLang="en-US" smtClean="0">
                <a:latin typeface="Helvetica" pitchFamily="34" charset="0"/>
              </a:rPr>
              <a:pPr/>
              <a:t>30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569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617A55F-FC8E-41F4-A5A1-C5644FD23A57}" type="slidenum">
              <a:rPr lang="zh-TW" altLang="en-US" smtClean="0">
                <a:latin typeface="Helvetica" pitchFamily="34" charset="0"/>
              </a:rPr>
              <a:pPr/>
              <a:t>31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2, 5, 7, 8, 10, 11, 12, 13, 14, 15, 16, 17, 18, 19: Valid identifiers</a:t>
            </a:r>
          </a:p>
          <a:p>
            <a:pPr eaLnBrk="1" hangingPunct="1"/>
            <a:r>
              <a:rPr lang="en-US" altLang="zh-TW" dirty="0">
                <a:ea typeface="新細明體" charset="-120"/>
              </a:rPr>
              <a:t>6:  A reserved word</a:t>
            </a:r>
          </a:p>
          <a:p>
            <a:pPr eaLnBrk="1" hangingPunct="1"/>
            <a:r>
              <a:rPr lang="en-US" altLang="zh-TW" dirty="0">
                <a:ea typeface="新細明體" charset="-120"/>
              </a:rPr>
              <a:t>7, 11: They are predefined identifiers but they are still valid identifiers.</a:t>
            </a:r>
          </a:p>
          <a:p>
            <a:pPr eaLnBrk="1" hangingPunct="1"/>
            <a:r>
              <a:rPr lang="en-US" altLang="zh-TW" dirty="0">
                <a:ea typeface="新細明體" charset="-120"/>
              </a:rPr>
              <a:t>17: "#include" is a preprocessor directive, "include" itself is not a reserved word and thus it is a valid identifier.</a:t>
            </a:r>
          </a:p>
          <a:p>
            <a:pPr eaLnBrk="1" hangingPunct="1"/>
            <a:endParaRPr lang="en-US" altLang="zh-TW" dirty="0">
              <a:ea typeface="新細明體" charset="-120"/>
            </a:endParaRPr>
          </a:p>
          <a:p>
            <a:pPr eaLnBrk="1" hangingPunct="1"/>
            <a:r>
              <a:rPr lang="en-US" altLang="zh-TW" dirty="0">
                <a:ea typeface="新細明體" charset="-120"/>
              </a:rPr>
              <a:t>Note: a valid identifier does not imply that it</a:t>
            </a:r>
            <a:r>
              <a:rPr lang="en-US" altLang="zh-TW" baseline="0" dirty="0">
                <a:ea typeface="新細明體" charset="-120"/>
              </a:rPr>
              <a:t> is a </a:t>
            </a:r>
            <a:r>
              <a:rPr lang="en-US" altLang="zh-TW" baseline="0">
                <a:ea typeface="新細明體" charset="-120"/>
              </a:rPr>
              <a:t>meaningful name</a:t>
            </a:r>
            <a:endParaRPr lang="en-US" altLang="zh-TW" dirty="0">
              <a:ea typeface="新細明體" charset="-120"/>
            </a:endParaRPr>
          </a:p>
          <a:p>
            <a:pPr eaLnBrk="1" hangingPunct="1"/>
            <a:endParaRPr lang="en-US" altLang="zh-TW" dirty="0">
              <a:ea typeface="新細明體" charset="-120"/>
            </a:endParaRPr>
          </a:p>
          <a:p>
            <a:pPr eaLnBrk="1" hangingPunct="1"/>
            <a:endParaRPr lang="en-US" altLang="zh-TW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9651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617A55F-FC8E-41F4-A5A1-C5644FD23A57}" type="slidenum">
              <a:rPr lang="zh-TW" altLang="en-US" smtClean="0">
                <a:latin typeface="Helvetica" pitchFamily="34" charset="0"/>
              </a:rPr>
              <a:pPr/>
              <a:t>32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2, 5, 7, 8, 10, 11, 12, 13, 14, 15, 16, 17, 18, 19: Valid identifiers</a:t>
            </a:r>
          </a:p>
          <a:p>
            <a:pPr eaLnBrk="1" hangingPunct="1"/>
            <a:r>
              <a:rPr lang="en-US" altLang="zh-TW" dirty="0">
                <a:ea typeface="新細明體" charset="-120"/>
              </a:rPr>
              <a:t>6:  A reserved word</a:t>
            </a:r>
          </a:p>
          <a:p>
            <a:pPr eaLnBrk="1" hangingPunct="1"/>
            <a:r>
              <a:rPr lang="en-US" altLang="zh-TW" dirty="0">
                <a:ea typeface="新細明體" charset="-120"/>
              </a:rPr>
              <a:t>7, 11: They are predefined identifiers but they are still valid identifiers.</a:t>
            </a:r>
          </a:p>
          <a:p>
            <a:pPr eaLnBrk="1" hangingPunct="1"/>
            <a:r>
              <a:rPr lang="en-US" altLang="zh-TW" dirty="0">
                <a:ea typeface="新細明體" charset="-120"/>
              </a:rPr>
              <a:t>17: "#include" is a preprocessor directive, "include" itself is not a reserved word and thus it is a valid identifier.</a:t>
            </a:r>
          </a:p>
          <a:p>
            <a:pPr eaLnBrk="1" hangingPunct="1"/>
            <a:endParaRPr lang="en-US" altLang="zh-TW" dirty="0">
              <a:ea typeface="新細明體" charset="-120"/>
            </a:endParaRPr>
          </a:p>
          <a:p>
            <a:pPr eaLnBrk="1" hangingPunct="1"/>
            <a:r>
              <a:rPr lang="en-US" altLang="zh-TW" dirty="0">
                <a:ea typeface="新細明體" charset="-120"/>
              </a:rPr>
              <a:t>Note: a valid identifier does not imply that it</a:t>
            </a:r>
            <a:r>
              <a:rPr lang="en-US" altLang="zh-TW" baseline="0" dirty="0">
                <a:ea typeface="新細明體" charset="-120"/>
              </a:rPr>
              <a:t> is a </a:t>
            </a:r>
            <a:r>
              <a:rPr lang="en-US" altLang="zh-TW" baseline="0">
                <a:ea typeface="新細明體" charset="-120"/>
              </a:rPr>
              <a:t>meaningful name</a:t>
            </a:r>
            <a:endParaRPr lang="en-US" altLang="zh-TW" dirty="0">
              <a:ea typeface="新細明體" charset="-120"/>
            </a:endParaRPr>
          </a:p>
          <a:p>
            <a:pPr eaLnBrk="1" hangingPunct="1"/>
            <a:endParaRPr lang="en-US" altLang="zh-TW" dirty="0">
              <a:ea typeface="新細明體" charset="-120"/>
            </a:endParaRPr>
          </a:p>
          <a:p>
            <a:pPr eaLnBrk="1" hangingPunct="1"/>
            <a:endParaRPr lang="en-US" altLang="zh-TW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469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8D1D4EE1-9454-4CAB-B6CB-73D99EBE58FA}" type="slidenum">
              <a:rPr lang="zh-TW" altLang="en-US" smtClean="0">
                <a:latin typeface="Helvetica" pitchFamily="34" charset="0"/>
              </a:rPr>
              <a:pPr/>
              <a:t>35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1244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新細明體" charset="-12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1CD5E0E0-E318-4329-BA42-56459AAE1C63}" type="slidenum">
              <a:rPr lang="zh-TW" altLang="en-US" smtClean="0">
                <a:latin typeface="Helvetica" pitchFamily="34" charset="0"/>
              </a:rPr>
              <a:pPr/>
              <a:t>36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55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7DE8395-3863-48F5-9285-C77BB51D63E2}" type="slidenum">
              <a:rPr lang="zh-TW" altLang="en-US" smtClean="0">
                <a:latin typeface="Helvetica" pitchFamily="34" charset="0"/>
              </a:rPr>
              <a:pPr/>
              <a:t>37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4100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新細明體" charset="-12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163B9EAA-F4EA-452F-AAE0-C6444E8B0AB6}" type="slidenum">
              <a:rPr lang="zh-TW" altLang="en-US" smtClean="0">
                <a:latin typeface="Helvetica" pitchFamily="34" charset="0"/>
              </a:rPr>
              <a:pPr/>
              <a:t>38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517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0C450CB-D5CC-47F8-98AF-AC41881E8482}" type="slidenum">
              <a:rPr lang="zh-TW" altLang="en-US" smtClean="0">
                <a:latin typeface="Helvetica" pitchFamily="34" charset="0"/>
              </a:rPr>
              <a:pPr/>
              <a:t>39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 b="0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1608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0" dirty="0">
              <a:ea typeface="新細明體" charset="-12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47A7E00-2EDE-4ABE-8952-ED91CEF9103D}" type="slidenum">
              <a:rPr lang="zh-TW" altLang="en-US" smtClean="0">
                <a:latin typeface="Helvetica" pitchFamily="34" charset="0"/>
              </a:rPr>
              <a:pPr/>
              <a:t>40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2451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b="0" dirty="0">
              <a:ea typeface="新細明體" charset="-120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9D99876-C296-4930-B8EC-B304D55E6F02}" type="slidenum">
              <a:rPr lang="zh-TW" altLang="en-US" smtClean="0">
                <a:latin typeface="Helvetica" pitchFamily="34" charset="0"/>
              </a:rPr>
              <a:pPr/>
              <a:t>42</a:t>
            </a:fld>
            <a:endParaRPr lang="en-US" altLang="zh-TW"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58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1685" indent="-285264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1053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97474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3896" indent="-22821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0316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66738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3159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79580" indent="-22821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F644A930-126D-4FE2-B8A6-77084D3D0002}" type="slidenum">
              <a:rPr lang="zh-TW" altLang="en-US" smtClean="0">
                <a:latin typeface="Helvetica" pitchFamily="34" charset="0"/>
              </a:rPr>
              <a:pPr/>
              <a:t>43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4638" cy="372745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210" indent="-228210"/>
            <a:endParaRPr lang="en-US" altLang="zh-TW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6453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2011_Trampeltier_1528.JP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creativecommons.org/licenses/by-sa/3.0" TargetMode="External"/><Relationship Id="rId4" Type="http://schemas.openxmlformats.org/officeDocument/2006/relationships/hyperlink" Target="http://commons.wikimedia.org/wiki/User:J._Patrick_Fischer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130428"/>
            <a:ext cx="8382000" cy="1470025"/>
          </a:xfrm>
        </p:spPr>
        <p:txBody>
          <a:bodyPr>
            <a:normAutofit/>
          </a:bodyPr>
          <a:lstStyle/>
          <a:p>
            <a:r>
              <a:rPr lang="en-US" altLang="zh-TW" b="1" dirty="0">
                <a:ea typeface="新細明體"/>
              </a:rPr>
              <a:t>01b. C Language Basics </a:t>
            </a:r>
            <a:endParaRPr lang="en-US" altLang="zh-TW" b="1" dirty="0">
              <a:ea typeface="新細明體" charset="-120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1951A-853C-5B29-EB20-B97F885B5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01a. Introduction to Programming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AE236-50D8-77B8-E44D-2A0BEB62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Due to the time limit, we skip the 01a.pptx in class.</a:t>
            </a:r>
          </a:p>
          <a:p>
            <a:r>
              <a:rPr lang="en-US" altLang="zh-CN" dirty="0"/>
              <a:t>Please review the slides on your own.</a:t>
            </a:r>
          </a:p>
          <a:p>
            <a:r>
              <a:rPr lang="en-US" altLang="zh-CN" dirty="0"/>
              <a:t>Answer the </a:t>
            </a:r>
            <a:r>
              <a:rPr lang="en-US" altLang="zh-CN" dirty="0" err="1"/>
              <a:t>UReply</a:t>
            </a:r>
            <a:r>
              <a:rPr lang="en-US" altLang="zh-CN" dirty="0"/>
              <a:t> question.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9FC2E-DD11-F0B5-331F-3B8537E6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38C714F-09D6-A899-8EB2-79A5C852F087}"/>
              </a:ext>
            </a:extLst>
          </p:cNvPr>
          <p:cNvGrpSpPr/>
          <p:nvPr/>
        </p:nvGrpSpPr>
        <p:grpSpPr>
          <a:xfrm>
            <a:off x="4124864" y="3066160"/>
            <a:ext cx="1676400" cy="2097998"/>
            <a:chOff x="4114800" y="2702602"/>
            <a:chExt cx="1676400" cy="209799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3D0B7E-A7A2-B773-572B-A4D94897FC16}"/>
                </a:ext>
              </a:extLst>
            </p:cNvPr>
            <p:cNvSpPr/>
            <p:nvPr/>
          </p:nvSpPr>
          <p:spPr>
            <a:xfrm>
              <a:off x="4114800" y="2702602"/>
              <a:ext cx="1676400" cy="12954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High-level Programming Language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EADC5C-6619-06DC-8AF5-CF80B72F5107}"/>
                </a:ext>
              </a:extLst>
            </p:cNvPr>
            <p:cNvSpPr/>
            <p:nvPr/>
          </p:nvSpPr>
          <p:spPr>
            <a:xfrm>
              <a:off x="4114800" y="3998002"/>
              <a:ext cx="1676400" cy="802598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C, </a:t>
              </a:r>
              <a:r>
                <a:rPr lang="en-US" dirty="0"/>
                <a:t>C++, JAVA, Python, R, </a:t>
              </a:r>
            </a:p>
            <a:p>
              <a:pPr algn="ctr"/>
              <a:r>
                <a:rPr lang="en-US" dirty="0"/>
                <a:t>…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F7794C3-5DBE-B93C-1E58-140820812268}"/>
              </a:ext>
            </a:extLst>
          </p:cNvPr>
          <p:cNvGrpSpPr/>
          <p:nvPr/>
        </p:nvGrpSpPr>
        <p:grpSpPr>
          <a:xfrm>
            <a:off x="7071264" y="3066160"/>
            <a:ext cx="1676400" cy="2097998"/>
            <a:chOff x="7061200" y="2702602"/>
            <a:chExt cx="1676400" cy="209799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A98FC7-0232-A632-A248-0150EFCB10AF}"/>
                </a:ext>
              </a:extLst>
            </p:cNvPr>
            <p:cNvSpPr/>
            <p:nvPr/>
          </p:nvSpPr>
          <p:spPr>
            <a:xfrm>
              <a:off x="7061200" y="2702602"/>
              <a:ext cx="1676400" cy="12954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Assembly Language</a:t>
              </a:r>
            </a:p>
            <a:p>
              <a:pPr algn="ctr"/>
              <a:r>
                <a:rPr lang="en-US" sz="1600" dirty="0"/>
                <a:t>(</a:t>
              </a:r>
              <a:r>
                <a:rPr lang="zh-CN" altLang="en-US" sz="1600" dirty="0"/>
                <a:t>汇编语言</a:t>
              </a:r>
              <a:r>
                <a:rPr lang="en-US" altLang="zh-CN" sz="1600" dirty="0"/>
                <a:t>/</a:t>
              </a:r>
            </a:p>
            <a:p>
              <a:pPr algn="ctr"/>
              <a:r>
                <a:rPr lang="zh-CN" altLang="en-US" sz="1600" dirty="0"/>
                <a:t>組合語言</a:t>
              </a:r>
              <a:r>
                <a:rPr lang="en-US" sz="1600" dirty="0"/>
                <a:t>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DD67B0-9119-D947-D890-B3D2463FD43E}"/>
                </a:ext>
              </a:extLst>
            </p:cNvPr>
            <p:cNvSpPr/>
            <p:nvPr/>
          </p:nvSpPr>
          <p:spPr>
            <a:xfrm>
              <a:off x="7061200" y="3998002"/>
              <a:ext cx="1676400" cy="80259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MOV, ADD, JMP, …</a:t>
              </a:r>
              <a:endParaRPr lang="en-US" sz="14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518D972-35E6-3219-B8CE-3BFFEAFA79AA}"/>
              </a:ext>
            </a:extLst>
          </p:cNvPr>
          <p:cNvGrpSpPr/>
          <p:nvPr/>
        </p:nvGrpSpPr>
        <p:grpSpPr>
          <a:xfrm>
            <a:off x="9895936" y="3066160"/>
            <a:ext cx="1686464" cy="2097998"/>
            <a:chOff x="9885872" y="2702602"/>
            <a:chExt cx="1686464" cy="209799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8F1802-F8F1-4D9B-EEA4-5ABD18DDAC37}"/>
                </a:ext>
              </a:extLst>
            </p:cNvPr>
            <p:cNvSpPr/>
            <p:nvPr/>
          </p:nvSpPr>
          <p:spPr>
            <a:xfrm>
              <a:off x="9885872" y="2702602"/>
              <a:ext cx="1676400" cy="12954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Machine Language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32DF88-0686-D4F1-66EB-E8F8DDD2B722}"/>
                </a:ext>
              </a:extLst>
            </p:cNvPr>
            <p:cNvSpPr/>
            <p:nvPr/>
          </p:nvSpPr>
          <p:spPr>
            <a:xfrm>
              <a:off x="9895936" y="3998002"/>
              <a:ext cx="1676400" cy="802598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1001010111010101010010…</a:t>
              </a:r>
              <a:endParaRPr lang="en-US" sz="14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408CA8-BDB5-8E6F-F881-0E4F812919D0}"/>
              </a:ext>
            </a:extLst>
          </p:cNvPr>
          <p:cNvGrpSpPr/>
          <p:nvPr/>
        </p:nvGrpSpPr>
        <p:grpSpPr>
          <a:xfrm>
            <a:off x="857055" y="3066160"/>
            <a:ext cx="1676400" cy="2097998"/>
            <a:chOff x="846991" y="2702602"/>
            <a:chExt cx="1676400" cy="209799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71DDA3-8438-F995-876B-5EAA16EDF6CA}"/>
                </a:ext>
              </a:extLst>
            </p:cNvPr>
            <p:cNvSpPr/>
            <p:nvPr/>
          </p:nvSpPr>
          <p:spPr>
            <a:xfrm>
              <a:off x="846991" y="2702602"/>
              <a:ext cx="1676400" cy="1295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Human</a:t>
              </a:r>
            </a:p>
            <a:p>
              <a:pPr algn="ctr"/>
              <a:r>
                <a:rPr lang="en-US" sz="2000" dirty="0"/>
                <a:t>Language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A0B8B5-C7F9-5693-1078-1F870B02D7AB}"/>
                </a:ext>
              </a:extLst>
            </p:cNvPr>
            <p:cNvSpPr/>
            <p:nvPr/>
          </p:nvSpPr>
          <p:spPr>
            <a:xfrm>
              <a:off x="846991" y="3998002"/>
              <a:ext cx="1676400" cy="8025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Pls write an App …</a:t>
              </a:r>
              <a:endParaRPr lang="en-US" sz="1600" dirty="0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C817DE-A132-02EA-5F08-C02BE6A57A43}"/>
              </a:ext>
            </a:extLst>
          </p:cNvPr>
          <p:cNvCxnSpPr>
            <a:stCxn id="8" idx="3"/>
            <a:endCxn id="5" idx="1"/>
          </p:cNvCxnSpPr>
          <p:nvPr/>
        </p:nvCxnSpPr>
        <p:spPr>
          <a:xfrm>
            <a:off x="2533455" y="3713860"/>
            <a:ext cx="1591409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24D1D5-32B2-CCC3-C4D0-71C8DF19BF7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801264" y="3713860"/>
            <a:ext cx="1270000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8EE0C1-4505-45E8-9886-1E41981A54C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747664" y="3713860"/>
            <a:ext cx="1148272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5C4EABE-E57F-7F60-ABB2-33D558B5D67E}"/>
              </a:ext>
            </a:extLst>
          </p:cNvPr>
          <p:cNvSpPr txBox="1"/>
          <p:nvPr/>
        </p:nvSpPr>
        <p:spPr>
          <a:xfrm>
            <a:off x="7467600" y="1786508"/>
            <a:ext cx="4215294" cy="9541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Next Question:</a:t>
            </a:r>
          </a:p>
          <a:p>
            <a:pPr algn="ctr"/>
            <a:r>
              <a:rPr lang="en-US" altLang="zh-CN" sz="2800" dirty="0"/>
              <a:t>Where are we?</a:t>
            </a:r>
          </a:p>
        </p:txBody>
      </p:sp>
    </p:spTree>
    <p:extLst>
      <p:ext uri="{BB962C8B-B14F-4D97-AF65-F5344CB8AC3E}">
        <p14:creationId xmlns:p14="http://schemas.microsoft.com/office/powerpoint/2010/main" val="356569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973D95-B900-4444-8E0A-8EA40B5117F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TW" sz="1000" dirty="0">
              <a:ea typeface="新細明體" charset="-12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 dirty="0">
                <a:ea typeface="新細明體" charset="-120"/>
              </a:rPr>
              <a:t>01b. Outline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9557" y="1403199"/>
            <a:ext cx="10437246" cy="4954587"/>
          </a:xfrm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sz="3600" b="1" dirty="0">
                <a:ea typeface="新細明體" charset="-120"/>
              </a:rPr>
              <a:t>First C program </a:t>
            </a:r>
            <a:r>
              <a:rPr lang="en-US" altLang="zh-TW" dirty="0">
                <a:ea typeface="新細明體" charset="-120"/>
              </a:rPr>
              <a:t>&amp; Language Syntax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Variables and Assignment Operators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Identifiers, Reserved Words, Predefined Identifiers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Console Input/Output Using </a:t>
            </a:r>
            <a:r>
              <a:rPr lang="en-US" altLang="zh-TW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lang="en-US" altLang="zh-TW" dirty="0">
                <a:ea typeface="新細明體" charset="-120"/>
              </a:rPr>
              <a:t> and </a:t>
            </a:r>
            <a:r>
              <a:rPr lang="en-US" altLang="zh-TW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9683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zh-TW" b="1" dirty="0">
                <a:ea typeface="新細明體" charset="-120"/>
              </a:rPr>
              <a:t>1. Overview of C Language</a:t>
            </a:r>
          </a:p>
        </p:txBody>
      </p: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1143000" y="1245057"/>
            <a:ext cx="8604250" cy="3841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solidFill>
                <a:srgbClr val="CC66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CC66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"Hello, world!\n"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"Hello, universe!\n"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596900" y="1245057"/>
            <a:ext cx="539750" cy="3841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4101" name="Rectangle 3"/>
          <p:cNvSpPr>
            <a:spLocks noChangeArrowheads="1"/>
          </p:cNvSpPr>
          <p:nvPr/>
        </p:nvSpPr>
        <p:spPr bwMode="auto">
          <a:xfrm>
            <a:off x="596900" y="5082044"/>
            <a:ext cx="9144000" cy="88423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Hello, world!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Hello, universe!</a:t>
            </a:r>
          </a:p>
        </p:txBody>
      </p:sp>
      <p:sp>
        <p:nvSpPr>
          <p:cNvPr id="4102" name="Rectangle 12"/>
          <p:cNvSpPr>
            <a:spLocks noChangeArrowheads="1"/>
          </p:cNvSpPr>
          <p:nvPr/>
        </p:nvSpPr>
        <p:spPr bwMode="auto">
          <a:xfrm>
            <a:off x="8620255" y="1245057"/>
            <a:ext cx="3636963" cy="453072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Basic structure of a C program: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Statements are executed sequentially.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8229" y="2232482"/>
            <a:ext cx="3117850" cy="25542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1600" dirty="0" err="1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defRPr/>
            </a:pPr>
            <a:endParaRPr kumimoji="1" lang="en-US" altLang="zh-TW" sz="1600" dirty="0">
              <a:solidFill>
                <a:srgbClr val="FF00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TW" sz="160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kumimoji="1" lang="en-US" altLang="zh-TW" sz="1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main(void)</a:t>
            </a:r>
          </a:p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{</a:t>
            </a:r>
          </a:p>
          <a:p>
            <a:pPr eaLnBrk="1" hangingPunct="1">
              <a:defRPr/>
            </a:pPr>
            <a:r>
              <a:rPr kumimoji="1" lang="en-US" altLang="zh-TW" sz="1600" dirty="0">
                <a:latin typeface="Consolas" pitchFamily="49" charset="0"/>
                <a:ea typeface="新細明體" charset="-120"/>
                <a:cs typeface="Consolas" pitchFamily="49" charset="0"/>
              </a:rPr>
              <a:t>  statement_1;</a:t>
            </a:r>
          </a:p>
          <a:p>
            <a:pPr eaLnBrk="1" hangingPunct="1">
              <a:defRPr/>
            </a:pPr>
            <a:r>
              <a:rPr kumimoji="1" lang="en-US" altLang="zh-TW" sz="1600" dirty="0">
                <a:latin typeface="Consolas" pitchFamily="49" charset="0"/>
                <a:ea typeface="新細明體" charset="-120"/>
                <a:cs typeface="Consolas" pitchFamily="49" charset="0"/>
              </a:rPr>
              <a:t>  statement_2;</a:t>
            </a:r>
          </a:p>
          <a:p>
            <a:pPr eaLnBrk="1" hangingPunct="1">
              <a:defRPr/>
            </a:pPr>
            <a:r>
              <a:rPr kumimoji="1" lang="en-US" altLang="zh-TW" sz="1600" dirty="0">
                <a:latin typeface="Consolas" pitchFamily="49" charset="0"/>
                <a:ea typeface="新細明體" charset="-120"/>
                <a:cs typeface="Consolas" pitchFamily="49" charset="0"/>
              </a:rPr>
              <a:t>  …</a:t>
            </a:r>
          </a:p>
          <a:p>
            <a:pPr eaLnBrk="1" hangingPunct="1">
              <a:defRPr/>
            </a:pPr>
            <a:endParaRPr kumimoji="1" lang="en-US" altLang="zh-TW" sz="1600" dirty="0">
              <a:solidFill>
                <a:srgbClr val="FF00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return 0;</a:t>
            </a:r>
          </a:p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331AC011-A00E-2249-B954-AEFDD237E596}"/>
              </a:ext>
            </a:extLst>
          </p:cNvPr>
          <p:cNvSpPr/>
          <p:nvPr/>
        </p:nvSpPr>
        <p:spPr>
          <a:xfrm>
            <a:off x="5680729" y="661748"/>
            <a:ext cx="1897342" cy="718447"/>
          </a:xfrm>
          <a:prstGeom prst="wedgeRoundRectCallout">
            <a:avLst>
              <a:gd name="adj1" fmla="val 124031"/>
              <a:gd name="adj2" fmla="val 17493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/>
              <a:t>Standard libraries to load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983217F5-F05A-C04A-B9FF-598C8871B2E9}"/>
              </a:ext>
            </a:extLst>
          </p:cNvPr>
          <p:cNvSpPr/>
          <p:nvPr/>
        </p:nvSpPr>
        <p:spPr>
          <a:xfrm>
            <a:off x="5606165" y="1741915"/>
            <a:ext cx="2188631" cy="718447"/>
          </a:xfrm>
          <a:prstGeom prst="wedgeRoundRectCallout">
            <a:avLst>
              <a:gd name="adj1" fmla="val 102206"/>
              <a:gd name="adj2" fmla="val 1138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/>
              <a:t>Entrance point of C program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D6EEF889-5084-3643-913B-2416F6D42852}"/>
              </a:ext>
            </a:extLst>
          </p:cNvPr>
          <p:cNvSpPr/>
          <p:nvPr/>
        </p:nvSpPr>
        <p:spPr>
          <a:xfrm>
            <a:off x="10668000" y="4002947"/>
            <a:ext cx="1574841" cy="729401"/>
          </a:xfrm>
          <a:prstGeom prst="wedgeRoundRectCallout">
            <a:avLst>
              <a:gd name="adj1" fmla="val -91982"/>
              <a:gd name="adj2" fmla="val 170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This program is done!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FE002CA-E1F4-F342-BDCD-8B1E72E33849}"/>
              </a:ext>
            </a:extLst>
          </p:cNvPr>
          <p:cNvSpPr/>
          <p:nvPr/>
        </p:nvSpPr>
        <p:spPr>
          <a:xfrm>
            <a:off x="6016757" y="3889960"/>
            <a:ext cx="1225286" cy="625217"/>
          </a:xfrm>
          <a:prstGeom prst="wedgeRoundRectCallout">
            <a:avLst>
              <a:gd name="adj1" fmla="val 189900"/>
              <a:gd name="adj2" fmla="val 693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i="1" dirty="0"/>
              <a:t>The end</a:t>
            </a:r>
            <a:br>
              <a:rPr lang="en-US" sz="2000" i="1" dirty="0"/>
            </a:br>
            <a:r>
              <a:rPr lang="en-US" sz="2000" i="1" dirty="0"/>
              <a:t>of block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20A71B93-8E03-3847-B89E-1317EED742A6}"/>
              </a:ext>
            </a:extLst>
          </p:cNvPr>
          <p:cNvSpPr/>
          <p:nvPr/>
        </p:nvSpPr>
        <p:spPr>
          <a:xfrm>
            <a:off x="6016757" y="3023875"/>
            <a:ext cx="1225286" cy="718447"/>
          </a:xfrm>
          <a:prstGeom prst="wedgeRoundRectCallout">
            <a:avLst>
              <a:gd name="adj1" fmla="val 190967"/>
              <a:gd name="adj2" fmla="val -2986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/>
              <a:t>The start of block</a:t>
            </a:r>
          </a:p>
        </p:txBody>
      </p:sp>
      <p:sp>
        <p:nvSpPr>
          <p:cNvPr id="4" name="Rounded Rectangular Callout 11">
            <a:extLst>
              <a:ext uri="{FF2B5EF4-FFF2-40B4-BE49-F238E27FC236}">
                <a16:creationId xmlns:a16="http://schemas.microsoft.com/office/drawing/2014/main" id="{318BB252-5C64-5EE2-F752-9C29E0DE8378}"/>
              </a:ext>
            </a:extLst>
          </p:cNvPr>
          <p:cNvSpPr/>
          <p:nvPr/>
        </p:nvSpPr>
        <p:spPr>
          <a:xfrm>
            <a:off x="3979984" y="4367647"/>
            <a:ext cx="1600200" cy="625217"/>
          </a:xfrm>
          <a:prstGeom prst="wedgeRoundRectCallout">
            <a:avLst>
              <a:gd name="adj1" fmla="val -108482"/>
              <a:gd name="adj2" fmla="val 14525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i="1" dirty="0"/>
              <a:t>Output of this program</a:t>
            </a:r>
          </a:p>
        </p:txBody>
      </p:sp>
    </p:spTree>
    <p:extLst>
      <p:ext uri="{BB962C8B-B14F-4D97-AF65-F5344CB8AC3E}">
        <p14:creationId xmlns:p14="http://schemas.microsoft.com/office/powerpoint/2010/main" val="72723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 animBg="1"/>
      <p:bldP spid="10" grpId="0" animBg="1"/>
      <p:bldP spid="2" grpId="0" animBg="1"/>
      <p:bldP spid="2" grpId="1" animBg="1"/>
      <p:bldP spid="2" grpId="2" animBg="1"/>
      <p:bldP spid="9" grpId="0" animBg="1"/>
      <p:bldP spid="9" grpId="1" animBg="1"/>
      <p:bldP spid="9" grpId="2" animBg="1"/>
      <p:bldP spid="11" grpId="0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7B1810-1103-44E0-996D-D58BDF2AC8A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1.1. Language Syntax</a:t>
            </a:r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5756" y="1198629"/>
            <a:ext cx="8605837" cy="447357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2800" dirty="0">
                <a:ea typeface="新細明體" charset="-120"/>
              </a:rPr>
              <a:t>Every programming language has its own </a:t>
            </a:r>
            <a:r>
              <a:rPr lang="en-US" altLang="zh-TW" sz="2800" i="1" dirty="0">
                <a:solidFill>
                  <a:srgbClr val="0070C0"/>
                </a:solidFill>
                <a:ea typeface="新細明體" charset="-120"/>
              </a:rPr>
              <a:t>syntax</a:t>
            </a:r>
            <a:r>
              <a:rPr lang="en-US" altLang="zh-TW" sz="2800" dirty="0">
                <a:solidFill>
                  <a:srgbClr val="0070C0"/>
                </a:solidFill>
                <a:ea typeface="新細明體" charset="-120"/>
              </a:rPr>
              <a:t> </a:t>
            </a:r>
            <a:r>
              <a:rPr lang="en-US" altLang="zh-TW" sz="2800" dirty="0">
                <a:ea typeface="新細明體" charset="-120"/>
              </a:rPr>
              <a:t>(defined by a set of rules)</a:t>
            </a:r>
          </a:p>
          <a:p>
            <a:pPr lvl="1" eaLnBrk="1" hangingPunct="1"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2400" dirty="0">
                <a:ea typeface="新細明體" charset="-120"/>
              </a:rPr>
              <a:t>Like grammar in English/Chinese/Japanese language</a:t>
            </a:r>
          </a:p>
          <a:p>
            <a:pPr lvl="1"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2400" dirty="0">
                <a:ea typeface="新細明體" charset="-120"/>
              </a:rPr>
              <a:t>C, C++, JAVA, Python, R have their own </a:t>
            </a:r>
            <a:r>
              <a:rPr lang="en-US" altLang="zh-TW" sz="2400" b="1" i="1" dirty="0">
                <a:solidFill>
                  <a:srgbClr val="FF0000"/>
                </a:solidFill>
                <a:ea typeface="新細明體" charset="-120"/>
              </a:rPr>
              <a:t>STRICT</a:t>
            </a:r>
            <a:r>
              <a:rPr lang="en-US" altLang="zh-TW" sz="2400" dirty="0">
                <a:ea typeface="新細明體" charset="-120"/>
              </a:rPr>
              <a:t> syntax</a:t>
            </a:r>
          </a:p>
          <a:p>
            <a:pPr eaLnBrk="1" hangingPunct="1"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2800" dirty="0">
                <a:ea typeface="新細明體" charset="-120"/>
              </a:rPr>
              <a:t>Program source code containing syntax errors cannot be compiled into an executable program</a:t>
            </a:r>
          </a:p>
          <a:p>
            <a:pPr lvl="1">
              <a:lnSpc>
                <a:spcPct val="90000"/>
              </a:lnSpc>
              <a:tabLst>
                <a:tab pos="2857500" algn="l"/>
              </a:tabLst>
            </a:pPr>
            <a:r>
              <a:rPr lang="en-US" altLang="zh-TW" sz="2400" dirty="0">
                <a:ea typeface="新細明體" charset="-120"/>
              </a:rPr>
              <a:t>Remember: </a:t>
            </a:r>
            <a:r>
              <a:rPr lang="en-US" altLang="zh-TW" sz="2400" i="1" dirty="0">
                <a:ea typeface="新細明體" charset="-120"/>
              </a:rPr>
              <a:t>computers cannot follow malformed instructions!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2857500" algn="l"/>
              </a:tabLst>
            </a:pPr>
            <a:endParaRPr lang="en-US" altLang="zh-TW" sz="28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  <a:tabLst>
                <a:tab pos="2857500" algn="l"/>
              </a:tabLst>
            </a:pPr>
            <a:endParaRPr lang="en-US" altLang="zh-TW" sz="2800" dirty="0">
              <a:ea typeface="新細明體" charset="-120"/>
            </a:endParaRPr>
          </a:p>
        </p:txBody>
      </p:sp>
      <p:pic>
        <p:nvPicPr>
          <p:cNvPr id="4" name="Picture 3" descr="Syntax error example">
            <a:extLst>
              <a:ext uri="{FF2B5EF4-FFF2-40B4-BE49-F238E27FC236}">
                <a16:creationId xmlns:a16="http://schemas.microsoft.com/office/drawing/2014/main" id="{C6716F7B-BE50-9A4C-8C38-49F3BF523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238" y="4371976"/>
            <a:ext cx="5257800" cy="1651000"/>
          </a:xfrm>
          <a:prstGeom prst="rect">
            <a:avLst/>
          </a:prstGeom>
        </p:spPr>
      </p:pic>
      <p:sp>
        <p:nvSpPr>
          <p:cNvPr id="8" name="Rectangle 12">
            <a:extLst>
              <a:ext uri="{FF2B5EF4-FFF2-40B4-BE49-F238E27FC236}">
                <a16:creationId xmlns:a16="http://schemas.microsoft.com/office/drawing/2014/main" id="{0CD6CCB2-DF97-BE48-8E87-CD289CC7D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800600"/>
            <a:ext cx="3805237" cy="128417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b="0" dirty="0">
                <a:latin typeface="+mn-lt"/>
                <a:ea typeface="新細明體" charset="-120"/>
              </a:rPr>
              <a:t>You may see something like this when a syntax error is found when compiling. Read carefully for hints to fix your code!</a:t>
            </a:r>
          </a:p>
        </p:txBody>
      </p:sp>
    </p:spTree>
    <p:extLst>
      <p:ext uri="{BB962C8B-B14F-4D97-AF65-F5344CB8AC3E}">
        <p14:creationId xmlns:p14="http://schemas.microsoft.com/office/powerpoint/2010/main" val="3824347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1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372ADD-3776-463F-95D9-32A08462053F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2057400" y="657222"/>
            <a:ext cx="8642350" cy="2209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solidFill>
                <a:srgbClr val="CC66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CC66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"Hello, world!\n"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"Hello, universe!\n"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7527925" y="1284284"/>
            <a:ext cx="2419350" cy="9556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800" b="0" dirty="0">
                <a:ea typeface="新細明體" charset="-120"/>
              </a:rPr>
              <a:t>Can you spot the error(s)?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1555750" y="657222"/>
            <a:ext cx="501650" cy="2209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43213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833564" y="2974974"/>
            <a:ext cx="8605837" cy="3273427"/>
          </a:xfrm>
          <a:noFill/>
        </p:spPr>
        <p:txBody>
          <a:bodyPr>
            <a:normAutofit fontScale="92500" lnSpcReduction="20000"/>
          </a:bodyPr>
          <a:lstStyle/>
          <a:p>
            <a:pPr>
              <a:buNone/>
              <a:tabLst>
                <a:tab pos="2857500" algn="l"/>
              </a:tabLst>
            </a:pPr>
            <a:r>
              <a:rPr lang="en-US" altLang="zh-TW" sz="2800" u="sng" dirty="0">
                <a:ea typeface="新細明體" charset="-120"/>
              </a:rPr>
              <a:t>Some Basic Rules in C language </a:t>
            </a:r>
          </a:p>
          <a:p>
            <a:pPr eaLnBrk="1" hangingPunct="1">
              <a:tabLst>
                <a:tab pos="2857500" algn="l"/>
              </a:tabLst>
            </a:pPr>
            <a:r>
              <a:rPr lang="en-US" altLang="zh-TW" sz="2800" dirty="0">
                <a:ea typeface="新細明體" charset="-120"/>
              </a:rPr>
              <a:t>C language is </a:t>
            </a:r>
            <a:r>
              <a:rPr lang="en-US" altLang="zh-TW" sz="2800" i="1" dirty="0">
                <a:solidFill>
                  <a:srgbClr val="0070C0"/>
                </a:solidFill>
                <a:ea typeface="新細明體" charset="-120"/>
              </a:rPr>
              <a:t>case sensitive</a:t>
            </a:r>
            <a:r>
              <a:rPr lang="en-US" altLang="zh-TW" sz="2800" dirty="0">
                <a:ea typeface="新細明體" charset="-120"/>
              </a:rPr>
              <a:t>.</a:t>
            </a:r>
          </a:p>
          <a:p>
            <a:pPr eaLnBrk="1" hangingPunct="1">
              <a:tabLst>
                <a:tab pos="2857500" algn="l"/>
              </a:tabLst>
            </a:pPr>
            <a:endParaRPr lang="en-US" altLang="zh-TW" sz="1400" dirty="0">
              <a:ea typeface="新細明體" charset="-120"/>
            </a:endParaRPr>
          </a:p>
          <a:p>
            <a:pPr eaLnBrk="1" hangingPunct="1">
              <a:tabLst>
                <a:tab pos="2857500" algn="l"/>
              </a:tabLst>
            </a:pPr>
            <a:r>
              <a:rPr lang="en-US" altLang="zh-TW" sz="2800" dirty="0">
                <a:ea typeface="新細明體" charset="-120"/>
              </a:rPr>
              <a:t>During syntax checking, compilers usually consider </a:t>
            </a:r>
            <a:r>
              <a:rPr lang="en-US" altLang="zh-TW" sz="2800" i="1" dirty="0">
                <a:ea typeface="新細明體" charset="-120"/>
              </a:rPr>
              <a:t>whitespace</a:t>
            </a:r>
            <a:r>
              <a:rPr lang="en-US" altLang="zh-TW" sz="2800" dirty="0">
                <a:ea typeface="新細明體" charset="-120"/>
              </a:rPr>
              <a:t> characters (</a:t>
            </a:r>
            <a:r>
              <a:rPr lang="en-US" altLang="zh-TW" sz="2800" dirty="0">
                <a:solidFill>
                  <a:srgbClr val="009900"/>
                </a:solidFill>
                <a:ea typeface="新細明體" charset="-120"/>
              </a:rPr>
              <a:t>space</a:t>
            </a:r>
            <a:r>
              <a:rPr lang="en-US" altLang="zh-TW" sz="2800" dirty="0">
                <a:ea typeface="新細明體" charset="-120"/>
              </a:rPr>
              <a:t>, </a:t>
            </a:r>
            <a:r>
              <a:rPr lang="en-US" altLang="zh-TW" sz="2800" dirty="0">
                <a:solidFill>
                  <a:srgbClr val="009900"/>
                </a:solidFill>
                <a:ea typeface="新細明體" charset="-120"/>
              </a:rPr>
              <a:t>newline </a:t>
            </a:r>
            <a:r>
              <a:rPr lang="en-US" altLang="zh-TW" sz="2800" dirty="0">
                <a:ea typeface="新細明體" charset="-120"/>
              </a:rPr>
              <a:t>[Enter] and </a:t>
            </a:r>
            <a:r>
              <a:rPr lang="en-US" altLang="zh-TW" sz="2800" dirty="0">
                <a:solidFill>
                  <a:srgbClr val="009900"/>
                </a:solidFill>
                <a:ea typeface="新細明體" charset="-120"/>
              </a:rPr>
              <a:t>tab</a:t>
            </a:r>
            <a:r>
              <a:rPr lang="en-US" altLang="zh-TW" sz="2800" dirty="0">
                <a:ea typeface="新細明體" charset="-120"/>
              </a:rPr>
              <a:t>) flexibly.</a:t>
            </a:r>
          </a:p>
          <a:p>
            <a:pPr>
              <a:tabLst>
                <a:tab pos="2857500" algn="l"/>
              </a:tabLst>
            </a:pPr>
            <a:endParaRPr lang="en-US" altLang="zh-TW" sz="1400" dirty="0">
              <a:ea typeface="新細明體" charset="-120"/>
            </a:endParaRPr>
          </a:p>
          <a:p>
            <a:pPr eaLnBrk="1" hangingPunct="1">
              <a:tabLst>
                <a:tab pos="2857500" algn="l"/>
              </a:tabLst>
            </a:pPr>
            <a:r>
              <a:rPr lang="en-US" altLang="zh-TW" sz="2800" dirty="0">
                <a:ea typeface="新細明體" charset="-120"/>
              </a:rPr>
              <a:t>Proper use of spaces makes program easy to read.</a:t>
            </a:r>
          </a:p>
          <a:p>
            <a:pPr lvl="1">
              <a:tabLst>
                <a:tab pos="2857500" algn="l"/>
              </a:tabLst>
            </a:pPr>
            <a:r>
              <a:rPr lang="en-US" altLang="zh-TW" sz="2400" dirty="0">
                <a:ea typeface="新細明體" charset="-120"/>
              </a:rPr>
              <a:t>Spacing in front is called indentation as a good programming style</a:t>
            </a:r>
          </a:p>
        </p:txBody>
      </p:sp>
    </p:spTree>
    <p:extLst>
      <p:ext uri="{BB962C8B-B14F-4D97-AF65-F5344CB8AC3E}">
        <p14:creationId xmlns:p14="http://schemas.microsoft.com/office/powerpoint/2010/main" val="235789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33400" indent="-533400" eaLnBrk="1" hangingPunct="1"/>
            <a:r>
              <a:rPr lang="en-US" altLang="zh-TW" sz="4000" dirty="0">
                <a:ea typeface="新細明體" charset="-120"/>
              </a:rPr>
              <a:t>1.2. Comments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372ADD-3776-463F-95D9-32A08462053F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2057400" y="838201"/>
            <a:ext cx="8604250" cy="28797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FF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/*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FF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 This is a comment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FF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*/</a:t>
            </a:r>
            <a:endParaRPr kumimoji="1" lang="en-US" altLang="zh-TW" sz="2000" dirty="0">
              <a:solidFill>
                <a:srgbClr val="0099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solidFill>
                <a:srgbClr val="0000FF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CC66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 {           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"Hello, world!\n"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  </a:t>
            </a:r>
            <a:r>
              <a:rPr kumimoji="1" lang="en-US" altLang="zh-TW" sz="2000" dirty="0">
                <a:solidFill>
                  <a:srgbClr val="FF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// This is also a comment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                 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7172" name="Rectangle 6"/>
          <p:cNvSpPr>
            <a:spLocks noChangeArrowheads="1"/>
          </p:cNvSpPr>
          <p:nvPr/>
        </p:nvSpPr>
        <p:spPr bwMode="auto">
          <a:xfrm>
            <a:off x="1511300" y="838201"/>
            <a:ext cx="539750" cy="28797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 bwMode="auto">
          <a:xfrm>
            <a:off x="1676400" y="3717926"/>
            <a:ext cx="8812213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tabLst>
                <a:tab pos="2857500" algn="l"/>
              </a:tabLst>
              <a:defRPr/>
            </a:pPr>
            <a:r>
              <a:rPr lang="en-US" altLang="zh-TW" sz="2400" b="0" kern="0" dirty="0">
                <a:ea typeface="新細明體" charset="-120"/>
              </a:rPr>
              <a:t>Comments are used for documentation aid; </a:t>
            </a:r>
          </a:p>
          <a:p>
            <a:pPr eaLnBrk="1" hangingPunct="1">
              <a:tabLst>
                <a:tab pos="2857500" algn="l"/>
              </a:tabLst>
              <a:defRPr/>
            </a:pPr>
            <a:r>
              <a:rPr lang="en-US" altLang="zh-TW" sz="2400" kern="0" dirty="0">
                <a:ea typeface="新細明體" charset="-120"/>
              </a:rPr>
              <a:t>Comments</a:t>
            </a:r>
            <a:r>
              <a:rPr lang="en-US" altLang="zh-TW" sz="2400" b="0" kern="0" dirty="0">
                <a:ea typeface="新細明體" charset="-120"/>
              </a:rPr>
              <a:t> are </a:t>
            </a:r>
            <a:r>
              <a:rPr lang="en-US" altLang="zh-TW" sz="2400" b="1" kern="0" dirty="0">
                <a:solidFill>
                  <a:srgbClr val="FF0000"/>
                </a:solidFill>
                <a:ea typeface="新細明體" charset="-120"/>
              </a:rPr>
              <a:t>ignored</a:t>
            </a:r>
            <a:r>
              <a:rPr lang="en-US" altLang="zh-TW" sz="2400" b="0" kern="0" dirty="0">
                <a:ea typeface="新細明體" charset="-120"/>
              </a:rPr>
              <a:t> by compiler.</a:t>
            </a:r>
          </a:p>
          <a:p>
            <a:pPr eaLnBrk="1" hangingPunct="1">
              <a:tabLst>
                <a:tab pos="2857500" algn="l"/>
              </a:tabLst>
              <a:defRPr/>
            </a:pPr>
            <a:endParaRPr lang="en-US" altLang="zh-TW" sz="1050" b="0" kern="0" dirty="0">
              <a:ea typeface="新細明體" charset="-120"/>
            </a:endParaRPr>
          </a:p>
          <a:p>
            <a:pPr eaLnBrk="1" hangingPunct="1">
              <a:tabLst>
                <a:tab pos="2857500" algn="l"/>
              </a:tabLst>
              <a:defRPr/>
            </a:pPr>
            <a:r>
              <a:rPr lang="en-US" altLang="zh-TW" sz="2400" b="0" kern="0" dirty="0">
                <a:ea typeface="新細明體" charset="-120"/>
              </a:rPr>
              <a:t>Two commenting styles</a:t>
            </a:r>
          </a:p>
          <a:p>
            <a:pPr lvl="1" eaLnBrk="1" hangingPunct="1">
              <a:tabLst>
                <a:tab pos="2857500" algn="l"/>
              </a:tabLst>
              <a:defRPr/>
            </a:pPr>
            <a:r>
              <a:rPr lang="en-US" altLang="zh-TW" sz="2000" b="0" kern="0" dirty="0">
                <a:ea typeface="新細明體" charset="-120"/>
              </a:rPr>
              <a:t>Text starting with </a:t>
            </a:r>
            <a:r>
              <a:rPr lang="en-US" altLang="zh-TW" sz="2000" b="0" kern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/*</a:t>
            </a:r>
            <a:r>
              <a:rPr lang="en-US" altLang="zh-TW" sz="2000" b="0" kern="0" dirty="0">
                <a:ea typeface="新細明體" charset="-120"/>
              </a:rPr>
              <a:t> and ends at the next </a:t>
            </a:r>
            <a:r>
              <a:rPr lang="en-US" altLang="zh-TW" sz="2000" b="0" kern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*/</a:t>
            </a:r>
          </a:p>
          <a:p>
            <a:pPr lvl="2" eaLnBrk="1" hangingPunct="1">
              <a:tabLst>
                <a:tab pos="2857500" algn="l"/>
              </a:tabLst>
              <a:defRPr/>
            </a:pPr>
            <a:r>
              <a:rPr lang="en-US" altLang="zh-TW" sz="1600" b="0" kern="0" dirty="0">
                <a:ea typeface="新細明體" charset="-120"/>
                <a:cs typeface="+mn-cs"/>
              </a:rPr>
              <a:t>Can span multiple lines</a:t>
            </a:r>
          </a:p>
          <a:p>
            <a:pPr lvl="1" eaLnBrk="1" hangingPunct="1">
              <a:tabLst>
                <a:tab pos="2857500" algn="l"/>
              </a:tabLst>
              <a:defRPr/>
            </a:pPr>
            <a:r>
              <a:rPr lang="en-US" altLang="zh-TW" sz="2000" b="0" kern="0" dirty="0">
                <a:ea typeface="新細明體" charset="-120"/>
              </a:rPr>
              <a:t>Text begins with </a:t>
            </a:r>
            <a:r>
              <a:rPr lang="en-US" altLang="zh-TW" sz="2000" b="0" kern="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</a:t>
            </a:r>
            <a:r>
              <a:rPr lang="en-US" altLang="zh-TW" sz="2000" b="0" kern="0" dirty="0">
                <a:ea typeface="新細明體" charset="-120"/>
              </a:rPr>
              <a:t> and extend to the end of the line</a:t>
            </a:r>
          </a:p>
        </p:txBody>
      </p:sp>
    </p:spTree>
    <p:extLst>
      <p:ext uri="{BB962C8B-B14F-4D97-AF65-F5344CB8AC3E}">
        <p14:creationId xmlns:p14="http://schemas.microsoft.com/office/powerpoint/2010/main" val="215145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B792-D7CC-4F77-928C-761184BE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1.3. The </a:t>
            </a:r>
            <a:r>
              <a:rPr lang="en-US" sz="4000" dirty="0" err="1">
                <a:solidFill>
                  <a:srgbClr val="0070C0"/>
                </a:solidFill>
                <a:latin typeface="Consolas"/>
                <a:ea typeface="新細明體"/>
              </a:rPr>
              <a:t>printf</a:t>
            </a:r>
            <a:r>
              <a:rPr lang="en-US" sz="4000" dirty="0">
                <a:solidFill>
                  <a:srgbClr val="0070C0"/>
                </a:solidFill>
                <a:latin typeface="Consolas"/>
                <a:ea typeface="新細明體"/>
              </a:rPr>
              <a:t>()</a:t>
            </a:r>
            <a:r>
              <a:rPr lang="en-US" sz="4000" dirty="0">
                <a:cs typeface="Calibri"/>
              </a:rPr>
              <a:t> function</a:t>
            </a:r>
            <a:r>
              <a:rPr lang="en-US" sz="3600" dirty="0">
                <a:cs typeface="Calibri"/>
              </a:rPr>
              <a:t>(</a:t>
            </a:r>
            <a:r>
              <a:rPr lang="zh-CN" altLang="en-US" sz="3600" dirty="0">
                <a:cs typeface="Calibri"/>
              </a:rPr>
              <a:t>函數</a:t>
            </a:r>
            <a:r>
              <a:rPr lang="en-US" sz="3600" dirty="0">
                <a:cs typeface="Calibri"/>
              </a:rPr>
              <a:t>)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C7795A-D8D1-40B1-964A-4C216392C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DE7BC4-E6F6-45D1-951D-64ABA9A6F49F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1047751"/>
            <a:ext cx="11582400" cy="4945495"/>
          </a:xfrm>
          <a:prstGeom prst="rect">
            <a:avLst/>
          </a:prstGeom>
        </p:spPr>
        <p:txBody>
          <a:bodyPr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2" charset="2"/>
              <a:buChar char="•"/>
              <a:defRPr/>
            </a:pPr>
            <a:r>
              <a:rPr lang="en-US" altLang="zh-TW" sz="3200" dirty="0">
                <a:ea typeface="新細明體"/>
              </a:rPr>
              <a:t>You may notice that the most interesting statement in our very generic example is </a:t>
            </a:r>
            <a:endParaRPr lang="en-US" sz="3200" dirty="0">
              <a:latin typeface="Calibri"/>
              <a:ea typeface="新細明體"/>
              <a:cs typeface="Calibri"/>
            </a:endParaRPr>
          </a:p>
          <a:p>
            <a:pPr marL="400050" lvl="1" indent="0">
              <a:buNone/>
              <a:defRPr/>
            </a:pPr>
            <a:endParaRPr lang="en-US" sz="2000" dirty="0">
              <a:latin typeface="Consolas"/>
              <a:ea typeface="新細明體"/>
            </a:endParaRPr>
          </a:p>
          <a:p>
            <a:pPr marL="400050" lvl="1" indent="0" algn="ctr">
              <a:buNone/>
              <a:defRPr/>
            </a:pPr>
            <a:r>
              <a:rPr lang="en-US" sz="3600" dirty="0" err="1">
                <a:latin typeface="Consolas"/>
                <a:ea typeface="新細明體"/>
              </a:rPr>
              <a:t>printf</a:t>
            </a:r>
            <a:r>
              <a:rPr lang="en-US" sz="3600" dirty="0">
                <a:latin typeface="Consolas"/>
                <a:ea typeface="新細明體"/>
                <a:cs typeface="Calibri"/>
              </a:rPr>
              <a:t>(</a:t>
            </a:r>
            <a:r>
              <a:rPr lang="en-US" sz="3600" dirty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"Hello, world!\n"</a:t>
            </a:r>
            <a:r>
              <a:rPr lang="en-US" sz="3600" dirty="0">
                <a:latin typeface="Consolas"/>
                <a:ea typeface="新細明體"/>
                <a:cs typeface="Calibri"/>
              </a:rPr>
              <a:t>);</a:t>
            </a:r>
            <a:endParaRPr lang="en-US" sz="3600" dirty="0">
              <a:cs typeface="Calibri"/>
            </a:endParaRPr>
          </a:p>
          <a:p>
            <a:pPr marL="0" indent="0" algn="ctr">
              <a:buNone/>
              <a:defRPr/>
            </a:pPr>
            <a:endParaRPr lang="en-US" sz="2400" dirty="0">
              <a:latin typeface="Consolas"/>
              <a:ea typeface="新細明體"/>
              <a:cs typeface="Calibri"/>
            </a:endParaRPr>
          </a:p>
          <a:p>
            <a:pPr>
              <a:defRPr/>
            </a:pPr>
            <a:r>
              <a:rPr lang="en-US" sz="3200" dirty="0">
                <a:latin typeface="Calibri"/>
                <a:ea typeface="新細明體"/>
                <a:cs typeface="Calibri"/>
              </a:rPr>
              <a:t>This is called the</a:t>
            </a:r>
            <a:r>
              <a:rPr lang="en-US" sz="3200" dirty="0">
                <a:latin typeface="Consolas"/>
                <a:ea typeface="新細明體"/>
                <a:cs typeface="Calibri"/>
              </a:rPr>
              <a:t> </a:t>
            </a:r>
            <a:r>
              <a:rPr lang="en-US" sz="3200" b="1" dirty="0" err="1">
                <a:latin typeface="Consolas"/>
                <a:ea typeface="新細明體"/>
                <a:cs typeface="Calibri"/>
              </a:rPr>
              <a:t>printf</a:t>
            </a:r>
            <a:r>
              <a:rPr lang="en-US" sz="3200" dirty="0">
                <a:latin typeface="Consolas"/>
                <a:ea typeface="新細明體"/>
                <a:cs typeface="Calibri"/>
              </a:rPr>
              <a:t> </a:t>
            </a:r>
            <a:r>
              <a:rPr lang="en-US" sz="3200" dirty="0">
                <a:latin typeface="Calibri"/>
                <a:ea typeface="新細明體"/>
                <a:cs typeface="Calibri"/>
              </a:rPr>
              <a:t>function; the function allows us to </a:t>
            </a:r>
            <a:r>
              <a:rPr lang="en-US" sz="3200" b="1" dirty="0">
                <a:latin typeface="Calibri"/>
                <a:ea typeface="新細明體"/>
                <a:cs typeface="Calibri"/>
              </a:rPr>
              <a:t>output</a:t>
            </a:r>
            <a:r>
              <a:rPr lang="en-US" sz="3200" dirty="0">
                <a:latin typeface="Calibri"/>
                <a:ea typeface="新細明體"/>
                <a:cs typeface="Calibri"/>
              </a:rPr>
              <a:t> a piece of text to the screen</a:t>
            </a:r>
          </a:p>
          <a:p>
            <a:pPr>
              <a:defRPr/>
            </a:pPr>
            <a:r>
              <a:rPr lang="en-US" sz="3200" dirty="0">
                <a:latin typeface="Calibri"/>
                <a:ea typeface="新細明體"/>
                <a:cs typeface="Calibri"/>
              </a:rPr>
              <a:t>Formally, 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the piece of text  </a:t>
            </a:r>
            <a:r>
              <a:rPr lang="en-US" sz="2400" dirty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"Hello, world!\n"</a:t>
            </a:r>
            <a:r>
              <a:rPr lang="en-US" sz="3200" dirty="0">
                <a:solidFill>
                  <a:srgbClr val="00B0F0"/>
                </a:solidFill>
                <a:latin typeface="Consolas"/>
                <a:ea typeface="新細明體"/>
                <a:cs typeface="Calibri"/>
              </a:rPr>
              <a:t> </a:t>
            </a:r>
            <a:r>
              <a:rPr lang="en-US" sz="3200" dirty="0">
                <a:latin typeface="Calibri"/>
                <a:ea typeface="新細明體"/>
                <a:cs typeface="Calibri"/>
              </a:rPr>
              <a:t>is called a </a:t>
            </a:r>
            <a:r>
              <a:rPr lang="en-US" sz="3200" b="1" u="sng" dirty="0">
                <a:latin typeface="Calibri"/>
                <a:ea typeface="新細明體"/>
                <a:cs typeface="Calibri"/>
              </a:rPr>
              <a:t>string</a:t>
            </a:r>
            <a:r>
              <a:rPr lang="en-US" sz="3200" u="sng" dirty="0">
                <a:latin typeface="Calibri"/>
                <a:ea typeface="新細明體"/>
                <a:cs typeface="Calibri"/>
              </a:rPr>
              <a:t> constant</a:t>
            </a:r>
          </a:p>
          <a:p>
            <a:pPr>
              <a:defRPr/>
            </a:pPr>
            <a:endParaRPr lang="en-US" sz="3200" dirty="0">
              <a:latin typeface="Calibri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339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7F6773-AEDA-4C2D-8643-ADF55FAD1F5B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1.4. String </a:t>
            </a:r>
            <a:r>
              <a:rPr lang="en-US" altLang="zh-TW" sz="3600" dirty="0">
                <a:ea typeface="新細明體"/>
              </a:rPr>
              <a:t>(</a:t>
            </a:r>
            <a:r>
              <a:rPr lang="en-US" sz="3200" dirty="0" err="1">
                <a:ea typeface="+mj-lt"/>
                <a:cs typeface="+mj-lt"/>
              </a:rPr>
              <a:t>字符串</a:t>
            </a:r>
            <a:r>
              <a:rPr lang="en-US" altLang="zh-TW" sz="3600" dirty="0">
                <a:ea typeface="新細明體"/>
              </a:rPr>
              <a:t>)</a:t>
            </a:r>
            <a:r>
              <a:rPr lang="en-US" altLang="zh-TW" sz="4000" dirty="0">
                <a:ea typeface="新細明體"/>
              </a:rPr>
              <a:t> Constant</a:t>
            </a:r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39839"/>
            <a:ext cx="11506199" cy="51085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/>
              </a:rPr>
              <a:t>A string constant </a:t>
            </a:r>
            <a:r>
              <a:rPr lang="en-US" altLang="zh-TW" u="sng" dirty="0">
                <a:ea typeface="新細明體"/>
              </a:rPr>
              <a:t>must be enclosed</a:t>
            </a:r>
            <a:r>
              <a:rPr lang="en-US" altLang="zh-TW" dirty="0">
                <a:ea typeface="新細明體"/>
              </a:rPr>
              <a:t> by </a:t>
            </a:r>
            <a:r>
              <a:rPr lang="en-US" altLang="zh-TW" b="1" dirty="0">
                <a:ea typeface="新細明體"/>
              </a:rPr>
              <a:t>a pair of double-quote </a:t>
            </a:r>
            <a:r>
              <a:rPr lang="en-US" altLang="zh-TW" dirty="0">
                <a:ea typeface="新細明體"/>
              </a:rPr>
              <a:t>characters (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dirty="0">
                <a:ea typeface="新細明體"/>
              </a:rPr>
              <a:t>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e.g.:</a:t>
            </a:r>
            <a:r>
              <a:rPr lang="en-US" altLang="zh-TW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"0123456789"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</a:rPr>
              <a:t>,</a:t>
            </a:r>
            <a:r>
              <a:rPr lang="en-US" altLang="zh-TW" dirty="0">
                <a:solidFill>
                  <a:srgbClr val="99CCFF"/>
                </a:solidFill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"\n"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</a:rPr>
              <a:t>,</a:t>
            </a:r>
            <a:r>
              <a:rPr lang="en-US" altLang="zh-TW" dirty="0">
                <a:solidFill>
                  <a:srgbClr val="99CCFF"/>
                </a:solidFill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"Hello World!"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1200" dirty="0">
              <a:ea typeface="新細明體" charset="-12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zh-TW" dirty="0">
                <a:ea typeface="新細明體"/>
                <a:cs typeface="Calibri"/>
              </a:rPr>
              <a:t>Without the </a:t>
            </a:r>
            <a:r>
              <a:rPr lang="en-US" dirty="0">
                <a:ea typeface="新細明體"/>
                <a:cs typeface="Calibri"/>
              </a:rPr>
              <a:t>double-quote characters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"</a:t>
            </a:r>
            <a:r>
              <a:rPr lang="en-US" dirty="0">
                <a:ea typeface="新細明體"/>
                <a:cs typeface="Calibri"/>
              </a:rPr>
              <a:t>), the </a:t>
            </a:r>
            <a:r>
              <a:rPr lang="en-US" dirty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C</a:t>
            </a:r>
            <a:r>
              <a:rPr lang="en-US" dirty="0">
                <a:ea typeface="新細明體"/>
                <a:cs typeface="Calibri"/>
              </a:rPr>
              <a:t> compiler will not treat the text as a string constant</a:t>
            </a:r>
            <a:endParaRPr lang="en-US" altLang="zh-TW" dirty="0">
              <a:ea typeface="新細明體" charset="-120"/>
              <a:cs typeface="Calibri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ea typeface="新細明體"/>
                <a:cs typeface="Calibri"/>
              </a:rPr>
              <a:t>In other words, the following code will cause the program to </a:t>
            </a:r>
            <a:r>
              <a:rPr lang="en-US" u="sng" dirty="0">
                <a:ea typeface="新細明體"/>
                <a:cs typeface="Calibri"/>
              </a:rPr>
              <a:t>fail to compile</a:t>
            </a:r>
            <a:r>
              <a:rPr lang="en-US" dirty="0">
                <a:ea typeface="新細明體"/>
                <a:cs typeface="Calibri"/>
              </a:rPr>
              <a:t>: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altLang="zh-CN" dirty="0">
                <a:latin typeface="Consolas"/>
                <a:ea typeface="新細明體"/>
                <a:cs typeface="Calibri"/>
              </a:rPr>
              <a:t>  </a:t>
            </a:r>
            <a:r>
              <a:rPr lang="en-US" altLang="zh-CN" sz="2800" dirty="0" err="1">
                <a:latin typeface="Consolas"/>
                <a:ea typeface="新細明體"/>
                <a:cs typeface="Calibri"/>
              </a:rPr>
              <a:t>printf</a:t>
            </a:r>
            <a:r>
              <a:rPr lang="en-US" altLang="zh-CN" sz="2800" dirty="0">
                <a:latin typeface="Consolas"/>
                <a:ea typeface="新細明體"/>
                <a:cs typeface="Calibri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onsolas"/>
                <a:ea typeface="新細明體"/>
                <a:cs typeface="Calibri"/>
              </a:rPr>
              <a:t>Hello, world!\n</a:t>
            </a:r>
            <a:r>
              <a:rPr lang="en-US" altLang="zh-CN" sz="2800" dirty="0">
                <a:solidFill>
                  <a:srgbClr val="000000"/>
                </a:solidFill>
                <a:latin typeface="Consolas"/>
                <a:ea typeface="新細明體"/>
                <a:cs typeface="Calibri"/>
              </a:rPr>
              <a:t>);   </a:t>
            </a:r>
            <a:endParaRPr lang="en-US" dirty="0">
              <a:ea typeface="新細明體"/>
              <a:cs typeface="Calibri"/>
            </a:endParaRPr>
          </a:p>
          <a:p>
            <a:pPr marL="457200" lvl="1" indent="0">
              <a:buNone/>
              <a:defRPr/>
            </a:pPr>
            <a:r>
              <a:rPr lang="en-US" dirty="0" err="1">
                <a:latin typeface="Consolas"/>
                <a:ea typeface="新細明體"/>
                <a:cs typeface="Calibri"/>
              </a:rPr>
              <a:t>printf</a:t>
            </a:r>
            <a:r>
              <a:rPr lang="en-US" dirty="0">
                <a:latin typeface="Consolas"/>
                <a:ea typeface="新細明體"/>
                <a:cs typeface="Calibri"/>
              </a:rPr>
              <a:t>(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</a:t>
            </a:r>
            <a:r>
              <a:rPr lang="en-US" dirty="0">
                <a:solidFill>
                  <a:schemeClr val="accent1"/>
                </a:solidFill>
                <a:latin typeface="Consolas"/>
                <a:ea typeface="新細明體"/>
                <a:cs typeface="Calibri"/>
              </a:rPr>
              <a:t>Hello, world!\n</a:t>
            </a:r>
            <a:r>
              <a:rPr lang="en-US" altLang="zh-TW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/>
                <a:ea typeface="新細明體"/>
                <a:cs typeface="Calibri"/>
              </a:rPr>
              <a:t>);   </a:t>
            </a:r>
            <a:r>
              <a:rPr lang="en-US" altLang="zh-TW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</a:t>
            </a:r>
            <a:r>
              <a:rPr lang="en-US" dirty="0">
                <a:solidFill>
                  <a:srgbClr val="000000"/>
                </a:solidFill>
                <a:latin typeface="Consolas"/>
                <a:ea typeface="新細明體"/>
                <a:cs typeface="Calibri"/>
              </a:rPr>
              <a:t>  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90000"/>
              </a:lnSpc>
              <a:defRPr/>
            </a:pPr>
            <a:endParaRPr lang="en-US" dirty="0">
              <a:ea typeface="新細明體"/>
              <a:cs typeface="Calibri"/>
            </a:endParaRPr>
          </a:p>
        </p:txBody>
      </p:sp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985EB2F5-D074-55FF-6195-5A3D6B0EA5D5}"/>
              </a:ext>
            </a:extLst>
          </p:cNvPr>
          <p:cNvSpPr/>
          <p:nvPr/>
        </p:nvSpPr>
        <p:spPr>
          <a:xfrm>
            <a:off x="4914899" y="4519608"/>
            <a:ext cx="1295400" cy="1098553"/>
          </a:xfrm>
          <a:prstGeom prst="mathMultiply">
            <a:avLst>
              <a:gd name="adj1" fmla="val 9997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05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7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7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77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7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7F6773-AEDA-4C2D-8643-ADF55FAD1F5B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1.4. String</a:t>
            </a:r>
            <a:r>
              <a:rPr lang="en-US" sz="3600" dirty="0">
                <a:ea typeface="Calibri"/>
              </a:rPr>
              <a:t>(</a:t>
            </a:r>
            <a:r>
              <a:rPr lang="en-US" sz="3200" dirty="0" err="1">
                <a:ea typeface="Calibri"/>
              </a:rPr>
              <a:t>字符串</a:t>
            </a:r>
            <a:r>
              <a:rPr lang="en-US" sz="3600" dirty="0">
                <a:ea typeface="Calibri"/>
              </a:rPr>
              <a:t>)</a:t>
            </a:r>
            <a:r>
              <a:rPr lang="en-US" altLang="zh-TW" sz="4000" dirty="0">
                <a:ea typeface="新細明體"/>
              </a:rPr>
              <a:t> Constant</a:t>
            </a:r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39839"/>
            <a:ext cx="11353799" cy="510857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TW" dirty="0">
                <a:solidFill>
                  <a:srgbClr val="000000"/>
                </a:solidFill>
                <a:latin typeface="Calibri"/>
                <a:ea typeface="新細明體"/>
                <a:cs typeface="Calibri"/>
              </a:rPr>
              <a:t>What if I want to print a double quotation mark? What if I want to print the "Enter" key for a new line of text?</a:t>
            </a:r>
            <a:endParaRPr lang="en-US" sz="36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0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>
                <a:ea typeface="新細明體"/>
              </a:rPr>
              <a:t>These characters need to be expressed as </a:t>
            </a:r>
            <a:r>
              <a:rPr lang="en-US" altLang="zh-TW" i="1" dirty="0">
                <a:solidFill>
                  <a:srgbClr val="0070C0"/>
                </a:solidFill>
                <a:ea typeface="新細明體"/>
              </a:rPr>
              <a:t>escaped sequences</a:t>
            </a:r>
            <a:r>
              <a:rPr lang="en-US" altLang="zh-TW" dirty="0">
                <a:ea typeface="新細明體"/>
              </a:rPr>
              <a:t> in a string constant.</a:t>
            </a:r>
            <a:endParaRPr lang="en-US" altLang="zh-TW" dirty="0">
              <a:ea typeface="新細明體"/>
              <a:cs typeface="Calibri"/>
            </a:endParaRPr>
          </a:p>
          <a:p>
            <a:pPr marL="457200" lvl="1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dirty="0">
                <a:ea typeface="新細明體" charset="-120"/>
              </a:rPr>
              <a:t>e.g.,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1800" dirty="0">
              <a:ea typeface="新細明體" charset="-12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684460"/>
              </p:ext>
            </p:extLst>
          </p:nvPr>
        </p:nvGraphicFramePr>
        <p:xfrm>
          <a:off x="3263941" y="3746380"/>
          <a:ext cx="606742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0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aseline="0" dirty="0">
                          <a:solidFill>
                            <a:schemeClr val="bg1"/>
                          </a:solidFill>
                        </a:rPr>
                        <a:t>Escaped Sequence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Character</a:t>
                      </a:r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kern="1200" baseline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\\</a:t>
                      </a: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Backslash</a:t>
                      </a:r>
                      <a:r>
                        <a:rPr lang="en-US" sz="2400" baseline="0" dirty="0"/>
                        <a:t> (</a:t>
                      </a:r>
                      <a:r>
                        <a:rPr lang="en-US" sz="2400" b="1" baseline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</a:t>
                      </a:r>
                      <a:r>
                        <a:rPr lang="en-US" sz="2400" baseline="0" dirty="0"/>
                        <a:t>)</a:t>
                      </a:r>
                      <a:endParaRPr lang="en-US" sz="2400" dirty="0"/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kern="1200" baseline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\"</a:t>
                      </a: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Double quote (</a:t>
                      </a:r>
                      <a:r>
                        <a:rPr lang="en-US" sz="2400" b="1" kern="1200" baseline="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"</a:t>
                      </a:r>
                      <a:r>
                        <a:rPr lang="en-US" sz="2400" dirty="0"/>
                        <a:t>)</a:t>
                      </a:r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kern="1200" baseline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\n</a:t>
                      </a: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Newline</a:t>
                      </a:r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kern="1200" baseline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\t</a:t>
                      </a:r>
                    </a:p>
                  </a:txBody>
                  <a:tcPr marL="91431" marR="91431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Tab</a:t>
                      </a:r>
                    </a:p>
                  </a:txBody>
                  <a:tcPr marL="91431" marR="9143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43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F6FEFB-87F6-499D-86DF-BCD71986CD7D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1" y="1066800"/>
            <a:ext cx="8493125" cy="5281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>
                <a:ea typeface="新細明體" charset="-120"/>
              </a:rPr>
              <a:t>e.g.:  This string constant</a:t>
            </a:r>
          </a:p>
          <a:p>
            <a:pPr marL="457200" lvl="1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</a:rPr>
              <a:t>	"\\ is \"backslash\" and / is \"slash\""</a:t>
            </a:r>
          </a:p>
          <a:p>
            <a:pPr marL="457200" lvl="1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TW" sz="2400" dirty="0">
              <a:ea typeface="新細明體" charset="-12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altLang="zh-TW" sz="2800" dirty="0">
                <a:ea typeface="新細明體"/>
              </a:rPr>
              <a:t>    represents the following string (and thus output on</a:t>
            </a:r>
            <a:endParaRPr lang="en-US" altLang="zh-TW" sz="2800" dirty="0">
              <a:solidFill>
                <a:srgbClr val="800080"/>
              </a:solidFill>
              <a:ea typeface="新細明體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altLang="zh-TW" sz="2800" dirty="0">
                <a:ea typeface="新細明體"/>
              </a:rPr>
              <a:t>    screen)</a:t>
            </a:r>
            <a:endParaRPr lang="en-US" altLang="zh-TW" sz="2800" dirty="0">
              <a:solidFill>
                <a:schemeClr val="folHlink"/>
              </a:solidFill>
              <a:ea typeface="新細明體"/>
              <a:cs typeface="Calibri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2400" dirty="0">
                <a:solidFill>
                  <a:schemeClr val="folHlink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		\ is "backslash" and / is "slash"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TW" sz="16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16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>
                <a:ea typeface="新細明體" charset="-120"/>
              </a:rPr>
              <a:t>A string constant cannot span multiple lines.</a:t>
            </a:r>
          </a:p>
          <a:p>
            <a:pPr lvl="1" eaLnBrk="1" hangingPunct="1">
              <a:lnSpc>
                <a:spcPct val="60000"/>
              </a:lnSpc>
              <a:buFont typeface="Wingdings" pitchFamily="2" charset="2"/>
              <a:buNone/>
              <a:defRPr/>
            </a:pPr>
            <a:r>
              <a:rPr lang="en-US" altLang="zh-TW" sz="2400" dirty="0">
                <a:ea typeface="新細明體" charset="-120"/>
                <a:sym typeface="Wingdings 2" pitchFamily="18" charset="2"/>
              </a:rPr>
              <a:t>	</a:t>
            </a: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"The first line.</a:t>
            </a:r>
          </a:p>
          <a:p>
            <a:pPr lvl="1" eaLnBrk="1" hangingPunct="1">
              <a:lnSpc>
                <a:spcPct val="60000"/>
              </a:lnSpc>
              <a:buFont typeface="Wingdings" pitchFamily="2" charset="2"/>
              <a:buNone/>
              <a:defRPr/>
            </a:pPr>
            <a:r>
              <a:rPr lang="en-US" altLang="zh-TW" sz="24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 	 The second line."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 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2" pitchFamily="18" charset="2"/>
              </a:rPr>
              <a:t></a:t>
            </a:r>
          </a:p>
          <a:p>
            <a:pPr lvl="1" eaLnBrk="1" hangingPunct="1">
              <a:lnSpc>
                <a:spcPct val="60000"/>
              </a:lnSpc>
              <a:buFont typeface="Wingdings" pitchFamily="2" charset="2"/>
              <a:buNone/>
              <a:defRPr/>
            </a:pPr>
            <a:endParaRPr lang="en-US" altLang="zh-TW" sz="24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  <a:sym typeface="Wingdings 2" pitchFamily="18" charset="2"/>
            </a:endParaRPr>
          </a:p>
          <a:p>
            <a:pPr lvl="1">
              <a:lnSpc>
                <a:spcPct val="60000"/>
              </a:lnSpc>
              <a:buNone/>
              <a:defRPr/>
            </a:pP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	</a:t>
            </a: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"The first line.\</a:t>
            </a:r>
            <a:r>
              <a:rPr lang="en-US" altLang="zh-TW" sz="240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nThe</a:t>
            </a:r>
            <a:r>
              <a:rPr lang="en-US" altLang="zh-TW" sz="240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 second line." 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  <a:sym typeface="Wingdings 2" pitchFamily="18" charset="2"/>
              </a:rPr>
              <a:t>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41E1B3A-0AB5-CD29-BFFA-903AD4DF4A52}"/>
              </a:ext>
            </a:extLst>
          </p:cNvPr>
          <p:cNvSpPr txBox="1">
            <a:spLocks noChangeArrowheads="1"/>
          </p:cNvSpPr>
          <p:nvPr/>
        </p:nvSpPr>
        <p:spPr>
          <a:xfrm>
            <a:off x="246184" y="228600"/>
            <a:ext cx="109728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ea typeface="新細明體"/>
              </a:rPr>
              <a:t>1.4. String</a:t>
            </a:r>
            <a:r>
              <a:rPr lang="en-US" sz="3600" dirty="0">
                <a:ea typeface="Calibri"/>
              </a:rPr>
              <a:t>(</a:t>
            </a:r>
            <a:r>
              <a:rPr lang="en-US" sz="3200" dirty="0" err="1">
                <a:ea typeface="Calibri"/>
              </a:rPr>
              <a:t>字符串</a:t>
            </a:r>
            <a:r>
              <a:rPr lang="en-US" sz="3600" dirty="0">
                <a:ea typeface="Calibri"/>
              </a:rPr>
              <a:t>)</a:t>
            </a:r>
            <a:r>
              <a:rPr lang="en-US" altLang="zh-TW" sz="4000" dirty="0">
                <a:ea typeface="新細明體"/>
              </a:rPr>
              <a:t> Constant</a:t>
            </a:r>
          </a:p>
        </p:txBody>
      </p:sp>
    </p:spTree>
    <p:extLst>
      <p:ext uri="{BB962C8B-B14F-4D97-AF65-F5344CB8AC3E}">
        <p14:creationId xmlns:p14="http://schemas.microsoft.com/office/powerpoint/2010/main" val="391714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B475C-0479-3D4E-2908-B83625B2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726DB4B-C527-F64C-DFB3-B0494EACE8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zh-TW" b="1" dirty="0">
                <a:ea typeface="新細明體" charset="-120"/>
              </a:rPr>
              <a:t>1. Overview of C Language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801FAC63-D2B7-3FF9-45F9-F3DEA7D16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245057"/>
            <a:ext cx="8604250" cy="3841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solidFill>
                <a:srgbClr val="CC66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CC66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"Hello, world!\n"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"Hello, universe!\n"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01B1F8FC-33AE-96A5-F50C-B15FAB420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1245057"/>
            <a:ext cx="539750" cy="3841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B2AF6556-04C9-628B-0E4A-0EA156DBD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5082044"/>
            <a:ext cx="9144000" cy="88423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Hello, world!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Hello, universe!</a:t>
            </a:r>
          </a:p>
        </p:txBody>
      </p:sp>
      <p:sp>
        <p:nvSpPr>
          <p:cNvPr id="4102" name="Rectangle 12">
            <a:extLst>
              <a:ext uri="{FF2B5EF4-FFF2-40B4-BE49-F238E27FC236}">
                <a16:creationId xmlns:a16="http://schemas.microsoft.com/office/drawing/2014/main" id="{2733B1F3-5095-97F1-67A1-2239C61CC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0255" y="1245057"/>
            <a:ext cx="3636963" cy="4530725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Basic structure of a C program: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Statements are executed sequentially.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E5A37A-87F8-446F-7162-663C9B66D315}"/>
              </a:ext>
            </a:extLst>
          </p:cNvPr>
          <p:cNvSpPr/>
          <p:nvPr/>
        </p:nvSpPr>
        <p:spPr>
          <a:xfrm>
            <a:off x="8928229" y="2232482"/>
            <a:ext cx="3117850" cy="25542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1600" dirty="0" err="1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defRPr/>
            </a:pPr>
            <a:endParaRPr kumimoji="1" lang="en-US" altLang="zh-TW" sz="1600" dirty="0">
              <a:solidFill>
                <a:srgbClr val="FF00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TW" sz="1600" dirty="0" err="1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kumimoji="1" lang="en-US" altLang="zh-TW" sz="1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main(void)</a:t>
            </a:r>
          </a:p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{</a:t>
            </a:r>
          </a:p>
          <a:p>
            <a:pPr eaLnBrk="1" hangingPunct="1">
              <a:defRPr/>
            </a:pPr>
            <a:r>
              <a:rPr kumimoji="1" lang="en-US" altLang="zh-TW" sz="1600" dirty="0">
                <a:latin typeface="Consolas" pitchFamily="49" charset="0"/>
                <a:ea typeface="新細明體" charset="-120"/>
                <a:cs typeface="Consolas" pitchFamily="49" charset="0"/>
              </a:rPr>
              <a:t>  statement_1;</a:t>
            </a:r>
          </a:p>
          <a:p>
            <a:pPr eaLnBrk="1" hangingPunct="1">
              <a:defRPr/>
            </a:pPr>
            <a:r>
              <a:rPr kumimoji="1" lang="en-US" altLang="zh-TW" sz="1600" dirty="0">
                <a:latin typeface="Consolas" pitchFamily="49" charset="0"/>
                <a:ea typeface="新細明體" charset="-120"/>
                <a:cs typeface="Consolas" pitchFamily="49" charset="0"/>
              </a:rPr>
              <a:t>  statement_2;</a:t>
            </a:r>
          </a:p>
          <a:p>
            <a:pPr eaLnBrk="1" hangingPunct="1">
              <a:defRPr/>
            </a:pPr>
            <a:r>
              <a:rPr kumimoji="1" lang="en-US" altLang="zh-TW" sz="1600" dirty="0">
                <a:latin typeface="Consolas" pitchFamily="49" charset="0"/>
                <a:ea typeface="新細明體" charset="-120"/>
                <a:cs typeface="Consolas" pitchFamily="49" charset="0"/>
              </a:rPr>
              <a:t>  …</a:t>
            </a:r>
          </a:p>
          <a:p>
            <a:pPr eaLnBrk="1" hangingPunct="1">
              <a:defRPr/>
            </a:pPr>
            <a:endParaRPr kumimoji="1" lang="en-US" altLang="zh-TW" sz="1600" dirty="0">
              <a:solidFill>
                <a:srgbClr val="FF00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 return 0;</a:t>
            </a:r>
          </a:p>
          <a:p>
            <a:pPr eaLnBrk="1" hangingPunct="1">
              <a:defRPr/>
            </a:pPr>
            <a:r>
              <a:rPr kumimoji="1" lang="en-US" altLang="zh-TW" sz="16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D73104FF-E605-87D8-9A2E-6401E5818A83}"/>
              </a:ext>
            </a:extLst>
          </p:cNvPr>
          <p:cNvSpPr/>
          <p:nvPr/>
        </p:nvSpPr>
        <p:spPr>
          <a:xfrm>
            <a:off x="6666583" y="1086531"/>
            <a:ext cx="1897342" cy="718447"/>
          </a:xfrm>
          <a:prstGeom prst="wedgeRoundRectCallout">
            <a:avLst>
              <a:gd name="adj1" fmla="val 100843"/>
              <a:gd name="adj2" fmla="val 1149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/>
              <a:t>Standard libraries to load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D192B32B-B675-CDA6-09E6-DC042EF7B6A3}"/>
              </a:ext>
            </a:extLst>
          </p:cNvPr>
          <p:cNvSpPr/>
          <p:nvPr/>
        </p:nvSpPr>
        <p:spPr>
          <a:xfrm>
            <a:off x="6592019" y="2166698"/>
            <a:ext cx="2188631" cy="718447"/>
          </a:xfrm>
          <a:prstGeom prst="wedgeRoundRectCallout">
            <a:avLst>
              <a:gd name="adj1" fmla="val 81316"/>
              <a:gd name="adj2" fmla="val 406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/>
              <a:t>Entrance point of C program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870ABB38-1F10-BF77-3C96-853A7CC112D1}"/>
              </a:ext>
            </a:extLst>
          </p:cNvPr>
          <p:cNvSpPr/>
          <p:nvPr/>
        </p:nvSpPr>
        <p:spPr>
          <a:xfrm>
            <a:off x="10668000" y="4002947"/>
            <a:ext cx="1574841" cy="729401"/>
          </a:xfrm>
          <a:prstGeom prst="wedgeRoundRectCallout">
            <a:avLst>
              <a:gd name="adj1" fmla="val -91982"/>
              <a:gd name="adj2" fmla="val 170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This program is done!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DEF71540-2DF7-8DDD-0766-CE7221B18A0C}"/>
              </a:ext>
            </a:extLst>
          </p:cNvPr>
          <p:cNvSpPr/>
          <p:nvPr/>
        </p:nvSpPr>
        <p:spPr>
          <a:xfrm>
            <a:off x="7002611" y="4314743"/>
            <a:ext cx="1225286" cy="625217"/>
          </a:xfrm>
          <a:prstGeom prst="wedgeRoundRectCallout">
            <a:avLst>
              <a:gd name="adj1" fmla="val 113160"/>
              <a:gd name="adj2" fmla="val -23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i="1" dirty="0"/>
              <a:t>The end</a:t>
            </a:r>
            <a:br>
              <a:rPr lang="en-US" sz="2000" i="1" dirty="0"/>
            </a:br>
            <a:r>
              <a:rPr lang="en-US" sz="2000" i="1" dirty="0"/>
              <a:t>of block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A6A9EE95-CFCD-90B2-B475-B4A5222B26DC}"/>
              </a:ext>
            </a:extLst>
          </p:cNvPr>
          <p:cNvSpPr/>
          <p:nvPr/>
        </p:nvSpPr>
        <p:spPr>
          <a:xfrm>
            <a:off x="7002611" y="3448658"/>
            <a:ext cx="1225286" cy="718447"/>
          </a:xfrm>
          <a:prstGeom prst="wedgeRoundRectCallout">
            <a:avLst>
              <a:gd name="adj1" fmla="val 112115"/>
              <a:gd name="adj2" fmla="val -910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/>
              <a:t>The start of block</a:t>
            </a:r>
          </a:p>
        </p:txBody>
      </p:sp>
      <p:sp>
        <p:nvSpPr>
          <p:cNvPr id="4" name="Rounded Rectangular Callout 11">
            <a:extLst>
              <a:ext uri="{FF2B5EF4-FFF2-40B4-BE49-F238E27FC236}">
                <a16:creationId xmlns:a16="http://schemas.microsoft.com/office/drawing/2014/main" id="{CE2571DF-19A8-2479-970A-412F792E0E4A}"/>
              </a:ext>
            </a:extLst>
          </p:cNvPr>
          <p:cNvSpPr/>
          <p:nvPr/>
        </p:nvSpPr>
        <p:spPr>
          <a:xfrm>
            <a:off x="3994271" y="3901863"/>
            <a:ext cx="2116016" cy="825759"/>
          </a:xfrm>
          <a:prstGeom prst="wedgeRoundRectCallout">
            <a:avLst>
              <a:gd name="adj1" fmla="val -108482"/>
              <a:gd name="adj2" fmla="val 14525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i="1" dirty="0"/>
              <a:t>Output of this program</a:t>
            </a:r>
          </a:p>
        </p:txBody>
      </p:sp>
    </p:spTree>
    <p:extLst>
      <p:ext uri="{BB962C8B-B14F-4D97-AF65-F5344CB8AC3E}">
        <p14:creationId xmlns:p14="http://schemas.microsoft.com/office/powerpoint/2010/main" val="149489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41156-FF5C-3ADB-0CC1-F128DE18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>
            <a:extLst>
              <a:ext uri="{FF2B5EF4-FFF2-40B4-BE49-F238E27FC236}">
                <a16:creationId xmlns:a16="http://schemas.microsoft.com/office/drawing/2014/main" id="{C9EF85ED-8674-7962-681C-B606CFBC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973D95-B900-4444-8E0A-8EA40B5117F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TW" sz="1000" dirty="0">
              <a:ea typeface="新細明體" charset="-120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C4A21FFB-E194-7F6E-5353-B2F8697D14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 dirty="0">
                <a:ea typeface="新細明體" charset="-120"/>
              </a:rPr>
              <a:t>01b. Outline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14FC795C-67CB-4C0B-489A-659E17CCC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9557" y="1403199"/>
            <a:ext cx="10437246" cy="4954587"/>
          </a:xfrm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First C program &amp; Language Syntax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sz="3600" b="1" dirty="0">
                <a:ea typeface="新細明體" charset="-120"/>
              </a:rPr>
              <a:t>Variables and Assignment Operators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Identifiers, Reserved Words, Predefined Identifiers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Console Input/Output Using </a:t>
            </a:r>
            <a:r>
              <a:rPr lang="en-US" altLang="zh-TW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lang="en-US" altLang="zh-TW" dirty="0">
                <a:ea typeface="新細明體" charset="-120"/>
              </a:rPr>
              <a:t> and </a:t>
            </a:r>
            <a:r>
              <a:rPr lang="en-US" altLang="zh-TW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974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7A10E8-5EDA-40AD-9BAA-ACCA89E3C66C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1" y="76200"/>
            <a:ext cx="8539163" cy="838200"/>
          </a:xfrm>
        </p:spPr>
        <p:txBody>
          <a:bodyPr>
            <a:noAutofit/>
          </a:bodyPr>
          <a:lstStyle/>
          <a:p>
            <a:pPr marL="533400" indent="-533400"/>
            <a:r>
              <a:rPr lang="en-US" altLang="zh-TW" sz="4000" b="1" dirty="0">
                <a:ea typeface="新細明體" charset="-120"/>
              </a:rPr>
              <a:t>2. Variables and Assignment Operators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3564" y="1047751"/>
            <a:ext cx="8524875" cy="5222875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b="1" u="sng" dirty="0">
                <a:ea typeface="新細明體" charset="-120"/>
              </a:rPr>
              <a:t>Key concepts</a:t>
            </a:r>
          </a:p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What is a variable?</a:t>
            </a:r>
          </a:p>
          <a:p>
            <a:pPr eaLnBrk="1" hangingPunct="1">
              <a:defRPr/>
            </a:pPr>
            <a:endParaRPr lang="en-US" altLang="zh-TW" dirty="0">
              <a:ea typeface="新細明體" charset="-120"/>
            </a:endParaRPr>
          </a:p>
          <a:p>
            <a:pPr eaLnBrk="1" hangingPunct="1">
              <a:defRPr/>
            </a:pPr>
            <a:endParaRPr lang="en-US" altLang="zh-TW" dirty="0">
              <a:ea typeface="新細明體" charset="-120"/>
            </a:endParaRPr>
          </a:p>
          <a:p>
            <a:pPr eaLnBrk="1" hangingPunct="1">
              <a:defRPr/>
            </a:pPr>
            <a:endParaRPr lang="en-US" altLang="zh-TW" dirty="0">
              <a:ea typeface="新細明體" charset="-120"/>
            </a:endParaRPr>
          </a:p>
          <a:p>
            <a:pPr eaLnBrk="1" hangingPunct="1">
              <a:defRPr/>
            </a:pPr>
            <a:endParaRPr lang="en-US" altLang="zh-TW" dirty="0">
              <a:ea typeface="新細明體" charset="-120"/>
            </a:endParaRPr>
          </a:p>
          <a:p>
            <a:pPr>
              <a:defRPr/>
            </a:pPr>
            <a:r>
              <a:rPr lang="en-US" altLang="zh-TW" dirty="0">
                <a:ea typeface="新細明體" charset="-120"/>
              </a:rPr>
              <a:t>What is a variable in programming?</a:t>
            </a:r>
          </a:p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How to use a variable in a program?</a:t>
            </a:r>
          </a:p>
        </p:txBody>
      </p:sp>
    </p:spTree>
    <p:extLst>
      <p:ext uri="{BB962C8B-B14F-4D97-AF65-F5344CB8AC3E}">
        <p14:creationId xmlns:p14="http://schemas.microsoft.com/office/powerpoint/2010/main" val="383282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6EBCFF-B268-43EB-ADC5-D4F11B230D44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2. Variables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5964" y="1201738"/>
            <a:ext cx="8334375" cy="4722812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Variables are used to </a:t>
            </a:r>
            <a:r>
              <a:rPr lang="en-US" altLang="zh-TW" u="sng" dirty="0">
                <a:ea typeface="新細明體" charset="-120"/>
              </a:rPr>
              <a:t>store data</a:t>
            </a:r>
            <a:r>
              <a:rPr lang="en-US" altLang="zh-TW" dirty="0">
                <a:ea typeface="新細明體" charset="-120"/>
              </a:rPr>
              <a:t> in a program.</a:t>
            </a:r>
          </a:p>
          <a:p>
            <a:pPr eaLnBrk="1" hangingPunct="1"/>
            <a:endParaRPr lang="en-US" altLang="zh-TW" sz="1800" dirty="0">
              <a:ea typeface="新細明體" charset="-120"/>
            </a:endParaRPr>
          </a:p>
          <a:p>
            <a:pPr eaLnBrk="1" hangingPunct="1"/>
            <a:r>
              <a:rPr lang="en-US" altLang="zh-TW" dirty="0">
                <a:ea typeface="新細明體" charset="-120"/>
              </a:rPr>
              <a:t>A variable has a </a:t>
            </a:r>
            <a:r>
              <a:rPr lang="en-US" altLang="zh-TW" b="1" u="sng" dirty="0">
                <a:ea typeface="新細明體" charset="-120"/>
              </a:rPr>
              <a:t>name</a:t>
            </a:r>
            <a:r>
              <a:rPr lang="en-US" altLang="zh-TW" dirty="0">
                <a:ea typeface="新細明體" charset="-120"/>
              </a:rPr>
              <a:t> and a </a:t>
            </a:r>
            <a:r>
              <a:rPr lang="en-US" altLang="zh-TW" b="1" u="sng" dirty="0">
                <a:ea typeface="新細明體" charset="-120"/>
              </a:rPr>
              <a:t>type</a:t>
            </a:r>
            <a:r>
              <a:rPr lang="en-US" altLang="zh-TW" dirty="0">
                <a:ea typeface="新細明體" charset="-120"/>
              </a:rPr>
              <a:t>.</a:t>
            </a:r>
            <a:endParaRPr lang="en-US" altLang="zh-TW" u="sng" dirty="0">
              <a:ea typeface="新細明體" charset="-120"/>
            </a:endParaRPr>
          </a:p>
          <a:p>
            <a:pPr lvl="1" eaLnBrk="1" hangingPunct="1"/>
            <a:r>
              <a:rPr lang="en-US" altLang="zh-TW" dirty="0">
                <a:ea typeface="新細明體" charset="-120"/>
              </a:rPr>
              <a:t>The type determines what kind of values the variable can hold.</a:t>
            </a:r>
          </a:p>
        </p:txBody>
      </p:sp>
    </p:spTree>
    <p:extLst>
      <p:ext uri="{BB962C8B-B14F-4D97-AF65-F5344CB8AC3E}">
        <p14:creationId xmlns:p14="http://schemas.microsoft.com/office/powerpoint/2010/main" val="366167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F2E9825-048F-408C-9D39-43E7196E0450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2063750" y="0"/>
            <a:ext cx="86042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"Side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side);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"Perimeter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perimeter);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"Area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area);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1524000" y="4965701"/>
            <a:ext cx="9144000" cy="12287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: 3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 : 12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 : 9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1679575" y="6308726"/>
            <a:ext cx="7988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+mn-lt"/>
                <a:ea typeface="新細明體" charset="-120"/>
              </a:rPr>
              <a:t>Example 2: </a:t>
            </a:r>
            <a:r>
              <a:rPr lang="en-US" altLang="zh-TW" sz="2000" b="0" dirty="0">
                <a:latin typeface="+mn-lt"/>
                <a:ea typeface="新細明體" charset="-120"/>
              </a:rPr>
              <a:t>Computing the perimeter and the area of a square.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1524000" y="0"/>
            <a:ext cx="539750" cy="4965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9223" name="Rectangle 5"/>
          <p:cNvSpPr>
            <a:spLocks noChangeArrowheads="1"/>
          </p:cNvSpPr>
          <p:nvPr/>
        </p:nvSpPr>
        <p:spPr bwMode="auto">
          <a:xfrm>
            <a:off x="2332038" y="1277939"/>
            <a:ext cx="3917950" cy="34607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224" name="Rectangle 12"/>
          <p:cNvSpPr>
            <a:spLocks noChangeArrowheads="1"/>
          </p:cNvSpPr>
          <p:nvPr/>
        </p:nvSpPr>
        <p:spPr bwMode="auto">
          <a:xfrm>
            <a:off x="6518275" y="317501"/>
            <a:ext cx="4070350" cy="27273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Declaring three variables: </a:t>
            </a:r>
            <a:r>
              <a:rPr kumimoji="1" lang="en-US" altLang="zh-TW" sz="2400" b="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,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, and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The </a:t>
            </a:r>
            <a:r>
              <a:rPr kumimoji="1" lang="en-US" altLang="zh-TW" sz="2400" b="0" i="1" dirty="0">
                <a:latin typeface="+mn-lt"/>
                <a:ea typeface="新細明體" charset="-120"/>
              </a:rPr>
              <a:t>type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 of the three variables is </a:t>
            </a: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, indicating that the variables are for storing integers.</a:t>
            </a:r>
          </a:p>
        </p:txBody>
      </p:sp>
    </p:spTree>
    <p:extLst>
      <p:ext uri="{BB962C8B-B14F-4D97-AF65-F5344CB8AC3E}">
        <p14:creationId xmlns:p14="http://schemas.microsoft.com/office/powerpoint/2010/main" val="10679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 animBg="1"/>
      <p:bldP spid="92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1E359A-C870-4280-A046-C4C6E694AE0B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2063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"Side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side);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"Perimeter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perimeter);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"Area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area);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52400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1269" name="Rectangle 12"/>
          <p:cNvSpPr>
            <a:spLocks noChangeArrowheads="1"/>
          </p:cNvSpPr>
          <p:nvPr/>
        </p:nvSpPr>
        <p:spPr bwMode="auto">
          <a:xfrm>
            <a:off x="6518275" y="165101"/>
            <a:ext cx="4070350" cy="134302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When the program runs, the statements are executed sequentially one by one.</a:t>
            </a:r>
          </a:p>
        </p:txBody>
      </p:sp>
      <p:sp>
        <p:nvSpPr>
          <p:cNvPr id="11270" name="Down Arrow 1"/>
          <p:cNvSpPr>
            <a:spLocks noChangeArrowheads="1"/>
          </p:cNvSpPr>
          <p:nvPr/>
        </p:nvSpPr>
        <p:spPr bwMode="auto">
          <a:xfrm>
            <a:off x="8285164" y="1662113"/>
            <a:ext cx="498475" cy="2919412"/>
          </a:xfrm>
          <a:prstGeom prst="downArrow">
            <a:avLst>
              <a:gd name="adj1" fmla="val 50000"/>
              <a:gd name="adj2" fmla="val 5008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332457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CEEBC4-1016-4233-9A47-0152C6A051C0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2063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"Side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side);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"Perimeter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perimeter);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"Area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area);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52400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2332038" y="1277939"/>
            <a:ext cx="3917950" cy="34607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3265806" y="5587048"/>
            <a:ext cx="1420813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?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5185093" y="5587048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?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7144068" y="5587048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?</a:t>
            </a: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3227705" y="5126673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5070793" y="5126673"/>
            <a:ext cx="1714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7029768" y="5118735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6518275" y="203201"/>
            <a:ext cx="4070350" cy="31099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Immediately after the variables are being declared,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their values are undefined (we do not know what their values are).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We say that these variables are </a:t>
            </a:r>
            <a:r>
              <a:rPr kumimoji="1" lang="en-US" altLang="zh-TW" sz="2400" b="0" i="1" dirty="0">
                <a:solidFill>
                  <a:srgbClr val="0070C0"/>
                </a:solidFill>
                <a:latin typeface="+mn-lt"/>
                <a:ea typeface="新細明體" charset="-120"/>
              </a:rPr>
              <a:t>uninitialized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859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60D785-048C-44FF-9F7C-E25520FE2A0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2.1. Declaring Variables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9764" y="1239839"/>
            <a:ext cx="8334375" cy="960437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kumimoji="1" lang="en-US" altLang="zh-TW" dirty="0">
                <a:ea typeface="新細明體" charset="-120"/>
              </a:rPr>
              <a:t>Variables </a:t>
            </a:r>
            <a:r>
              <a:rPr kumimoji="1" lang="en-US" altLang="zh-TW" b="1" u="sng" dirty="0">
                <a:ea typeface="新細明體" charset="-120"/>
              </a:rPr>
              <a:t>must be declared </a:t>
            </a:r>
            <a:r>
              <a:rPr kumimoji="1" lang="en-US" altLang="zh-TW" u="sng" dirty="0">
                <a:ea typeface="新細明體" charset="-120"/>
              </a:rPr>
              <a:t>first</a:t>
            </a:r>
            <a:r>
              <a:rPr kumimoji="1" lang="en-US" altLang="zh-TW" dirty="0">
                <a:ea typeface="新細明體" charset="-120"/>
              </a:rPr>
              <a:t> before they can be used in the program to store data.</a:t>
            </a:r>
          </a:p>
        </p:txBody>
      </p:sp>
      <p:sp>
        <p:nvSpPr>
          <p:cNvPr id="10245" name="Rectangle 46"/>
          <p:cNvSpPr>
            <a:spLocks noChangeArrowheads="1"/>
          </p:cNvSpPr>
          <p:nvPr/>
        </p:nvSpPr>
        <p:spPr bwMode="auto">
          <a:xfrm>
            <a:off x="1871664" y="2584450"/>
            <a:ext cx="8448675" cy="32273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800">
                <a:latin typeface="+mn-lt"/>
                <a:ea typeface="新細明體" charset="-120"/>
              </a:rPr>
              <a:t>Syntax</a:t>
            </a:r>
          </a:p>
        </p:txBody>
      </p:sp>
      <p:sp>
        <p:nvSpPr>
          <p:cNvPr id="10246" name="Rectangle 47"/>
          <p:cNvSpPr>
            <a:spLocks noChangeArrowheads="1"/>
          </p:cNvSpPr>
          <p:nvPr/>
        </p:nvSpPr>
        <p:spPr bwMode="auto">
          <a:xfrm>
            <a:off x="2870200" y="4514851"/>
            <a:ext cx="5799138" cy="538163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i="1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type2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var1, var2, …, </a:t>
            </a:r>
            <a:r>
              <a:rPr lang="en-US" altLang="zh-TW" sz="2400" dirty="0" err="1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varN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247" name="Rectangle 48"/>
          <p:cNvSpPr>
            <a:spLocks noChangeArrowheads="1"/>
          </p:cNvSpPr>
          <p:nvPr/>
        </p:nvSpPr>
        <p:spPr bwMode="auto">
          <a:xfrm>
            <a:off x="2870200" y="3284538"/>
            <a:ext cx="5799138" cy="538162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i="1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type1</a:t>
            </a: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var1;</a:t>
            </a:r>
          </a:p>
        </p:txBody>
      </p:sp>
      <p:sp>
        <p:nvSpPr>
          <p:cNvPr id="10248" name="Rectangle 49"/>
          <p:cNvSpPr>
            <a:spLocks noChangeArrowheads="1"/>
          </p:cNvSpPr>
          <p:nvPr/>
        </p:nvSpPr>
        <p:spPr bwMode="auto">
          <a:xfrm>
            <a:off x="2870200" y="5043489"/>
            <a:ext cx="48930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b="0" dirty="0">
                <a:latin typeface="+mn-lt"/>
                <a:ea typeface="新細明體" charset="-120"/>
              </a:rPr>
              <a:t>Declaring multiple variables of </a:t>
            </a:r>
            <a:r>
              <a:rPr lang="en-US" altLang="zh-TW" sz="2400" i="1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type2</a:t>
            </a:r>
          </a:p>
        </p:txBody>
      </p:sp>
      <p:sp>
        <p:nvSpPr>
          <p:cNvPr id="10249" name="Rectangle 50"/>
          <p:cNvSpPr>
            <a:spLocks noChangeArrowheads="1"/>
          </p:cNvSpPr>
          <p:nvPr/>
        </p:nvSpPr>
        <p:spPr bwMode="auto">
          <a:xfrm>
            <a:off x="2870201" y="3814764"/>
            <a:ext cx="53001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b="0" dirty="0">
                <a:latin typeface="+mn-lt"/>
                <a:ea typeface="新細明體" charset="-120"/>
              </a:rPr>
              <a:t>Declaring a single variable of type </a:t>
            </a:r>
            <a:r>
              <a:rPr lang="en-US" altLang="zh-TW" sz="2400" i="1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type1</a:t>
            </a:r>
            <a:endParaRPr lang="en-US" altLang="zh-TW" sz="2400" b="0" i="1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537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02ADAD-FFDD-4D63-BECB-9F59E03AE65B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2063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"Side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side);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"Perimeter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perimeter);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"Area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area);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152400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3317" name="Rectangle 12"/>
          <p:cNvSpPr>
            <a:spLocks noChangeArrowheads="1"/>
          </p:cNvSpPr>
          <p:nvPr/>
        </p:nvSpPr>
        <p:spPr bwMode="auto">
          <a:xfrm>
            <a:off x="6500813" y="1781176"/>
            <a:ext cx="4070350" cy="5365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Assigning 3 to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13318" name="Rectangle 11"/>
          <p:cNvSpPr>
            <a:spLocks noChangeArrowheads="1"/>
          </p:cNvSpPr>
          <p:nvPr/>
        </p:nvSpPr>
        <p:spPr bwMode="auto">
          <a:xfrm>
            <a:off x="2417764" y="1898651"/>
            <a:ext cx="1335087" cy="30162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3254376" y="5581651"/>
            <a:ext cx="1420813" cy="536575"/>
          </a:xfrm>
          <a:prstGeom prst="rect">
            <a:avLst/>
          </a:prstGeom>
          <a:solidFill>
            <a:srgbClr val="66FF9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3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5173663" y="5581651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?</a:t>
            </a: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7132638" y="5581651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?</a:t>
            </a:r>
          </a:p>
        </p:txBody>
      </p:sp>
      <p:sp>
        <p:nvSpPr>
          <p:cNvPr id="13322" name="Text Box 9"/>
          <p:cNvSpPr txBox="1">
            <a:spLocks noChangeArrowheads="1"/>
          </p:cNvSpPr>
          <p:nvPr/>
        </p:nvSpPr>
        <p:spPr bwMode="auto">
          <a:xfrm>
            <a:off x="3216275" y="5121276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</a:p>
        </p:txBody>
      </p:sp>
      <p:sp>
        <p:nvSpPr>
          <p:cNvPr id="13323" name="Text Box 10"/>
          <p:cNvSpPr txBox="1">
            <a:spLocks noChangeArrowheads="1"/>
          </p:cNvSpPr>
          <p:nvPr/>
        </p:nvSpPr>
        <p:spPr bwMode="auto">
          <a:xfrm>
            <a:off x="5059363" y="5121276"/>
            <a:ext cx="1714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</a:p>
        </p:txBody>
      </p:sp>
      <p:sp>
        <p:nvSpPr>
          <p:cNvPr id="13324" name="Text Box 11"/>
          <p:cNvSpPr txBox="1">
            <a:spLocks noChangeArrowheads="1"/>
          </p:cNvSpPr>
          <p:nvPr/>
        </p:nvSpPr>
        <p:spPr bwMode="auto">
          <a:xfrm>
            <a:off x="7018338" y="5113338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413090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F22424A-A5E2-4C34-9A05-F6FAC98500BD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2063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"Side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side);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"Perimeter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perimeter);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"Area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area);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52400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6211889" y="433389"/>
            <a:ext cx="4359275" cy="24971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  <a:defRPr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Assigning the value of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 * side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 to </a:t>
            </a:r>
            <a:r>
              <a:rPr kumimoji="1" lang="en-US" altLang="zh-TW" sz="2400" dirty="0">
                <a:solidFill>
                  <a:srgbClr val="0070C0"/>
                </a:solidFill>
                <a:latin typeface="+mn-lt"/>
                <a:ea typeface="新細明體" charset="-120"/>
              </a:rPr>
              <a:t>perimeter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kumimoji="1" lang="en-US" altLang="zh-TW" sz="2400" b="0" dirty="0">
              <a:latin typeface="+mn-lt"/>
              <a:ea typeface="新細明體" charset="-120"/>
            </a:endParaRPr>
          </a:p>
          <a:p>
            <a:pPr marL="342900" indent="-342900" eaLnBrk="1" hangingPunct="1">
              <a:spcBef>
                <a:spcPct val="0"/>
              </a:spcBef>
              <a:buClrTx/>
              <a:defRPr/>
            </a:pPr>
            <a:r>
              <a:rPr kumimoji="1" lang="en-US" altLang="zh-TW" sz="2000" b="0" dirty="0">
                <a:latin typeface="+mn-lt"/>
                <a:ea typeface="新細明體" charset="-120"/>
              </a:rPr>
              <a:t>The expression </a:t>
            </a:r>
            <a:r>
              <a:rPr kumimoji="1"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 * side</a:t>
            </a:r>
            <a:r>
              <a:rPr kumimoji="1" lang="en-US" altLang="zh-TW" sz="2000" dirty="0">
                <a:solidFill>
                  <a:srgbClr val="0000FF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sz="2000" b="0" dirty="0">
                <a:latin typeface="+mn-lt"/>
                <a:ea typeface="新細明體" charset="-120"/>
              </a:rPr>
              <a:t>is evaluated first.</a:t>
            </a:r>
          </a:p>
          <a:p>
            <a:pPr marL="342900" indent="-342900" eaLnBrk="1" hangingPunct="1">
              <a:spcBef>
                <a:spcPct val="0"/>
              </a:spcBef>
              <a:buClrTx/>
              <a:defRPr/>
            </a:pPr>
            <a:r>
              <a:rPr kumimoji="1" lang="en-US" altLang="zh-TW" sz="2000" b="0" dirty="0">
                <a:latin typeface="+mn-lt"/>
                <a:ea typeface="新細明體" charset="-120"/>
              </a:rPr>
              <a:t>The result, </a:t>
            </a:r>
            <a:r>
              <a:rPr kumimoji="1"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  <a:r>
              <a:rPr kumimoji="1" lang="en-US" altLang="zh-TW" sz="2000" b="0" dirty="0">
                <a:latin typeface="+mn-lt"/>
                <a:ea typeface="新細明體" charset="-120"/>
              </a:rPr>
              <a:t>, is then assigned to </a:t>
            </a:r>
            <a:r>
              <a:rPr kumimoji="1"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  <a:r>
              <a:rPr kumimoji="1" lang="en-US" altLang="zh-TW" sz="20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15366" name="Rectangle 11"/>
          <p:cNvSpPr>
            <a:spLocks noChangeArrowheads="1"/>
          </p:cNvSpPr>
          <p:nvPr/>
        </p:nvSpPr>
        <p:spPr bwMode="auto">
          <a:xfrm>
            <a:off x="2417764" y="2201864"/>
            <a:ext cx="2947987" cy="30162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3254376" y="5564188"/>
            <a:ext cx="1420813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3</a:t>
            </a: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5173663" y="5564188"/>
            <a:ext cx="1420812" cy="536575"/>
          </a:xfrm>
          <a:prstGeom prst="rect">
            <a:avLst/>
          </a:prstGeom>
          <a:solidFill>
            <a:srgbClr val="66FF9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12</a:t>
            </a:r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7132638" y="5564188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?</a:t>
            </a:r>
          </a:p>
        </p:txBody>
      </p:sp>
      <p:sp>
        <p:nvSpPr>
          <p:cNvPr id="15370" name="Text Box 9"/>
          <p:cNvSpPr txBox="1">
            <a:spLocks noChangeArrowheads="1"/>
          </p:cNvSpPr>
          <p:nvPr/>
        </p:nvSpPr>
        <p:spPr bwMode="auto">
          <a:xfrm>
            <a:off x="3216275" y="5103813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</a:p>
        </p:txBody>
      </p:sp>
      <p:sp>
        <p:nvSpPr>
          <p:cNvPr id="15371" name="Text Box 10"/>
          <p:cNvSpPr txBox="1">
            <a:spLocks noChangeArrowheads="1"/>
          </p:cNvSpPr>
          <p:nvPr/>
        </p:nvSpPr>
        <p:spPr bwMode="auto">
          <a:xfrm>
            <a:off x="5059363" y="5103813"/>
            <a:ext cx="1714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</a:p>
        </p:txBody>
      </p:sp>
      <p:sp>
        <p:nvSpPr>
          <p:cNvPr id="15372" name="Text Box 11"/>
          <p:cNvSpPr txBox="1">
            <a:spLocks noChangeArrowheads="1"/>
          </p:cNvSpPr>
          <p:nvPr/>
        </p:nvSpPr>
        <p:spPr bwMode="auto">
          <a:xfrm>
            <a:off x="7018338" y="5095875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D99F04-B1B5-5E4A-B976-15D03CF4EF53}"/>
              </a:ext>
            </a:extLst>
          </p:cNvPr>
          <p:cNvSpPr txBox="1"/>
          <p:nvPr/>
        </p:nvSpPr>
        <p:spPr>
          <a:xfrm>
            <a:off x="4668838" y="1987628"/>
            <a:ext cx="410690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AE2F89-BF81-2641-A166-CF74D8FE0486}"/>
              </a:ext>
            </a:extLst>
          </p:cNvPr>
          <p:cNvSpPr txBox="1"/>
          <p:nvPr/>
        </p:nvSpPr>
        <p:spPr>
          <a:xfrm>
            <a:off x="4079876" y="2012522"/>
            <a:ext cx="1177924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973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747 0 " pathEditMode="relative" ptsTypes="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72FFFF-BA95-4C6B-B52F-4324928AC3D6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2063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"Side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side);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"Perimeter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perimeter);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"Area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area);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52400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6389" name="Rectangle 12"/>
          <p:cNvSpPr>
            <a:spLocks noChangeArrowheads="1"/>
          </p:cNvSpPr>
          <p:nvPr/>
        </p:nvSpPr>
        <p:spPr bwMode="auto">
          <a:xfrm>
            <a:off x="5638801" y="2122489"/>
            <a:ext cx="4932363" cy="8080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Assigning the value of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* side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 to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4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16390" name="Rectangle 11"/>
          <p:cNvSpPr>
            <a:spLocks noChangeArrowheads="1"/>
          </p:cNvSpPr>
          <p:nvPr/>
        </p:nvSpPr>
        <p:spPr bwMode="auto">
          <a:xfrm>
            <a:off x="2417763" y="2503489"/>
            <a:ext cx="2755900" cy="30162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6391" name="Rectangle 6"/>
          <p:cNvSpPr>
            <a:spLocks noChangeArrowheads="1"/>
          </p:cNvSpPr>
          <p:nvPr/>
        </p:nvSpPr>
        <p:spPr bwMode="auto">
          <a:xfrm>
            <a:off x="3254376" y="5612607"/>
            <a:ext cx="1420813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3</a:t>
            </a:r>
          </a:p>
        </p:txBody>
      </p:sp>
      <p:sp>
        <p:nvSpPr>
          <p:cNvPr id="16392" name="Rectangle 7"/>
          <p:cNvSpPr>
            <a:spLocks noChangeArrowheads="1"/>
          </p:cNvSpPr>
          <p:nvPr/>
        </p:nvSpPr>
        <p:spPr bwMode="auto">
          <a:xfrm>
            <a:off x="5173663" y="5612607"/>
            <a:ext cx="1420812" cy="5365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12</a:t>
            </a:r>
          </a:p>
        </p:txBody>
      </p:sp>
      <p:sp>
        <p:nvSpPr>
          <p:cNvPr id="16393" name="Rectangle 8"/>
          <p:cNvSpPr>
            <a:spLocks noChangeArrowheads="1"/>
          </p:cNvSpPr>
          <p:nvPr/>
        </p:nvSpPr>
        <p:spPr bwMode="auto">
          <a:xfrm>
            <a:off x="7132638" y="5612607"/>
            <a:ext cx="1420812" cy="536575"/>
          </a:xfrm>
          <a:prstGeom prst="rect">
            <a:avLst/>
          </a:prstGeom>
          <a:solidFill>
            <a:srgbClr val="66FF9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800" b="0">
                <a:ea typeface="新細明體" charset="-120"/>
              </a:rPr>
              <a:t>9</a:t>
            </a:r>
          </a:p>
        </p:txBody>
      </p:sp>
      <p:sp>
        <p:nvSpPr>
          <p:cNvPr id="16394" name="Text Box 9"/>
          <p:cNvSpPr txBox="1">
            <a:spLocks noChangeArrowheads="1"/>
          </p:cNvSpPr>
          <p:nvPr/>
        </p:nvSpPr>
        <p:spPr bwMode="auto">
          <a:xfrm>
            <a:off x="3216275" y="5152232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</a:p>
        </p:txBody>
      </p:sp>
      <p:sp>
        <p:nvSpPr>
          <p:cNvPr id="16395" name="Text Box 10"/>
          <p:cNvSpPr txBox="1">
            <a:spLocks noChangeArrowheads="1"/>
          </p:cNvSpPr>
          <p:nvPr/>
        </p:nvSpPr>
        <p:spPr bwMode="auto">
          <a:xfrm>
            <a:off x="5059363" y="5152232"/>
            <a:ext cx="1714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perimeter</a:t>
            </a:r>
          </a:p>
        </p:txBody>
      </p:sp>
      <p:sp>
        <p:nvSpPr>
          <p:cNvPr id="16396" name="Text Box 11"/>
          <p:cNvSpPr txBox="1">
            <a:spLocks noChangeArrowheads="1"/>
          </p:cNvSpPr>
          <p:nvPr/>
        </p:nvSpPr>
        <p:spPr bwMode="auto">
          <a:xfrm>
            <a:off x="7018338" y="5144294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area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CCC89C-88F9-5741-8878-5697B5E61FDD}"/>
              </a:ext>
            </a:extLst>
          </p:cNvPr>
          <p:cNvSpPr txBox="1"/>
          <p:nvPr/>
        </p:nvSpPr>
        <p:spPr>
          <a:xfrm>
            <a:off x="3440585" y="2453138"/>
            <a:ext cx="410690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89A3F6-8C7A-8942-8391-E4200B35F103}"/>
              </a:ext>
            </a:extLst>
          </p:cNvPr>
          <p:cNvSpPr txBox="1"/>
          <p:nvPr/>
        </p:nvSpPr>
        <p:spPr>
          <a:xfrm>
            <a:off x="4473648" y="2453138"/>
            <a:ext cx="410690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9D9598-6976-2343-9EC2-1C27E7C7B5DA}"/>
              </a:ext>
            </a:extLst>
          </p:cNvPr>
          <p:cNvSpPr txBox="1"/>
          <p:nvPr/>
        </p:nvSpPr>
        <p:spPr>
          <a:xfrm>
            <a:off x="3964781" y="2438401"/>
            <a:ext cx="410690" cy="58477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8163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85185E-6 L -0.20209 0.00185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0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5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3A79B5-B8B5-4B44-92F4-5618980EA009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2.2. Assigning Value to a Variable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0556" y="1143001"/>
            <a:ext cx="8334375" cy="1036637"/>
          </a:xfrm>
        </p:spPr>
        <p:txBody>
          <a:bodyPr>
            <a:normAutofit/>
          </a:bodyPr>
          <a:lstStyle/>
          <a:p>
            <a:pPr eaLnBrk="1" hangingPunct="1"/>
            <a:r>
              <a:rPr kumimoji="1" lang="en-US" altLang="zh-TW" sz="2800" dirty="0">
                <a:ea typeface="新細明體" charset="-120"/>
              </a:rPr>
              <a:t>We use an </a:t>
            </a:r>
            <a:r>
              <a:rPr kumimoji="1" lang="en-US" altLang="zh-TW" sz="2800" i="1" dirty="0">
                <a:solidFill>
                  <a:srgbClr val="0070C0"/>
                </a:solidFill>
                <a:ea typeface="新細明體" charset="-120"/>
              </a:rPr>
              <a:t>assignment operator </a:t>
            </a:r>
            <a:r>
              <a:rPr kumimoji="1" lang="en-US" altLang="zh-TW" sz="2800" dirty="0">
                <a:ea typeface="新細明體" charset="-120"/>
              </a:rPr>
              <a:t>(</a:t>
            </a:r>
            <a:r>
              <a:rPr kumimoji="1"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</a:rPr>
              <a:t>=</a:t>
            </a:r>
            <a:r>
              <a:rPr kumimoji="1" lang="en-US" altLang="zh-TW" sz="2800" dirty="0">
                <a:ea typeface="新細明體" charset="-120"/>
              </a:rPr>
              <a:t>) to copy/assign a value to a variable.</a:t>
            </a:r>
          </a:p>
        </p:txBody>
      </p:sp>
      <p:sp>
        <p:nvSpPr>
          <p:cNvPr id="14341" name="Rectangle 14"/>
          <p:cNvSpPr>
            <a:spLocks noChangeArrowheads="1"/>
          </p:cNvSpPr>
          <p:nvPr/>
        </p:nvSpPr>
        <p:spPr bwMode="auto">
          <a:xfrm>
            <a:off x="1876426" y="2074863"/>
            <a:ext cx="8526463" cy="165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800">
                <a:latin typeface="+mn-lt"/>
                <a:ea typeface="新細明體" charset="-120"/>
              </a:rPr>
              <a:t>Syntax</a:t>
            </a:r>
          </a:p>
        </p:txBody>
      </p:sp>
      <p:sp>
        <p:nvSpPr>
          <p:cNvPr id="14342" name="Rectangle 16"/>
          <p:cNvSpPr>
            <a:spLocks noChangeArrowheads="1"/>
          </p:cNvSpPr>
          <p:nvPr/>
        </p:nvSpPr>
        <p:spPr bwMode="auto">
          <a:xfrm>
            <a:off x="2836863" y="2611438"/>
            <a:ext cx="6527800" cy="538162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 = expression;</a:t>
            </a:r>
          </a:p>
        </p:txBody>
      </p:sp>
      <p:sp>
        <p:nvSpPr>
          <p:cNvPr id="14343" name="Rectangle 19"/>
          <p:cNvSpPr>
            <a:spLocks noChangeArrowheads="1"/>
          </p:cNvSpPr>
          <p:nvPr/>
        </p:nvSpPr>
        <p:spPr bwMode="auto">
          <a:xfrm>
            <a:off x="1752600" y="3886201"/>
            <a:ext cx="8763000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kumimoji="1" lang="en-US" altLang="zh-TW" sz="2800" b="0" dirty="0">
                <a:latin typeface="+mn-lt"/>
                <a:ea typeface="新細明體" charset="-120"/>
              </a:rPr>
              <a:t>An </a:t>
            </a:r>
            <a:r>
              <a:rPr kumimoji="1" lang="en-US" altLang="zh-TW" sz="2800" b="0" i="1" dirty="0">
                <a:solidFill>
                  <a:srgbClr val="0070C0"/>
                </a:solidFill>
                <a:latin typeface="+mn-lt"/>
                <a:ea typeface="新細明體" charset="-120"/>
              </a:rPr>
              <a:t>expression</a:t>
            </a:r>
            <a:r>
              <a:rPr kumimoji="1" lang="en-US" altLang="zh-TW" sz="2800" b="0" dirty="0">
                <a:solidFill>
                  <a:srgbClr val="0070C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sz="2800" b="0" dirty="0">
                <a:latin typeface="+mn-lt"/>
                <a:ea typeface="新細明體" charset="-120"/>
              </a:rPr>
              <a:t>is made up of values and operators, and   </a:t>
            </a:r>
            <a:r>
              <a:rPr kumimoji="1" lang="en-US" altLang="zh-TW" sz="2800" b="0" u="sng" dirty="0">
                <a:latin typeface="+mn-lt"/>
                <a:ea typeface="新細明體" charset="-120"/>
              </a:rPr>
              <a:t>can be evaluated to a value</a:t>
            </a:r>
            <a:r>
              <a:rPr kumimoji="1" lang="en-US" altLang="zh-TW" sz="2800" b="0" dirty="0">
                <a:latin typeface="+mn-lt"/>
                <a:ea typeface="新細明體" charset="-120"/>
              </a:rPr>
              <a:t> in the program. For examples,</a:t>
            </a:r>
          </a:p>
          <a:p>
            <a:pPr lvl="1" eaLnBrk="1" hangingPunct="1">
              <a:buFont typeface="Wingdings" pitchFamily="2" charset="2"/>
              <a:buNone/>
            </a:pPr>
            <a:r>
              <a:rPr kumimoji="1" lang="en-US" altLang="zh-TW" sz="2000" b="0" dirty="0">
                <a:latin typeface="Consolas" pitchFamily="49" charset="0"/>
                <a:ea typeface="新細明體" charset="-120"/>
                <a:cs typeface="Consolas" pitchFamily="49" charset="0"/>
              </a:rPr>
              <a:t>	100</a:t>
            </a:r>
          </a:p>
          <a:p>
            <a:pPr lvl="1" eaLnBrk="1" hangingPunct="1">
              <a:buFont typeface="Wingdings" pitchFamily="2" charset="2"/>
              <a:buNone/>
            </a:pPr>
            <a:r>
              <a:rPr kumimoji="1" lang="en-US" altLang="zh-TW" sz="2000" b="0" dirty="0">
                <a:latin typeface="Consolas" pitchFamily="49" charset="0"/>
                <a:ea typeface="新細明體" charset="-120"/>
                <a:cs typeface="Consolas" pitchFamily="49" charset="0"/>
              </a:rPr>
              <a:t>	</a:t>
            </a:r>
            <a:r>
              <a:rPr kumimoji="1" lang="en-US" altLang="zh-TW" sz="2000" b="0" dirty="0" err="1">
                <a:latin typeface="Consolas" pitchFamily="49" charset="0"/>
                <a:ea typeface="新細明體" charset="-120"/>
                <a:cs typeface="Consolas" pitchFamily="49" charset="0"/>
              </a:rPr>
              <a:t>someVariable</a:t>
            </a:r>
            <a:endParaRPr kumimoji="1" lang="en-US" altLang="zh-TW" sz="2000" b="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kumimoji="1" lang="en-US" altLang="zh-TW" sz="2000" b="0" dirty="0">
                <a:latin typeface="Consolas" pitchFamily="49" charset="0"/>
                <a:ea typeface="新細明體" charset="-120"/>
                <a:cs typeface="Consolas" pitchFamily="49" charset="0"/>
              </a:rPr>
              <a:t>	200 + var1 * var2</a:t>
            </a:r>
          </a:p>
        </p:txBody>
      </p:sp>
      <p:sp>
        <p:nvSpPr>
          <p:cNvPr id="14344" name="Rectangle 21"/>
          <p:cNvSpPr>
            <a:spLocks noChangeArrowheads="1"/>
          </p:cNvSpPr>
          <p:nvPr/>
        </p:nvSpPr>
        <p:spPr bwMode="auto">
          <a:xfrm>
            <a:off x="2836863" y="3187700"/>
            <a:ext cx="7027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  <a:cs typeface="Consolas" panose="020B0609020204030204" pitchFamily="49" charset="0"/>
              </a:rPr>
              <a:t>Copy the value of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expression</a:t>
            </a:r>
            <a:r>
              <a:rPr kumimoji="1" lang="en-US" altLang="zh-TW" sz="2400" b="0" dirty="0">
                <a:solidFill>
                  <a:srgbClr val="0070C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to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</a:t>
            </a:r>
            <a:endParaRPr kumimoji="1" lang="en-US" altLang="zh-TW" sz="2400" b="0" dirty="0">
              <a:solidFill>
                <a:srgbClr val="0070C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2" name="Curved Right Arrow 1">
            <a:extLst>
              <a:ext uri="{FF2B5EF4-FFF2-40B4-BE49-F238E27FC236}">
                <a16:creationId xmlns:a16="http://schemas.microsoft.com/office/drawing/2014/main" id="{3E68ED9C-5398-BB48-8AC3-14E309DE5339}"/>
              </a:ext>
            </a:extLst>
          </p:cNvPr>
          <p:cNvSpPr/>
          <p:nvPr/>
        </p:nvSpPr>
        <p:spPr>
          <a:xfrm rot="5400000">
            <a:off x="4415234" y="1764747"/>
            <a:ext cx="542132" cy="12954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27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EAFCF1-D3CA-4A2D-B84E-FCC6D2AEB362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2063750" y="0"/>
            <a:ext cx="86042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side, perimeter, area;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side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3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perimeter =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4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area = side * side;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"Side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side);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"Perimeter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perimeter);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"Area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area);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524000" y="0"/>
            <a:ext cx="539750" cy="5003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16</a:t>
            </a:r>
            <a:endParaRPr lang="en-US" altLang="zh-TW" sz="180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7413" name="Rectangle 12"/>
          <p:cNvSpPr>
            <a:spLocks noChangeArrowheads="1"/>
          </p:cNvSpPr>
          <p:nvPr/>
        </p:nvSpPr>
        <p:spPr bwMode="auto">
          <a:xfrm>
            <a:off x="6211889" y="1662113"/>
            <a:ext cx="4359275" cy="1268412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 outputs the given text (string) but with the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%d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 replaced by the value of 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.</a:t>
            </a:r>
          </a:p>
        </p:txBody>
      </p:sp>
      <p:sp>
        <p:nvSpPr>
          <p:cNvPr id="17414" name="Rectangle 11"/>
          <p:cNvSpPr>
            <a:spLocks noChangeArrowheads="1"/>
          </p:cNvSpPr>
          <p:nvPr/>
        </p:nvSpPr>
        <p:spPr bwMode="auto">
          <a:xfrm>
            <a:off x="2417763" y="3121026"/>
            <a:ext cx="3948112" cy="301625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7415" name="Rectangle 3"/>
          <p:cNvSpPr>
            <a:spLocks noChangeArrowheads="1"/>
          </p:cNvSpPr>
          <p:nvPr/>
        </p:nvSpPr>
        <p:spPr bwMode="auto">
          <a:xfrm>
            <a:off x="1524000" y="4965701"/>
            <a:ext cx="9144000" cy="12287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 : 3</a:t>
            </a:r>
          </a:p>
        </p:txBody>
      </p:sp>
    </p:spTree>
    <p:extLst>
      <p:ext uri="{BB962C8B-B14F-4D97-AF65-F5344CB8AC3E}">
        <p14:creationId xmlns:p14="http://schemas.microsoft.com/office/powerpoint/2010/main" val="386852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Calibri"/>
                <a:cs typeface="Consolas" pitchFamily="49" charset="0"/>
              </a:rPr>
              <a:t>2.3. Outputting a variable to screen </a:t>
            </a:r>
            <a:endParaRPr lang="en-US" altLang="en-US" sz="3600" dirty="0">
              <a:latin typeface="Consolas"/>
              <a:cs typeface="Consolas" pitchFamily="49" charset="0"/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TW" sz="2800" b="1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lang="en-US" altLang="zh-TW" sz="2800" b="1" dirty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("Side : %d\n"</a:t>
            </a:r>
            <a:r>
              <a:rPr lang="en-US" altLang="zh-TW" sz="2800" b="1" dirty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lang="en-US" altLang="zh-TW" sz="2800" b="1" dirty="0">
                <a:solidFill>
                  <a:srgbClr val="00206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side</a:t>
            </a:r>
            <a:r>
              <a:rPr lang="en-US" altLang="zh-TW" sz="2800" b="1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  <a:endParaRPr lang="en-US" dirty="0"/>
          </a:p>
          <a:p>
            <a:endParaRPr lang="en-US" altLang="zh-TW" sz="2800" dirty="0">
              <a:ea typeface="新細明體" charset="-120"/>
              <a:cs typeface="Consolas" pitchFamily="49" charset="0"/>
            </a:endParaRPr>
          </a:p>
          <a:p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"Side : %d\n"</a:t>
            </a:r>
          </a:p>
          <a:p>
            <a:pPr lvl="1"/>
            <a:r>
              <a:rPr lang="en-US" altLang="zh-TW" sz="2400" dirty="0">
                <a:ea typeface="新細明體" charset="-120"/>
                <a:cs typeface="Consolas" pitchFamily="49" charset="0"/>
              </a:rPr>
              <a:t>Text to print, called the </a:t>
            </a:r>
            <a:r>
              <a:rPr lang="en-US" altLang="zh-TW" sz="2400" i="1" dirty="0">
                <a:solidFill>
                  <a:srgbClr val="990000"/>
                </a:solidFill>
                <a:ea typeface="新細明體" charset="-120"/>
                <a:cs typeface="Consolas" pitchFamily="49" charset="0"/>
              </a:rPr>
              <a:t>format string</a:t>
            </a:r>
            <a:endParaRPr lang="en-US" altLang="zh-TW" sz="2400" dirty="0">
              <a:ea typeface="新細明體" charset="-120"/>
              <a:cs typeface="Consolas" pitchFamily="49" charset="0"/>
            </a:endParaRPr>
          </a:p>
          <a:p>
            <a:pPr lvl="1"/>
            <a:r>
              <a:rPr lang="en-US" altLang="zh-TW" sz="2400" dirty="0">
                <a:ea typeface="新細明體"/>
                <a:cs typeface="Consolas" pitchFamily="49" charset="0"/>
              </a:rPr>
              <a:t>The </a:t>
            </a:r>
            <a:r>
              <a:rPr lang="en-US" altLang="zh-TW" sz="2400" i="1" dirty="0">
                <a:solidFill>
                  <a:srgbClr val="990000"/>
                </a:solidFill>
                <a:ea typeface="新細明體"/>
                <a:cs typeface="Consolas" pitchFamily="49" charset="0"/>
              </a:rPr>
              <a:t>format specifier</a:t>
            </a:r>
            <a:r>
              <a:rPr lang="en-US" altLang="zh-TW" sz="2400" dirty="0">
                <a:ea typeface="新細明體"/>
                <a:cs typeface="Consolas" pitchFamily="49" charset="0"/>
              </a:rPr>
              <a:t>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%d</a:t>
            </a:r>
            <a:r>
              <a:rPr lang="en-US" altLang="zh-TW" sz="2400" dirty="0">
                <a:ea typeface="新細明體"/>
                <a:cs typeface="Consolas" pitchFamily="49" charset="0"/>
              </a:rPr>
              <a:t> specifies that the value of the corresponding expression is to be printed in the format of a </a:t>
            </a:r>
            <a:r>
              <a:rPr lang="en-US" altLang="zh-TW" sz="2400" i="1" dirty="0">
                <a:ea typeface="新細明體"/>
                <a:cs typeface="Consolas" pitchFamily="49" charset="0"/>
              </a:rPr>
              <a:t>decimal</a:t>
            </a:r>
            <a:r>
              <a:rPr lang="en-US" altLang="zh-TW" sz="2400" dirty="0">
                <a:ea typeface="新細明體"/>
                <a:cs typeface="Consolas" pitchFamily="49" charset="0"/>
              </a:rPr>
              <a:t> integer.</a:t>
            </a:r>
          </a:p>
          <a:p>
            <a:r>
              <a:rPr lang="en-US" altLang="zh-TW" sz="2800" dirty="0">
                <a:ea typeface="新細明體" charset="-120"/>
                <a:cs typeface="Consolas" pitchFamily="49" charset="0"/>
              </a:rPr>
              <a:t> </a:t>
            </a:r>
            <a:r>
              <a:rPr lang="en-US" altLang="zh-TW" sz="2800" b="1" dirty="0">
                <a:solidFill>
                  <a:srgbClr val="00206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side</a:t>
            </a:r>
          </a:p>
          <a:p>
            <a:pPr lvl="1"/>
            <a:r>
              <a:rPr lang="en-US" altLang="zh-TW" sz="2400" dirty="0">
                <a:ea typeface="新細明體" charset="-120"/>
                <a:cs typeface="Consolas" pitchFamily="49" charset="0"/>
              </a:rPr>
              <a:t>The expression whose value is to be supplied to the format string.</a:t>
            </a:r>
          </a:p>
          <a:p>
            <a:pPr indent="-285750"/>
            <a:r>
              <a:rPr lang="en-US" altLang="zh-TW" sz="2800" dirty="0">
                <a:ea typeface="新細明體"/>
                <a:cs typeface="Consolas" pitchFamily="49" charset="0"/>
              </a:rPr>
              <a:t>Compare to: </a:t>
            </a:r>
          </a:p>
          <a:p>
            <a:pPr marL="0" indent="0" algn="ctr">
              <a:buNone/>
            </a:pPr>
            <a:r>
              <a:rPr lang="en-US" sz="2800" dirty="0" err="1">
                <a:latin typeface="Consolas"/>
                <a:ea typeface="新細明體"/>
                <a:cs typeface="Consolas" pitchFamily="49" charset="0"/>
              </a:rPr>
              <a:t>printf</a:t>
            </a:r>
            <a:r>
              <a:rPr lang="en-US" sz="2800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lang="en-US" sz="2800" dirty="0">
                <a:solidFill>
                  <a:srgbClr val="0099FF"/>
                </a:solidFill>
                <a:latin typeface="Consolas"/>
                <a:ea typeface="新細明體"/>
                <a:cs typeface="Consolas" pitchFamily="49" charset="0"/>
              </a:rPr>
              <a:t>"Hello world!\n"</a:t>
            </a:r>
            <a:r>
              <a:rPr lang="en-US" sz="2800" dirty="0">
                <a:latin typeface="Consolas"/>
                <a:ea typeface="新細明體"/>
                <a:cs typeface="Consolas" pitchFamily="49" charset="0"/>
              </a:rPr>
              <a:t>);</a:t>
            </a:r>
            <a:endParaRPr lang="en-US" altLang="zh-TW" sz="2800" dirty="0">
              <a:ea typeface="新細明體"/>
              <a:cs typeface="Consolas" pitchFamily="49" charset="0"/>
            </a:endParaRPr>
          </a:p>
          <a:p>
            <a:pPr lvl="1"/>
            <a:endParaRPr lang="en-US" altLang="zh-TW" sz="2400" dirty="0">
              <a:ea typeface="新細明體" charset="-120"/>
              <a:cs typeface="Consolas" pitchFamily="49" charset="0"/>
            </a:endParaRPr>
          </a:p>
          <a:p>
            <a:pPr marL="0" indent="0">
              <a:buNone/>
            </a:pPr>
            <a:endParaRPr lang="en-US" altLang="zh-TW" sz="2800" dirty="0">
              <a:ea typeface="新細明體" charset="-120"/>
              <a:cs typeface="Consolas" pitchFamily="49" charset="0"/>
            </a:endParaRPr>
          </a:p>
          <a:p>
            <a:endParaRPr lang="en-US" altLang="zh-TW" dirty="0">
              <a:ea typeface="新細明體" charset="-120"/>
              <a:cs typeface="Consolas" pitchFamily="49" charset="0"/>
            </a:endParaRPr>
          </a:p>
          <a:p>
            <a:endParaRPr lang="en-US" altLang="en-US" dirty="0">
              <a:ea typeface="新細明體" charset="-120"/>
              <a:cs typeface="Consolas" pitchFamily="49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ACF166-DC38-446E-AAE8-113D2B400F57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TW" sz="100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105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AA4F-8DC8-F945-E82C-3D54CA26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>
            <a:extLst>
              <a:ext uri="{FF2B5EF4-FFF2-40B4-BE49-F238E27FC236}">
                <a16:creationId xmlns:a16="http://schemas.microsoft.com/office/drawing/2014/main" id="{565385FE-88E2-33A7-9786-288D3278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973D95-B900-4444-8E0A-8EA40B5117F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TW" sz="1000" dirty="0">
              <a:ea typeface="新細明體" charset="-120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090A9883-613C-3126-3214-5CDD13096A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 dirty="0">
                <a:ea typeface="新細明體" charset="-120"/>
              </a:rPr>
              <a:t>01b. Outline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FB22326D-047F-98C3-3C4E-97B0215AE7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9557" y="1403199"/>
            <a:ext cx="10437246" cy="4954587"/>
          </a:xfrm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First C program &amp; Language Syntax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Variables and Assignment Operators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sz="3600" b="1" dirty="0">
                <a:ea typeface="新細明體" charset="-120"/>
              </a:rPr>
              <a:t>Identifiers</a:t>
            </a:r>
            <a:r>
              <a:rPr lang="en-US" altLang="zh-TW" dirty="0">
                <a:ea typeface="新細明體" charset="-120"/>
              </a:rPr>
              <a:t>, Reserved Words, Predefined Identifiers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Console Input/Output Using </a:t>
            </a:r>
            <a:r>
              <a:rPr lang="en-US" altLang="zh-TW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lang="en-US" altLang="zh-TW" dirty="0">
                <a:ea typeface="新細明體" charset="-120"/>
              </a:rPr>
              <a:t> and </a:t>
            </a:r>
            <a:r>
              <a:rPr lang="en-US" altLang="zh-TW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4280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7A10E8-5EDA-40AD-9BAA-ACCA89E3C66C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1" y="76200"/>
            <a:ext cx="8539163" cy="838200"/>
          </a:xfrm>
        </p:spPr>
        <p:txBody>
          <a:bodyPr>
            <a:noAutofit/>
          </a:bodyPr>
          <a:lstStyle/>
          <a:p>
            <a:pPr marL="533400" indent="-533400"/>
            <a:r>
              <a:rPr lang="en-US" altLang="zh-TW" sz="4000" b="1" dirty="0">
                <a:ea typeface="新細明體"/>
              </a:rPr>
              <a:t>3. </a:t>
            </a:r>
            <a:r>
              <a:rPr lang="en-US" altLang="zh-TW" sz="4000" b="1" dirty="0">
                <a:ea typeface="新細明體" charset="-120"/>
              </a:rPr>
              <a:t>Identifier</a:t>
            </a:r>
            <a:endParaRPr lang="en-US" altLang="zh-TW" sz="4000" b="1" dirty="0">
              <a:ea typeface="新細明體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3564" y="1047751"/>
            <a:ext cx="8524875" cy="5222875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b="1" u="sng" dirty="0">
                <a:ea typeface="新細明體" charset="-120"/>
              </a:rPr>
              <a:t>Key concepts</a:t>
            </a:r>
          </a:p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How to name variables?</a:t>
            </a:r>
          </a:p>
          <a:p>
            <a:pPr eaLnBrk="1" hangingPunct="1">
              <a:defRPr/>
            </a:pPr>
            <a:endParaRPr lang="en-US" altLang="zh-TW" dirty="0">
              <a:ea typeface="新細明體" charset="-120"/>
            </a:endParaRPr>
          </a:p>
          <a:p>
            <a:pPr eaLnBrk="1" hangingPunct="1">
              <a:defRPr/>
            </a:pPr>
            <a:endParaRPr lang="en-US" altLang="zh-TW" dirty="0">
              <a:ea typeface="新細明體" charset="-120"/>
            </a:endParaRPr>
          </a:p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What is </a:t>
            </a:r>
            <a:r>
              <a:rPr lang="en-US" altLang="zh-TW" i="1" dirty="0">
                <a:ea typeface="新細明體" charset="-120"/>
              </a:rPr>
              <a:t>reserved words</a:t>
            </a:r>
            <a:r>
              <a:rPr lang="en-US" altLang="zh-TW" dirty="0">
                <a:ea typeface="新細明體" charset="-120"/>
              </a:rPr>
              <a:t>?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73FE980-AFD1-E8E7-78D4-CC53F08B9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508125"/>
            <a:ext cx="3657600" cy="3841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solidFill>
                <a:srgbClr val="CC6600"/>
              </a:solidFill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solidFill>
                  <a:srgbClr val="CC66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x;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x = 1+2;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"x :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x);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909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D7FBAF4-5E2B-4E08-ACC2-78129C22C107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76200"/>
            <a:ext cx="85725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3.1. Identifier</a:t>
            </a:r>
            <a:endParaRPr lang="en-US" altLang="zh-TW" sz="2400" dirty="0">
              <a:ea typeface="新細明體"/>
            </a:endParaRP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01739"/>
            <a:ext cx="10744200" cy="5146675"/>
          </a:xfrm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altLang="zh-TW" dirty="0">
                <a:ea typeface="新細明體" charset="-120"/>
              </a:rPr>
              <a:t>An </a:t>
            </a:r>
            <a:r>
              <a:rPr lang="en-US" altLang="zh-TW" i="1" dirty="0">
                <a:solidFill>
                  <a:srgbClr val="0000FF"/>
                </a:solidFill>
                <a:ea typeface="新細明體" charset="-120"/>
              </a:rPr>
              <a:t>identifier</a:t>
            </a:r>
            <a:r>
              <a:rPr lang="en-US" altLang="zh-TW" dirty="0">
                <a:ea typeface="新細明體" charset="-120"/>
              </a:rPr>
              <a:t> is a name used to identify variables, functions, etc. in a program.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altLang="zh-TW" sz="1600" dirty="0">
              <a:ea typeface="新細明體" charset="-120"/>
            </a:endParaRPr>
          </a:p>
          <a:p>
            <a:pPr marL="533400" indent="-533400" eaLnBrk="1" hangingPunct="1">
              <a:lnSpc>
                <a:spcPct val="90000"/>
              </a:lnSpc>
            </a:pPr>
            <a:r>
              <a:rPr lang="en-US" altLang="zh-TW" dirty="0">
                <a:ea typeface="新細明體" charset="-120"/>
              </a:rPr>
              <a:t>An identifier must satisfy the following rules. It: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3200" dirty="0">
                <a:ea typeface="新細明體" charset="-120"/>
              </a:rPr>
              <a:t>Must contain only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800" dirty="0">
                <a:ea typeface="新細明體" charset="-120"/>
              </a:rPr>
              <a:t>Alphabets ('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</a:rPr>
              <a:t>A</a:t>
            </a:r>
            <a:r>
              <a:rPr lang="en-US" altLang="zh-TW" sz="2800" dirty="0">
                <a:ea typeface="新細明體" charset="-120"/>
              </a:rPr>
              <a:t>' </a:t>
            </a:r>
            <a:r>
              <a:rPr lang="en-US" altLang="zh-TW" sz="2800" dirty="0">
                <a:latin typeface="Times New Roman" pitchFamily="18" charset="0"/>
                <a:ea typeface="新細明體" charset="-120"/>
              </a:rPr>
              <a:t>–</a:t>
            </a:r>
            <a:r>
              <a:rPr lang="en-US" altLang="zh-TW" sz="2800" dirty="0">
                <a:ea typeface="新細明體" charset="-120"/>
              </a:rPr>
              <a:t> '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</a:rPr>
              <a:t>Z</a:t>
            </a:r>
            <a:r>
              <a:rPr lang="en-US" altLang="zh-TW" sz="2800" dirty="0">
                <a:ea typeface="新細明體" charset="-120"/>
              </a:rPr>
              <a:t>', '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</a:rPr>
              <a:t>a</a:t>
            </a:r>
            <a:r>
              <a:rPr lang="en-US" altLang="zh-TW" sz="2800" dirty="0">
                <a:ea typeface="新細明體" charset="-120"/>
              </a:rPr>
              <a:t>' </a:t>
            </a:r>
            <a:r>
              <a:rPr lang="en-US" altLang="zh-TW" sz="2800" dirty="0">
                <a:latin typeface="Times New Roman" pitchFamily="18" charset="0"/>
                <a:ea typeface="新細明體" charset="-120"/>
              </a:rPr>
              <a:t>–</a:t>
            </a:r>
            <a:r>
              <a:rPr lang="en-US" altLang="zh-TW" sz="2800" dirty="0">
                <a:ea typeface="新細明體" charset="-120"/>
              </a:rPr>
              <a:t> '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</a:rPr>
              <a:t>z</a:t>
            </a:r>
            <a:r>
              <a:rPr lang="en-US" altLang="zh-TW" sz="2800" dirty="0">
                <a:ea typeface="新細明體" charset="-120"/>
              </a:rPr>
              <a:t>')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800" dirty="0">
                <a:ea typeface="新細明體" charset="-120"/>
              </a:rPr>
              <a:t>Digits ('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</a:rPr>
              <a:t>0</a:t>
            </a:r>
            <a:r>
              <a:rPr lang="en-US" altLang="zh-TW" sz="2800" dirty="0">
                <a:ea typeface="新細明體" charset="-120"/>
              </a:rPr>
              <a:t>' </a:t>
            </a:r>
            <a:r>
              <a:rPr lang="en-US" altLang="zh-TW" sz="2800" dirty="0">
                <a:latin typeface="Times New Roman" pitchFamily="18" charset="0"/>
                <a:ea typeface="新細明體" charset="-120"/>
              </a:rPr>
              <a:t>–</a:t>
            </a:r>
            <a:r>
              <a:rPr lang="en-US" altLang="zh-TW" sz="2800" dirty="0">
                <a:ea typeface="新細明體" charset="-120"/>
              </a:rPr>
              <a:t> '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</a:rPr>
              <a:t>9</a:t>
            </a:r>
            <a:r>
              <a:rPr lang="en-US" altLang="zh-TW" sz="2800" dirty="0">
                <a:ea typeface="新細明體" charset="-120"/>
              </a:rPr>
              <a:t>')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800" dirty="0">
                <a:ea typeface="新細明體" charset="-120"/>
              </a:rPr>
              <a:t>The underscore character ('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</a:rPr>
              <a:t>_</a:t>
            </a:r>
            <a:r>
              <a:rPr lang="en-US" altLang="zh-TW" sz="2800" dirty="0">
                <a:ea typeface="新細明體" charset="-120"/>
              </a:rPr>
              <a:t>')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3200" dirty="0">
                <a:ea typeface="新細明體" charset="-120"/>
              </a:rPr>
              <a:t>Must </a:t>
            </a:r>
            <a:r>
              <a:rPr lang="en-US" altLang="zh-TW" sz="3200" b="1" dirty="0">
                <a:ea typeface="新細明體" charset="-120"/>
              </a:rPr>
              <a:t>not</a:t>
            </a:r>
            <a:r>
              <a:rPr lang="en-US" altLang="zh-TW" sz="3200" dirty="0">
                <a:ea typeface="新細明體" charset="-120"/>
              </a:rPr>
              <a:t> start with a digit</a:t>
            </a:r>
          </a:p>
          <a:p>
            <a:pPr marL="914400" lvl="1" indent="-4572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3200" dirty="0">
                <a:ea typeface="新細明體" charset="-120"/>
              </a:rPr>
              <a:t>Cannot be one of the reserved words</a:t>
            </a:r>
            <a:endParaRPr lang="en-US" altLang="zh-TW" sz="3600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00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76200"/>
            <a:ext cx="8615363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3.2. Reserved Words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5775" y="1047750"/>
            <a:ext cx="8680450" cy="1574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800" i="1" dirty="0">
                <a:solidFill>
                  <a:srgbClr val="0070C0"/>
                </a:solidFill>
                <a:ea typeface="新細明體"/>
              </a:rPr>
              <a:t>Reserved words</a:t>
            </a:r>
            <a:r>
              <a:rPr lang="en-US" altLang="zh-TW" sz="2800" dirty="0">
                <a:ea typeface="新細明體"/>
              </a:rPr>
              <a:t> or </a:t>
            </a:r>
            <a:r>
              <a:rPr lang="en-US" altLang="zh-TW" sz="2800" i="1" dirty="0">
                <a:solidFill>
                  <a:srgbClr val="0070C0"/>
                </a:solidFill>
                <a:ea typeface="新細明體"/>
              </a:rPr>
              <a:t>keywords</a:t>
            </a:r>
            <a:r>
              <a:rPr lang="en-US" altLang="zh-TW" sz="2800" dirty="0">
                <a:solidFill>
                  <a:srgbClr val="0070C0"/>
                </a:solidFill>
                <a:ea typeface="新細明體"/>
              </a:rPr>
              <a:t> </a:t>
            </a:r>
            <a:r>
              <a:rPr lang="en-US" altLang="zh-TW" sz="2800" dirty="0">
                <a:ea typeface="新細明體"/>
              </a:rPr>
              <a:t>are names that </a:t>
            </a:r>
            <a:r>
              <a:rPr lang="en-US" altLang="zh-TW" sz="2800" u="sng" dirty="0">
                <a:ea typeface="新細明體"/>
              </a:rPr>
              <a:t>have special meaning in the C language</a:t>
            </a:r>
            <a:r>
              <a:rPr lang="en-US" altLang="zh-TW" sz="2800" dirty="0">
                <a:ea typeface="新細明體"/>
              </a:rPr>
              <a:t>. You will eventually learn all about them later.</a:t>
            </a:r>
            <a:endParaRPr lang="en-US" altLang="zh-TW" sz="2800" dirty="0">
              <a:ea typeface="新細明體" charset="-120"/>
            </a:endParaRPr>
          </a:p>
          <a:p>
            <a:pPr eaLnBrk="1" hangingPunct="1"/>
            <a:endParaRPr lang="en-US" altLang="zh-TW" sz="1600" dirty="0">
              <a:ea typeface="新細明體" charset="-120"/>
            </a:endParaRPr>
          </a:p>
          <a:p>
            <a:pPr eaLnBrk="1" hangingPunct="1"/>
            <a:endParaRPr lang="en-US" altLang="zh-TW" sz="2000" dirty="0">
              <a:ea typeface="新細明體" charset="-120"/>
            </a:endParaRPr>
          </a:p>
        </p:txBody>
      </p:sp>
      <p:graphicFrame>
        <p:nvGraphicFramePr>
          <p:cNvPr id="8" name="Group 1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620502"/>
              </p:ext>
            </p:extLst>
          </p:nvPr>
        </p:nvGraphicFramePr>
        <p:xfrm>
          <a:off x="2101851" y="2468563"/>
          <a:ext cx="8180387" cy="3200400"/>
        </p:xfrm>
        <a:graphic>
          <a:graphicData uri="http://schemas.openxmlformats.org/drawingml/2006/table">
            <a:tbl>
              <a:tblPr/>
              <a:tblGrid>
                <a:gridCol w="1637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5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5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7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5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auto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do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goto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signed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unsigned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6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break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if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sizeof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void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case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else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int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static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volatile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6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char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enum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long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struct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while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const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extern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register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switch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6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continue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float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return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typedef</a:t>
                      </a:r>
                      <a:endParaRPr kumimoji="0" lang="en-US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6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default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for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short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union</a:t>
                      </a:r>
                    </a:p>
                  </a:txBody>
                  <a:tcPr marL="91441" marR="9144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marL="91441" marR="9144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23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4909BA-0870-4F79-AC56-EEAC84CFA030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3.3. Predefined Identifiers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63638"/>
            <a:ext cx="10972799" cy="45704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3600" dirty="0">
                <a:ea typeface="新細明體"/>
              </a:rPr>
              <a:t>There</a:t>
            </a:r>
            <a:r>
              <a:rPr lang="en-US" altLang="zh-TW" sz="3600" dirty="0">
                <a:solidFill>
                  <a:srgbClr val="000000"/>
                </a:solidFill>
                <a:ea typeface="新細明體"/>
              </a:rPr>
              <a:t> are also</a:t>
            </a:r>
            <a:r>
              <a:rPr lang="en-US" altLang="zh-TW" sz="3600" i="1" dirty="0">
                <a:solidFill>
                  <a:srgbClr val="0070C0"/>
                </a:solidFill>
                <a:ea typeface="新細明體"/>
              </a:rPr>
              <a:t> Predefined identifiers</a:t>
            </a:r>
            <a:r>
              <a:rPr lang="en-US" altLang="zh-TW" sz="3600" dirty="0">
                <a:ea typeface="新細明體"/>
              </a:rPr>
              <a:t> that</a:t>
            </a:r>
            <a:r>
              <a:rPr lang="en-US" altLang="zh-TW" sz="3600" dirty="0">
                <a:solidFill>
                  <a:srgbClr val="FF3300"/>
                </a:solidFill>
                <a:ea typeface="新細明體"/>
              </a:rPr>
              <a:t> </a:t>
            </a:r>
            <a:r>
              <a:rPr lang="en-US" altLang="zh-TW" sz="3600" dirty="0">
                <a:ea typeface="新細明體"/>
              </a:rPr>
              <a:t>have already been used as names for standard usages:</a:t>
            </a:r>
            <a:endParaRPr lang="en-US" altLang="zh-TW" sz="3600" dirty="0">
              <a:ea typeface="新細明體"/>
              <a:cs typeface="Calibri"/>
            </a:endParaRPr>
          </a:p>
          <a:p>
            <a:pPr lvl="1" eaLnBrk="1" hangingPunct="1"/>
            <a:r>
              <a:rPr lang="en-US" altLang="zh-TW" sz="3200" dirty="0">
                <a:ea typeface="新細明體" charset="-120"/>
              </a:rPr>
              <a:t>e.g., </a:t>
            </a:r>
            <a:r>
              <a:rPr lang="en-US" altLang="zh-TW" sz="32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main</a:t>
            </a:r>
            <a:r>
              <a:rPr lang="en-US" altLang="zh-TW" sz="3200" dirty="0">
                <a:ea typeface="新細明體" charset="-120"/>
              </a:rPr>
              <a:t>, </a:t>
            </a:r>
            <a:r>
              <a:rPr lang="en-US" altLang="zh-TW" sz="3200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3200" dirty="0">
                <a:ea typeface="新細明體" charset="-120"/>
              </a:rPr>
              <a:t>, </a:t>
            </a:r>
            <a:r>
              <a:rPr lang="en-US" altLang="zh-TW" sz="3200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endParaRPr lang="en-US" altLang="zh-TW" sz="3200" b="1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 eaLnBrk="1" hangingPunct="1"/>
            <a:endParaRPr lang="en-US" altLang="zh-TW" sz="3200" dirty="0">
              <a:latin typeface="Consolas" panose="020B0609020204030204" pitchFamily="49" charset="0"/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3600" u="sng" dirty="0">
                <a:ea typeface="新細明體"/>
              </a:rPr>
              <a:t>Avoid using them as identifiers</a:t>
            </a:r>
            <a:r>
              <a:rPr lang="en-US" altLang="zh-TW" sz="3600" dirty="0">
                <a:ea typeface="新細明體"/>
              </a:rPr>
              <a:t> in your program</a:t>
            </a:r>
            <a:endParaRPr lang="en-US" altLang="zh-TW" sz="3600" dirty="0">
              <a:ea typeface="新細明體"/>
              <a:cs typeface="Calibri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dirty="0">
              <a:ea typeface="新細明體" charset="-120"/>
            </a:endParaRPr>
          </a:p>
          <a:p>
            <a:pPr lvl="1" eaLnBrk="1" hangingPunct="1"/>
            <a:endParaRPr lang="en-US" altLang="zh-TW" sz="3200" dirty="0">
              <a:latin typeface="Consolas" panose="020B0609020204030204" pitchFamily="49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6975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ABAC2A-BDB1-418E-B481-FD0D707EEB48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79576" y="76200"/>
            <a:ext cx="8493125" cy="9144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Naming Variables – Challenge</a:t>
            </a:r>
            <a:endParaRPr lang="en-US" altLang="zh-TW" sz="2400" dirty="0">
              <a:ea typeface="新細明體" charset="-12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833563" y="1739901"/>
            <a:ext cx="4032250" cy="4492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$</a:t>
            </a:r>
            <a:r>
              <a:rPr lang="en-US" altLang="zh-TW" sz="240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abc</a:t>
            </a: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_1_abc_1_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1_1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Domain-name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URL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endParaRPr lang="en-US" altLang="zh-TW" sz="240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main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endParaRPr lang="en-US" altLang="zh-TW" sz="240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32bits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793875" y="1141413"/>
            <a:ext cx="6916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TW" sz="2800" b="0" dirty="0">
                <a:ea typeface="新細明體" charset="-120"/>
              </a:rPr>
              <a:t>Which of the following are </a:t>
            </a:r>
            <a:r>
              <a:rPr lang="en-US" altLang="zh-TW" sz="2800" b="0" i="1" dirty="0">
                <a:solidFill>
                  <a:srgbClr val="FF3300"/>
                </a:solidFill>
                <a:ea typeface="新細明體" charset="-120"/>
              </a:rPr>
              <a:t>valid</a:t>
            </a:r>
            <a:r>
              <a:rPr lang="en-US" altLang="zh-TW" sz="2800" b="0" dirty="0">
                <a:ea typeface="新細明體" charset="-120"/>
              </a:rPr>
              <a:t> identifiers?</a:t>
            </a:r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6019800" y="1700214"/>
            <a:ext cx="4032250" cy="4492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engg1110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engg_1110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_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A100xC200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tab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include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www_yahoo_com</a:t>
            </a:r>
            <a:endParaRPr lang="en-US" altLang="zh-TW" sz="24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Hong Kong</a:t>
            </a:r>
          </a:p>
        </p:txBody>
      </p:sp>
    </p:spTree>
    <p:extLst>
      <p:ext uri="{BB962C8B-B14F-4D97-AF65-F5344CB8AC3E}">
        <p14:creationId xmlns:p14="http://schemas.microsoft.com/office/powerpoint/2010/main" val="299102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ABAC2A-BDB1-418E-B481-FD0D707EEB48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79576" y="76200"/>
            <a:ext cx="8493125" cy="9144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Naming Variables – Challenge</a:t>
            </a:r>
            <a:endParaRPr lang="en-US" altLang="zh-TW" sz="2400" dirty="0">
              <a:ea typeface="新細明體" charset="-12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833563" y="1739901"/>
            <a:ext cx="4032250" cy="4492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$</a:t>
            </a: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abc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_1_abc_1_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1_1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Domain-name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URL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highlight>
                  <a:srgbClr val="C0C0C0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main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32bits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793875" y="1141413"/>
            <a:ext cx="6916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TW" sz="2800" b="0" dirty="0">
                <a:ea typeface="新細明體" charset="-120"/>
              </a:rPr>
              <a:t>Which of the following are </a:t>
            </a:r>
            <a:r>
              <a:rPr lang="en-US" altLang="zh-TW" sz="2800" b="0" i="1" dirty="0">
                <a:solidFill>
                  <a:srgbClr val="FF3300"/>
                </a:solidFill>
                <a:ea typeface="新細明體" charset="-120"/>
              </a:rPr>
              <a:t>valid</a:t>
            </a:r>
            <a:r>
              <a:rPr lang="en-US" altLang="zh-TW" sz="2800" b="0" dirty="0">
                <a:ea typeface="新細明體" charset="-120"/>
              </a:rPr>
              <a:t> identifiers?</a:t>
            </a:r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6019800" y="1700214"/>
            <a:ext cx="4032250" cy="4492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 err="1">
                <a:highlight>
                  <a:srgbClr val="C0C0C0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engg1110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engg_1110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_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A100xC200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tab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include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 err="1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www_yahoo_com</a:t>
            </a:r>
            <a:endParaRPr lang="en-US" altLang="zh-TW" sz="2400" dirty="0">
              <a:highlight>
                <a:srgbClr val="FFFFCC"/>
              </a:highlight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AutoNum type="arabicPeriod" startAt="11"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Hong Kong</a:t>
            </a:r>
          </a:p>
        </p:txBody>
      </p:sp>
    </p:spTree>
    <p:extLst>
      <p:ext uri="{BB962C8B-B14F-4D97-AF65-F5344CB8AC3E}">
        <p14:creationId xmlns:p14="http://schemas.microsoft.com/office/powerpoint/2010/main" val="215998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EEF364-2F5A-4256-9D29-599DE94F5358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9576" y="76200"/>
            <a:ext cx="8493125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3.4. Naming Conventions (Guidelines)</a:t>
            </a:r>
            <a:endParaRPr lang="en-US" altLang="zh-TW" sz="2800" dirty="0">
              <a:ea typeface="新細明體"/>
            </a:endParaRPr>
          </a:p>
        </p:txBody>
      </p:sp>
      <p:sp>
        <p:nvSpPr>
          <p:cNvPr id="2355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676400" y="1123951"/>
            <a:ext cx="8915400" cy="5222875"/>
          </a:xfrm>
          <a:noFill/>
        </p:spPr>
        <p:txBody>
          <a:bodyPr/>
          <a:lstStyle/>
          <a:p>
            <a:pPr eaLnBrk="1" hangingPunct="1"/>
            <a:r>
              <a:rPr lang="en-US" altLang="zh-TW" sz="2800" dirty="0">
                <a:ea typeface="新細明體" charset="-120"/>
              </a:rPr>
              <a:t>Be meaningful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</a:rPr>
              <a:t>Avoid names like: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</a:t>
            </a:r>
            <a:r>
              <a:rPr lang="en-US" altLang="zh-TW" sz="2400" dirty="0">
                <a:ea typeface="新細明體" charset="-120"/>
              </a:rPr>
              <a:t>,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</a:t>
            </a:r>
            <a:r>
              <a:rPr lang="en-US" altLang="zh-TW" sz="2400" dirty="0">
                <a:ea typeface="新細明體" charset="-120"/>
              </a:rPr>
              <a:t>,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c</a:t>
            </a:r>
            <a:r>
              <a:rPr lang="en-US" altLang="zh-TW" sz="2400" dirty="0">
                <a:ea typeface="新細明體" charset="-120"/>
              </a:rPr>
              <a:t>,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</a:t>
            </a:r>
            <a:r>
              <a:rPr lang="en-US" altLang="zh-TW" sz="2400" dirty="0">
                <a:ea typeface="新細明體" charset="-120"/>
              </a:rPr>
              <a:t>,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a1</a:t>
            </a:r>
            <a:r>
              <a:rPr lang="en-US" altLang="zh-TW" sz="2400" dirty="0">
                <a:ea typeface="新細明體" charset="-120"/>
              </a:rPr>
              <a:t>,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a2</a:t>
            </a:r>
            <a:r>
              <a:rPr lang="en-US" altLang="zh-TW" sz="2400" dirty="0">
                <a:ea typeface="新細明體" charset="-120"/>
              </a:rPr>
              <a:t>,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a3</a:t>
            </a:r>
            <a:r>
              <a:rPr lang="en-US" altLang="zh-TW" sz="2400" dirty="0">
                <a:ea typeface="新細明體" charset="-120"/>
              </a:rPr>
              <a:t>,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xyz</a:t>
            </a:r>
          </a:p>
          <a:p>
            <a:pPr lvl="1" eaLnBrk="1" hangingPunct="1"/>
            <a:endParaRPr lang="en-US" altLang="zh-TW" sz="2000" u="sng" dirty="0">
              <a:ea typeface="新細明體" charset="-120"/>
            </a:endParaRPr>
          </a:p>
          <a:p>
            <a:pPr eaLnBrk="1" hangingPunct="1"/>
            <a:r>
              <a:rPr lang="en-US" altLang="zh-TW" sz="2800" dirty="0">
                <a:ea typeface="新細明體" charset="-120"/>
              </a:rPr>
              <a:t>Be consistent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interest_rate</a:t>
            </a:r>
            <a:r>
              <a:rPr lang="en-US" altLang="zh-TW" sz="2400" dirty="0">
                <a:ea typeface="新細明體" charset="-120"/>
              </a:rPr>
              <a:t> (Use underscore in place of space)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dirty="0">
                <a:ea typeface="新細明體" charset="-120"/>
              </a:rPr>
              <a:t>		or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interestRate</a:t>
            </a:r>
            <a:r>
              <a:rPr lang="en-US" altLang="zh-TW" sz="2400" dirty="0">
                <a:ea typeface="新細明體" charset="-120"/>
              </a:rPr>
              <a:t> (</a:t>
            </a:r>
            <a:r>
              <a:rPr lang="en-US" altLang="zh-TW" sz="2400" i="1" u="sng" dirty="0" err="1">
                <a:ea typeface="新細明體" charset="-120"/>
              </a:rPr>
              <a:t>camel</a:t>
            </a:r>
            <a:r>
              <a:rPr lang="en-US" altLang="zh-TW" sz="2400" i="1" dirty="0" err="1">
                <a:ea typeface="新細明體" charset="-120"/>
              </a:rPr>
              <a:t>Case</a:t>
            </a:r>
            <a:r>
              <a:rPr lang="en-US" altLang="zh-TW" sz="2400" dirty="0">
                <a:ea typeface="新細明體" charset="-120"/>
              </a:rPr>
              <a:t> – Mixed case starting with lower case)</a:t>
            </a:r>
          </a:p>
          <a:p>
            <a:pPr lvl="1" eaLnBrk="1" hangingPunct="1"/>
            <a:endParaRPr lang="en-US" altLang="zh-TW" sz="2000" dirty="0">
              <a:ea typeface="新細明體" charset="-120"/>
            </a:endParaRPr>
          </a:p>
          <a:p>
            <a:pPr eaLnBrk="1" hangingPunct="1"/>
            <a:r>
              <a:rPr lang="en-US" altLang="zh-TW" sz="2800" dirty="0">
                <a:ea typeface="新細明體" charset="-120"/>
              </a:rPr>
              <a:t>Avoid using names with all uppercase letters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</a:rPr>
              <a:t>They are usually used for </a:t>
            </a:r>
            <a:r>
              <a:rPr lang="en-US" altLang="zh-TW" sz="2400" i="1" dirty="0">
                <a:ea typeface="新細明體" charset="-120"/>
              </a:rPr>
              <a:t>named constants</a:t>
            </a:r>
            <a:endParaRPr lang="en-US" altLang="zh-TW" sz="2400" dirty="0">
              <a:ea typeface="新細明體" charset="-120"/>
            </a:endParaRPr>
          </a:p>
        </p:txBody>
      </p:sp>
      <p:sp>
        <p:nvSpPr>
          <p:cNvPr id="2" name="AutoShape 2" descr="Image result for camel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028" name="Picture 4" descr="http://upload.wikimedia.org/wikipedia/commons/8/82/2011_Trampeltier_1528.JPG" title="A picture of a camel illustrating the idea of camel-Case in naming convention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1" y="4419600"/>
            <a:ext cx="1536857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402268" y="5663626"/>
            <a:ext cx="71895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Image source: </a:t>
            </a:r>
            <a:r>
              <a:rPr lang="en-US" sz="1600" dirty="0">
                <a:hlinkClick r:id="rId3"/>
              </a:rPr>
              <a:t>http://commons.wikimedia.org/wiki/File:2011_Trampeltier_1528.JPG</a:t>
            </a:r>
            <a:endParaRPr lang="en-US" sz="1600" dirty="0"/>
          </a:p>
          <a:p>
            <a:pPr algn="r"/>
            <a:r>
              <a:rPr lang="en-US" sz="1600" dirty="0"/>
              <a:t>Author: </a:t>
            </a:r>
            <a:r>
              <a:rPr lang="en-US" sz="1600" dirty="0">
                <a:hlinkClick r:id="rId4" tooltip="User:J. Patrick Fischer"/>
              </a:rPr>
              <a:t>J. Patrick Fischer</a:t>
            </a:r>
            <a:r>
              <a:rPr lang="en-US" sz="1600" dirty="0"/>
              <a:t>; License: </a:t>
            </a:r>
            <a:r>
              <a:rPr lang="en-US" sz="1600" dirty="0">
                <a:hlinkClick r:id="rId5"/>
              </a:rPr>
              <a:t>CC BY-SA 3.0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8136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91198-B066-722E-41F6-01F15DBF4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>
            <a:extLst>
              <a:ext uri="{FF2B5EF4-FFF2-40B4-BE49-F238E27FC236}">
                <a16:creationId xmlns:a16="http://schemas.microsoft.com/office/drawing/2014/main" id="{BF7C3E3A-D219-11A9-2B4C-A3F1B6B3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973D95-B900-4444-8E0A-8EA40B5117F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TW" sz="1000" dirty="0">
              <a:ea typeface="新細明體" charset="-120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BE4A6A33-B943-8DB8-87EA-C887840ED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 dirty="0">
                <a:ea typeface="新細明體" charset="-120"/>
              </a:rPr>
              <a:t>01b. Outline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D3A10663-7A73-EBE1-8E07-815949D372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9557" y="1403199"/>
            <a:ext cx="10437246" cy="4954587"/>
          </a:xfrm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First C program &amp; Language Syntax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Variables and Assignment Operators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Identifiers, Reserved Words, Predefined Identifiers</a:t>
            </a:r>
          </a:p>
          <a:p>
            <a:pPr marL="533400" indent="-533400" eaLnBrk="1" hangingPunct="1">
              <a:lnSpc>
                <a:spcPct val="150000"/>
              </a:lnSpc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Console Input/Output Using </a:t>
            </a:r>
            <a:r>
              <a:rPr lang="en-US" altLang="zh-TW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lang="en-US" altLang="zh-TW" b="1" dirty="0">
                <a:ea typeface="新細明體" charset="-120"/>
              </a:rPr>
              <a:t> </a:t>
            </a:r>
            <a:r>
              <a:rPr lang="en-US" altLang="zh-TW" dirty="0">
                <a:ea typeface="新細明體" charset="-120"/>
              </a:rPr>
              <a:t>and </a:t>
            </a:r>
            <a:r>
              <a:rPr lang="en-US" altLang="zh-TW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662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050F53-1524-48D2-9ACB-AEF8D269A1FF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1" y="76200"/>
            <a:ext cx="8539163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b="1" dirty="0">
                <a:ea typeface="新細明體" charset="-120"/>
              </a:rPr>
              <a:t>4. Console Input and Output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3564" y="1047751"/>
            <a:ext cx="8524875" cy="52228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b="1" u="sng" dirty="0">
                <a:ea typeface="新細明體" charset="-120"/>
              </a:rPr>
              <a:t>Key concepts</a:t>
            </a:r>
          </a:p>
          <a:p>
            <a:pPr>
              <a:defRPr/>
            </a:pPr>
            <a:r>
              <a:rPr lang="en-US" altLang="zh-TW" dirty="0">
                <a:ea typeface="新細明體"/>
              </a:rPr>
              <a:t>How to output to the screen?</a:t>
            </a:r>
          </a:p>
          <a:p>
            <a:pPr lvl="1">
              <a:defRPr/>
            </a:pPr>
            <a:r>
              <a:rPr lang="en-US" altLang="zh-TW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endParaRPr lang="en-US" altLang="zh-TW" dirty="0">
              <a:ea typeface="新細明體"/>
            </a:endParaRPr>
          </a:p>
          <a:p>
            <a:pPr lvl="1">
              <a:defRPr/>
            </a:pPr>
            <a:r>
              <a:rPr lang="en-US" altLang="zh-TW" dirty="0">
                <a:ea typeface="新細明體"/>
              </a:rPr>
              <a:t>How to format numbers in the output?</a:t>
            </a:r>
            <a:endParaRPr lang="en-US" altLang="zh-TW" dirty="0">
              <a:ea typeface="新細明體"/>
              <a:cs typeface="Calibri"/>
            </a:endParaRPr>
          </a:p>
          <a:p>
            <a:pPr>
              <a:defRPr/>
            </a:pPr>
            <a:endParaRPr lang="en-US" altLang="zh-TW" dirty="0">
              <a:ea typeface="新細明體"/>
            </a:endParaRPr>
          </a:p>
          <a:p>
            <a:pPr>
              <a:defRPr/>
            </a:pPr>
            <a:r>
              <a:rPr lang="en-US" altLang="zh-TW" dirty="0">
                <a:ea typeface="新細明體"/>
              </a:rPr>
              <a:t>How to read numbers from a user?</a:t>
            </a:r>
            <a:endParaRPr lang="en-US" altLang="zh-TW" dirty="0">
              <a:ea typeface="新細明體"/>
              <a:cs typeface="Calibri"/>
            </a:endParaRPr>
          </a:p>
          <a:p>
            <a:pPr lvl="1">
              <a:defRPr/>
            </a:pPr>
            <a:r>
              <a:rPr lang="en-US" altLang="zh-TW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endParaRPr lang="en-US" altLang="zh-TW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053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9B0576-F153-4066-AAB9-195B87F14636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2362200" y="1066800"/>
            <a:ext cx="8604250" cy="411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num1;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"Enter an integer:\n"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"%d"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num1);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"num1 =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num1);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0725" name="Rectangle 6"/>
          <p:cNvSpPr>
            <a:spLocks noChangeArrowheads="1"/>
          </p:cNvSpPr>
          <p:nvPr/>
        </p:nvSpPr>
        <p:spPr bwMode="auto">
          <a:xfrm>
            <a:off x="1822450" y="1066800"/>
            <a:ext cx="539750" cy="411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820895" y="5181600"/>
            <a:ext cx="9144000" cy="115093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an integer: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num1 = 123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B9E1879-FEB8-F4B8-FF10-50D6BA9513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charset="-120"/>
              </a:rPr>
              <a:t>Example 4.1: Reading an integer from the user.</a:t>
            </a:r>
          </a:p>
        </p:txBody>
      </p:sp>
    </p:spTree>
    <p:extLst>
      <p:ext uri="{BB962C8B-B14F-4D97-AF65-F5344CB8AC3E}">
        <p14:creationId xmlns:p14="http://schemas.microsoft.com/office/powerpoint/2010/main" val="344198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Example 4.1 explained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 eaLnBrk="1" hangingPunct="1">
              <a:buNone/>
            </a:pPr>
            <a:r>
              <a:rPr lang="en-US" altLang="zh-TW" sz="3600" b="1" dirty="0" err="1">
                <a:latin typeface="Consolas"/>
                <a:ea typeface="新細明體"/>
                <a:cs typeface="Consolas" pitchFamily="49" charset="0"/>
              </a:rPr>
              <a:t>scanf</a:t>
            </a:r>
            <a:r>
              <a:rPr lang="en-US" altLang="zh-TW" sz="3600" b="1" dirty="0">
                <a:latin typeface="Consolas"/>
                <a:ea typeface="新細明體"/>
                <a:cs typeface="Consolas" pitchFamily="49" charset="0"/>
              </a:rPr>
              <a:t>(</a:t>
            </a:r>
            <a:r>
              <a:rPr lang="en-US" altLang="zh-TW" sz="3600" b="1" dirty="0">
                <a:solidFill>
                  <a:srgbClr val="0099FF"/>
                </a:solidFill>
                <a:latin typeface="Consolas"/>
                <a:ea typeface="新細明體"/>
                <a:cs typeface="Consolas" pitchFamily="49" charset="0"/>
              </a:rPr>
              <a:t>"%d"</a:t>
            </a:r>
            <a:r>
              <a:rPr lang="en-US" altLang="zh-TW" sz="3600" b="1" dirty="0">
                <a:latin typeface="Consolas"/>
                <a:ea typeface="新細明體"/>
                <a:cs typeface="Consolas" pitchFamily="49" charset="0"/>
              </a:rPr>
              <a:t>, </a:t>
            </a:r>
            <a:r>
              <a:rPr lang="en-US" altLang="zh-TW" sz="3600" b="1" dirty="0">
                <a:solidFill>
                  <a:srgbClr val="FF0000"/>
                </a:solidFill>
                <a:latin typeface="Consolas"/>
                <a:ea typeface="新細明體"/>
                <a:cs typeface="Consolas" pitchFamily="49" charset="0"/>
              </a:rPr>
              <a:t>&amp;</a:t>
            </a:r>
            <a:r>
              <a:rPr lang="en-US" altLang="zh-TW" sz="3600" b="1" dirty="0">
                <a:latin typeface="Consolas"/>
                <a:ea typeface="新細明體"/>
                <a:cs typeface="Consolas" pitchFamily="49" charset="0"/>
              </a:rPr>
              <a:t>num1);</a:t>
            </a:r>
          </a:p>
          <a:p>
            <a:pPr marL="0" indent="0" eaLnBrk="1" hangingPunct="1">
              <a:buNone/>
            </a:pPr>
            <a:endParaRPr lang="en-US" altLang="zh-TW" sz="1800" b="1" dirty="0">
              <a:latin typeface="Consolas"/>
              <a:ea typeface="新細明體"/>
              <a:cs typeface="Consolas" pitchFamily="49" charset="0"/>
            </a:endParaRPr>
          </a:p>
          <a:p>
            <a:pPr lvl="1" eaLnBrk="1" hangingPunct="1"/>
            <a:r>
              <a:rPr lang="en-US" altLang="zh-TW" dirty="0">
                <a:ea typeface="新細明體"/>
                <a:cs typeface="Consolas" pitchFamily="49" charset="0"/>
              </a:rPr>
              <a:t>A single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%d</a:t>
            </a:r>
            <a:r>
              <a:rPr lang="en-US" altLang="zh-TW" dirty="0">
                <a:ea typeface="新細明體"/>
                <a:cs typeface="Consolas" pitchFamily="49" charset="0"/>
              </a:rPr>
              <a:t> in the format string tells </a:t>
            </a:r>
            <a:r>
              <a:rPr lang="en-US" altLang="zh-TW" dirty="0" err="1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scanf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()</a:t>
            </a:r>
            <a:r>
              <a:rPr lang="en-US" altLang="zh-TW" dirty="0">
                <a:ea typeface="新細明體"/>
                <a:cs typeface="Consolas" pitchFamily="49" charset="0"/>
              </a:rPr>
              <a:t> to read one integer.</a:t>
            </a:r>
          </a:p>
          <a:p>
            <a:pPr lvl="1" eaLnBrk="1" hangingPunct="1"/>
            <a:r>
              <a:rPr lang="en-US" altLang="zh-TW" dirty="0">
                <a:ea typeface="新細明體"/>
                <a:cs typeface="Consolas" pitchFamily="49" charset="0"/>
              </a:rPr>
              <a:t>Upon success, the input value is stored in 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num1</a:t>
            </a:r>
            <a:r>
              <a:rPr lang="en-US" altLang="zh-TW" dirty="0">
                <a:ea typeface="新細明體"/>
                <a:cs typeface="Consolas" pitchFamily="49" charset="0"/>
              </a:rPr>
              <a:t>.</a:t>
            </a:r>
          </a:p>
          <a:p>
            <a:pPr lvl="1"/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&amp; </a:t>
            </a:r>
            <a:r>
              <a:rPr lang="en-US" altLang="zh-TW" dirty="0">
                <a:ea typeface="新細明體"/>
                <a:cs typeface="Consolas" pitchFamily="49" charset="0"/>
              </a:rPr>
              <a:t>before the variable is a must. You will learn about this operator later in this course.</a:t>
            </a:r>
            <a:endParaRPr lang="en-US" altLang="zh-TW" dirty="0">
              <a:ea typeface="新細明體" charset="-120"/>
              <a:cs typeface="Consolas" pitchFamily="49" charset="0"/>
            </a:endParaRPr>
          </a:p>
          <a:p>
            <a:pPr eaLnBrk="1" hangingPunct="1"/>
            <a:endParaRPr lang="en-US" altLang="zh-TW" sz="900" dirty="0">
              <a:ea typeface="新細明體" charset="-120"/>
              <a:cs typeface="Consolas" pitchFamily="49" charset="0"/>
            </a:endParaRPr>
          </a:p>
          <a:p>
            <a:pPr eaLnBrk="1" hangingPunct="1"/>
            <a:r>
              <a:rPr lang="en-US" altLang="zh-TW" sz="2800" dirty="0">
                <a:ea typeface="新細明體"/>
                <a:cs typeface="Consolas" pitchFamily="49" charset="0"/>
              </a:rPr>
              <a:t>Behavior of </a:t>
            </a:r>
            <a:r>
              <a:rPr lang="en-US" altLang="zh-TW" sz="2800" dirty="0" err="1">
                <a:latin typeface="Consolas"/>
                <a:ea typeface="新細明體"/>
                <a:cs typeface="Consolas" pitchFamily="49" charset="0"/>
              </a:rPr>
              <a:t>scanf</a:t>
            </a:r>
            <a:r>
              <a:rPr lang="en-US" altLang="zh-TW" sz="2800" dirty="0">
                <a:latin typeface="Consolas"/>
                <a:ea typeface="新細明體"/>
                <a:cs typeface="Consolas" pitchFamily="49" charset="0"/>
              </a:rPr>
              <a:t>()</a:t>
            </a:r>
          </a:p>
          <a:p>
            <a:pPr lvl="1" eaLnBrk="1" hangingPunct="1"/>
            <a:r>
              <a:rPr lang="en-US" altLang="zh-TW" dirty="0">
                <a:ea typeface="新細明體"/>
                <a:cs typeface="Consolas" pitchFamily="49" charset="0"/>
              </a:rPr>
              <a:t>(Line 8) Execution is paused here while </a:t>
            </a:r>
            <a:r>
              <a:rPr lang="en-US" altLang="zh-TW" dirty="0" err="1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scanf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()</a:t>
            </a:r>
            <a:r>
              <a:rPr lang="en-US" altLang="zh-TW" dirty="0">
                <a:ea typeface="新細明體"/>
                <a:cs typeface="Consolas" pitchFamily="49" charset="0"/>
              </a:rPr>
              <a:t> waits for user input.</a:t>
            </a:r>
          </a:p>
          <a:p>
            <a:pPr lvl="1" eaLnBrk="1" hangingPunct="1"/>
            <a:r>
              <a:rPr lang="en-US" altLang="zh-TW" dirty="0">
                <a:ea typeface="新細明體"/>
                <a:cs typeface="Consolas" pitchFamily="49" charset="0"/>
              </a:rPr>
              <a:t>Program resumes when the user enters a value follows by pressing the "Enter" key (denoted by the symbol '</a:t>
            </a:r>
            <a:r>
              <a:rPr lang="en-US" altLang="zh-TW" dirty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  <a:sym typeface="Symbol" pitchFamily="18" charset="2"/>
              </a:rPr>
              <a:t></a:t>
            </a:r>
            <a:r>
              <a:rPr lang="en-US" altLang="zh-TW" dirty="0">
                <a:ea typeface="新細明體"/>
                <a:cs typeface="Consolas" pitchFamily="49" charset="0"/>
                <a:sym typeface="Symbol" pitchFamily="18" charset="2"/>
              </a:rPr>
              <a:t>' in the sample output).</a:t>
            </a:r>
            <a:endParaRPr lang="en-US" altLang="zh-TW" dirty="0">
              <a:ea typeface="新細明體"/>
              <a:cs typeface="Consolas" pitchFamily="49" charset="0"/>
            </a:endParaRPr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9CA7EF-8F6C-4FF4-8DA3-32729D21ECB3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TW" sz="100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830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706374-9455-45B7-8B1E-A0435431E0F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2178051" y="1066800"/>
            <a:ext cx="8604250" cy="4038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num1, num2;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"Enter two integers:\n"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</a:t>
            </a:r>
            <a:r>
              <a:rPr kumimoji="1" lang="en-US" altLang="zh-TW" sz="2000" dirty="0" err="1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d%d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num1,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num2);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"num1 = %d, num2 = %d\n"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num1, num2);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1638301" y="1066800"/>
            <a:ext cx="539750" cy="40386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38301" y="5099861"/>
            <a:ext cx="4149725" cy="14573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two integers: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123 456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num1 = 123, num2 = 456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94476" y="5099861"/>
            <a:ext cx="4187825" cy="14573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two integers: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  <a:endParaRPr kumimoji="1" lang="en-US" altLang="zh-TW" sz="20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456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num1 = 123, num2 = 456</a:t>
            </a:r>
          </a:p>
        </p:txBody>
      </p:sp>
      <p:sp>
        <p:nvSpPr>
          <p:cNvPr id="32776" name="Rectangle 1"/>
          <p:cNvSpPr>
            <a:spLocks noChangeArrowheads="1"/>
          </p:cNvSpPr>
          <p:nvPr/>
        </p:nvSpPr>
        <p:spPr bwMode="auto">
          <a:xfrm>
            <a:off x="5869767" y="5590219"/>
            <a:ext cx="458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 b="0" dirty="0">
                <a:latin typeface="+mn-lt"/>
                <a:ea typeface="新細明體" charset="-120"/>
              </a:rPr>
              <a:t>or</a:t>
            </a:r>
            <a:endParaRPr lang="en-US" altLang="en-US" sz="1800" dirty="0">
              <a:latin typeface="+mn-lt"/>
              <a:ea typeface="新細明體" charset="-12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8B993B6-5E78-ADF6-F0C9-5D4F443BE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charset="-120"/>
              </a:rPr>
              <a:t>Example 4.2: Reading two integers from the user</a:t>
            </a:r>
          </a:p>
        </p:txBody>
      </p:sp>
    </p:spTree>
    <p:extLst>
      <p:ext uri="{BB962C8B-B14F-4D97-AF65-F5344CB8AC3E}">
        <p14:creationId xmlns:p14="http://schemas.microsoft.com/office/powerpoint/2010/main" val="51432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1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2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  <p:bldP spid="8" grpId="0" build="allAtOnce" animBg="1"/>
      <p:bldP spid="3277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Example 4.2 explained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eaLnBrk="1" hangingPunct="1">
              <a:buNone/>
            </a:pPr>
            <a:r>
              <a:rPr lang="en-US" altLang="zh-TW" b="1" dirty="0" err="1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lang="en-US" altLang="zh-TW" b="1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lang="en-US" altLang="zh-TW" b="1" dirty="0">
                <a:solidFill>
                  <a:srgbClr val="0099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</a:t>
            </a:r>
            <a:r>
              <a:rPr lang="en-US" altLang="zh-TW" b="1" dirty="0" err="1">
                <a:solidFill>
                  <a:srgbClr val="0099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d%d</a:t>
            </a:r>
            <a:r>
              <a:rPr lang="en-US" altLang="zh-TW" b="1" dirty="0">
                <a:solidFill>
                  <a:srgbClr val="0099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lang="en-US" altLang="zh-TW" b="1" dirty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lang="en-US" altLang="zh-TW" b="1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lang="en-US" altLang="zh-TW" b="1" dirty="0">
                <a:latin typeface="Consolas" pitchFamily="49" charset="0"/>
                <a:ea typeface="新細明體" charset="-120"/>
                <a:cs typeface="Consolas" pitchFamily="49" charset="0"/>
              </a:rPr>
              <a:t>num1, </a:t>
            </a:r>
            <a:r>
              <a:rPr lang="en-US" altLang="zh-TW" b="1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lang="en-US" altLang="zh-TW" b="1" dirty="0">
                <a:latin typeface="Consolas" pitchFamily="49" charset="0"/>
                <a:ea typeface="新細明體" charset="-120"/>
                <a:cs typeface="Consolas" pitchFamily="49" charset="0"/>
              </a:rPr>
              <a:t>num2);</a:t>
            </a:r>
          </a:p>
          <a:p>
            <a:pPr lvl="1" eaLnBrk="1" hangingPunct="1"/>
            <a:endParaRPr lang="en-US" altLang="zh-TW" sz="1400" dirty="0">
              <a:ea typeface="新細明體" charset="-120"/>
              <a:cs typeface="Consolas" pitchFamily="49" charset="0"/>
            </a:endParaRPr>
          </a:p>
          <a:p>
            <a:pPr lvl="1" eaLnBrk="1" hangingPunct="1"/>
            <a:r>
              <a:rPr lang="en-US" altLang="zh-TW" sz="2400" dirty="0">
                <a:ea typeface="新細明體" charset="-120"/>
                <a:cs typeface="Consolas" pitchFamily="49" charset="0"/>
              </a:rPr>
              <a:t>Two </a:t>
            </a:r>
            <a:r>
              <a:rPr lang="en-US" altLang="zh-TW" sz="2400" dirty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%d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's in the format string (no space in between the format specifiers) tell </a:t>
            </a:r>
            <a:r>
              <a:rPr lang="en-US" altLang="zh-TW" sz="2400" dirty="0" err="1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lang="en-US" altLang="zh-TW" sz="2400" dirty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()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 to read two integers.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  <a:cs typeface="Consolas" pitchFamily="49" charset="0"/>
              </a:rPr>
              <a:t>Upon success, the 1</a:t>
            </a:r>
            <a:r>
              <a:rPr lang="en-US" altLang="zh-TW" sz="2400" baseline="30000" dirty="0">
                <a:ea typeface="新細明體" charset="-120"/>
                <a:cs typeface="Consolas" pitchFamily="49" charset="0"/>
              </a:rPr>
              <a:t>st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 input value is stored in </a:t>
            </a:r>
            <a:r>
              <a:rPr lang="en-US" altLang="zh-TW" sz="2400" dirty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num1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 and the 2</a:t>
            </a:r>
            <a:r>
              <a:rPr lang="en-US" altLang="zh-TW" sz="2400" baseline="30000" dirty="0">
                <a:ea typeface="新細明體" charset="-120"/>
                <a:cs typeface="Consolas" pitchFamily="49" charset="0"/>
              </a:rPr>
              <a:t>nd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 input value is stored in </a:t>
            </a:r>
            <a:r>
              <a:rPr lang="en-US" altLang="zh-TW" sz="2400" dirty="0">
                <a:solidFill>
                  <a:srgbClr val="0070C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num2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.</a:t>
            </a:r>
          </a:p>
          <a:p>
            <a:pPr eaLnBrk="1" hangingPunct="1"/>
            <a:endParaRPr lang="en-US" altLang="zh-TW" sz="2000" dirty="0">
              <a:ea typeface="新細明體" charset="-120"/>
              <a:cs typeface="Consolas" pitchFamily="49" charset="0"/>
            </a:endParaRPr>
          </a:p>
          <a:p>
            <a:pPr eaLnBrk="1" hangingPunct="1"/>
            <a:r>
              <a:rPr lang="en-US" altLang="zh-TW" sz="2800" dirty="0">
                <a:ea typeface="新細明體" charset="-120"/>
                <a:cs typeface="Consolas" pitchFamily="49" charset="0"/>
              </a:rPr>
              <a:t>Behavior of </a:t>
            </a:r>
            <a:r>
              <a:rPr lang="en-US" altLang="zh-TW" sz="2800" dirty="0" err="1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lang="en-US" altLang="zh-TW" sz="2800" dirty="0">
                <a:latin typeface="Consolas" pitchFamily="49" charset="0"/>
                <a:ea typeface="新細明體" charset="-120"/>
                <a:cs typeface="Consolas" pitchFamily="49" charset="0"/>
              </a:rPr>
              <a:t>()</a:t>
            </a:r>
            <a:r>
              <a:rPr lang="en-US" altLang="zh-TW" sz="2800" dirty="0">
                <a:ea typeface="新細明體" charset="-120"/>
                <a:cs typeface="Consolas" pitchFamily="49" charset="0"/>
              </a:rPr>
              <a:t> when it expects two input values</a:t>
            </a:r>
            <a:endParaRPr lang="en-US" altLang="zh-TW" sz="28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lvl="1" eaLnBrk="1" hangingPunct="1"/>
            <a:r>
              <a:rPr lang="en-US" altLang="zh-TW" sz="2400" dirty="0">
                <a:ea typeface="新細明體" charset="-120"/>
                <a:cs typeface="Consolas" pitchFamily="49" charset="0"/>
              </a:rPr>
              <a:t>The two input values are to be separated by at least one whitespace characters.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  <a:cs typeface="Consolas" pitchFamily="49" charset="0"/>
              </a:rPr>
              <a:t>(Line 8) Execution is paused here while </a:t>
            </a:r>
            <a:r>
              <a:rPr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itchFamily="49" charset="0"/>
              </a:rPr>
              <a:t>()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 waits for user input.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  <a:cs typeface="Consolas" pitchFamily="49" charset="0"/>
              </a:rPr>
              <a:t>Program resumes when the user enters the 2</a:t>
            </a:r>
            <a:r>
              <a:rPr lang="en-US" altLang="zh-TW" sz="2400" baseline="30000" dirty="0">
                <a:ea typeface="新細明體" charset="-120"/>
                <a:cs typeface="Consolas" pitchFamily="49" charset="0"/>
              </a:rPr>
              <a:t>nd</a:t>
            </a:r>
            <a:r>
              <a:rPr lang="en-US" altLang="zh-TW" sz="2400" dirty="0">
                <a:ea typeface="新細明體" charset="-120"/>
                <a:cs typeface="Consolas" pitchFamily="49" charset="0"/>
              </a:rPr>
              <a:t> value follows by pressing the "Enter" key</a:t>
            </a:r>
            <a:r>
              <a:rPr lang="en-US" altLang="zh-TW" sz="2400" dirty="0">
                <a:ea typeface="新細明體" charset="-120"/>
                <a:cs typeface="Consolas" pitchFamily="49" charset="0"/>
                <a:sym typeface="Symbol" pitchFamily="18" charset="2"/>
              </a:rPr>
              <a:t>.</a:t>
            </a:r>
            <a:endParaRPr lang="en-US" altLang="zh-TW" sz="2400" dirty="0">
              <a:ea typeface="新細明體" charset="-120"/>
              <a:cs typeface="Consolas" pitchFamily="49" charset="0"/>
            </a:endParaRP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F47D89-88CA-4C25-9D55-612489822331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TW" sz="100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27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47454D-5C83-4668-9920-F82B7CA17631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1295400" y="877404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x1, x2;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"Enter two real numbers:\n"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scanf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"%</a:t>
            </a:r>
            <a:r>
              <a:rPr kumimoji="1" lang="en-US" altLang="zh-TW" sz="2000" dirty="0" err="1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lf%lf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x1, 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&amp;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x2);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“x1 =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x1);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“x2 =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x2);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755650" y="877404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55650" y="5287480"/>
            <a:ext cx="9144000" cy="145732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Enter two real numbers: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123 456.125</a:t>
            </a:r>
            <a:r>
              <a:rPr kumimoji="1"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Symbol" pitchFamily="18" charset="2"/>
              </a:rPr>
              <a:t>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x1 = 123.000000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x2 = 456.125000</a:t>
            </a:r>
          </a:p>
        </p:txBody>
      </p:sp>
      <p:sp>
        <p:nvSpPr>
          <p:cNvPr id="34823" name="Rectangle 12"/>
          <p:cNvSpPr>
            <a:spLocks noChangeArrowheads="1"/>
          </p:cNvSpPr>
          <p:nvPr/>
        </p:nvSpPr>
        <p:spPr bwMode="auto">
          <a:xfrm>
            <a:off x="7035606" y="1271437"/>
            <a:ext cx="4714876" cy="71944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latin typeface="+mn-lt"/>
                <a:ea typeface="新細明體"/>
              </a:rPr>
              <a:t>Variables</a:t>
            </a:r>
            <a:r>
              <a:rPr kumimoji="1" lang="en-US" altLang="zh-TW" sz="2000" b="0" dirty="0">
                <a:latin typeface="+mn-lt"/>
                <a:ea typeface="新細明體"/>
              </a:rPr>
              <a:t> </a:t>
            </a:r>
            <a:r>
              <a:rPr kumimoji="1" lang="en-US" altLang="zh-TW" sz="20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x1</a:t>
            </a:r>
            <a:r>
              <a:rPr kumimoji="1" lang="en-US" altLang="zh-TW" sz="2000" dirty="0">
                <a:latin typeface="+mn-lt"/>
                <a:ea typeface="新細明體"/>
              </a:rPr>
              <a:t> and </a:t>
            </a:r>
            <a:r>
              <a:rPr kumimoji="1" lang="en-US" altLang="zh-TW" sz="2000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x2</a:t>
            </a:r>
            <a:r>
              <a:rPr kumimoji="1" lang="en-US" altLang="zh-TW" sz="2000" dirty="0">
                <a:latin typeface="+mn-lt"/>
                <a:ea typeface="新細明體"/>
              </a:rPr>
              <a:t> are of</a:t>
            </a:r>
            <a:r>
              <a:rPr kumimoji="1" lang="en-US" altLang="zh-TW" sz="2000" b="0" dirty="0">
                <a:latin typeface="+mn-lt"/>
                <a:ea typeface="新細明體"/>
              </a:rPr>
              <a:t> type </a:t>
            </a:r>
            <a:r>
              <a:rPr kumimoji="1" lang="en-US" altLang="zh-TW" sz="2000" b="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double</a:t>
            </a:r>
            <a:r>
              <a:rPr kumimoji="1" lang="en-US" altLang="zh-TW" sz="2000" b="0" dirty="0">
                <a:solidFill>
                  <a:srgbClr val="0070C0"/>
                </a:solidFill>
                <a:latin typeface="+mn-lt"/>
                <a:ea typeface="新細明體"/>
              </a:rPr>
              <a:t> </a:t>
            </a:r>
            <a:r>
              <a:rPr kumimoji="1" lang="en-US" altLang="zh-TW" sz="2000" b="0" dirty="0">
                <a:latin typeface="+mn-lt"/>
                <a:ea typeface="新細明體"/>
              </a:rPr>
              <a:t>(instead of </a:t>
            </a:r>
            <a:r>
              <a:rPr kumimoji="1" lang="en-US" altLang="zh-TW" sz="20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kumimoji="1" lang="en-US" altLang="zh-TW" sz="2000" dirty="0">
                <a:latin typeface="+mn-lt"/>
                <a:ea typeface="新細明體"/>
              </a:rPr>
              <a:t>) here. What does it mean?</a:t>
            </a:r>
            <a:endParaRPr kumimoji="1" lang="en-US" altLang="zh-TW" sz="2000" b="0" dirty="0">
              <a:latin typeface="+mn-lt"/>
              <a:ea typeface="新細明體"/>
            </a:endParaRPr>
          </a:p>
        </p:txBody>
      </p:sp>
      <p:sp>
        <p:nvSpPr>
          <p:cNvPr id="34824" name="Rectangle 12"/>
          <p:cNvSpPr>
            <a:spLocks noChangeArrowheads="1"/>
          </p:cNvSpPr>
          <p:nvPr/>
        </p:nvSpPr>
        <p:spPr bwMode="auto">
          <a:xfrm>
            <a:off x="7419781" y="2756869"/>
            <a:ext cx="3946525" cy="1355444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000" dirty="0">
                <a:latin typeface="+mn-lt"/>
                <a:ea typeface="新細明體" charset="-120"/>
              </a:rPr>
              <a:t>Concerning </a:t>
            </a:r>
            <a:r>
              <a:rPr kumimoji="1"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</a:t>
            </a:r>
            <a:r>
              <a:rPr kumimoji="1" lang="en-US" altLang="zh-TW" sz="2000" dirty="0">
                <a:latin typeface="+mn-lt"/>
                <a:ea typeface="新細明體" charset="-120"/>
              </a:rPr>
              <a:t>-typed values,</a:t>
            </a:r>
            <a:endParaRPr kumimoji="1" lang="en-US" altLang="zh-TW" sz="2000" b="0" dirty="0">
              <a:latin typeface="+mn-lt"/>
              <a:ea typeface="新細明體" charset="-120"/>
            </a:endParaRPr>
          </a:p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0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kumimoji="1"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000" b="0" dirty="0">
                <a:latin typeface="+mn-lt"/>
                <a:ea typeface="新細明體" charset="-120"/>
              </a:rPr>
              <a:t> uses </a:t>
            </a:r>
            <a:r>
              <a:rPr kumimoji="1"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%lf</a:t>
            </a:r>
            <a:r>
              <a:rPr kumimoji="1" lang="en-US" altLang="zh-TW" sz="2000" b="0" dirty="0">
                <a:latin typeface="+mn-lt"/>
                <a:ea typeface="新細明體" charset="-120"/>
              </a:rPr>
              <a:t> (‘ell’ f);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000" dirty="0">
                <a:latin typeface="+mn-lt"/>
                <a:ea typeface="新細明體" charset="-120"/>
              </a:rPr>
              <a:t> uses </a:t>
            </a:r>
            <a:r>
              <a:rPr kumimoji="1"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%f</a:t>
            </a:r>
            <a:r>
              <a:rPr kumimoji="1" lang="en-US" altLang="zh-TW" sz="2000" dirty="0">
                <a:latin typeface="+mn-lt"/>
                <a:ea typeface="新細明體" charset="-120"/>
              </a:rPr>
              <a:t>.</a:t>
            </a:r>
          </a:p>
          <a:p>
            <a:pPr>
              <a:spcBef>
                <a:spcPct val="0"/>
              </a:spcBef>
              <a:buClrTx/>
              <a:buNone/>
            </a:pPr>
            <a:r>
              <a:rPr kumimoji="1" lang="en-US" altLang="zh-TW" sz="2000" dirty="0">
                <a:latin typeface="+mn-lt"/>
                <a:ea typeface="新細明體" charset="-120"/>
              </a:rPr>
              <a:t>Looking similar but </a:t>
            </a:r>
            <a:r>
              <a:rPr kumimoji="1" lang="en-US" altLang="zh-TW" sz="2000" i="1" dirty="0">
                <a:latin typeface="+mn-lt"/>
                <a:ea typeface="新細明體" charset="-120"/>
              </a:rPr>
              <a:t>slightly different</a:t>
            </a:r>
            <a:r>
              <a:rPr kumimoji="1" lang="en-US" altLang="zh-TW" sz="2000" dirty="0">
                <a:latin typeface="+mn-lt"/>
                <a:ea typeface="新細明體" charset="-120"/>
              </a:rPr>
              <a:t>!</a:t>
            </a:r>
          </a:p>
        </p:txBody>
      </p:sp>
      <p:sp>
        <p:nvSpPr>
          <p:cNvPr id="34825" name="Rectangle 12"/>
          <p:cNvSpPr>
            <a:spLocks noChangeArrowheads="1"/>
          </p:cNvSpPr>
          <p:nvPr/>
        </p:nvSpPr>
        <p:spPr bwMode="auto">
          <a:xfrm>
            <a:off x="7623774" y="5560264"/>
            <a:ext cx="3538537" cy="978651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>
              <a:spcBef>
                <a:spcPct val="0"/>
              </a:spcBef>
              <a:buClrTx/>
              <a:buNone/>
            </a:pPr>
            <a:r>
              <a:rPr kumimoji="1" lang="en-US" altLang="zh-TW" sz="2000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kumimoji="1" lang="en-US" altLang="zh-TW" sz="20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()</a:t>
            </a:r>
            <a:r>
              <a:rPr kumimoji="1" lang="en-US" altLang="zh-TW" sz="2000" b="0" dirty="0">
                <a:latin typeface="+mn-lt"/>
                <a:ea typeface="新細明體"/>
              </a:rPr>
              <a:t>, by default, prints </a:t>
            </a:r>
            <a:r>
              <a:rPr kumimoji="1" lang="en-US" altLang="zh-TW" sz="2000" dirty="0">
                <a:latin typeface="+mn-lt"/>
                <a:ea typeface="新細明體"/>
              </a:rPr>
              <a:t>decimal numbers (floating</a:t>
            </a:r>
            <a:r>
              <a:rPr kumimoji="1" lang="en-US" altLang="zh-TW" sz="2000" b="0" dirty="0">
                <a:latin typeface="+mn-lt"/>
                <a:ea typeface="新細明體"/>
              </a:rPr>
              <a:t> point numbers</a:t>
            </a:r>
            <a:r>
              <a:rPr kumimoji="1" lang="en-US" altLang="zh-TW" sz="2000" dirty="0">
                <a:latin typeface="+mn-lt"/>
                <a:ea typeface="新細明體"/>
              </a:rPr>
              <a:t>)</a:t>
            </a:r>
            <a:r>
              <a:rPr kumimoji="1" lang="en-US" altLang="zh-TW" sz="2000" b="0" dirty="0">
                <a:latin typeface="+mn-lt"/>
                <a:ea typeface="新細明體"/>
              </a:rPr>
              <a:t> with 6 decimal places.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0380D8D-FFE8-F906-A2F5-14DFB40FCB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784" y="76200"/>
            <a:ext cx="12022016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charset="-120"/>
              </a:rPr>
              <a:t>Example 5.3: Reading two floating point numbers</a:t>
            </a:r>
          </a:p>
        </p:txBody>
      </p:sp>
    </p:spTree>
    <p:extLst>
      <p:ext uri="{BB962C8B-B14F-4D97-AF65-F5344CB8AC3E}">
        <p14:creationId xmlns:p14="http://schemas.microsoft.com/office/powerpoint/2010/main" val="56418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1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1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 animBg="1"/>
      <p:bldP spid="34823" grpId="0" animBg="1"/>
      <p:bldP spid="34824" grpId="0" animBg="1"/>
      <p:bldP spid="348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B51F42-D570-4A6C-95E3-86DA557EF53E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1" y="76200"/>
            <a:ext cx="8759825" cy="914400"/>
          </a:xfrm>
        </p:spPr>
        <p:txBody>
          <a:bodyPr>
            <a:normAutofit/>
          </a:bodyPr>
          <a:lstStyle/>
          <a:p>
            <a:pPr>
              <a:tabLst>
                <a:tab pos="6227763" algn="l"/>
              </a:tabLst>
            </a:pPr>
            <a:r>
              <a:rPr lang="en-US" altLang="zh-TW" sz="4000" dirty="0">
                <a:ea typeface="新細明體"/>
              </a:rPr>
              <a:t>Example 4.3 Explained</a:t>
            </a:r>
            <a:endParaRPr lang="en-US" altLang="zh-TW" sz="2800" dirty="0">
              <a:ea typeface="新細明體" charset="-120"/>
            </a:endParaRP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23950"/>
            <a:ext cx="11582400" cy="50530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zh-TW" sz="2800" dirty="0">
                <a:ea typeface="新細明體"/>
                <a:cs typeface="Calibri"/>
              </a:rPr>
              <a:t>So far we have been using integers</a:t>
            </a:r>
            <a:r>
              <a:rPr lang="en-US" altLang="zh-TW" sz="2800" dirty="0">
                <a:ea typeface="新細明體"/>
              </a:rPr>
              <a:t> (type </a:t>
            </a:r>
            <a:r>
              <a:rPr lang="en-US" altLang="zh-TW" sz="2800" dirty="0">
                <a:solidFill>
                  <a:srgbClr val="0070C0"/>
                </a:solidFill>
                <a:latin typeface="Consolas"/>
                <a:ea typeface="新細明體"/>
                <a:cs typeface="Consolas" pitchFamily="49" charset="0"/>
              </a:rPr>
              <a:t>int</a:t>
            </a:r>
            <a:r>
              <a:rPr lang="en-US" altLang="zh-TW" sz="2800" dirty="0">
                <a:ea typeface="新細明體"/>
              </a:rPr>
              <a:t>)</a:t>
            </a:r>
            <a:endParaRPr lang="en-US" sz="28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altLang="zh-TW" sz="20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-100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2048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203139, 1000000</a:t>
            </a:r>
            <a:endParaRPr lang="en-US" altLang="zh-TW" sz="2400" dirty="0">
              <a:solidFill>
                <a:srgbClr val="0000CC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zh-TW" sz="800" dirty="0">
                <a:solidFill>
                  <a:srgbClr val="FF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	</a:t>
            </a:r>
            <a:endParaRPr lang="en-US" altLang="zh-TW" sz="500" dirty="0">
              <a:solidFill>
                <a:schemeClr val="hlink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r>
              <a:rPr lang="en-US" altLang="zh-TW" sz="2800" dirty="0">
                <a:ea typeface="新細明體"/>
              </a:rPr>
              <a:t>If we need decimal places in our numbers, we use </a:t>
            </a:r>
            <a:r>
              <a:rPr lang="en-US" altLang="zh-TW" sz="2800" u="sng" dirty="0">
                <a:ea typeface="新細明體"/>
              </a:rPr>
              <a:t>floating point numbers</a:t>
            </a:r>
            <a:r>
              <a:rPr lang="en-US" altLang="zh-TW" sz="2800" dirty="0">
                <a:ea typeface="新細明體"/>
              </a:rPr>
              <a:t> (type </a:t>
            </a:r>
            <a:r>
              <a:rPr lang="en-US" altLang="zh-TW" sz="2800" dirty="0">
                <a:solidFill>
                  <a:srgbClr val="0070C0"/>
                </a:solidFill>
                <a:latin typeface="Consolas"/>
                <a:ea typeface="新細明體"/>
              </a:rPr>
              <a:t>double</a:t>
            </a:r>
            <a:r>
              <a:rPr lang="en-US" altLang="zh-TW" sz="2800" dirty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2800" dirty="0">
                <a:latin typeface="Calibri"/>
                <a:ea typeface="新細明體"/>
                <a:cs typeface="Calibri"/>
              </a:rPr>
              <a:t>here</a:t>
            </a:r>
            <a:r>
              <a:rPr lang="en-US" altLang="zh-TW" sz="2800" dirty="0">
                <a:ea typeface="新細明體"/>
              </a:rPr>
              <a:t>)</a:t>
            </a:r>
            <a:endParaRPr lang="en-US" altLang="zh-TW" sz="2800" dirty="0">
              <a:ea typeface="新細明體"/>
              <a:cs typeface="Calibri"/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TW" sz="24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altLang="zh-TW" sz="20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0.0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-10.2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3.1416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</a:t>
            </a:r>
            <a:r>
              <a:rPr lang="en-US" altLang="zh-TW" sz="2000" dirty="0">
                <a:solidFill>
                  <a:schemeClr val="hlink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r>
              <a:rPr lang="en-US" altLang="zh-TW" sz="2000" dirty="0">
                <a:solidFill>
                  <a:srgbClr val="0000CC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.244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endParaRPr lang="en-US" altLang="zh-TW" sz="2400" dirty="0">
              <a:solidFill>
                <a:srgbClr val="0000CC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 eaLnBrk="1" hangingPunct="1"/>
            <a:endParaRPr lang="en-US" altLang="zh-TW" sz="500" dirty="0">
              <a:solidFill>
                <a:schemeClr val="hlink"/>
              </a:solidFill>
              <a:latin typeface="Consolas" panose="020B0609020204030204" pitchFamily="49" charset="0"/>
              <a:ea typeface="新細明體" charset="-120"/>
            </a:endParaRPr>
          </a:p>
          <a:p>
            <a:pPr eaLnBrk="1" hangingPunct="1"/>
            <a:r>
              <a:rPr lang="en-US" altLang="zh-TW" sz="2800" dirty="0">
                <a:ea typeface="新細明體" charset="-120"/>
              </a:rPr>
              <a:t>A </a:t>
            </a:r>
            <a:r>
              <a:rPr lang="en-US" altLang="zh-TW" sz="2800" u="sng" dirty="0">
                <a:ea typeface="新細明體" charset="-120"/>
              </a:rPr>
              <a:t>decimal point</a:t>
            </a:r>
            <a:r>
              <a:rPr lang="en-US" altLang="zh-TW" sz="2800" dirty="0">
                <a:ea typeface="新細明體" charset="-120"/>
              </a:rPr>
              <a:t> makes a big difference!</a:t>
            </a:r>
          </a:p>
          <a:p>
            <a:pPr lvl="1" eaLnBrk="1" hangingPunct="1"/>
            <a:r>
              <a:rPr lang="en-US" altLang="zh-TW" sz="2400" b="1" dirty="0">
                <a:solidFill>
                  <a:srgbClr val="C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r>
              <a:rPr lang="en-US" altLang="zh-TW" sz="2400" dirty="0">
                <a:ea typeface="新細明體" charset="-120"/>
              </a:rPr>
              <a:t>is treated as an </a:t>
            </a:r>
            <a:r>
              <a:rPr lang="en-US" altLang="zh-TW" sz="2400" u="sng" dirty="0">
                <a:ea typeface="新細明體" charset="-120"/>
              </a:rPr>
              <a:t>integer</a:t>
            </a:r>
            <a:r>
              <a:rPr lang="en-US" altLang="zh-TW" sz="2400" dirty="0">
                <a:ea typeface="新細明體" charset="-120"/>
              </a:rPr>
              <a:t>.</a:t>
            </a:r>
            <a:endParaRPr lang="en-US" altLang="zh-TW" sz="2400" dirty="0">
              <a:ea typeface="新細明體" charset="-120"/>
              <a:cs typeface="Calibri"/>
            </a:endParaRPr>
          </a:p>
          <a:p>
            <a:pPr lvl="1" eaLnBrk="1" hangingPunct="1"/>
            <a:r>
              <a:rPr lang="en-US" altLang="zh-TW" sz="2400" b="1" dirty="0">
                <a:solidFill>
                  <a:srgbClr val="C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10.0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400" dirty="0">
                <a:ea typeface="新細明體"/>
              </a:rPr>
              <a:t>is treated as a </a:t>
            </a:r>
            <a:r>
              <a:rPr lang="en-US" altLang="zh-TW" sz="2400" u="sng" dirty="0">
                <a:ea typeface="新細明體"/>
              </a:rPr>
              <a:t>floating point number</a:t>
            </a:r>
            <a:r>
              <a:rPr lang="en-US" altLang="zh-TW" sz="2400" dirty="0">
                <a:ea typeface="新細明體"/>
              </a:rPr>
              <a:t>.</a:t>
            </a:r>
            <a:endParaRPr lang="en-US" altLang="zh-TW" sz="2400" dirty="0">
              <a:ea typeface="新細明體"/>
              <a:cs typeface="Calibri"/>
            </a:endParaRPr>
          </a:p>
          <a:p>
            <a:pPr lvl="1"/>
            <a:r>
              <a:rPr lang="en-US" altLang="zh-TW" sz="2400" dirty="0">
                <a:ea typeface="新細明體"/>
              </a:rPr>
              <a:t>Integers and floating point numbers are handled differently in C (will talk about it in detail next lecture)</a:t>
            </a:r>
            <a:endParaRPr lang="en-US" altLang="zh-TW" sz="2400" dirty="0"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533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E72E08-D9CD-4261-9DF6-479FD3E381A2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2063750" y="0"/>
            <a:ext cx="86042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#include &lt;</a:t>
            </a:r>
            <a:r>
              <a:rPr kumimoji="1" lang="en-US" altLang="zh-TW" sz="2000" dirty="0" err="1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stdio.h</a:t>
            </a:r>
            <a:r>
              <a:rPr kumimoji="1" lang="en-US" altLang="zh-TW" sz="2000" dirty="0">
                <a:solidFill>
                  <a:srgbClr val="0099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 err="1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int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main(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void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double 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pi = 3.1415927;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TW" sz="2000" dirty="0">
              <a:latin typeface="Consolas" pitchFamily="49" charset="0"/>
              <a:ea typeface="新細明體" charset="-120"/>
              <a:cs typeface="Consolas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"A) %f\n"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"B) %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.2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 err="1">
                <a:latin typeface="Consolas" pitchFamily="49" charset="0"/>
                <a:ea typeface="新細明體" charset="-120"/>
                <a:cs typeface="Consolas" pitchFamily="49" charset="0"/>
              </a:rPr>
              <a:t>printf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(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"C) %</a:t>
            </a:r>
            <a:r>
              <a:rPr kumimoji="1" lang="en-US" altLang="zh-TW" sz="2000" dirty="0">
                <a:solidFill>
                  <a:srgbClr val="FF000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.7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f\n"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, pi);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 </a:t>
            </a:r>
            <a:r>
              <a:rPr kumimoji="1" lang="en-US" altLang="zh-TW" sz="2000" dirty="0">
                <a:solidFill>
                  <a:srgbClr val="0000FF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return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 </a:t>
            </a:r>
            <a:r>
              <a:rPr kumimoji="1" lang="en-US" altLang="zh-TW" sz="2000" dirty="0">
                <a:solidFill>
                  <a:srgbClr val="00B0F0"/>
                </a:solidFill>
                <a:latin typeface="Consolas" pitchFamily="49" charset="0"/>
                <a:ea typeface="新細明體" charset="-120"/>
                <a:cs typeface="Consolas" pitchFamily="49" charset="0"/>
              </a:rPr>
              <a:t>0</a:t>
            </a: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TW" sz="2000" dirty="0">
                <a:latin typeface="Consolas" pitchFamily="49" charset="0"/>
                <a:ea typeface="新細明體" charset="-120"/>
                <a:cs typeface="Consolas" pitchFamily="49" charset="0"/>
              </a:rPr>
              <a:t>}</a:t>
            </a:r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1524001" y="5589588"/>
            <a:ext cx="9047163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 dirty="0">
                <a:latin typeface="+mn-lt"/>
                <a:ea typeface="新細明體" charset="-120"/>
              </a:rPr>
              <a:t>Example 5.4:</a:t>
            </a:r>
            <a:r>
              <a:rPr lang="en-US" altLang="zh-TW" sz="2000" b="0" dirty="0">
                <a:latin typeface="+mn-lt"/>
                <a:ea typeface="新細明體" charset="-120"/>
              </a:rPr>
              <a:t> Controlling the # of decimal places for floating point numbers.</a:t>
            </a:r>
          </a:p>
        </p:txBody>
      </p:sp>
      <p:sp>
        <p:nvSpPr>
          <p:cNvPr id="35845" name="Rectangle 6"/>
          <p:cNvSpPr>
            <a:spLocks noChangeArrowheads="1"/>
          </p:cNvSpPr>
          <p:nvPr/>
        </p:nvSpPr>
        <p:spPr bwMode="auto">
          <a:xfrm>
            <a:off x="1524000" y="0"/>
            <a:ext cx="539750" cy="43894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4410075"/>
            <a:ext cx="9144000" cy="116998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182880" bIns="91440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461963" algn="l"/>
                <a:tab pos="914400" algn="l"/>
                <a:tab pos="1376363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A) 3.141593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B) 3.14</a:t>
            </a:r>
          </a:p>
          <a:p>
            <a:pPr eaLnBrk="1" hangingPunct="1">
              <a:lnSpc>
                <a:spcPct val="80000"/>
              </a:lnSpc>
              <a:buClrTx/>
              <a:buFontTx/>
              <a:buNone/>
            </a:pPr>
            <a:r>
              <a:rPr kumimoji="1"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 3" pitchFamily="18" charset="2"/>
              </a:rPr>
              <a:t>C) 3.1415927</a:t>
            </a:r>
          </a:p>
        </p:txBody>
      </p:sp>
      <p:sp>
        <p:nvSpPr>
          <p:cNvPr id="35847" name="Rectangle 12"/>
          <p:cNvSpPr>
            <a:spLocks noChangeArrowheads="1"/>
          </p:cNvSpPr>
          <p:nvPr/>
        </p:nvSpPr>
        <p:spPr bwMode="auto">
          <a:xfrm>
            <a:off x="6030913" y="804864"/>
            <a:ext cx="4570412" cy="9477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When we declare a variable, we can initialize its value.</a:t>
            </a:r>
          </a:p>
        </p:txBody>
      </p:sp>
      <p:sp>
        <p:nvSpPr>
          <p:cNvPr id="35848" name="Rectangle 12"/>
          <p:cNvSpPr>
            <a:spLocks noChangeArrowheads="1"/>
          </p:cNvSpPr>
          <p:nvPr/>
        </p:nvSpPr>
        <p:spPr bwMode="auto">
          <a:xfrm>
            <a:off x="6030913" y="2195513"/>
            <a:ext cx="4570412" cy="16510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b="0" dirty="0">
                <a:latin typeface="+mn-lt"/>
                <a:ea typeface="新細明體" charset="-120"/>
              </a:rPr>
              <a:t>The format specifier, </a:t>
            </a:r>
            <a:r>
              <a:rPr kumimoji="1" lang="en-US" altLang="zh-TW" sz="2400" b="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%</a:t>
            </a:r>
            <a:r>
              <a:rPr kumimoji="1" lang="en-US" altLang="zh-TW" sz="2400" b="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.</a:t>
            </a:r>
            <a:r>
              <a:rPr kumimoji="1" lang="en-US" altLang="zh-TW" sz="2400" b="0" i="1" dirty="0" err="1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x</a:t>
            </a:r>
            <a:r>
              <a:rPr kumimoji="1" lang="en-US" altLang="zh-TW" sz="2400" b="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, tells</a:t>
            </a:r>
          </a:p>
          <a:p>
            <a:pPr eaLnBrk="1" hangingPunct="1">
              <a:spcBef>
                <a:spcPct val="0"/>
              </a:spcBef>
              <a:buClrTx/>
              <a:buFont typeface="Wingdings" pitchFamily="2" charset="2"/>
              <a:buNone/>
            </a:pPr>
            <a:r>
              <a:rPr kumimoji="1" lang="en-US" altLang="zh-TW" sz="2400" dirty="0" err="1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 to format the corresponding floating point number with </a:t>
            </a:r>
            <a:r>
              <a:rPr kumimoji="1"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x</a:t>
            </a:r>
            <a:r>
              <a:rPr kumimoji="1" lang="en-US" altLang="zh-TW" sz="2400" b="0" i="1" dirty="0">
                <a:solidFill>
                  <a:srgbClr val="FF0000"/>
                </a:solidFill>
                <a:latin typeface="+mn-lt"/>
                <a:ea typeface="新細明體" charset="-120"/>
              </a:rPr>
              <a:t> </a:t>
            </a:r>
            <a:r>
              <a:rPr kumimoji="1" lang="en-US" altLang="zh-TW" sz="2400" b="0" dirty="0">
                <a:latin typeface="+mn-lt"/>
                <a:ea typeface="新細明體" charset="-120"/>
              </a:rPr>
              <a:t>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141046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A86135-3F47-4556-8417-5EFACDDEBEF5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Notes about </a:t>
            </a:r>
            <a:r>
              <a:rPr lang="en-US" altLang="zh-TW" sz="4000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sz="4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lang="en-US" altLang="zh-TW" sz="4000" dirty="0">
                <a:ea typeface="新細明體" charset="-120"/>
              </a:rPr>
              <a:t> and </a:t>
            </a:r>
            <a:r>
              <a:rPr lang="en-US" altLang="zh-TW" sz="4000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4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01739"/>
            <a:ext cx="10896600" cy="49291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scanf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  <a:r>
              <a:rPr lang="en-US" altLang="zh-TW" sz="2800" dirty="0">
                <a:ea typeface="新細明體" charset="-120"/>
              </a:rPr>
              <a:t> won't work "properly" if it encounters an invalid input. For example, a user enters an alphabet when an integer is expected.</a:t>
            </a:r>
          </a:p>
          <a:p>
            <a:pPr lvl="1" eaLnBrk="1" hangingPunct="1">
              <a:defRPr/>
            </a:pPr>
            <a:r>
              <a:rPr lang="en-US" altLang="zh-TW" sz="2400" dirty="0">
                <a:solidFill>
                  <a:srgbClr val="0070C0"/>
                </a:solidFill>
                <a:ea typeface="新細明體" charset="-120"/>
              </a:rPr>
              <a:t>In this course, unless otherwise stated, you can assume the input values are always valid.</a:t>
            </a:r>
          </a:p>
          <a:p>
            <a:pPr lvl="1" eaLnBrk="1" hangingPunct="1">
              <a:defRPr/>
            </a:pPr>
            <a:endParaRPr lang="en-US" altLang="zh-TW" sz="2000" dirty="0">
              <a:ea typeface="新細明體" charset="-120"/>
            </a:endParaRPr>
          </a:p>
          <a:p>
            <a:pPr eaLnBrk="1" hangingPunct="1">
              <a:defRPr/>
            </a:pPr>
            <a:r>
              <a:rPr lang="en-US" altLang="zh-TW" sz="2800" dirty="0">
                <a:ea typeface="新細明體" charset="-120"/>
              </a:rPr>
              <a:t>Examples showing </a:t>
            </a:r>
            <a:r>
              <a:rPr lang="en-US" altLang="zh-TW" sz="2800" u="sng" dirty="0">
                <a:solidFill>
                  <a:srgbClr val="FF0000"/>
                </a:solidFill>
                <a:ea typeface="新細明體" charset="-120"/>
              </a:rPr>
              <a:t>incorrect</a:t>
            </a:r>
            <a:r>
              <a:rPr lang="en-US" altLang="zh-TW" sz="2800" dirty="0">
                <a:solidFill>
                  <a:srgbClr val="FF0000"/>
                </a:solidFill>
                <a:ea typeface="新細明體" charset="-120"/>
              </a:rPr>
              <a:t> </a:t>
            </a:r>
            <a:r>
              <a:rPr lang="en-US" altLang="zh-TW" sz="2800" dirty="0">
                <a:ea typeface="新細明體" charset="-120"/>
              </a:rPr>
              <a:t>uses of </a:t>
            </a: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()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("%f", 10);	</a:t>
            </a:r>
            <a:r>
              <a:rPr lang="en-US" altLang="zh-TW" sz="2400" dirty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10</a:t>
            </a:r>
            <a:r>
              <a:rPr lang="en-US" altLang="zh-TW" sz="2400" dirty="0">
                <a:solidFill>
                  <a:schemeClr val="accent6"/>
                </a:solidFill>
                <a:cs typeface="Consolas" panose="020B0609020204030204" pitchFamily="49" charset="0"/>
              </a:rPr>
              <a:t> is a value of type </a:t>
            </a:r>
            <a:r>
              <a:rPr lang="en-US" altLang="zh-TW" sz="2400" dirty="0" err="1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endParaRPr lang="en-US" altLang="zh-TW" sz="2400" dirty="0">
              <a:solidFill>
                <a:schemeClr val="accent6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("%d", 10.0);	</a:t>
            </a:r>
            <a:r>
              <a:rPr lang="en-US" altLang="zh-TW" sz="2400" dirty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10.0</a:t>
            </a:r>
            <a:r>
              <a:rPr lang="en-US" altLang="zh-TW" sz="2400" dirty="0">
                <a:solidFill>
                  <a:schemeClr val="accent6"/>
                </a:solidFill>
                <a:cs typeface="Consolas" panose="020B0609020204030204" pitchFamily="49" charset="0"/>
              </a:rPr>
              <a:t> is a value of type </a:t>
            </a:r>
            <a:r>
              <a:rPr lang="en-US" altLang="zh-TW" sz="2400" dirty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("%.2d", 10);	</a:t>
            </a:r>
            <a:r>
              <a:rPr lang="en-US" altLang="zh-TW" sz="2400" dirty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.2</a:t>
            </a:r>
            <a:r>
              <a:rPr lang="en-US" altLang="zh-TW" sz="2400" dirty="0">
                <a:solidFill>
                  <a:schemeClr val="accent6"/>
                </a:solidFill>
                <a:cs typeface="Consolas" panose="020B0609020204030204" pitchFamily="49" charset="0"/>
              </a:rPr>
              <a:t> does not apply to integer</a:t>
            </a:r>
            <a:endParaRPr lang="en-US" altLang="zh-TW" sz="2400" dirty="0">
              <a:solidFill>
                <a:schemeClr val="accent6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TW" sz="24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("%d %d", 10);	</a:t>
            </a:r>
            <a:r>
              <a:rPr lang="en-US" altLang="zh-TW" sz="2400" dirty="0">
                <a:solidFill>
                  <a:schemeClr val="accent6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</a:t>
            </a:r>
            <a:r>
              <a:rPr lang="en-US" altLang="zh-TW" sz="2400" dirty="0">
                <a:solidFill>
                  <a:schemeClr val="accent6"/>
                </a:solidFill>
                <a:cs typeface="Consolas" panose="020B0609020204030204" pitchFamily="49" charset="0"/>
              </a:rPr>
              <a:t>One argument is omitted</a:t>
            </a:r>
          </a:p>
          <a:p>
            <a:pPr eaLnBrk="1" hangingPunct="1">
              <a:defRPr/>
            </a:pPr>
            <a:endParaRPr lang="en-US" altLang="zh-TW" sz="2500" dirty="0">
              <a:ea typeface="新細明體" charset="-120"/>
            </a:endParaRPr>
          </a:p>
          <a:p>
            <a:pPr lvl="1" eaLnBrk="1" hangingPunct="1">
              <a:defRPr/>
            </a:pPr>
            <a:endParaRPr lang="en-US" altLang="zh-TW" sz="2100" dirty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277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1D4F54-CF66-4921-A6A4-A0D0AB7007D0}" type="slidenum">
              <a:rPr lang="zh-TW" altLang="en-US" sz="1000" smtClean="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>
                <a:ea typeface="新細明體" charset="-120"/>
              </a:rPr>
              <a:t>Summary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33563" y="1143001"/>
            <a:ext cx="8640762" cy="5089525"/>
          </a:xfrm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/>
            <a:r>
              <a:rPr lang="en-US" altLang="zh-TW" sz="2800" b="1" dirty="0">
                <a:ea typeface="新細明體"/>
              </a:rPr>
              <a:t>Syntax</a:t>
            </a:r>
            <a:r>
              <a:rPr lang="en-US" altLang="zh-TW" sz="2800" dirty="0">
                <a:ea typeface="新細明體"/>
              </a:rPr>
              <a:t>: C, as a programming language, has rules that programmers must obey.</a:t>
            </a:r>
            <a:endParaRPr lang="en-US" altLang="zh-TW" sz="2800" dirty="0">
              <a:ea typeface="新細明體"/>
              <a:cs typeface="Calibri"/>
            </a:endParaRPr>
          </a:p>
          <a:p>
            <a:pPr eaLnBrk="1" hangingPunct="1"/>
            <a:endParaRPr lang="en-US" altLang="zh-TW" sz="1600" dirty="0">
              <a:ea typeface="新細明體" charset="-120"/>
            </a:endParaRPr>
          </a:p>
          <a:p>
            <a:pPr eaLnBrk="1" hangingPunct="1"/>
            <a:r>
              <a:rPr lang="en-US" altLang="zh-TW" sz="2800" b="1" dirty="0">
                <a:ea typeface="新細明體"/>
              </a:rPr>
              <a:t>Variable</a:t>
            </a:r>
            <a:r>
              <a:rPr lang="en-US" altLang="zh-TW" sz="2800" dirty="0">
                <a:ea typeface="新細明體"/>
              </a:rPr>
              <a:t>: Holds a value; has a name and a type</a:t>
            </a:r>
            <a:endParaRPr lang="en-US" altLang="zh-TW" sz="2800" dirty="0">
              <a:ea typeface="新細明體"/>
              <a:cs typeface="Calibri"/>
            </a:endParaRPr>
          </a:p>
          <a:p>
            <a:pPr eaLnBrk="1" hangingPunct="1"/>
            <a:r>
              <a:rPr lang="en-US" altLang="zh-TW" sz="2800" b="1" dirty="0">
                <a:ea typeface="新細明體"/>
              </a:rPr>
              <a:t>Assignment operator</a:t>
            </a:r>
            <a:r>
              <a:rPr lang="en-US" altLang="zh-TW" sz="2800" dirty="0">
                <a:ea typeface="新細明體"/>
              </a:rPr>
              <a:t>: For assigning a value to a variable</a:t>
            </a:r>
            <a:endParaRPr lang="en-US" altLang="zh-TW" sz="2800" dirty="0">
              <a:ea typeface="新細明體"/>
              <a:cs typeface="Calibri"/>
            </a:endParaRPr>
          </a:p>
          <a:p>
            <a:pPr eaLnBrk="1" hangingPunct="1"/>
            <a:r>
              <a:rPr lang="en-US" altLang="zh-TW" sz="2800" b="1" dirty="0">
                <a:ea typeface="新細明體"/>
              </a:rPr>
              <a:t>Identifier</a:t>
            </a:r>
            <a:r>
              <a:rPr lang="en-US" altLang="zh-TW" sz="2800" dirty="0">
                <a:ea typeface="新細明體"/>
              </a:rPr>
              <a:t>: Valid name for identifying things in the program</a:t>
            </a:r>
            <a:endParaRPr lang="en-US" altLang="zh-TW" sz="2800" dirty="0">
              <a:ea typeface="新細明體"/>
              <a:cs typeface="Calibri"/>
            </a:endParaRPr>
          </a:p>
          <a:p>
            <a:pPr marL="0" indent="0" eaLnBrk="1" hangingPunct="1">
              <a:buNone/>
            </a:pPr>
            <a:endParaRPr lang="en-US" altLang="zh-TW" sz="1600" b="1" dirty="0">
              <a:ea typeface="新細明體" charset="-120"/>
            </a:endParaRPr>
          </a:p>
          <a:p>
            <a:r>
              <a:rPr lang="en-US" altLang="zh-TW" sz="2800" b="1" dirty="0">
                <a:ea typeface="新細明體"/>
              </a:rPr>
              <a:t>Console </a:t>
            </a:r>
            <a:r>
              <a:rPr lang="en-US" altLang="zh-TW" sz="2800" b="1" dirty="0" err="1">
                <a:ea typeface="新細明體"/>
              </a:rPr>
              <a:t>Input/Output</a:t>
            </a:r>
            <a:r>
              <a:rPr lang="en-US" altLang="zh-TW" sz="2800" b="1" dirty="0">
                <a:ea typeface="新細明體"/>
              </a:rPr>
              <a:t> </a:t>
            </a:r>
            <a:r>
              <a:rPr lang="en-US" altLang="zh-TW" sz="2800" dirty="0">
                <a:ea typeface="新細明體"/>
              </a:rPr>
              <a:t>using </a:t>
            </a:r>
            <a:r>
              <a:rPr lang="en-US" altLang="zh-TW" sz="2800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8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()</a:t>
            </a:r>
            <a:r>
              <a:rPr lang="en-US" altLang="zh-TW" sz="2800" dirty="0">
                <a:ea typeface="新細明體"/>
              </a:rPr>
              <a:t> and </a:t>
            </a:r>
            <a:r>
              <a:rPr lang="en-US" altLang="zh-TW" sz="2800" dirty="0" err="1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8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()</a:t>
            </a:r>
          </a:p>
          <a:p>
            <a:pPr eaLnBrk="1" hangingPunct="1"/>
            <a:endParaRPr lang="en-US" altLang="zh-TW" sz="1600" dirty="0">
              <a:ea typeface="新細明體" charset="-120"/>
            </a:endParaRPr>
          </a:p>
          <a:p>
            <a:pPr marL="0" indent="0" eaLnBrk="1" hangingPunct="1">
              <a:buNone/>
            </a:pPr>
            <a:endParaRPr lang="en-US" altLang="zh-TW" sz="2800" dirty="0">
              <a:solidFill>
                <a:srgbClr val="FF3300"/>
              </a:solidFill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795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2 Introduction to C Programming</a:t>
            </a:r>
          </a:p>
          <a:p>
            <a:pPr lvl="1"/>
            <a:r>
              <a:rPr lang="en-US" dirty="0"/>
              <a:t>Sections 2.1 – 2.7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0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3661</TotalTime>
  <Words>3966</Words>
  <Application>Microsoft Office PowerPoint</Application>
  <PresentationFormat>Widescreen</PresentationFormat>
  <Paragraphs>946</Paragraphs>
  <Slides>45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01b. C Language Basics </vt:lpstr>
      <vt:lpstr>01a. Introduction to Programming</vt:lpstr>
      <vt:lpstr>01b. Outline</vt:lpstr>
      <vt:lpstr>1. Overview of C Language</vt:lpstr>
      <vt:lpstr>1.1. Language Syntax</vt:lpstr>
      <vt:lpstr>PowerPoint Presentation</vt:lpstr>
      <vt:lpstr>1.2. Comments</vt:lpstr>
      <vt:lpstr>1.3. The printf() function(函數)</vt:lpstr>
      <vt:lpstr>1.4. String (字符串) Constant</vt:lpstr>
      <vt:lpstr>1.4. String(字符串) Constant</vt:lpstr>
      <vt:lpstr>PowerPoint Presentation</vt:lpstr>
      <vt:lpstr>1. Overview of C Language</vt:lpstr>
      <vt:lpstr>01b. Outline</vt:lpstr>
      <vt:lpstr>2. Variables and Assignment Operators</vt:lpstr>
      <vt:lpstr>2. Variables</vt:lpstr>
      <vt:lpstr>PowerPoint Presentation</vt:lpstr>
      <vt:lpstr>PowerPoint Presentation</vt:lpstr>
      <vt:lpstr>PowerPoint Presentation</vt:lpstr>
      <vt:lpstr>2.1. Declaring Variables</vt:lpstr>
      <vt:lpstr>PowerPoint Presentation</vt:lpstr>
      <vt:lpstr>PowerPoint Presentation</vt:lpstr>
      <vt:lpstr>PowerPoint Presentation</vt:lpstr>
      <vt:lpstr>2.2. Assigning Value to a Variable</vt:lpstr>
      <vt:lpstr>PowerPoint Presentation</vt:lpstr>
      <vt:lpstr>2.3. Outputting a variable to screen </vt:lpstr>
      <vt:lpstr>01b. Outline</vt:lpstr>
      <vt:lpstr>3. Identifier</vt:lpstr>
      <vt:lpstr>3.1. Identifier</vt:lpstr>
      <vt:lpstr>3.2. Reserved Words</vt:lpstr>
      <vt:lpstr>3.3. Predefined Identifiers</vt:lpstr>
      <vt:lpstr>Naming Variables – Challenge</vt:lpstr>
      <vt:lpstr>Naming Variables – Challenge</vt:lpstr>
      <vt:lpstr>3.4. Naming Conventions (Guidelines)</vt:lpstr>
      <vt:lpstr>01b. Outline</vt:lpstr>
      <vt:lpstr>4. Console Input and Output</vt:lpstr>
      <vt:lpstr>Example 4.1: Reading an integer from the user.</vt:lpstr>
      <vt:lpstr>Example 4.1 explained</vt:lpstr>
      <vt:lpstr>Example 4.2: Reading two integers from the user</vt:lpstr>
      <vt:lpstr>Example 4.2 explained</vt:lpstr>
      <vt:lpstr>Example 5.3: Reading two floating point numbers</vt:lpstr>
      <vt:lpstr>Example 4.3 Explained</vt:lpstr>
      <vt:lpstr>PowerPoint Presentation</vt:lpstr>
      <vt:lpstr>Notes about scanf() and printf()</vt:lpstr>
      <vt:lpstr>Summary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Language Basics </dc:title>
  <cp:lastModifiedBy>Yuli Jiang (CSD)</cp:lastModifiedBy>
  <cp:revision>19</cp:revision>
  <cp:lastPrinted>2023-08-31T05:49:06Z</cp:lastPrinted>
  <dcterms:created xsi:type="dcterms:W3CDTF">2011-07-19T12:51:33Z</dcterms:created>
  <dcterms:modified xsi:type="dcterms:W3CDTF">2025-09-11T07:26:05Z</dcterms:modified>
</cp:coreProperties>
</file>