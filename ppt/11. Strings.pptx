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21" r:id="rId2"/>
    <p:sldId id="317" r:id="rId3"/>
    <p:sldId id="257" r:id="rId4"/>
    <p:sldId id="299" r:id="rId5"/>
    <p:sldId id="298" r:id="rId6"/>
    <p:sldId id="296" r:id="rId7"/>
    <p:sldId id="301" r:id="rId8"/>
    <p:sldId id="302" r:id="rId9"/>
    <p:sldId id="300" r:id="rId10"/>
    <p:sldId id="304" r:id="rId11"/>
    <p:sldId id="319" r:id="rId12"/>
    <p:sldId id="305" r:id="rId13"/>
    <p:sldId id="320" r:id="rId14"/>
    <p:sldId id="308" r:id="rId15"/>
    <p:sldId id="309" r:id="rId16"/>
    <p:sldId id="297" r:id="rId17"/>
    <p:sldId id="313" r:id="rId18"/>
    <p:sldId id="311" r:id="rId19"/>
    <p:sldId id="312" r:id="rId20"/>
    <p:sldId id="314" r:id="rId21"/>
    <p:sldId id="322" r:id="rId22"/>
    <p:sldId id="307" r:id="rId23"/>
    <p:sldId id="318" r:id="rId24"/>
    <p:sldId id="315" r:id="rId25"/>
    <p:sldId id="316" r:id="rId26"/>
  </p:sldIdLst>
  <p:sldSz cx="12192000" cy="6858000"/>
  <p:notesSz cx="6858000" cy="91440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PMingLiU" panose="02020500000000000000" pitchFamily="18" charset="-120"/>
      <p:regular r:id="rId33"/>
    </p:embeddedFont>
    <p:embeddedFont>
      <p:font typeface="Wingdings 2" panose="05020102010507070707" pitchFamily="18" charset="2"/>
      <p:regular r:id="rId34"/>
    </p:embeddedFont>
  </p:embeddedFontLst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 jee Chau (CSD)" initials="CjC(" lastIdx="3" clrIdx="0">
    <p:extLst>
      <p:ext uri="{19B8F6BF-5375-455C-9EA6-DF929625EA0E}">
        <p15:presenceInfo xmlns:p15="http://schemas.microsoft.com/office/powerpoint/2012/main" userId="Chuck jee Chau (CSD)" providerId="None"/>
      </p:ext>
    </p:extLst>
  </p:cmAuthor>
  <p:cmAuthor id="2" name="William Hui (IEG)" initials="W(" lastIdx="1" clrIdx="1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750F6D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26DB0B-984F-4EDC-B56E-2C4A83A18434}" v="125" dt="2025-11-09T17:59:23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525" autoAdjust="0"/>
  </p:normalViewPr>
  <p:slideViewPr>
    <p:cSldViewPr snapToGrid="0">
      <p:cViewPr varScale="1">
        <p:scale>
          <a:sx n="101" d="100"/>
          <a:sy n="101" d="100"/>
        </p:scale>
        <p:origin x="39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 Jiang (CSD)" userId="7c291cd4-aa97-4867-8d2d-ebf5c1c3b419" providerId="ADAL" clId="{8FBD0129-C0BB-4F8A-B9D2-D31C5DC212F7}"/>
    <pc:docChg chg="undo custSel addSld modSld sldOrd">
      <pc:chgData name="Yuli Jiang (CSD)" userId="7c291cd4-aa97-4867-8d2d-ebf5c1c3b419" providerId="ADAL" clId="{8FBD0129-C0BB-4F8A-B9D2-D31C5DC212F7}" dt="2025-11-09T17:59:30.269" v="633" actId="20577"/>
      <pc:docMkLst>
        <pc:docMk/>
      </pc:docMkLst>
      <pc:sldChg chg="mod modTransition modShow">
        <pc:chgData name="Yuli Jiang (CSD)" userId="7c291cd4-aa97-4867-8d2d-ebf5c1c3b419" providerId="ADAL" clId="{8FBD0129-C0BB-4F8A-B9D2-D31C5DC212F7}" dt="2025-11-09T16:16:52.792" v="205"/>
        <pc:sldMkLst>
          <pc:docMk/>
          <pc:sldMk cId="452717289" sldId="257"/>
        </pc:sldMkLst>
      </pc:sldChg>
      <pc:sldChg chg="modSp mod modTransition">
        <pc:chgData name="Yuli Jiang (CSD)" userId="7c291cd4-aa97-4867-8d2d-ebf5c1c3b419" providerId="ADAL" clId="{8FBD0129-C0BB-4F8A-B9D2-D31C5DC212F7}" dt="2025-11-09T16:16:52.792" v="205"/>
        <pc:sldMkLst>
          <pc:docMk/>
          <pc:sldMk cId="3798170173" sldId="296"/>
        </pc:sldMkLst>
        <pc:spChg chg="mod">
          <ac:chgData name="Yuli Jiang (CSD)" userId="7c291cd4-aa97-4867-8d2d-ebf5c1c3b419" providerId="ADAL" clId="{8FBD0129-C0BB-4F8A-B9D2-D31C5DC212F7}" dt="2025-11-09T15:44:59.853" v="79" actId="115"/>
          <ac:spMkLst>
            <pc:docMk/>
            <pc:sldMk cId="3798170173" sldId="296"/>
            <ac:spMk id="3" creationId="{00000000-0000-0000-0000-000000000000}"/>
          </ac:spMkLst>
        </pc:spChg>
      </pc:sldChg>
      <pc:sldChg chg="addSp delSp modSp mod modTransition modAnim">
        <pc:chgData name="Yuli Jiang (CSD)" userId="7c291cd4-aa97-4867-8d2d-ebf5c1c3b419" providerId="ADAL" clId="{8FBD0129-C0BB-4F8A-B9D2-D31C5DC212F7}" dt="2025-11-09T16:57:59.604" v="460"/>
        <pc:sldMkLst>
          <pc:docMk/>
          <pc:sldMk cId="1475132368" sldId="297"/>
        </pc:sldMkLst>
        <pc:spChg chg="del">
          <ac:chgData name="Yuli Jiang (CSD)" userId="7c291cd4-aa97-4867-8d2d-ebf5c1c3b419" providerId="ADAL" clId="{8FBD0129-C0BB-4F8A-B9D2-D31C5DC212F7}" dt="2025-11-09T16:55:40.075" v="435" actId="478"/>
          <ac:spMkLst>
            <pc:docMk/>
            <pc:sldMk cId="1475132368" sldId="297"/>
            <ac:spMk id="5" creationId="{00000000-0000-0000-0000-000000000000}"/>
          </ac:spMkLst>
        </pc:spChg>
        <pc:spChg chg="mod ord">
          <ac:chgData name="Yuli Jiang (CSD)" userId="7c291cd4-aa97-4867-8d2d-ebf5c1c3b419" providerId="ADAL" clId="{8FBD0129-C0BB-4F8A-B9D2-D31C5DC212F7}" dt="2025-11-09T16:56:19.339" v="447" actId="14100"/>
          <ac:spMkLst>
            <pc:docMk/>
            <pc:sldMk cId="1475132368" sldId="297"/>
            <ac:spMk id="7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6:56:21.577" v="450" actId="20577"/>
          <ac:spMkLst>
            <pc:docMk/>
            <pc:sldMk cId="1475132368" sldId="297"/>
            <ac:spMk id="8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6:56:02.053" v="439" actId="14100"/>
          <ac:spMkLst>
            <pc:docMk/>
            <pc:sldMk cId="1475132368" sldId="297"/>
            <ac:spMk id="9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6:51:30.798" v="394" actId="1076"/>
          <ac:spMkLst>
            <pc:docMk/>
            <pc:sldMk cId="1475132368" sldId="297"/>
            <ac:spMk id="10" creationId="{29FCAD1B-F26C-A848-4B4E-8C9C4834C79E}"/>
          </ac:spMkLst>
        </pc:spChg>
        <pc:spChg chg="mod">
          <ac:chgData name="Yuli Jiang (CSD)" userId="7c291cd4-aa97-4867-8d2d-ebf5c1c3b419" providerId="ADAL" clId="{8FBD0129-C0BB-4F8A-B9D2-D31C5DC212F7}" dt="2025-11-09T16:56:43.720" v="452" actId="1076"/>
          <ac:spMkLst>
            <pc:docMk/>
            <pc:sldMk cId="1475132368" sldId="297"/>
            <ac:spMk id="12" creationId="{8EDADA5A-05C5-1668-2013-D3A9E560EA3D}"/>
          </ac:spMkLst>
        </pc:spChg>
        <pc:spChg chg="mod">
          <ac:chgData name="Yuli Jiang (CSD)" userId="7c291cd4-aa97-4867-8d2d-ebf5c1c3b419" providerId="ADAL" clId="{8FBD0129-C0BB-4F8A-B9D2-D31C5DC212F7}" dt="2025-11-09T16:56:36.460" v="451" actId="1076"/>
          <ac:spMkLst>
            <pc:docMk/>
            <pc:sldMk cId="1475132368" sldId="297"/>
            <ac:spMk id="14" creationId="{134F2C4E-F76C-7B76-9244-6B56A240FB03}"/>
          </ac:spMkLst>
        </pc:spChg>
        <pc:spChg chg="add mod">
          <ac:chgData name="Yuli Jiang (CSD)" userId="7c291cd4-aa97-4867-8d2d-ebf5c1c3b419" providerId="ADAL" clId="{8FBD0129-C0BB-4F8A-B9D2-D31C5DC212F7}" dt="2025-11-09T16:51:57.550" v="398" actId="1076"/>
          <ac:spMkLst>
            <pc:docMk/>
            <pc:sldMk cId="1475132368" sldId="297"/>
            <ac:spMk id="15" creationId="{EAF224A3-8FF1-B8FB-2B17-CA39870E49D1}"/>
          </ac:spMkLst>
        </pc:spChg>
        <pc:spChg chg="add mod">
          <ac:chgData name="Yuli Jiang (CSD)" userId="7c291cd4-aa97-4867-8d2d-ebf5c1c3b419" providerId="ADAL" clId="{8FBD0129-C0BB-4F8A-B9D2-D31C5DC212F7}" dt="2025-11-09T16:57:13.850" v="457" actId="207"/>
          <ac:spMkLst>
            <pc:docMk/>
            <pc:sldMk cId="1475132368" sldId="297"/>
            <ac:spMk id="17" creationId="{CB2D201C-2399-273A-004D-5D6D5A0051C2}"/>
          </ac:spMkLst>
        </pc:spChg>
        <pc:spChg chg="add mod">
          <ac:chgData name="Yuli Jiang (CSD)" userId="7c291cd4-aa97-4867-8d2d-ebf5c1c3b419" providerId="ADAL" clId="{8FBD0129-C0BB-4F8A-B9D2-D31C5DC212F7}" dt="2025-11-09T16:57:13.850" v="457" actId="207"/>
          <ac:spMkLst>
            <pc:docMk/>
            <pc:sldMk cId="1475132368" sldId="297"/>
            <ac:spMk id="18" creationId="{55A64E0F-5209-20B2-1B75-FBBCCA09AB0C}"/>
          </ac:spMkLst>
        </pc:spChg>
        <pc:spChg chg="add mod">
          <ac:chgData name="Yuli Jiang (CSD)" userId="7c291cd4-aa97-4867-8d2d-ebf5c1c3b419" providerId="ADAL" clId="{8FBD0129-C0BB-4F8A-B9D2-D31C5DC212F7}" dt="2025-11-09T16:57:13.850" v="457" actId="207"/>
          <ac:spMkLst>
            <pc:docMk/>
            <pc:sldMk cId="1475132368" sldId="297"/>
            <ac:spMk id="19" creationId="{C8180F39-8259-8345-337D-D603A3F12376}"/>
          </ac:spMkLst>
        </pc:spChg>
        <pc:spChg chg="add mod">
          <ac:chgData name="Yuli Jiang (CSD)" userId="7c291cd4-aa97-4867-8d2d-ebf5c1c3b419" providerId="ADAL" clId="{8FBD0129-C0BB-4F8A-B9D2-D31C5DC212F7}" dt="2025-11-09T16:57:13.850" v="457" actId="207"/>
          <ac:spMkLst>
            <pc:docMk/>
            <pc:sldMk cId="1475132368" sldId="297"/>
            <ac:spMk id="20" creationId="{1E8FBC92-D5AA-398A-178F-827420C6440C}"/>
          </ac:spMkLst>
        </pc:spChg>
        <pc:graphicFrameChg chg="mod modGraphic">
          <ac:chgData name="Yuli Jiang (CSD)" userId="7c291cd4-aa97-4867-8d2d-ebf5c1c3b419" providerId="ADAL" clId="{8FBD0129-C0BB-4F8A-B9D2-D31C5DC212F7}" dt="2025-11-09T16:54:31.476" v="419" actId="5793"/>
          <ac:graphicFrameMkLst>
            <pc:docMk/>
            <pc:sldMk cId="1475132368" sldId="297"/>
            <ac:graphicFrameMk id="3" creationId="{5438EBE8-AC63-073C-8BCD-540A0ED3447E}"/>
          </ac:graphicFrameMkLst>
        </pc:graphicFrameChg>
        <pc:graphicFrameChg chg="add mod modGraphic">
          <ac:chgData name="Yuli Jiang (CSD)" userId="7c291cd4-aa97-4867-8d2d-ebf5c1c3b419" providerId="ADAL" clId="{8FBD0129-C0BB-4F8A-B9D2-D31C5DC212F7}" dt="2025-11-09T16:54:38.782" v="423" actId="5793"/>
          <ac:graphicFrameMkLst>
            <pc:docMk/>
            <pc:sldMk cId="1475132368" sldId="297"/>
            <ac:graphicFrameMk id="6" creationId="{082B3632-DC5C-8AC7-703E-FB47279A282E}"/>
          </ac:graphicFrameMkLst>
        </pc:graphicFrameChg>
        <pc:graphicFrameChg chg="mod modGraphic">
          <ac:chgData name="Yuli Jiang (CSD)" userId="7c291cd4-aa97-4867-8d2d-ebf5c1c3b419" providerId="ADAL" clId="{8FBD0129-C0BB-4F8A-B9D2-D31C5DC212F7}" dt="2025-11-09T16:56:43.720" v="452" actId="1076"/>
          <ac:graphicFrameMkLst>
            <pc:docMk/>
            <pc:sldMk cId="1475132368" sldId="297"/>
            <ac:graphicFrameMk id="11" creationId="{6E1BEFEE-242B-2D5E-6C85-685E140ECF70}"/>
          </ac:graphicFrameMkLst>
        </pc:graphicFrameChg>
        <pc:graphicFrameChg chg="mod modGraphic">
          <ac:chgData name="Yuli Jiang (CSD)" userId="7c291cd4-aa97-4867-8d2d-ebf5c1c3b419" providerId="ADAL" clId="{8FBD0129-C0BB-4F8A-B9D2-D31C5DC212F7}" dt="2025-11-09T16:56:36.460" v="451" actId="1076"/>
          <ac:graphicFrameMkLst>
            <pc:docMk/>
            <pc:sldMk cId="1475132368" sldId="297"/>
            <ac:graphicFrameMk id="13" creationId="{0C53CF9A-AC42-9977-F4DA-48B712443C00}"/>
          </ac:graphicFrameMkLst>
        </pc:graphicFrameChg>
      </pc:sldChg>
      <pc:sldChg chg="addSp modSp mod modTransition">
        <pc:chgData name="Yuli Jiang (CSD)" userId="7c291cd4-aa97-4867-8d2d-ebf5c1c3b419" providerId="ADAL" clId="{8FBD0129-C0BB-4F8A-B9D2-D31C5DC212F7}" dt="2025-11-09T17:49:19.395" v="609" actId="1076"/>
        <pc:sldMkLst>
          <pc:docMk/>
          <pc:sldMk cId="3699262746" sldId="298"/>
        </pc:sldMkLst>
        <pc:spChg chg="mod">
          <ac:chgData name="Yuli Jiang (CSD)" userId="7c291cd4-aa97-4867-8d2d-ebf5c1c3b419" providerId="ADAL" clId="{8FBD0129-C0BB-4F8A-B9D2-D31C5DC212F7}" dt="2025-11-09T15:48:45.783" v="161" actId="207"/>
          <ac:spMkLst>
            <pc:docMk/>
            <pc:sldMk cId="3699262746" sldId="298"/>
            <ac:spMk id="3" creationId="{00000000-0000-0000-0000-000000000000}"/>
          </ac:spMkLst>
        </pc:spChg>
        <pc:spChg chg="add mod">
          <ac:chgData name="Yuli Jiang (CSD)" userId="7c291cd4-aa97-4867-8d2d-ebf5c1c3b419" providerId="ADAL" clId="{8FBD0129-C0BB-4F8A-B9D2-D31C5DC212F7}" dt="2025-11-09T17:49:19.395" v="609" actId="1076"/>
          <ac:spMkLst>
            <pc:docMk/>
            <pc:sldMk cId="3699262746" sldId="298"/>
            <ac:spMk id="4" creationId="{885F086B-AC01-4234-22F4-2D914A804EA3}"/>
          </ac:spMkLst>
        </pc:spChg>
        <pc:graphicFrameChg chg="add mod modGraphic">
          <ac:chgData name="Yuli Jiang (CSD)" userId="7c291cd4-aa97-4867-8d2d-ebf5c1c3b419" providerId="ADAL" clId="{8FBD0129-C0BB-4F8A-B9D2-D31C5DC212F7}" dt="2025-11-09T17:49:15.303" v="608" actId="1076"/>
          <ac:graphicFrameMkLst>
            <pc:docMk/>
            <pc:sldMk cId="3699262746" sldId="298"/>
            <ac:graphicFrameMk id="5" creationId="{85BCAC74-58D6-98EE-F0FA-94CFB0C7A96F}"/>
          </ac:graphicFrameMkLst>
        </pc:graphicFrameChg>
      </pc:sldChg>
      <pc:sldChg chg="addSp modSp mod ord modTransition">
        <pc:chgData name="Yuli Jiang (CSD)" userId="7c291cd4-aa97-4867-8d2d-ebf5c1c3b419" providerId="ADAL" clId="{8FBD0129-C0BB-4F8A-B9D2-D31C5DC212F7}" dt="2025-11-09T16:16:52.792" v="205"/>
        <pc:sldMkLst>
          <pc:docMk/>
          <pc:sldMk cId="1895192307" sldId="299"/>
        </pc:sldMkLst>
        <pc:spChg chg="mod">
          <ac:chgData name="Yuli Jiang (CSD)" userId="7c291cd4-aa97-4867-8d2d-ebf5c1c3b419" providerId="ADAL" clId="{8FBD0129-C0BB-4F8A-B9D2-D31C5DC212F7}" dt="2025-11-09T15:44:01.672" v="78" actId="20577"/>
          <ac:spMkLst>
            <pc:docMk/>
            <pc:sldMk cId="1895192307" sldId="299"/>
            <ac:spMk id="3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5:58:01.581" v="192" actId="1076"/>
          <ac:spMkLst>
            <pc:docMk/>
            <pc:sldMk cId="1895192307" sldId="299"/>
            <ac:spMk id="5" creationId="{00000000-0000-0000-0000-000000000000}"/>
          </ac:spMkLst>
        </pc:spChg>
        <pc:spChg chg="add mod">
          <ac:chgData name="Yuli Jiang (CSD)" userId="7c291cd4-aa97-4867-8d2d-ebf5c1c3b419" providerId="ADAL" clId="{8FBD0129-C0BB-4F8A-B9D2-D31C5DC212F7}" dt="2025-11-09T15:58:13.724" v="198" actId="20577"/>
          <ac:spMkLst>
            <pc:docMk/>
            <pc:sldMk cId="1895192307" sldId="299"/>
            <ac:spMk id="6" creationId="{617624D9-11C9-FAD0-950F-275BE3AD82EC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1-09T16:17:41.024" v="209" actId="20577"/>
        <pc:sldMkLst>
          <pc:docMk/>
          <pc:sldMk cId="586697572" sldId="300"/>
        </pc:sldMkLst>
        <pc:spChg chg="mod">
          <ac:chgData name="Yuli Jiang (CSD)" userId="7c291cd4-aa97-4867-8d2d-ebf5c1c3b419" providerId="ADAL" clId="{8FBD0129-C0BB-4F8A-B9D2-D31C5DC212F7}" dt="2025-11-09T16:17:41.024" v="209" actId="20577"/>
          <ac:spMkLst>
            <pc:docMk/>
            <pc:sldMk cId="586697572" sldId="300"/>
            <ac:spMk id="11268" creationId="{00000000-0000-0000-0000-000000000000}"/>
          </ac:spMkLst>
        </pc:spChg>
      </pc:sldChg>
      <pc:sldChg chg="addSp modSp mod modTransition">
        <pc:chgData name="Yuli Jiang (CSD)" userId="7c291cd4-aa97-4867-8d2d-ebf5c1c3b419" providerId="ADAL" clId="{8FBD0129-C0BB-4F8A-B9D2-D31C5DC212F7}" dt="2025-11-09T16:16:52.792" v="205"/>
        <pc:sldMkLst>
          <pc:docMk/>
          <pc:sldMk cId="1445429554" sldId="301"/>
        </pc:sldMkLst>
        <pc:spChg chg="add mod">
          <ac:chgData name="Yuli Jiang (CSD)" userId="7c291cd4-aa97-4867-8d2d-ebf5c1c3b419" providerId="ADAL" clId="{8FBD0129-C0BB-4F8A-B9D2-D31C5DC212F7}" dt="2025-11-09T16:14:27.412" v="200" actId="1076"/>
          <ac:spMkLst>
            <pc:docMk/>
            <pc:sldMk cId="1445429554" sldId="301"/>
            <ac:spMk id="2" creationId="{AE323D90-C069-EDCE-5D61-8D3604153728}"/>
          </ac:spMkLst>
        </pc:spChg>
        <pc:spChg chg="mod">
          <ac:chgData name="Yuli Jiang (CSD)" userId="7c291cd4-aa97-4867-8d2d-ebf5c1c3b419" providerId="ADAL" clId="{8FBD0129-C0BB-4F8A-B9D2-D31C5DC212F7}" dt="2025-11-09T15:45:58.827" v="81" actId="27636"/>
          <ac:spMkLst>
            <pc:docMk/>
            <pc:sldMk cId="1445429554" sldId="301"/>
            <ac:spMk id="16388" creationId="{00000000-0000-0000-0000-000000000000}"/>
          </ac:spMkLst>
        </pc:spChg>
      </pc:sldChg>
      <pc:sldChg chg="modTransition">
        <pc:chgData name="Yuli Jiang (CSD)" userId="7c291cd4-aa97-4867-8d2d-ebf5c1c3b419" providerId="ADAL" clId="{8FBD0129-C0BB-4F8A-B9D2-D31C5DC212F7}" dt="2025-11-09T16:16:52.792" v="205"/>
        <pc:sldMkLst>
          <pc:docMk/>
          <pc:sldMk cId="2740529000" sldId="302"/>
        </pc:sldMkLst>
      </pc:sldChg>
      <pc:sldChg chg="modSp mod modTransition">
        <pc:chgData name="Yuli Jiang (CSD)" userId="7c291cd4-aa97-4867-8d2d-ebf5c1c3b419" providerId="ADAL" clId="{8FBD0129-C0BB-4F8A-B9D2-D31C5DC212F7}" dt="2025-11-09T16:18:57.569" v="214" actId="207"/>
        <pc:sldMkLst>
          <pc:docMk/>
          <pc:sldMk cId="966279763" sldId="304"/>
        </pc:sldMkLst>
        <pc:spChg chg="mod">
          <ac:chgData name="Yuli Jiang (CSD)" userId="7c291cd4-aa97-4867-8d2d-ebf5c1c3b419" providerId="ADAL" clId="{8FBD0129-C0BB-4F8A-B9D2-D31C5DC212F7}" dt="2025-11-09T16:18:57.569" v="214" actId="207"/>
          <ac:spMkLst>
            <pc:docMk/>
            <pc:sldMk cId="966279763" sldId="304"/>
            <ac:spMk id="7" creationId="{00000000-0000-0000-0000-000000000000}"/>
          </ac:spMkLst>
        </pc:spChg>
      </pc:sldChg>
      <pc:sldChg chg="modTransition addAnim delAnim modAnim">
        <pc:chgData name="Yuli Jiang (CSD)" userId="7c291cd4-aa97-4867-8d2d-ebf5c1c3b419" providerId="ADAL" clId="{8FBD0129-C0BB-4F8A-B9D2-D31C5DC212F7}" dt="2025-11-09T16:26:46.306" v="230"/>
        <pc:sldMkLst>
          <pc:docMk/>
          <pc:sldMk cId="3857374457" sldId="305"/>
        </pc:sldMkLst>
      </pc:sldChg>
      <pc:sldChg chg="modTransition">
        <pc:chgData name="Yuli Jiang (CSD)" userId="7c291cd4-aa97-4867-8d2d-ebf5c1c3b419" providerId="ADAL" clId="{8FBD0129-C0BB-4F8A-B9D2-D31C5DC212F7}" dt="2025-11-09T16:16:52.792" v="205"/>
        <pc:sldMkLst>
          <pc:docMk/>
          <pc:sldMk cId="3496848778" sldId="307"/>
        </pc:sldMkLst>
      </pc:sldChg>
      <pc:sldChg chg="modSp mod modTransition">
        <pc:chgData name="Yuli Jiang (CSD)" userId="7c291cd4-aa97-4867-8d2d-ebf5c1c3b419" providerId="ADAL" clId="{8FBD0129-C0BB-4F8A-B9D2-D31C5DC212F7}" dt="2025-11-09T16:54:15.286" v="415" actId="20577"/>
        <pc:sldMkLst>
          <pc:docMk/>
          <pc:sldMk cId="2130734698" sldId="308"/>
        </pc:sldMkLst>
        <pc:spChg chg="mod">
          <ac:chgData name="Yuli Jiang (CSD)" userId="7c291cd4-aa97-4867-8d2d-ebf5c1c3b419" providerId="ADAL" clId="{8FBD0129-C0BB-4F8A-B9D2-D31C5DC212F7}" dt="2025-11-09T16:39:20.194" v="276" actId="20577"/>
          <ac:spMkLst>
            <pc:docMk/>
            <pc:sldMk cId="2130734698" sldId="308"/>
            <ac:spMk id="11268" creationId="{00000000-0000-0000-0000-000000000000}"/>
          </ac:spMkLst>
        </pc:spChg>
        <pc:graphicFrameChg chg="modGraphic">
          <ac:chgData name="Yuli Jiang (CSD)" userId="7c291cd4-aa97-4867-8d2d-ebf5c1c3b419" providerId="ADAL" clId="{8FBD0129-C0BB-4F8A-B9D2-D31C5DC212F7}" dt="2025-11-09T16:54:15.286" v="415" actId="20577"/>
          <ac:graphicFrameMkLst>
            <pc:docMk/>
            <pc:sldMk cId="2130734698" sldId="308"/>
            <ac:graphicFrameMk id="5" creationId="{87A9BE68-C104-FA44-B352-4C2283416824}"/>
          </ac:graphicFrameMkLst>
        </pc:graphicFrameChg>
      </pc:sldChg>
      <pc:sldChg chg="addSp modSp mod modTransition addAnim delAnim modAnim">
        <pc:chgData name="Yuli Jiang (CSD)" userId="7c291cd4-aa97-4867-8d2d-ebf5c1c3b419" providerId="ADAL" clId="{8FBD0129-C0BB-4F8A-B9D2-D31C5DC212F7}" dt="2025-11-09T16:50:16.187" v="393" actId="14100"/>
        <pc:sldMkLst>
          <pc:docMk/>
          <pc:sldMk cId="3091164494" sldId="309"/>
        </pc:sldMkLst>
        <pc:spChg chg="mod">
          <ac:chgData name="Yuli Jiang (CSD)" userId="7c291cd4-aa97-4867-8d2d-ebf5c1c3b419" providerId="ADAL" clId="{8FBD0129-C0BB-4F8A-B9D2-D31C5DC212F7}" dt="2025-11-09T16:43:58.885" v="313" actId="1076"/>
          <ac:spMkLst>
            <pc:docMk/>
            <pc:sldMk cId="3091164494" sldId="309"/>
            <ac:spMk id="3" creationId="{AFA590CA-6293-1B41-A63E-1B64939AF74F}"/>
          </ac:spMkLst>
        </pc:spChg>
        <pc:spChg chg="mod">
          <ac:chgData name="Yuli Jiang (CSD)" userId="7c291cd4-aa97-4867-8d2d-ebf5c1c3b419" providerId="ADAL" clId="{8FBD0129-C0BB-4F8A-B9D2-D31C5DC212F7}" dt="2025-11-09T16:41:54.382" v="284" actId="14100"/>
          <ac:spMkLst>
            <pc:docMk/>
            <pc:sldMk cId="3091164494" sldId="309"/>
            <ac:spMk id="4" creationId="{4AFD421B-9D91-601B-91AB-45FF3031C903}"/>
          </ac:spMkLst>
        </pc:spChg>
        <pc:spChg chg="add mod">
          <ac:chgData name="Yuli Jiang (CSD)" userId="7c291cd4-aa97-4867-8d2d-ebf5c1c3b419" providerId="ADAL" clId="{8FBD0129-C0BB-4F8A-B9D2-D31C5DC212F7}" dt="2025-11-09T16:46:23.827" v="363" actId="1076"/>
          <ac:spMkLst>
            <pc:docMk/>
            <pc:sldMk cId="3091164494" sldId="309"/>
            <ac:spMk id="5" creationId="{2243A74A-0414-E1FC-AB3C-6D30D370B94A}"/>
          </ac:spMkLst>
        </pc:spChg>
        <pc:spChg chg="mod">
          <ac:chgData name="Yuli Jiang (CSD)" userId="7c291cd4-aa97-4867-8d2d-ebf5c1c3b419" providerId="ADAL" clId="{8FBD0129-C0BB-4F8A-B9D2-D31C5DC212F7}" dt="2025-11-09T16:46:38.217" v="368" actId="1076"/>
          <ac:spMkLst>
            <pc:docMk/>
            <pc:sldMk cId="3091164494" sldId="309"/>
            <ac:spMk id="6" creationId="{E5672567-7313-0612-D83F-F92E61C08658}"/>
          </ac:spMkLst>
        </pc:spChg>
        <pc:spChg chg="add mod ord">
          <ac:chgData name="Yuli Jiang (CSD)" userId="7c291cd4-aa97-4867-8d2d-ebf5c1c3b419" providerId="ADAL" clId="{8FBD0129-C0BB-4F8A-B9D2-D31C5DC212F7}" dt="2025-11-09T16:46:21.172" v="362" actId="1076"/>
          <ac:spMkLst>
            <pc:docMk/>
            <pc:sldMk cId="3091164494" sldId="309"/>
            <ac:spMk id="7" creationId="{94AE5FA5-015D-4196-C43C-FB006FC8FED6}"/>
          </ac:spMkLst>
        </pc:spChg>
        <pc:spChg chg="add mod">
          <ac:chgData name="Yuli Jiang (CSD)" userId="7c291cd4-aa97-4867-8d2d-ebf5c1c3b419" providerId="ADAL" clId="{8FBD0129-C0BB-4F8A-B9D2-D31C5DC212F7}" dt="2025-11-09T16:46:19.752" v="361" actId="14100"/>
          <ac:spMkLst>
            <pc:docMk/>
            <pc:sldMk cId="3091164494" sldId="309"/>
            <ac:spMk id="11" creationId="{40547CBD-3580-C316-BE89-EE8D8A485186}"/>
          </ac:spMkLst>
        </pc:spChg>
        <pc:spChg chg="add mod">
          <ac:chgData name="Yuli Jiang (CSD)" userId="7c291cd4-aa97-4867-8d2d-ebf5c1c3b419" providerId="ADAL" clId="{8FBD0129-C0BB-4F8A-B9D2-D31C5DC212F7}" dt="2025-11-09T16:47:36.225" v="375" actId="1076"/>
          <ac:spMkLst>
            <pc:docMk/>
            <pc:sldMk cId="3091164494" sldId="309"/>
            <ac:spMk id="12" creationId="{5506E023-B692-DA53-9B56-95899C910414}"/>
          </ac:spMkLst>
        </pc:spChg>
        <pc:spChg chg="mod">
          <ac:chgData name="Yuli Jiang (CSD)" userId="7c291cd4-aa97-4867-8d2d-ebf5c1c3b419" providerId="ADAL" clId="{8FBD0129-C0BB-4F8A-B9D2-D31C5DC212F7}" dt="2025-11-09T16:50:16.187" v="393" actId="14100"/>
          <ac:spMkLst>
            <pc:docMk/>
            <pc:sldMk cId="3091164494" sldId="309"/>
            <ac:spMk id="11268" creationId="{00000000-0000-0000-0000-000000000000}"/>
          </ac:spMkLst>
        </pc:spChg>
        <pc:graphicFrameChg chg="mod">
          <ac:chgData name="Yuli Jiang (CSD)" userId="7c291cd4-aa97-4867-8d2d-ebf5c1c3b419" providerId="ADAL" clId="{8FBD0129-C0BB-4F8A-B9D2-D31C5DC212F7}" dt="2025-11-09T16:43:58.885" v="313" actId="1076"/>
          <ac:graphicFrameMkLst>
            <pc:docMk/>
            <pc:sldMk cId="3091164494" sldId="309"/>
            <ac:graphicFrameMk id="2" creationId="{ED2E97D1-48AD-A73A-72BA-9822928DAA43}"/>
          </ac:graphicFrameMkLst>
        </pc:graphicFrameChg>
      </pc:sldChg>
      <pc:sldChg chg="addSp modSp mod modTransition addAnim delAnim modAnim">
        <pc:chgData name="Yuli Jiang (CSD)" userId="7c291cd4-aa97-4867-8d2d-ebf5c1c3b419" providerId="ADAL" clId="{8FBD0129-C0BB-4F8A-B9D2-D31C5DC212F7}" dt="2025-11-09T17:23:03.705" v="521"/>
        <pc:sldMkLst>
          <pc:docMk/>
          <pc:sldMk cId="2378207661" sldId="311"/>
        </pc:sldMkLst>
        <pc:spChg chg="add mod">
          <ac:chgData name="Yuli Jiang (CSD)" userId="7c291cd4-aa97-4867-8d2d-ebf5c1c3b419" providerId="ADAL" clId="{8FBD0129-C0BB-4F8A-B9D2-D31C5DC212F7}" dt="2025-11-09T17:21:35.635" v="507" actId="1076"/>
          <ac:spMkLst>
            <pc:docMk/>
            <pc:sldMk cId="2378207661" sldId="311"/>
            <ac:spMk id="2" creationId="{41FF49BF-EFF0-033C-E224-E5A15B68769E}"/>
          </ac:spMkLst>
        </pc:spChg>
        <pc:spChg chg="mod">
          <ac:chgData name="Yuli Jiang (CSD)" userId="7c291cd4-aa97-4867-8d2d-ebf5c1c3b419" providerId="ADAL" clId="{8FBD0129-C0BB-4F8A-B9D2-D31C5DC212F7}" dt="2025-11-09T17:18:54.497" v="486" actId="27636"/>
          <ac:spMkLst>
            <pc:docMk/>
            <pc:sldMk cId="2378207661" sldId="311"/>
            <ac:spMk id="32771" creationId="{00000000-0000-0000-0000-000000000000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1-09T17:25:21.383" v="528" actId="13926"/>
        <pc:sldMkLst>
          <pc:docMk/>
          <pc:sldMk cId="345672153" sldId="312"/>
        </pc:sldMkLst>
        <pc:spChg chg="mod">
          <ac:chgData name="Yuli Jiang (CSD)" userId="7c291cd4-aa97-4867-8d2d-ebf5c1c3b419" providerId="ADAL" clId="{8FBD0129-C0BB-4F8A-B9D2-D31C5DC212F7}" dt="2025-11-09T17:25:21.383" v="528" actId="13926"/>
          <ac:spMkLst>
            <pc:docMk/>
            <pc:sldMk cId="345672153" sldId="312"/>
            <ac:spMk id="11268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7:24:48.419" v="524" actId="14100"/>
          <ac:spMkLst>
            <pc:docMk/>
            <pc:sldMk cId="345672153" sldId="312"/>
            <ac:spMk id="11269" creationId="{00000000-0000-0000-0000-000000000000}"/>
          </ac:spMkLst>
        </pc:spChg>
      </pc:sldChg>
      <pc:sldChg chg="addSp modSp mod modTransition addAnim delAnim modAnim">
        <pc:chgData name="Yuli Jiang (CSD)" userId="7c291cd4-aa97-4867-8d2d-ebf5c1c3b419" providerId="ADAL" clId="{8FBD0129-C0BB-4F8A-B9D2-D31C5DC212F7}" dt="2025-11-09T17:17:35.187" v="484"/>
        <pc:sldMkLst>
          <pc:docMk/>
          <pc:sldMk cId="1767656348" sldId="313"/>
        </pc:sldMkLst>
        <pc:spChg chg="mod">
          <ac:chgData name="Yuli Jiang (CSD)" userId="7c291cd4-aa97-4867-8d2d-ebf5c1c3b419" providerId="ADAL" clId="{8FBD0129-C0BB-4F8A-B9D2-D31C5DC212F7}" dt="2025-11-09T17:16:42.762" v="475" actId="1076"/>
          <ac:spMkLst>
            <pc:docMk/>
            <pc:sldMk cId="1767656348" sldId="313"/>
            <ac:spMk id="2" creationId="{00000000-0000-0000-0000-000000000000}"/>
          </ac:spMkLst>
        </pc:spChg>
        <pc:spChg chg="add mod">
          <ac:chgData name="Yuli Jiang (CSD)" userId="7c291cd4-aa97-4867-8d2d-ebf5c1c3b419" providerId="ADAL" clId="{8FBD0129-C0BB-4F8A-B9D2-D31C5DC212F7}" dt="2025-11-09T17:16:30.723" v="474" actId="14100"/>
          <ac:spMkLst>
            <pc:docMk/>
            <pc:sldMk cId="1767656348" sldId="313"/>
            <ac:spMk id="3" creationId="{22D52767-73DE-8C91-82B2-834B1F9BA34E}"/>
          </ac:spMkLst>
        </pc:spChg>
        <pc:spChg chg="add mod">
          <ac:chgData name="Yuli Jiang (CSD)" userId="7c291cd4-aa97-4867-8d2d-ebf5c1c3b419" providerId="ADAL" clId="{8FBD0129-C0BB-4F8A-B9D2-D31C5DC212F7}" dt="2025-11-09T17:16:46.140" v="476" actId="1076"/>
          <ac:spMkLst>
            <pc:docMk/>
            <pc:sldMk cId="1767656348" sldId="313"/>
            <ac:spMk id="4" creationId="{82FA59C6-83EF-ED4C-8209-B2E63A8B29A7}"/>
          </ac:spMkLst>
        </pc:spChg>
      </pc:sldChg>
      <pc:sldChg chg="addSp modSp mod modTransition">
        <pc:chgData name="Yuli Jiang (CSD)" userId="7c291cd4-aa97-4867-8d2d-ebf5c1c3b419" providerId="ADAL" clId="{8FBD0129-C0BB-4F8A-B9D2-D31C5DC212F7}" dt="2025-11-09T17:59:04.662" v="631" actId="1076"/>
        <pc:sldMkLst>
          <pc:docMk/>
          <pc:sldMk cId="4219756003" sldId="314"/>
        </pc:sldMkLst>
        <pc:graphicFrameChg chg="add mod modGraphic">
          <ac:chgData name="Yuli Jiang (CSD)" userId="7c291cd4-aa97-4867-8d2d-ebf5c1c3b419" providerId="ADAL" clId="{8FBD0129-C0BB-4F8A-B9D2-D31C5DC212F7}" dt="2025-11-09T17:59:04.662" v="631" actId="1076"/>
          <ac:graphicFrameMkLst>
            <pc:docMk/>
            <pc:sldMk cId="4219756003" sldId="314"/>
            <ac:graphicFrameMk id="2" creationId="{2BC14BE4-B656-631C-4752-AE6990D832DE}"/>
          </ac:graphicFrameMkLst>
        </pc:graphicFrameChg>
        <pc:graphicFrameChg chg="mod modGraphic">
          <ac:chgData name="Yuli Jiang (CSD)" userId="7c291cd4-aa97-4867-8d2d-ebf5c1c3b419" providerId="ADAL" clId="{8FBD0129-C0BB-4F8A-B9D2-D31C5DC212F7}" dt="2025-11-09T17:58:46.847" v="630" actId="1076"/>
          <ac:graphicFrameMkLst>
            <pc:docMk/>
            <pc:sldMk cId="4219756003" sldId="314"/>
            <ac:graphicFrameMk id="497700" creationId="{00000000-0000-0000-0000-000000000000}"/>
          </ac:graphicFrameMkLst>
        </pc:graphicFrameChg>
      </pc:sldChg>
      <pc:sldChg chg="modSp mod modTransition">
        <pc:chgData name="Yuli Jiang (CSD)" userId="7c291cd4-aa97-4867-8d2d-ebf5c1c3b419" providerId="ADAL" clId="{8FBD0129-C0BB-4F8A-B9D2-D31C5DC212F7}" dt="2025-11-09T17:36:19.009" v="574" actId="108"/>
        <pc:sldMkLst>
          <pc:docMk/>
          <pc:sldMk cId="1524232807" sldId="315"/>
        </pc:sldMkLst>
        <pc:spChg chg="mod">
          <ac:chgData name="Yuli Jiang (CSD)" userId="7c291cd4-aa97-4867-8d2d-ebf5c1c3b419" providerId="ADAL" clId="{8FBD0129-C0BB-4F8A-B9D2-D31C5DC212F7}" dt="2025-11-09T17:36:19.009" v="574" actId="108"/>
          <ac:spMkLst>
            <pc:docMk/>
            <pc:sldMk cId="1524232807" sldId="315"/>
            <ac:spMk id="3" creationId="{00000000-0000-0000-0000-000000000000}"/>
          </ac:spMkLst>
        </pc:spChg>
      </pc:sldChg>
      <pc:sldChg chg="modTransition">
        <pc:chgData name="Yuli Jiang (CSD)" userId="7c291cd4-aa97-4867-8d2d-ebf5c1c3b419" providerId="ADAL" clId="{8FBD0129-C0BB-4F8A-B9D2-D31C5DC212F7}" dt="2025-11-09T16:16:52.792" v="205"/>
        <pc:sldMkLst>
          <pc:docMk/>
          <pc:sldMk cId="1700934625" sldId="316"/>
        </pc:sldMkLst>
      </pc:sldChg>
      <pc:sldChg chg="modSp mod modTransition">
        <pc:chgData name="Yuli Jiang (CSD)" userId="7c291cd4-aa97-4867-8d2d-ebf5c1c3b419" providerId="ADAL" clId="{8FBD0129-C0BB-4F8A-B9D2-D31C5DC212F7}" dt="2025-11-09T16:16:52.792" v="205"/>
        <pc:sldMkLst>
          <pc:docMk/>
          <pc:sldMk cId="2992737532" sldId="317"/>
        </pc:sldMkLst>
        <pc:spChg chg="mod">
          <ac:chgData name="Yuli Jiang (CSD)" userId="7c291cd4-aa97-4867-8d2d-ebf5c1c3b419" providerId="ADAL" clId="{8FBD0129-C0BB-4F8A-B9D2-D31C5DC212F7}" dt="2025-11-09T15:38:00.509" v="56" actId="1076"/>
          <ac:spMkLst>
            <pc:docMk/>
            <pc:sldMk cId="2992737532" sldId="317"/>
            <ac:spMk id="2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5:38:09.460" v="59" actId="20577"/>
          <ac:spMkLst>
            <pc:docMk/>
            <pc:sldMk cId="2992737532" sldId="317"/>
            <ac:spMk id="3" creationId="{493BCD84-BD7F-C008-8493-DF32DE702C2A}"/>
          </ac:spMkLst>
        </pc:spChg>
      </pc:sldChg>
      <pc:sldChg chg="modSp mod modTransition addAnim delAnim modAnim">
        <pc:chgData name="Yuli Jiang (CSD)" userId="7c291cd4-aa97-4867-8d2d-ebf5c1c3b419" providerId="ADAL" clId="{8FBD0129-C0BB-4F8A-B9D2-D31C5DC212F7}" dt="2025-11-09T17:38:47.499" v="603" actId="5793"/>
        <pc:sldMkLst>
          <pc:docMk/>
          <pc:sldMk cId="697060923" sldId="318"/>
        </pc:sldMkLst>
        <pc:spChg chg="mod">
          <ac:chgData name="Yuli Jiang (CSD)" userId="7c291cd4-aa97-4867-8d2d-ebf5c1c3b419" providerId="ADAL" clId="{8FBD0129-C0BB-4F8A-B9D2-D31C5DC212F7}" dt="2025-11-09T17:37:29.314" v="577" actId="20577"/>
          <ac:spMkLst>
            <pc:docMk/>
            <pc:sldMk cId="697060923" sldId="318"/>
            <ac:spMk id="11268" creationId="{00000000-0000-0000-0000-000000000000}"/>
          </ac:spMkLst>
        </pc:spChg>
        <pc:graphicFrameChg chg="modGraphic">
          <ac:chgData name="Yuli Jiang (CSD)" userId="7c291cd4-aa97-4867-8d2d-ebf5c1c3b419" providerId="ADAL" clId="{8FBD0129-C0BB-4F8A-B9D2-D31C5DC212F7}" dt="2025-11-09T17:38:46.373" v="599" actId="5793"/>
          <ac:graphicFrameMkLst>
            <pc:docMk/>
            <pc:sldMk cId="697060923" sldId="318"/>
            <ac:graphicFrameMk id="2" creationId="{7FF84122-E2BF-1975-B7D1-B7ADDE720AE5}"/>
          </ac:graphicFrameMkLst>
        </pc:graphicFrameChg>
        <pc:graphicFrameChg chg="modGraphic">
          <ac:chgData name="Yuli Jiang (CSD)" userId="7c291cd4-aa97-4867-8d2d-ebf5c1c3b419" providerId="ADAL" clId="{8FBD0129-C0BB-4F8A-B9D2-D31C5DC212F7}" dt="2025-11-09T17:38:47.499" v="603" actId="5793"/>
          <ac:graphicFrameMkLst>
            <pc:docMk/>
            <pc:sldMk cId="697060923" sldId="318"/>
            <ac:graphicFrameMk id="5" creationId="{9B2028F0-AD0A-5987-A0A3-4E2CD2F7BCCC}"/>
          </ac:graphicFrameMkLst>
        </pc:graphicFrameChg>
      </pc:sldChg>
      <pc:sldChg chg="modSp mod modTransition">
        <pc:chgData name="Yuli Jiang (CSD)" userId="7c291cd4-aa97-4867-8d2d-ebf5c1c3b419" providerId="ADAL" clId="{8FBD0129-C0BB-4F8A-B9D2-D31C5DC212F7}" dt="2025-11-09T16:33:10.035" v="257" actId="27636"/>
        <pc:sldMkLst>
          <pc:docMk/>
          <pc:sldMk cId="3024343335" sldId="319"/>
        </pc:sldMkLst>
        <pc:spChg chg="mod">
          <ac:chgData name="Yuli Jiang (CSD)" userId="7c291cd4-aa97-4867-8d2d-ebf5c1c3b419" providerId="ADAL" clId="{8FBD0129-C0BB-4F8A-B9D2-D31C5DC212F7}" dt="2025-11-09T16:33:10.035" v="257" actId="27636"/>
          <ac:spMkLst>
            <pc:docMk/>
            <pc:sldMk cId="3024343335" sldId="319"/>
            <ac:spMk id="2" creationId="{5F88C39E-25B4-8612-D4DB-642ABADBDFC5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1-09T16:35:55.391" v="265" actId="207"/>
        <pc:sldMkLst>
          <pc:docMk/>
          <pc:sldMk cId="130519131" sldId="320"/>
        </pc:sldMkLst>
        <pc:spChg chg="mod">
          <ac:chgData name="Yuli Jiang (CSD)" userId="7c291cd4-aa97-4867-8d2d-ebf5c1c3b419" providerId="ADAL" clId="{8FBD0129-C0BB-4F8A-B9D2-D31C5DC212F7}" dt="2025-11-09T16:34:49.424" v="260" actId="20577"/>
          <ac:spMkLst>
            <pc:docMk/>
            <pc:sldMk cId="130519131" sldId="320"/>
            <ac:spMk id="18434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6:35:55.391" v="265" actId="207"/>
          <ac:spMkLst>
            <pc:docMk/>
            <pc:sldMk cId="130519131" sldId="320"/>
            <ac:spMk id="18435" creationId="{00000000-0000-0000-0000-000000000000}"/>
          </ac:spMkLst>
        </pc:spChg>
      </pc:sldChg>
      <pc:sldChg chg="modSp add mod modTransition">
        <pc:chgData name="Yuli Jiang (CSD)" userId="7c291cd4-aa97-4867-8d2d-ebf5c1c3b419" providerId="ADAL" clId="{8FBD0129-C0BB-4F8A-B9D2-D31C5DC212F7}" dt="2025-11-09T16:16:52.792" v="205"/>
        <pc:sldMkLst>
          <pc:docMk/>
          <pc:sldMk cId="2369003110" sldId="321"/>
        </pc:sldMkLst>
        <pc:spChg chg="mod">
          <ac:chgData name="Yuli Jiang (CSD)" userId="7c291cd4-aa97-4867-8d2d-ebf5c1c3b419" providerId="ADAL" clId="{8FBD0129-C0BB-4F8A-B9D2-D31C5DC212F7}" dt="2025-11-09T15:37:39.385" v="55" actId="1076"/>
          <ac:spMkLst>
            <pc:docMk/>
            <pc:sldMk cId="2369003110" sldId="321"/>
            <ac:spMk id="2" creationId="{1341AC14-0AF6-1D04-54DD-E1261BD8BE8C}"/>
          </ac:spMkLst>
        </pc:spChg>
        <pc:spChg chg="mod">
          <ac:chgData name="Yuli Jiang (CSD)" userId="7c291cd4-aa97-4867-8d2d-ebf5c1c3b419" providerId="ADAL" clId="{8FBD0129-C0BB-4F8A-B9D2-D31C5DC212F7}" dt="2025-11-09T15:29:13.930" v="22" actId="20577"/>
          <ac:spMkLst>
            <pc:docMk/>
            <pc:sldMk cId="2369003110" sldId="321"/>
            <ac:spMk id="118786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1-09T15:37:24.812" v="54" actId="20577"/>
          <ac:spMkLst>
            <pc:docMk/>
            <pc:sldMk cId="2369003110" sldId="321"/>
            <ac:spMk id="118787" creationId="{00000000-0000-0000-0000-000000000000}"/>
          </ac:spMkLst>
        </pc:spChg>
      </pc:sldChg>
      <pc:sldChg chg="modSp add mod">
        <pc:chgData name="Yuli Jiang (CSD)" userId="7c291cd4-aa97-4867-8d2d-ebf5c1c3b419" providerId="ADAL" clId="{8FBD0129-C0BB-4F8A-B9D2-D31C5DC212F7}" dt="2025-11-09T17:59:30.269" v="633" actId="20577"/>
        <pc:sldMkLst>
          <pc:docMk/>
          <pc:sldMk cId="2562781870" sldId="322"/>
        </pc:sldMkLst>
        <pc:spChg chg="mod">
          <ac:chgData name="Yuli Jiang (CSD)" userId="7c291cd4-aa97-4867-8d2d-ebf5c1c3b419" providerId="ADAL" clId="{8FBD0129-C0BB-4F8A-B9D2-D31C5DC212F7}" dt="2025-11-09T17:59:30.269" v="633" actId="20577"/>
          <ac:spMkLst>
            <pc:docMk/>
            <pc:sldMk cId="2562781870" sldId="322"/>
            <ac:spMk id="18434" creationId="{617E97CB-0AC6-7CF0-E98D-272B62C14B0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68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62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2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char str5[6] = {</a:t>
            </a:r>
            <a:r>
              <a:rPr lang="en-US" altLang="zh-TW" sz="12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12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72, 101, 108, 108, 111}; </a:t>
            </a:r>
          </a:p>
          <a:p>
            <a:r>
              <a:rPr lang="en-US" altLang="zh-TW" sz="12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It also works, why?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09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84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31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HK" altLang="zh-HK" b="0" i="0">
                <a:effectLst/>
                <a:latin typeface="euclid_circular_a"/>
              </a:rPr>
              <a:t>The</a:t>
            </a:r>
            <a:r>
              <a:rPr lang="en-US" altLang="zh-HK" b="0" i="0">
                <a:effectLst/>
                <a:latin typeface="euclid_circular_a"/>
              </a:rPr>
              <a:t>re</a:t>
            </a:r>
            <a:r>
              <a:rPr lang="zh-TW" altLang="en-US" b="0" i="0">
                <a:effectLst/>
                <a:latin typeface="euclid_circular_a"/>
              </a:rPr>
              <a:t> </a:t>
            </a:r>
            <a:r>
              <a:rPr lang="en-US" altLang="zh-TW" b="0" i="0">
                <a:effectLst/>
                <a:latin typeface="euclid_circular_a"/>
              </a:rPr>
              <a:t>exists</a:t>
            </a:r>
            <a:r>
              <a:rPr lang="zh-TW" altLang="en-US" b="0" i="0">
                <a:effectLst/>
                <a:latin typeface="euclid_circular_a"/>
              </a:rPr>
              <a:t> </a:t>
            </a:r>
            <a:r>
              <a:rPr lang="en-US" altLang="zh-TW" b="0" i="0">
                <a:effectLst/>
                <a:latin typeface="euclid_circular_a"/>
              </a:rPr>
              <a:t>a</a:t>
            </a:r>
            <a:r>
              <a:rPr lang="zh-TW" altLang="en-US" b="0" i="0">
                <a:effectLst/>
                <a:latin typeface="euclid_circular_a"/>
              </a:rPr>
              <a:t> </a:t>
            </a:r>
            <a:r>
              <a:rPr lang="en-US" altLang="zh-TW" b="0" i="0">
                <a:effectLst/>
                <a:latin typeface="euclid_circular_a"/>
              </a:rPr>
              <a:t>similar function named</a:t>
            </a:r>
            <a:r>
              <a:rPr lang="en-HK" altLang="zh-HK" b="0" i="0">
                <a:effectLst/>
                <a:latin typeface="euclid_circular_a"/>
              </a:rPr>
              <a:t> gets(str) to read characters from stdin and stores them in </a:t>
            </a:r>
            <a:r>
              <a:rPr lang="en-HK" altLang="zh-HK" b="0" i="0">
                <a:effectLst/>
                <a:latin typeface="Droid Sans Mono"/>
              </a:rPr>
              <a:t>str</a:t>
            </a:r>
            <a:r>
              <a:rPr lang="en-HK" altLang="zh-HK" b="0" i="0">
                <a:effectLst/>
                <a:latin typeface="euclid_circular_a"/>
              </a:rPr>
              <a:t> until a newline character or end of file is encountered.</a:t>
            </a:r>
          </a:p>
          <a:p>
            <a:pPr algn="l"/>
            <a:r>
              <a:rPr lang="en-HK" altLang="zh-HK" b="0" i="0">
                <a:effectLst/>
                <a:latin typeface="euclid_circular_a"/>
              </a:rPr>
              <a:t>The gets() function provides no support to prevent "buffer overflow" if a longer than expected input string is supplied, so it is not recommended due to safety and security concern.</a:t>
            </a:r>
          </a:p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52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b="0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48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11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41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81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17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07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 </a:t>
            </a:r>
          </a:p>
          <a:p>
            <a:endParaRPr lang="en-US" b="0" dirty="0"/>
          </a:p>
          <a:p>
            <a:r>
              <a:rPr lang="en-US" b="0" dirty="0"/>
              <a:t> 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r>
              <a:rPr lang="en-US" b="0" dirty="0"/>
              <a:t> </a:t>
            </a:r>
          </a:p>
          <a:p>
            <a:r>
              <a:rPr lang="en-US" b="0" dirty="0"/>
              <a:t> </a:t>
            </a:r>
          </a:p>
          <a:p>
            <a:r>
              <a:rPr lang="en-US" b="0" dirty="0"/>
              <a:t>1, 2, 3, 4 : -</a:t>
            </a:r>
            <a:r>
              <a:rPr lang="en-US" b="0" dirty="0" err="1"/>
              <a:t>ve</a:t>
            </a:r>
            <a:endParaRPr lang="en-US" b="0" dirty="0"/>
          </a:p>
          <a:p>
            <a:r>
              <a:rPr lang="en-US" b="0" dirty="0"/>
              <a:t>5, 6: +</a:t>
            </a:r>
            <a:r>
              <a:rPr lang="en-US" b="0" dirty="0" err="1"/>
              <a:t>ve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60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 eaLnBrk="1" fontAlgn="t" latinLnBrk="0" hangingPunct="1"/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303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 eaLnBrk="1" fontAlgn="t" latinLnBrk="0" hangingPunct="1"/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35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1996616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1996616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" y="76200"/>
            <a:ext cx="119888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" y="1066800"/>
            <a:ext cx="119888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c-programming/library-function/ctype.h/tolowe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7709-8093-4ED7-963D-6E92D5798EED}" type="slidenum">
              <a:rPr lang="zh-TW" altLang="en-US"/>
              <a:pPr/>
              <a:t>1</a:t>
            </a:fld>
            <a:endParaRPr lang="en-US" altLang="zh-TW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Last Week: File I/O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785" y="1066800"/>
            <a:ext cx="6599246" cy="5105400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Steps for performing File I/O</a:t>
            </a:r>
          </a:p>
          <a:p>
            <a:pPr marL="457200" lvl="1" indent="0">
              <a:buNone/>
            </a:pPr>
            <a:r>
              <a:rPr lang="en-US" altLang="zh-TW" dirty="0">
                <a:ea typeface="新細明體" pitchFamily="18" charset="-120"/>
              </a:rPr>
              <a:t>1. Open a file using: </a:t>
            </a:r>
            <a:r>
              <a:rPr lang="en-US" altLang="zh-TW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</a:rPr>
              <a:t>fopen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(…)</a:t>
            </a:r>
          </a:p>
          <a:p>
            <a:pPr marL="457200" lvl="1" indent="0">
              <a:buNone/>
            </a:pPr>
            <a:r>
              <a:rPr lang="en-US" altLang="zh-TW" dirty="0">
                <a:ea typeface="新細明體" pitchFamily="18" charset="-120"/>
              </a:rPr>
              <a:t>2. Check if a file is opened successfully</a:t>
            </a:r>
          </a:p>
          <a:p>
            <a:pPr lvl="2"/>
            <a:r>
              <a:rPr lang="en-US" altLang="zh-TW" sz="2200" b="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200" b="0" dirty="0">
                <a:latin typeface="Consolas" panose="020B0609020204030204" pitchFamily="49" charset="0"/>
              </a:rPr>
              <a:t> (</a:t>
            </a:r>
            <a:r>
              <a:rPr lang="en-US" altLang="zh-TW" sz="22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200" b="0" dirty="0">
                <a:latin typeface="Consolas" panose="020B0609020204030204" pitchFamily="49" charset="0"/>
              </a:rPr>
              <a:t> == </a:t>
            </a:r>
            <a:r>
              <a:rPr lang="en-US" altLang="zh-TW" sz="2200" b="0" dirty="0">
                <a:highlight>
                  <a:srgbClr val="00FF00"/>
                </a:highlight>
                <a:latin typeface="Consolas" panose="020B0609020204030204" pitchFamily="49" charset="0"/>
              </a:rPr>
              <a:t>NULL</a:t>
            </a:r>
            <a:r>
              <a:rPr lang="en-US" altLang="zh-TW" sz="2200" b="0" dirty="0">
                <a:latin typeface="Consolas" panose="020B0609020204030204" pitchFamily="49" charset="0"/>
              </a:rPr>
              <a:t>) exit(</a:t>
            </a:r>
            <a:r>
              <a:rPr lang="en-US" altLang="zh-TW" sz="2200" b="0" dirty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200" b="0" dirty="0">
                <a:latin typeface="Consolas" panose="020B0609020204030204" pitchFamily="49" charset="0"/>
              </a:rPr>
              <a:t>); </a:t>
            </a:r>
          </a:p>
          <a:p>
            <a:pPr marL="457200" lvl="1" indent="0">
              <a:buNone/>
            </a:pPr>
            <a:r>
              <a:rPr lang="en-US" altLang="zh-TW" sz="2800" dirty="0">
                <a:ea typeface="新細明體" pitchFamily="18" charset="-120"/>
              </a:rPr>
              <a:t>3. </a:t>
            </a:r>
            <a:r>
              <a:rPr lang="en-US" altLang="zh-TW" dirty="0">
                <a:ea typeface="新細明體" pitchFamily="18" charset="-120"/>
              </a:rPr>
              <a:t>Using </a:t>
            </a:r>
            <a:r>
              <a:rPr lang="en-US" altLang="zh-TW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fscanf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(…)</a:t>
            </a:r>
            <a:r>
              <a:rPr lang="en-US" altLang="zh-TW" dirty="0">
                <a:ea typeface="新細明體" pitchFamily="18" charset="-120"/>
              </a:rPr>
              <a:t> and </a:t>
            </a:r>
            <a:r>
              <a:rPr lang="en-US" altLang="zh-TW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fprintf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(…)</a:t>
            </a:r>
            <a:r>
              <a:rPr lang="en-US" altLang="zh-TW" dirty="0">
                <a:ea typeface="新細明體" pitchFamily="18" charset="-120"/>
              </a:rPr>
              <a:t> to read/write numbers.</a:t>
            </a:r>
            <a:endParaRPr lang="en-US" altLang="zh-TW" b="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zh-TW" dirty="0">
                <a:ea typeface="新細明體" pitchFamily="18" charset="-120"/>
              </a:rPr>
              <a:t>4. When done, close the file: </a:t>
            </a:r>
            <a:r>
              <a:rPr lang="en-US" altLang="zh-TW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</a:rPr>
              <a:t>fclose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(…)</a:t>
            </a:r>
          </a:p>
          <a:p>
            <a:pPr lvl="7"/>
            <a:endParaRPr lang="en-US" altLang="zh-TW" sz="900" dirty="0">
              <a:solidFill>
                <a:srgbClr val="C00000"/>
              </a:solidFill>
              <a:ea typeface="新細明體" pitchFamily="18" charset="-120"/>
            </a:endParaRPr>
          </a:p>
          <a:p>
            <a:r>
              <a:rPr lang="en-US" altLang="zh-TW" b="1" dirty="0">
                <a:ea typeface="新細明體" pitchFamily="18" charset="-120"/>
              </a:rPr>
              <a:t>Return value </a:t>
            </a:r>
            <a:r>
              <a:rPr lang="en-US" altLang="zh-TW" dirty="0">
                <a:ea typeface="新細明體" pitchFamily="18" charset="-120"/>
              </a:rPr>
              <a:t>of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</a:rPr>
              <a:t>fscanf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()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Return # of reading values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Return EOF. Failed to read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sz="2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32C3139-E7E2-00B7-FAB3-28632F083EB9}"/>
              </a:ext>
            </a:extLst>
          </p:cNvPr>
          <p:cNvSpPr txBox="1">
            <a:spLocks noChangeArrowheads="1"/>
          </p:cNvSpPr>
          <p:nvPr/>
        </p:nvSpPr>
        <p:spPr>
          <a:xfrm>
            <a:off x="6803136" y="1210056"/>
            <a:ext cx="5210440" cy="28882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#include &lt;</a:t>
            </a:r>
            <a:r>
              <a:rPr lang="en-US" altLang="zh-TW" sz="2000" dirty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stdlib.h</a:t>
            </a:r>
            <a:r>
              <a:rPr lang="en-US" altLang="zh-TW" sz="2000" dirty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&gt; </a:t>
            </a:r>
          </a:p>
          <a:p>
            <a:pPr marL="0" indent="0">
              <a:buNone/>
            </a:pPr>
            <a:endParaRPr lang="en-US" altLang="zh-TW" sz="10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FILE *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;</a:t>
            </a:r>
            <a:endParaRPr lang="en-US" altLang="zh-TW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 = </a:t>
            </a:r>
            <a:r>
              <a:rPr lang="en-US" altLang="zh-TW" sz="20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fopen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dirty="0">
                <a:latin typeface="Consolas" panose="020B0609020204030204" pitchFamily="49" charset="0"/>
              </a:rPr>
              <a:t> (</a:t>
            </a:r>
            <a:r>
              <a:rPr lang="en-US" altLang="zh-TW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00FF00"/>
                </a:highlight>
                <a:latin typeface="Consolas" panose="020B0609020204030204" pitchFamily="49" charset="0"/>
              </a:rPr>
              <a:t> == NULL</a:t>
            </a:r>
            <a:r>
              <a:rPr lang="en-US" altLang="zh-TW" sz="20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TW" sz="2000" dirty="0">
                <a:latin typeface="Consolas" panose="020B0609020204030204" pitchFamily="49" charset="0"/>
              </a:rPr>
              <a:t>	exit(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fscanf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latin typeface="Consolas" panose="020B0609020204030204" pitchFamily="49" charset="0"/>
              </a:rPr>
              <a:t>"%d"</a:t>
            </a:r>
            <a:r>
              <a:rPr lang="en-US" altLang="zh-TW" sz="2000" dirty="0">
                <a:latin typeface="Consolas" panose="020B0609020204030204" pitchFamily="49" charset="0"/>
              </a:rPr>
              <a:t>, &amp;num);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TW" sz="20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fclose</a:t>
            </a:r>
            <a:r>
              <a:rPr lang="en-US" altLang="zh-TW" sz="2000" dirty="0">
                <a:latin typeface="Consolas" panose="020B0609020204030204" pitchFamily="49" charset="0"/>
              </a:rPr>
              <a:t>(</a:t>
            </a:r>
            <a:r>
              <a:rPr lang="en-US" altLang="zh-TW" sz="2000" dirty="0" err="1"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latin typeface="Consolas" panose="020B0609020204030204" pitchFamily="49" charset="0"/>
              </a:rPr>
              <a:t>);</a:t>
            </a:r>
            <a:endParaRPr lang="en-US" altLang="zh-TW" sz="2000" b="1" i="1" dirty="0">
              <a:solidFill>
                <a:srgbClr val="0070C0"/>
              </a:solidFill>
              <a:ea typeface="新細明體" pitchFamily="18" charset="-120"/>
            </a:endParaRPr>
          </a:p>
          <a:p>
            <a:pPr marL="0" indent="0">
              <a:buFont typeface="Arial" pitchFamily="34" charset="0"/>
              <a:buNone/>
            </a:pPr>
            <a:endParaRPr lang="en-US" altLang="zh-TW" sz="1200" dirty="0">
              <a:ea typeface="新細明體" pitchFamily="18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41AC14-0AF6-1D04-54DD-E1261BD8BE8C}"/>
              </a:ext>
            </a:extLst>
          </p:cNvPr>
          <p:cNvSpPr txBox="1"/>
          <p:nvPr/>
        </p:nvSpPr>
        <p:spPr>
          <a:xfrm>
            <a:off x="7833806" y="4660088"/>
            <a:ext cx="3748594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3600" b="1" dirty="0"/>
              <a:t>Project Part Two</a:t>
            </a:r>
            <a:endParaRPr lang="zh-CN" altLang="en-US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3BCB4C-5FE5-0BD4-54F2-33021C20946F}"/>
              </a:ext>
            </a:extLst>
          </p:cNvPr>
          <p:cNvSpPr txBox="1"/>
          <p:nvPr/>
        </p:nvSpPr>
        <p:spPr>
          <a:xfrm>
            <a:off x="7148267" y="5386334"/>
            <a:ext cx="4949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 err="1">
                <a:latin typeface="Consolas" panose="020B0609020204030204" pitchFamily="49" charset="0"/>
              </a:rPr>
              <a:t>fscanf</a:t>
            </a:r>
            <a:r>
              <a:rPr lang="en-US" altLang="zh-TW" sz="2800" b="1" dirty="0">
                <a:latin typeface="Consolas" panose="020B0609020204030204" pitchFamily="49" charset="0"/>
              </a:rPr>
              <a:t>(</a:t>
            </a:r>
            <a:r>
              <a:rPr lang="en-US" altLang="zh-TW" sz="2800" b="1" dirty="0" err="1">
                <a:latin typeface="Consolas" panose="020B0609020204030204" pitchFamily="49" charset="0"/>
              </a:rPr>
              <a:t>fptr</a:t>
            </a:r>
            <a:r>
              <a:rPr lang="en-US" altLang="zh-TW" sz="2800" b="1" dirty="0">
                <a:latin typeface="Consolas" panose="020B0609020204030204" pitchFamily="49" charset="0"/>
              </a:rPr>
              <a:t>, </a:t>
            </a:r>
            <a:r>
              <a:rPr lang="en-US" altLang="zh-TW" sz="2800" b="1" dirty="0">
                <a:solidFill>
                  <a:srgbClr val="0099FF"/>
                </a:solidFill>
                <a:latin typeface="Consolas" panose="020B0609020204030204" pitchFamily="49" charset="0"/>
              </a:rPr>
              <a:t>"%c</a:t>
            </a:r>
            <a:r>
              <a:rPr lang="en-US" altLang="zh-TW" sz="2800" b="1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2800" b="1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800" b="1" dirty="0">
                <a:latin typeface="Consolas" panose="020B0609020204030204" pitchFamily="49" charset="0"/>
              </a:rPr>
              <a:t>, &amp;</a:t>
            </a:r>
            <a:r>
              <a:rPr lang="en-US" altLang="zh-TW" sz="2800" b="1" dirty="0" err="1">
                <a:latin typeface="Consolas" panose="020B0609020204030204" pitchFamily="49" charset="0"/>
              </a:rPr>
              <a:t>ch</a:t>
            </a:r>
            <a:r>
              <a:rPr lang="en-US" altLang="zh-TW" sz="2800" b="1" dirty="0">
                <a:latin typeface="Consolas" panose="020B0609020204030204" pitchFamily="49" charset="0"/>
              </a:rPr>
              <a:t>)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69003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32" y="1148787"/>
            <a:ext cx="8534400" cy="4363655"/>
          </a:xfrm>
        </p:spPr>
        <p:txBody>
          <a:bodyPr>
            <a:normAutofit/>
          </a:bodyPr>
          <a:lstStyle/>
          <a:p>
            <a:pPr algn="ctr"/>
            <a:r>
              <a:rPr lang="en-US" altLang="zh-TW" sz="6600" b="1" dirty="0"/>
              <a:t>Strings</a:t>
            </a:r>
            <a:br>
              <a:rPr lang="en-US" altLang="zh-TW" sz="6600" b="1" dirty="0"/>
            </a:br>
            <a:br>
              <a:rPr lang="en-US" altLang="zh-TW" sz="6600" b="1" dirty="0"/>
            </a:br>
            <a:r>
              <a:rPr lang="en-US" altLang="zh-TW" sz="6000" b="1" dirty="0"/>
              <a:t>“String…”</a:t>
            </a:r>
            <a:endParaRPr lang="en-US" altLang="zh-TW" sz="6600" b="1" dirty="0">
              <a:ea typeface="新細明體" pitchFamily="18" charset="-120"/>
            </a:endParaRP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493BCD84-BD7F-C008-8493-DF32DE702C2A}"/>
              </a:ext>
            </a:extLst>
          </p:cNvPr>
          <p:cNvSpPr/>
          <p:nvPr/>
        </p:nvSpPr>
        <p:spPr>
          <a:xfrm>
            <a:off x="7767981" y="1480229"/>
            <a:ext cx="4080075" cy="1752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“c”  String</a:t>
            </a:r>
          </a:p>
          <a:p>
            <a:pPr algn="ctr"/>
            <a:endParaRPr lang="en-US" sz="2000" b="1" dirty="0"/>
          </a:p>
          <a:p>
            <a:pPr algn="ctr"/>
            <a:r>
              <a:rPr lang="en-US" sz="4400" b="1" dirty="0"/>
              <a:t>‘c’  char</a:t>
            </a:r>
          </a:p>
        </p:txBody>
      </p:sp>
    </p:spTree>
    <p:extLst>
      <p:ext uri="{BB962C8B-B14F-4D97-AF65-F5344CB8AC3E}">
        <p14:creationId xmlns:p14="http://schemas.microsoft.com/office/powerpoint/2010/main" val="2992737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Introduction</a:t>
            </a:r>
          </a:p>
          <a:p>
            <a:pPr lvl="1"/>
            <a:r>
              <a:rPr lang="en-US"/>
              <a:t>String representation</a:t>
            </a:r>
          </a:p>
          <a:p>
            <a:pPr marL="514350" indent="-514350">
              <a:buFont typeface="+mj-lt"/>
              <a:buAutoNum type="arabicPeriod"/>
            </a:pPr>
            <a:endParaRPr lang="en-US" altLang="zh-TW">
              <a:ea typeface="新細明體" pitchFamily="18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US"/>
              <a:t>String Manipulation Basics</a:t>
            </a:r>
            <a:endParaRPr lang="en-US" altLang="zh-TW">
              <a:ea typeface="新細明體" pitchFamily="18" charset="-120"/>
            </a:endParaRPr>
          </a:p>
          <a:p>
            <a:pPr lvl="1"/>
            <a:r>
              <a:rPr lang="en-US" altLang="zh-TW">
                <a:ea typeface="新細明體" pitchFamily="18" charset="-120"/>
              </a:rPr>
              <a:t>Declaring and initializing string variables</a:t>
            </a:r>
          </a:p>
          <a:p>
            <a:pPr lvl="1"/>
            <a:r>
              <a:rPr lang="en-US" altLang="zh-TW">
                <a:ea typeface="新細明體" pitchFamily="18" charset="-120"/>
              </a:rPr>
              <a:t>Input and output of strings</a:t>
            </a:r>
          </a:p>
          <a:p>
            <a:pPr lvl="1"/>
            <a:r>
              <a:rPr lang="en-US" altLang="zh-TW">
                <a:ea typeface="新細明體" pitchFamily="18" charset="-120"/>
              </a:rPr>
              <a:t>Obtaining string length</a:t>
            </a:r>
          </a:p>
          <a:p>
            <a:pPr lvl="1"/>
            <a:r>
              <a:rPr lang="en-US" altLang="zh-TW">
                <a:ea typeface="新細明體" pitchFamily="18" charset="-120"/>
              </a:rPr>
              <a:t>Copying string</a:t>
            </a:r>
          </a:p>
          <a:p>
            <a:pPr lvl="1"/>
            <a:r>
              <a:rPr lang="en-US" altLang="zh-TW">
                <a:ea typeface="新細明體" pitchFamily="18" charset="-120"/>
              </a:rPr>
              <a:t>Concatenating strings</a:t>
            </a:r>
          </a:p>
          <a:p>
            <a:pPr lvl="1"/>
            <a:r>
              <a:rPr lang="en-US" altLang="zh-TW">
                <a:ea typeface="新細明體" pitchFamily="18" charset="-120"/>
              </a:rPr>
              <a:t>Comparing strings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1.1. String Literals vs. Character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159" y="1066800"/>
            <a:ext cx="11204294" cy="553077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TW" sz="3200" dirty="0">
                <a:solidFill>
                  <a:srgbClr val="0070C0"/>
                </a:solidFill>
                <a:ea typeface="新細明體" pitchFamily="18" charset="-120"/>
              </a:rPr>
              <a:t>String literal</a:t>
            </a:r>
            <a:endParaRPr lang="en-US" altLang="zh-TW" sz="3200" dirty="0">
              <a:ea typeface="新細明體" pitchFamily="18" charset="-120"/>
            </a:endParaRPr>
          </a:p>
          <a:p>
            <a:pPr lvl="1">
              <a:defRPr/>
            </a:pPr>
            <a:r>
              <a:rPr lang="en-US" altLang="zh-TW" sz="2800" dirty="0">
                <a:ea typeface="新細明體" pitchFamily="18" charset="-120"/>
              </a:rPr>
              <a:t>Enclosed by a pair of double quotes (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800" dirty="0">
                <a:ea typeface="新細明體" pitchFamily="18" charset="-120"/>
              </a:rPr>
              <a:t>)</a:t>
            </a:r>
          </a:p>
          <a:p>
            <a:pPr lvl="1">
              <a:defRPr/>
            </a:pPr>
            <a:r>
              <a:rPr lang="en-US" altLang="zh-TW" sz="2800" dirty="0">
                <a:ea typeface="新細明體" pitchFamily="18" charset="-120"/>
              </a:rPr>
              <a:t>Data type is </a:t>
            </a:r>
            <a:r>
              <a:rPr lang="en-US" altLang="zh-TW" sz="2800" dirty="0">
                <a:solidFill>
                  <a:srgbClr val="0070C0"/>
                </a:solidFill>
                <a:ea typeface="新細明體" pitchFamily="18" charset="-120"/>
              </a:rPr>
              <a:t>array of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endParaRPr lang="en-US" altLang="zh-TW" sz="1400" dirty="0">
              <a:ea typeface="新細明體" pitchFamily="18" charset="-120"/>
            </a:endParaRPr>
          </a:p>
          <a:p>
            <a:pPr>
              <a:defRPr/>
            </a:pPr>
            <a:r>
              <a:rPr lang="en-US" altLang="zh-TW" sz="3200" dirty="0">
                <a:solidFill>
                  <a:srgbClr val="0070C0"/>
                </a:solidFill>
                <a:ea typeface="新細明體" pitchFamily="18" charset="-120"/>
              </a:rPr>
              <a:t>Character constant</a:t>
            </a:r>
          </a:p>
          <a:p>
            <a:pPr lvl="1">
              <a:defRPr/>
            </a:pPr>
            <a:r>
              <a:rPr lang="en-US" altLang="zh-TW" sz="2800" dirty="0">
                <a:ea typeface="新細明體" pitchFamily="18" charset="-120"/>
              </a:rPr>
              <a:t>Enclosed by a pair of single quotes (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800" dirty="0">
                <a:ea typeface="新細明體" pitchFamily="18" charset="-120"/>
              </a:rPr>
              <a:t>)</a:t>
            </a:r>
          </a:p>
          <a:p>
            <a:pPr lvl="1">
              <a:defRPr/>
            </a:pPr>
            <a:r>
              <a:rPr lang="en-US" altLang="zh-TW" sz="2800" dirty="0">
                <a:ea typeface="新細明體" pitchFamily="18" charset="-120"/>
              </a:rPr>
              <a:t>Data type is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12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</a:t>
            </a:r>
          </a:p>
          <a:p>
            <a:pPr marL="57150" indent="0">
              <a:lnSpc>
                <a:spcPct val="90000"/>
              </a:lnSpc>
              <a:buNone/>
              <a:defRPr/>
            </a:pPr>
            <a:r>
              <a:rPr lang="en-US" altLang="zh-TW" sz="3500" dirty="0">
                <a:ea typeface="新細明體" pitchFamily="18" charset="-120"/>
              </a:rPr>
              <a:t>e.g.,</a:t>
            </a:r>
          </a:p>
          <a:p>
            <a:pPr marL="57150" indent="0">
              <a:lnSpc>
                <a:spcPct val="90000"/>
              </a:lnSpc>
              <a:buNone/>
              <a:defRPr/>
            </a:pPr>
            <a:r>
              <a:rPr lang="en-US" altLang="zh-TW" sz="35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'A'</a:t>
            </a:r>
            <a:r>
              <a:rPr lang="en-US" altLang="zh-TW" sz="3500" dirty="0">
                <a:ea typeface="新細明體" pitchFamily="18" charset="-120"/>
              </a:rPr>
              <a:t> – A character 'A'</a:t>
            </a:r>
          </a:p>
          <a:p>
            <a:pPr marL="57150" indent="0">
              <a:lnSpc>
                <a:spcPct val="90000"/>
              </a:lnSpc>
              <a:buNone/>
              <a:defRPr/>
            </a:pPr>
            <a:r>
              <a:rPr lang="en-US" altLang="zh-TW" sz="35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"A"</a:t>
            </a:r>
            <a:r>
              <a:rPr lang="en-US" altLang="zh-TW" sz="3500" dirty="0">
                <a:ea typeface="新細明體" pitchFamily="18" charset="-120"/>
              </a:rPr>
              <a:t> – A string that contains a single character 'A'</a:t>
            </a:r>
          </a:p>
          <a:p>
            <a:pPr marL="57150" indent="0">
              <a:lnSpc>
                <a:spcPct val="90000"/>
              </a:lnSpc>
              <a:buNone/>
              <a:defRPr/>
            </a:pPr>
            <a:r>
              <a:rPr lang="en-US" altLang="zh-TW" sz="35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'\0'</a:t>
            </a:r>
            <a:r>
              <a:rPr lang="en-US" altLang="zh-TW" sz="3500" dirty="0">
                <a:ea typeface="新細明體" pitchFamily="18" charset="-120"/>
              </a:rPr>
              <a:t> – A null character (The character with ASCII code zero)</a:t>
            </a:r>
          </a:p>
          <a:p>
            <a:pPr marL="57150" indent="0">
              <a:lnSpc>
                <a:spcPct val="90000"/>
              </a:lnSpc>
              <a:buNone/>
              <a:defRPr/>
            </a:pPr>
            <a:r>
              <a:rPr lang="en-US" altLang="zh-TW" sz="35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""</a:t>
            </a:r>
            <a:r>
              <a:rPr lang="en-US" altLang="zh-TW" sz="3500" dirty="0">
                <a:ea typeface="新細明體" pitchFamily="18" charset="-120"/>
              </a:rPr>
              <a:t> – An empty string (A string that does not contain any character)</a:t>
            </a:r>
          </a:p>
          <a:p>
            <a:pPr marL="57150" indent="0">
              <a:lnSpc>
                <a:spcPct val="90000"/>
              </a:lnSpc>
              <a:buNone/>
              <a:defRPr/>
            </a:pPr>
            <a:r>
              <a:rPr lang="en-US" altLang="zh-TW" sz="35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"ABC"</a:t>
            </a:r>
            <a:r>
              <a:rPr lang="en-US" altLang="zh-TW" sz="3500" dirty="0">
                <a:ea typeface="新細明體" pitchFamily="18" charset="-120"/>
              </a:rPr>
              <a:t> – A string that contains three characters</a:t>
            </a:r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691378" y="2523830"/>
            <a:ext cx="4080075" cy="1752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400" dirty="0">
                <a:solidFill>
                  <a:srgbClr val="0000FF"/>
                </a:solidFill>
                <a:latin typeface="Consolas" panose="020B0609020204030204" pitchFamily="49" charset="0"/>
              </a:rPr>
              <a:t>"A"</a:t>
            </a:r>
            <a:r>
              <a:rPr lang="en-US" altLang="zh-TW" sz="4400" dirty="0"/>
              <a:t> </a:t>
            </a:r>
            <a:r>
              <a:rPr lang="en-US" altLang="zh-TW" sz="4400" b="1" dirty="0"/>
              <a:t>s</a:t>
            </a:r>
            <a:r>
              <a:rPr lang="en-US" sz="4400" b="1" dirty="0"/>
              <a:t>tring</a:t>
            </a:r>
          </a:p>
          <a:p>
            <a:pPr algn="ctr"/>
            <a:endParaRPr lang="en-US" sz="2000" b="1" dirty="0"/>
          </a:p>
          <a:p>
            <a:pPr algn="ctr"/>
            <a:r>
              <a:rPr lang="en-US" altLang="zh-TW" sz="4400" dirty="0">
                <a:solidFill>
                  <a:srgbClr val="0000FF"/>
                </a:solidFill>
                <a:latin typeface="Consolas" panose="020B0609020204030204" pitchFamily="49" charset="0"/>
              </a:rPr>
              <a:t>'A' </a:t>
            </a:r>
            <a:r>
              <a:rPr lang="en-US" sz="4400" b="1" dirty="0"/>
              <a:t>char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617624D9-11C9-FAD0-950F-275BE3AD82EC}"/>
              </a:ext>
            </a:extLst>
          </p:cNvPr>
          <p:cNvSpPr/>
          <p:nvPr/>
        </p:nvSpPr>
        <p:spPr>
          <a:xfrm>
            <a:off x="7338345" y="1158239"/>
            <a:ext cx="4601151" cy="10382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onsolas" panose="020B0609020204030204" pitchFamily="49" charset="0"/>
              </a:rPr>
              <a:t>char str[</a:t>
            </a:r>
            <a:r>
              <a:rPr lang="en-US" sz="3600" b="1" dirty="0">
                <a:solidFill>
                  <a:schemeClr val="tx1"/>
                </a:solidFill>
                <a:latin typeface="Consolas" panose="020B0609020204030204" pitchFamily="49" charset="0"/>
              </a:rPr>
              <a:t>]=</a:t>
            </a:r>
            <a:r>
              <a:rPr lang="en-US" altLang="zh-TW" sz="36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3600" b="1" dirty="0">
                <a:solidFill>
                  <a:schemeClr val="tx1"/>
                </a:solidFill>
                <a:latin typeface="Consolas" panose="020B0609020204030204" pitchFamily="49" charset="0"/>
              </a:rPr>
              <a:t>ABC</a:t>
            </a:r>
            <a:r>
              <a:rPr lang="en-US" altLang="zh-TW" sz="3600" dirty="0">
                <a:solidFill>
                  <a:schemeClr val="tx1"/>
                </a:solidFill>
                <a:latin typeface="Consolas" panose="020B0609020204030204" pitchFamily="49" charset="0"/>
              </a:rPr>
              <a:t>";</a:t>
            </a:r>
            <a:endParaRPr lang="en-US" sz="36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192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4000"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altLang="zh-TW" sz="4300" b="1" dirty="0">
                <a:ea typeface="新細明體" pitchFamily="18" charset="-120"/>
              </a:rPr>
              <a:t>A </a:t>
            </a:r>
            <a:r>
              <a:rPr lang="en-US" altLang="zh-TW" sz="4300" b="1" dirty="0">
                <a:solidFill>
                  <a:srgbClr val="0070C0"/>
                </a:solidFill>
                <a:ea typeface="新細明體" pitchFamily="18" charset="-120"/>
              </a:rPr>
              <a:t>string </a:t>
            </a:r>
            <a:r>
              <a:rPr lang="en-US" altLang="zh-TW" sz="4300" b="1" dirty="0">
                <a:ea typeface="新細明體" pitchFamily="18" charset="-120"/>
              </a:rPr>
              <a:t>is a sequence of characters.</a:t>
            </a:r>
          </a:p>
          <a:p>
            <a:pPr>
              <a:defRPr/>
            </a:pPr>
            <a:r>
              <a:rPr lang="en-US" altLang="zh-TW" sz="4300" dirty="0">
                <a:ea typeface="新細明體" pitchFamily="18" charset="-120"/>
              </a:rPr>
              <a:t>Enclosed by a pair of double quotes </a:t>
            </a:r>
            <a:r>
              <a:rPr lang="en-US" altLang="zh-TW" sz="4300" b="1" dirty="0">
                <a:ea typeface="新細明體" pitchFamily="18" charset="-120"/>
              </a:rPr>
              <a:t>(")</a:t>
            </a:r>
          </a:p>
          <a:p>
            <a:pPr>
              <a:defRPr/>
            </a:pPr>
            <a:r>
              <a:rPr lang="en-US" altLang="zh-TW" sz="4300" dirty="0">
                <a:ea typeface="新細明體" pitchFamily="18" charset="-120"/>
              </a:rPr>
              <a:t>Data type is </a:t>
            </a:r>
            <a:r>
              <a:rPr lang="en-US" altLang="zh-TW" sz="4300" b="1" u="sng" dirty="0">
                <a:ea typeface="新細明體" pitchFamily="18" charset="-120"/>
              </a:rPr>
              <a:t>array of char</a:t>
            </a:r>
          </a:p>
          <a:p>
            <a:pPr>
              <a:defRPr/>
            </a:pPr>
            <a:r>
              <a:rPr lang="en-US" altLang="zh-TW" sz="4300" b="1" dirty="0">
                <a:ea typeface="新細明體" pitchFamily="18" charset="-120"/>
              </a:rPr>
              <a:t>End with a null character </a:t>
            </a:r>
            <a:r>
              <a:rPr lang="en-US" altLang="zh-TW" sz="4400" dirty="0">
                <a:latin typeface="Consolas" panose="020B0609020204030204" pitchFamily="49" charset="0"/>
              </a:rPr>
              <a:t>'</a:t>
            </a:r>
            <a:r>
              <a:rPr lang="en-US" altLang="zh-TW" sz="4300" b="1" dirty="0">
                <a:latin typeface="Consolas" panose="020B0609020204030204" pitchFamily="49" charset="0"/>
                <a:ea typeface="新細明體" pitchFamily="18" charset="-120"/>
              </a:rPr>
              <a:t>\0</a:t>
            </a:r>
            <a:r>
              <a:rPr lang="en-US" altLang="zh-TW" sz="4400" dirty="0">
                <a:latin typeface="Consolas" panose="020B0609020204030204" pitchFamily="49" charset="0"/>
              </a:rPr>
              <a:t>'</a:t>
            </a:r>
            <a:endParaRPr lang="en-US" altLang="zh-TW" sz="4300" b="1" dirty="0">
              <a:latin typeface="Consolas" panose="020B0609020204030204" pitchFamily="49" charset="0"/>
              <a:ea typeface="新細明體" pitchFamily="18" charset="-120"/>
            </a:endParaRPr>
          </a:p>
          <a:p>
            <a:pPr marL="457200" lvl="1" indent="0">
              <a:buNone/>
              <a:defRPr/>
            </a:pPr>
            <a:endParaRPr lang="en-US" altLang="zh-TW" sz="2800" dirty="0">
              <a:ea typeface="新細明體" pitchFamily="18" charset="-120"/>
            </a:endParaRPr>
          </a:p>
          <a:p>
            <a:pPr>
              <a:defRPr/>
            </a:pPr>
            <a:r>
              <a:rPr lang="en-US" altLang="zh-TW" sz="3600" dirty="0">
                <a:solidFill>
                  <a:srgbClr val="0070C0"/>
                </a:solidFill>
                <a:ea typeface="新細明體" pitchFamily="18" charset="-120"/>
              </a:rPr>
              <a:t>String length</a:t>
            </a:r>
            <a:r>
              <a:rPr lang="en-US" altLang="zh-TW" sz="3600" dirty="0">
                <a:ea typeface="新細明體" pitchFamily="18" charset="-120"/>
              </a:rPr>
              <a:t> = total number of characters in the string.</a:t>
            </a:r>
          </a:p>
          <a:p>
            <a:pPr lvl="1">
              <a:defRPr/>
            </a:pPr>
            <a:r>
              <a:rPr lang="en-US" altLang="zh-TW" sz="3200" dirty="0">
                <a:ea typeface="新細明體" pitchFamily="18" charset="-120"/>
              </a:rPr>
              <a:t>e.g., </a:t>
            </a:r>
          </a:p>
          <a:p>
            <a:pPr lvl="2">
              <a:defRPr/>
            </a:pPr>
            <a:r>
              <a:rPr lang="en-US" altLang="zh-TW" sz="3200" dirty="0">
                <a:ea typeface="新細明體" pitchFamily="18" charset="-120"/>
              </a:rPr>
              <a:t>Length of </a:t>
            </a:r>
            <a:r>
              <a:rPr lang="en-US" altLang="zh-TW" sz="3200" dirty="0">
                <a:solidFill>
                  <a:srgbClr val="009999"/>
                </a:solidFill>
                <a:latin typeface="Consolas" panose="020B0609020204030204" pitchFamily="49" charset="0"/>
                <a:ea typeface="新細明體" pitchFamily="18" charset="-120"/>
              </a:rPr>
              <a:t>"ABC DEF"</a:t>
            </a:r>
            <a:r>
              <a:rPr lang="en-US" altLang="zh-TW" sz="3200" dirty="0">
                <a:ea typeface="新細明體" pitchFamily="18" charset="-120"/>
              </a:rPr>
              <a:t>  is 7</a:t>
            </a:r>
          </a:p>
          <a:p>
            <a:pPr lvl="2">
              <a:defRPr/>
            </a:pPr>
            <a:r>
              <a:rPr lang="en-US" altLang="zh-TW" sz="3200" dirty="0">
                <a:ea typeface="新細明體" pitchFamily="18" charset="-120"/>
              </a:rPr>
              <a:t>Length of </a:t>
            </a:r>
            <a:r>
              <a:rPr lang="en-US" altLang="zh-TW" sz="3200" dirty="0">
                <a:solidFill>
                  <a:srgbClr val="009999"/>
                </a:solidFill>
                <a:latin typeface="Consolas" panose="020B0609020204030204" pitchFamily="49" charset="0"/>
                <a:ea typeface="新細明體" pitchFamily="18" charset="-120"/>
              </a:rPr>
              <a:t>"\n\\"</a:t>
            </a:r>
            <a:r>
              <a:rPr lang="en-US" altLang="zh-TW" sz="3200" dirty="0">
                <a:ea typeface="新細明體" pitchFamily="18" charset="-120"/>
              </a:rPr>
              <a:t>  is 2</a:t>
            </a:r>
          </a:p>
          <a:p>
            <a:pPr lvl="3">
              <a:defRPr/>
            </a:pPr>
            <a:r>
              <a:rPr lang="en-US" altLang="zh-TW" sz="2800" dirty="0">
                <a:ea typeface="新細明體" pitchFamily="18" charset="-120"/>
              </a:rPr>
              <a:t>Each of </a:t>
            </a:r>
            <a:r>
              <a:rPr lang="en-US" altLang="zh-TW" sz="2800" dirty="0">
                <a:solidFill>
                  <a:srgbClr val="009999"/>
                </a:solidFill>
                <a:latin typeface="Consolas" panose="020B0609020204030204" pitchFamily="49" charset="0"/>
                <a:ea typeface="新細明體" pitchFamily="18" charset="-120"/>
              </a:rPr>
              <a:t>\n</a:t>
            </a:r>
            <a:r>
              <a:rPr lang="en-US" altLang="zh-TW" sz="2800" dirty="0">
                <a:ea typeface="新細明體" pitchFamily="18" charset="-120"/>
              </a:rPr>
              <a:t> and </a:t>
            </a:r>
            <a:r>
              <a:rPr lang="en-US" altLang="zh-TW" sz="2800" dirty="0">
                <a:solidFill>
                  <a:srgbClr val="009999"/>
                </a:solidFill>
                <a:latin typeface="Consolas" panose="020B0609020204030204" pitchFamily="49" charset="0"/>
                <a:ea typeface="新細明體" pitchFamily="18" charset="-120"/>
              </a:rPr>
              <a:t>\\</a:t>
            </a:r>
            <a:r>
              <a:rPr lang="en-US" altLang="zh-TW" sz="2800" dirty="0">
                <a:ea typeface="新細明體" pitchFamily="18" charset="-120"/>
              </a:rPr>
              <a:t> represents only one character in the program; they only appear as two characters in the source code.</a:t>
            </a: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885F086B-AC01-4234-22F4-2D914A804EA3}"/>
              </a:ext>
            </a:extLst>
          </p:cNvPr>
          <p:cNvSpPr/>
          <p:nvPr/>
        </p:nvSpPr>
        <p:spPr>
          <a:xfrm>
            <a:off x="7268104" y="2167841"/>
            <a:ext cx="4601151" cy="68838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onsolas" panose="020B0609020204030204" pitchFamily="49" charset="0"/>
              </a:rPr>
              <a:t>char str[4</a:t>
            </a:r>
            <a:r>
              <a:rPr lang="en-US" sz="3600" b="1" dirty="0">
                <a:solidFill>
                  <a:schemeClr val="tx1"/>
                </a:solidFill>
                <a:latin typeface="Consolas" panose="020B0609020204030204" pitchFamily="49" charset="0"/>
              </a:rPr>
              <a:t>]=</a:t>
            </a:r>
            <a:r>
              <a:rPr lang="en-US" altLang="zh-TW" sz="36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3600" b="1" dirty="0">
                <a:solidFill>
                  <a:schemeClr val="tx1"/>
                </a:solidFill>
                <a:latin typeface="Consolas" panose="020B0609020204030204" pitchFamily="49" charset="0"/>
              </a:rPr>
              <a:t>ABC</a:t>
            </a:r>
            <a:r>
              <a:rPr lang="en-US" altLang="zh-TW" sz="36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endParaRPr lang="en-US" sz="36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5" name="Group 216">
            <a:extLst>
              <a:ext uri="{FF2B5EF4-FFF2-40B4-BE49-F238E27FC236}">
                <a16:creationId xmlns:a16="http://schemas.microsoft.com/office/drawing/2014/main" id="{85BCAC74-58D6-98EE-F0FA-94CFB0C7A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012012"/>
              </p:ext>
            </p:extLst>
          </p:nvPr>
        </p:nvGraphicFramePr>
        <p:xfrm>
          <a:off x="7554960" y="3040380"/>
          <a:ext cx="4027440" cy="579120"/>
        </p:xfrm>
        <a:graphic>
          <a:graphicData uri="http://schemas.openxmlformats.org/drawingml/2006/table">
            <a:tbl>
              <a:tblPr/>
              <a:tblGrid>
                <a:gridCol w="1006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8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9262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 fontScale="90000"/>
          </a:bodyPr>
          <a:lstStyle/>
          <a:p>
            <a:r>
              <a:rPr lang="en-US"/>
              <a:t>1.2. String Representation in C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A </a:t>
            </a:r>
            <a:r>
              <a:rPr lang="en-US" altLang="zh-TW" sz="3600" dirty="0">
                <a:ea typeface="新細明體" pitchFamily="18" charset="-120"/>
              </a:rPr>
              <a:t>string is represented as an </a:t>
            </a:r>
            <a:r>
              <a:rPr lang="en-US" altLang="zh-TW" sz="3600" u="sng" dirty="0">
                <a:ea typeface="新細明體" pitchFamily="18" charset="-120"/>
              </a:rPr>
              <a:t>array of characters </a:t>
            </a:r>
            <a:r>
              <a:rPr lang="en-US" altLang="zh-TW" sz="3600" dirty="0">
                <a:ea typeface="新細明體" pitchFamily="18" charset="-120"/>
              </a:rPr>
              <a:t>in which </a:t>
            </a:r>
            <a:r>
              <a:rPr lang="en-US" altLang="zh-TW" sz="3600" b="1" u="sng" dirty="0">
                <a:ea typeface="新細明體" pitchFamily="18" charset="-120"/>
              </a:rPr>
              <a:t>the first </a:t>
            </a:r>
            <a:r>
              <a:rPr lang="en-US" altLang="zh-TW" sz="3600" b="1" u="sng" dirty="0">
                <a:solidFill>
                  <a:srgbClr val="C00000"/>
                </a:solidFill>
                <a:highlight>
                  <a:srgbClr val="FFFF00"/>
                </a:highlight>
                <a:ea typeface="新細明體" pitchFamily="18" charset="-120"/>
              </a:rPr>
              <a:t>null</a:t>
            </a:r>
            <a:r>
              <a:rPr lang="en-US" altLang="zh-TW" sz="3600" b="1" u="sng" dirty="0">
                <a:ea typeface="新細明體" pitchFamily="18" charset="-120"/>
              </a:rPr>
              <a:t> character</a:t>
            </a:r>
            <a:r>
              <a:rPr lang="en-US" altLang="zh-TW" sz="3600" dirty="0">
                <a:ea typeface="新細明體" pitchFamily="18" charset="-120"/>
              </a:rPr>
              <a:t> (i.e., the null character with the smallest index) in the array indicates </a:t>
            </a:r>
            <a:r>
              <a:rPr lang="en-US" altLang="zh-TW" sz="3600" b="1" u="sng" dirty="0">
                <a:solidFill>
                  <a:srgbClr val="C00000"/>
                </a:solidFill>
                <a:ea typeface="新細明體" pitchFamily="18" charset="-120"/>
              </a:rPr>
              <a:t>the end of the string</a:t>
            </a:r>
            <a:r>
              <a:rPr lang="en-US" altLang="zh-TW" sz="3600" dirty="0">
                <a:solidFill>
                  <a:srgbClr val="C00000"/>
                </a:solidFill>
                <a:ea typeface="新細明體" pitchFamily="18" charset="-120"/>
              </a:rPr>
              <a:t>.</a:t>
            </a:r>
          </a:p>
          <a:p>
            <a:pPr lvl="3"/>
            <a:endParaRPr lang="en-US" altLang="zh-TW" sz="1400" dirty="0">
              <a:ea typeface="新細明體" pitchFamily="18" charset="-120"/>
            </a:endParaRPr>
          </a:p>
          <a:p>
            <a:r>
              <a:rPr lang="en-US" altLang="zh-TW" sz="3200" dirty="0">
                <a:ea typeface="新細明體" pitchFamily="18" charset="-120"/>
              </a:rPr>
              <a:t>e.g., </a:t>
            </a:r>
          </a:p>
          <a:p>
            <a:pPr lvl="1">
              <a:buNone/>
            </a:pP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s1[7] = { </a:t>
            </a:r>
            <a:r>
              <a:rPr lang="en-US" altLang="zh-TW" sz="280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'A', 'B', 'C', </a:t>
            </a:r>
            <a:r>
              <a:rPr lang="en-US" altLang="zh-TW" sz="2800" dirty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'\0',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'D', 'E', '\0'};</a:t>
            </a:r>
          </a:p>
          <a:p>
            <a:pPr lvl="1">
              <a:buNone/>
            </a:pPr>
            <a:endParaRPr lang="en-US" altLang="zh-TW" sz="1050" dirty="0">
              <a:latin typeface="Consolas" panose="020B0609020204030204" pitchFamily="49" charset="0"/>
              <a:ea typeface="新細明體" pitchFamily="18" charset="-120"/>
            </a:endParaRPr>
          </a:p>
          <a:p>
            <a:pPr lvl="1">
              <a:buNone/>
            </a:pPr>
            <a:r>
              <a:rPr lang="en-US" altLang="zh-TW" sz="3200" u="sng" dirty="0">
                <a:ea typeface="新細明體" pitchFamily="18" charset="-120"/>
              </a:rPr>
              <a:t>when treated as a string</a:t>
            </a:r>
            <a:r>
              <a:rPr lang="en-US" altLang="zh-TW" sz="3200" dirty="0">
                <a:ea typeface="新細明體" pitchFamily="18" charset="-120"/>
              </a:rPr>
              <a:t>, represents the string "</a:t>
            </a:r>
            <a:r>
              <a:rPr lang="en-US" altLang="zh-TW" sz="3200" dirty="0">
                <a:highlight>
                  <a:srgbClr val="00FF00"/>
                </a:highlight>
                <a:ea typeface="新細明體" pitchFamily="18" charset="-120"/>
              </a:rPr>
              <a:t>ABC</a:t>
            </a:r>
            <a:r>
              <a:rPr lang="en-US" altLang="zh-TW" sz="3200" dirty="0">
                <a:ea typeface="新細明體" pitchFamily="18" charset="-120"/>
              </a:rPr>
              <a:t>".</a:t>
            </a:r>
          </a:p>
          <a:p>
            <a:endParaRPr lang="en-US" altLang="zh-TW" sz="3600" dirty="0">
              <a:ea typeface="新細明體" pitchFamily="18" charset="-120"/>
            </a:endParaRPr>
          </a:p>
          <a:p>
            <a:pPr>
              <a:defRPr/>
            </a:pPr>
            <a:endParaRPr lang="en-US" altLang="zh-TW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Group 2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800046"/>
              </p:ext>
            </p:extLst>
          </p:nvPr>
        </p:nvGraphicFramePr>
        <p:xfrm>
          <a:off x="3305534" y="5295048"/>
          <a:ext cx="7048020" cy="579120"/>
        </p:xfrm>
        <a:graphic>
          <a:graphicData uri="http://schemas.openxmlformats.org/drawingml/2006/table">
            <a:tbl>
              <a:tblPr/>
              <a:tblGrid>
                <a:gridCol w="1006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18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2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097336"/>
              </p:ext>
            </p:extLst>
          </p:nvPr>
        </p:nvGraphicFramePr>
        <p:xfrm>
          <a:off x="3467580" y="5838471"/>
          <a:ext cx="7048020" cy="517882"/>
        </p:xfrm>
        <a:graphic>
          <a:graphicData uri="http://schemas.openxmlformats.org/drawingml/2006/table">
            <a:tbl>
              <a:tblPr/>
              <a:tblGrid>
                <a:gridCol w="1006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581" marB="455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581" marB="455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581" marB="455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581" marB="455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45581" marB="455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T="45581" marB="455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T="45581" marB="455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213"/>
          <p:cNvSpPr>
            <a:spLocks noChangeArrowheads="1"/>
          </p:cNvSpPr>
          <p:nvPr/>
        </p:nvSpPr>
        <p:spPr bwMode="auto">
          <a:xfrm>
            <a:off x="1978750" y="5848174"/>
            <a:ext cx="116473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800" dirty="0">
                <a:latin typeface="Calibri" panose="020F0502020204030204" pitchFamily="34" charset="0"/>
                <a:ea typeface="新細明體" pitchFamily="18" charset="-120"/>
              </a:rPr>
              <a:t>Index</a:t>
            </a:r>
            <a:endParaRPr lang="en-US" altLang="zh-TW" sz="2800" u="sng" dirty="0">
              <a:latin typeface="Calibri" panose="020F0502020204030204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8170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>
                <a:ea typeface="新細明體" pitchFamily="18" charset="-120"/>
              </a:rPr>
              <a:t>1.3. String Processing</a:t>
            </a:r>
            <a:endParaRPr lang="en-US" altLang="zh-TW" sz="3600">
              <a:solidFill>
                <a:srgbClr val="FF00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218" y="990600"/>
            <a:ext cx="11401063" cy="5181600"/>
          </a:xfrm>
          <a:ln>
            <a:noFill/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TW" sz="3200" dirty="0">
                <a:ea typeface="新細明體" pitchFamily="18" charset="-120"/>
              </a:rPr>
              <a:t>Processing a string is basically processing an array of characters.</a:t>
            </a:r>
          </a:p>
          <a:p>
            <a:pPr lvl="8"/>
            <a:endParaRPr lang="en-US" altLang="zh-TW" sz="1100" dirty="0">
              <a:ea typeface="新細明體" pitchFamily="18" charset="-120"/>
            </a:endParaRPr>
          </a:p>
          <a:p>
            <a:pPr eaLnBrk="1" hangingPunct="1"/>
            <a:r>
              <a:rPr lang="en-US" altLang="zh-TW" sz="3200" dirty="0">
                <a:ea typeface="新細明體" pitchFamily="18" charset="-120"/>
              </a:rPr>
              <a:t>There are </a:t>
            </a:r>
            <a:r>
              <a:rPr lang="en-US" altLang="zh-TW" sz="3200" b="1" u="sng" dirty="0">
                <a:ea typeface="新細明體" pitchFamily="18" charset="-120"/>
              </a:rPr>
              <a:t>built-in functions </a:t>
            </a:r>
            <a:r>
              <a:rPr lang="en-US" altLang="zh-TW" sz="3200" dirty="0">
                <a:ea typeface="新細明體" pitchFamily="18" charset="-120"/>
              </a:rPr>
              <a:t>to support common string operations: copying strings, comparing strings, etc.</a:t>
            </a:r>
          </a:p>
          <a:p>
            <a:pPr lvl="8"/>
            <a:endParaRPr lang="en-US" altLang="zh-TW" sz="1200" dirty="0">
              <a:ea typeface="新細明體" pitchFamily="18" charset="-120"/>
            </a:endParaRPr>
          </a:p>
          <a:p>
            <a:pPr eaLnBrk="1" hangingPunct="1"/>
            <a:r>
              <a:rPr lang="en-US" altLang="zh-TW" sz="3600" dirty="0">
                <a:ea typeface="新細明體" pitchFamily="18" charset="-120"/>
              </a:rPr>
              <a:t>Pay attention!</a:t>
            </a:r>
          </a:p>
          <a:p>
            <a:pPr lvl="1" eaLnBrk="1" hangingPunct="1"/>
            <a:r>
              <a:rPr lang="en-US" altLang="zh-TW" sz="3600" dirty="0">
                <a:solidFill>
                  <a:srgbClr val="FF0000"/>
                </a:solidFill>
                <a:ea typeface="新細明體" pitchFamily="18" charset="-120"/>
              </a:rPr>
              <a:t>A string must be terminated by a </a:t>
            </a:r>
            <a:r>
              <a:rPr lang="en-US" altLang="zh-TW" sz="3600" b="1" dirty="0">
                <a:solidFill>
                  <a:schemeClr val="accent1"/>
                </a:solidFill>
                <a:ea typeface="新細明體" pitchFamily="18" charset="-120"/>
              </a:rPr>
              <a:t>null</a:t>
            </a:r>
            <a:r>
              <a:rPr lang="en-US" altLang="zh-TW" sz="3600" dirty="0">
                <a:solidFill>
                  <a:srgbClr val="FF0000"/>
                </a:solidFill>
                <a:ea typeface="新細明體" pitchFamily="18" charset="-120"/>
              </a:rPr>
              <a:t> character.</a:t>
            </a:r>
          </a:p>
          <a:p>
            <a:pPr lvl="1" eaLnBrk="1" hangingPunct="1"/>
            <a:r>
              <a:rPr lang="en-US" altLang="zh-TW" sz="3600" dirty="0">
                <a:ea typeface="新細明體" pitchFamily="18" charset="-120"/>
              </a:rPr>
              <a:t>The array for storing a string must be large enough.</a:t>
            </a:r>
          </a:p>
          <a:p>
            <a:pPr lvl="2" eaLnBrk="1" hangingPunct="1"/>
            <a:r>
              <a:rPr lang="en-US" altLang="zh-TW" sz="3200" b="1" u="sng" dirty="0">
                <a:ea typeface="新細明體" pitchFamily="18" charset="-120"/>
              </a:rPr>
              <a:t>An array of size N </a:t>
            </a:r>
            <a:r>
              <a:rPr lang="en-US" altLang="zh-TW" sz="3200" dirty="0">
                <a:ea typeface="新細明體" pitchFamily="18" charset="-120"/>
              </a:rPr>
              <a:t>can store a string containing up to </a:t>
            </a:r>
            <a:r>
              <a:rPr lang="en-US" altLang="zh-TW" sz="3200" b="1" u="sng" dirty="0">
                <a:ea typeface="新細明體" pitchFamily="18" charset="-120"/>
              </a:rPr>
              <a:t>N-1 characters</a:t>
            </a:r>
            <a:r>
              <a:rPr lang="en-US" altLang="zh-TW" sz="3200" dirty="0">
                <a:ea typeface="新細明體" pitchFamily="18" charset="-120"/>
              </a:rPr>
              <a:t>. (One more space needed for the terminating </a:t>
            </a:r>
            <a:r>
              <a:rPr lang="en-US" altLang="zh-TW" sz="3200" b="1" u="sng" dirty="0">
                <a:ea typeface="新細明體" pitchFamily="18" charset="-120"/>
              </a:rPr>
              <a:t>null character</a:t>
            </a:r>
            <a:r>
              <a:rPr lang="en-US" altLang="zh-TW" sz="3200" dirty="0">
                <a:ea typeface="新細明體" pitchFamily="18" charset="-120"/>
              </a:rPr>
              <a:t>.)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212223-56BA-C64B-9CCA-3A4B48A9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AE323D90-C069-EDCE-5D61-8D3604153728}"/>
              </a:ext>
            </a:extLst>
          </p:cNvPr>
          <p:cNvSpPr/>
          <p:nvPr/>
        </p:nvSpPr>
        <p:spPr>
          <a:xfrm>
            <a:off x="7324631" y="2390731"/>
            <a:ext cx="4601151" cy="10382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onsolas" panose="020B0609020204030204" pitchFamily="49" charset="0"/>
              </a:rPr>
              <a:t>char str[4</a:t>
            </a:r>
            <a:r>
              <a:rPr lang="en-US" sz="3600" b="1" dirty="0">
                <a:solidFill>
                  <a:schemeClr val="tx1"/>
                </a:solidFill>
                <a:latin typeface="Consolas" panose="020B0609020204030204" pitchFamily="49" charset="0"/>
              </a:rPr>
              <a:t>]=</a:t>
            </a:r>
            <a:r>
              <a:rPr lang="en-US" altLang="zh-TW" sz="36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en-US" sz="3600" b="1" dirty="0">
                <a:solidFill>
                  <a:schemeClr val="tx1"/>
                </a:solidFill>
                <a:latin typeface="Consolas" panose="020B0609020204030204" pitchFamily="49" charset="0"/>
              </a:rPr>
              <a:t>ABC</a:t>
            </a:r>
            <a:r>
              <a:rPr lang="en-US" altLang="zh-TW" sz="36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endParaRPr lang="en-US" sz="36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429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/>
              <a:t>2. String Manipulation Basics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ea typeface="新細明體" pitchFamily="18" charset="-120"/>
              </a:rPr>
              <a:t>Declaring</a:t>
            </a:r>
            <a:r>
              <a:rPr lang="en-US" altLang="zh-TW" sz="3200" dirty="0">
                <a:ea typeface="新細明體" pitchFamily="18" charset="-120"/>
              </a:rPr>
              <a:t> and </a:t>
            </a:r>
            <a:r>
              <a:rPr lang="en-US" altLang="zh-TW" sz="3200" b="1" dirty="0">
                <a:ea typeface="新細明體" pitchFamily="18" charset="-120"/>
              </a:rPr>
              <a:t>initializing</a:t>
            </a:r>
            <a:r>
              <a:rPr lang="en-US" altLang="zh-TW" sz="3200" dirty="0">
                <a:ea typeface="新細明體" pitchFamily="18" charset="-120"/>
              </a:rPr>
              <a:t> string variables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ea typeface="新細明體" pitchFamily="18" charset="-120"/>
              </a:rPr>
              <a:t>Input</a:t>
            </a:r>
            <a:r>
              <a:rPr lang="en-US" altLang="zh-TW" sz="3200" dirty="0">
                <a:ea typeface="新細明體" pitchFamily="18" charset="-120"/>
              </a:rPr>
              <a:t> and </a:t>
            </a:r>
            <a:r>
              <a:rPr lang="en-US" altLang="zh-TW" sz="3200" b="1" dirty="0">
                <a:ea typeface="新細明體" pitchFamily="18" charset="-120"/>
              </a:rPr>
              <a:t>output</a:t>
            </a:r>
            <a:r>
              <a:rPr lang="en-US" altLang="zh-TW" sz="3200" dirty="0">
                <a:ea typeface="新細明體" pitchFamily="18" charset="-120"/>
              </a:rPr>
              <a:t> of strings</a:t>
            </a:r>
          </a:p>
          <a:p>
            <a:pPr>
              <a:lnSpc>
                <a:spcPct val="150000"/>
              </a:lnSpc>
            </a:pPr>
            <a:r>
              <a:rPr lang="en-US" altLang="zh-TW" sz="3200" dirty="0">
                <a:ea typeface="新細明體" pitchFamily="18" charset="-120"/>
              </a:rPr>
              <a:t>Obtaining string </a:t>
            </a:r>
            <a:r>
              <a:rPr lang="en-US" altLang="zh-TW" sz="3200" b="1" dirty="0">
                <a:ea typeface="新細明體" pitchFamily="18" charset="-120"/>
              </a:rPr>
              <a:t>length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ea typeface="新細明體" pitchFamily="18" charset="-120"/>
              </a:rPr>
              <a:t>Copying</a:t>
            </a:r>
            <a:r>
              <a:rPr lang="en-US" altLang="zh-TW" sz="3200" dirty="0">
                <a:ea typeface="新細明體" pitchFamily="18" charset="-120"/>
              </a:rPr>
              <a:t> string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ea typeface="新細明體" pitchFamily="18" charset="-120"/>
              </a:rPr>
              <a:t>Concatenating</a:t>
            </a:r>
            <a:r>
              <a:rPr lang="en-US" altLang="zh-TW" sz="3200" dirty="0">
                <a:ea typeface="新細明體" pitchFamily="18" charset="-120"/>
              </a:rPr>
              <a:t> string </a:t>
            </a:r>
            <a:br>
              <a:rPr lang="en-US" altLang="zh-TW" sz="3200" dirty="0">
                <a:ea typeface="新細明體" pitchFamily="18" charset="-120"/>
              </a:rPr>
            </a:br>
            <a:r>
              <a:rPr lang="en-US" altLang="zh-TW" sz="3200" dirty="0">
                <a:ea typeface="新細明體" pitchFamily="18" charset="-120"/>
              </a:rPr>
              <a:t>(appending one string to another string)</a:t>
            </a:r>
          </a:p>
          <a:p>
            <a:pPr>
              <a:lnSpc>
                <a:spcPct val="150000"/>
              </a:lnSpc>
            </a:pPr>
            <a:r>
              <a:rPr lang="en-US" altLang="zh-TW" sz="3200" b="1" dirty="0">
                <a:ea typeface="新細明體" pitchFamily="18" charset="-120"/>
              </a:rPr>
              <a:t>Comparing</a:t>
            </a:r>
            <a:r>
              <a:rPr lang="en-US" altLang="zh-TW" sz="3200" dirty="0">
                <a:ea typeface="新細明體" pitchFamily="18" charset="-120"/>
              </a:rPr>
              <a:t> String</a:t>
            </a:r>
            <a:endParaRPr lang="en-US" altLang="en-US" sz="32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6C550DE-0863-3748-B4ED-F6F5CC2A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29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altLang="zh-TW" sz="3600">
                <a:ea typeface="新細明體" pitchFamily="18" charset="-120"/>
              </a:rPr>
              <a:t>2.1. Declaring and initializing string variables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90600"/>
            <a:ext cx="8686800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All the following four variables are initialized to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represent the string "Hello".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The size of str1[] is 100; it can store a string of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length up to 99 (i.e., 99 characters + 1 null character). 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str1[100]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"Hello"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The size of str2[] will be set to </a:t>
            </a:r>
            <a:r>
              <a:rPr lang="en-US" altLang="zh-TW" sz="2000" u="sng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by the compiler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(i.e., length of "Hello" + 1 null character).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str2[]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"Hello"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The array size is 6. With this approach, we need to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manually set the terminating null character. 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str3[] = {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'H', 'e', 'l', 'l', 'o', '\0'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Initial via the ASCII code, note that null char equal 0. 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str4[] = {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72, 101, 108, 108, 111, 0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B3CCC-2F97-0249-9D9F-321BE014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97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altLang="zh-TW" sz="3600">
                <a:ea typeface="新細明體" pitchFamily="18" charset="-120"/>
              </a:rPr>
              <a:t>2.2. String I/O with </a:t>
            </a:r>
            <a:r>
              <a:rPr lang="en-US" altLang="zh-TW" sz="360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36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3600">
                <a:ea typeface="新細明體" pitchFamily="18" charset="-120"/>
              </a:rPr>
              <a:t> and </a:t>
            </a:r>
            <a:r>
              <a:rPr lang="en-US" altLang="zh-TW" sz="360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36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 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90600"/>
            <a:ext cx="8686800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str[100];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("Input: ");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%s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", str);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("You have entered: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%s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\n", str);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5105399" y="990600"/>
            <a:ext cx="7086601" cy="1981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The format specifier "</a:t>
            </a:r>
            <a:r>
              <a:rPr kumimoji="1" lang="en-US" altLang="zh-TW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%s</a:t>
            </a: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" tells </a:t>
            </a:r>
            <a:r>
              <a:rPr kumimoji="1"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kumimoji="1"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 to read a string made up of </a:t>
            </a:r>
            <a:r>
              <a:rPr kumimoji="1" lang="en-US" altLang="zh-TW" b="1" u="sng" dirty="0">
                <a:ea typeface="新細明體" pitchFamily="18" charset="-120"/>
                <a:cs typeface="Times New Roman" pitchFamily="18" charset="0"/>
              </a:rPr>
              <a:t>non-whitespace characters</a:t>
            </a: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. </a:t>
            </a: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sz="1400" dirty="0">
                <a:ea typeface="新細明體" pitchFamily="18" charset="-120"/>
                <a:cs typeface="Times New Roman" pitchFamily="18" charset="0"/>
              </a:rPr>
              <a:t> </a:t>
            </a: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Note: There is </a:t>
            </a:r>
            <a:r>
              <a:rPr kumimoji="1" lang="en-US" altLang="zh-TW" b="1" u="sng" dirty="0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no </a:t>
            </a:r>
            <a:r>
              <a:rPr kumimoji="1" lang="en-US" altLang="zh-TW" b="1" u="sng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</a:t>
            </a:r>
            <a:r>
              <a:rPr kumimoji="1" lang="en-US" altLang="zh-TW" b="1" u="sng" dirty="0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 before </a:t>
            </a:r>
            <a:r>
              <a:rPr kumimoji="1" lang="en-US" altLang="zh-TW" b="1" u="sng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</a:t>
            </a:r>
            <a:r>
              <a:rPr kumimoji="1" lang="en-US" altLang="zh-TW" dirty="0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.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5243511" y="3695700"/>
            <a:ext cx="5424488" cy="9144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The format specifier "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%s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" tells </a:t>
            </a:r>
            <a:r>
              <a:rPr kumimoji="1"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to format and output a string. </a:t>
            </a: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H="1">
            <a:off x="3505200" y="1981200"/>
            <a:ext cx="1585686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V="1">
            <a:off x="5359078" y="3276601"/>
            <a:ext cx="279722" cy="4190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4C5873E-6629-264B-98C3-1AB8461E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79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altLang="zh-TW" sz="3600">
                <a:ea typeface="新細明體" pitchFamily="18" charset="-120"/>
              </a:rPr>
              <a:t>2.2. String I/O with </a:t>
            </a:r>
            <a:r>
              <a:rPr lang="en-US" altLang="zh-TW" sz="360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36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sz="3600">
                <a:ea typeface="新細明體" pitchFamily="18" charset="-120"/>
              </a:rPr>
              <a:t> and </a:t>
            </a:r>
            <a:r>
              <a:rPr lang="en-US" altLang="zh-TW" sz="360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36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 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90600"/>
            <a:ext cx="8686800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[100];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("Input: ");</a:t>
            </a:r>
          </a:p>
          <a:p>
            <a:pPr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%s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("You have entered: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%s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\n",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133600" y="5186476"/>
            <a:ext cx="3733800" cy="998538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Apple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Orange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You have entered Apple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4000500" y="4375231"/>
            <a:ext cx="2309812" cy="8820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6310312" y="3662476"/>
            <a:ext cx="4205288" cy="15240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In this example, the </a:t>
            </a:r>
            <a:r>
              <a:rPr kumimoji="1"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kumimoji="1"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 will only read "</a:t>
            </a:r>
            <a:r>
              <a:rPr kumimoji="1" lang="en-US" altLang="zh-TW" b="1" dirty="0">
                <a:highlight>
                  <a:srgbClr val="FFFF00"/>
                </a:highlight>
                <a:ea typeface="新細明體" pitchFamily="18" charset="-120"/>
                <a:cs typeface="Times New Roman" pitchFamily="18" charset="0"/>
              </a:rPr>
              <a:t>Apple</a:t>
            </a: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" from the input.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4C5873E-6629-264B-98C3-1AB8461E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5F88C39E-25B4-8612-D4DB-642ABADBDFC5}"/>
              </a:ext>
            </a:extLst>
          </p:cNvPr>
          <p:cNvSpPr txBox="1">
            <a:spLocks noChangeArrowheads="1"/>
          </p:cNvSpPr>
          <p:nvPr/>
        </p:nvSpPr>
        <p:spPr>
          <a:xfrm>
            <a:off x="5105399" y="990600"/>
            <a:ext cx="6946393" cy="1744097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"</a:t>
            </a:r>
            <a:r>
              <a:rPr kumimoji="1" lang="en-US" altLang="zh-TW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%s</a:t>
            </a: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" </a:t>
            </a: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b="1" u="sng" dirty="0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non-whitespace characters</a:t>
            </a:r>
            <a:r>
              <a:rPr kumimoji="1" lang="en-US" altLang="zh-TW" dirty="0">
                <a:solidFill>
                  <a:srgbClr val="C00000"/>
                </a:solidFill>
                <a:ea typeface="新細明體" pitchFamily="18" charset="-120"/>
                <a:cs typeface="Times New Roman" pitchFamily="18" charset="0"/>
              </a:rPr>
              <a:t>(Space, Tab, Newline). </a:t>
            </a: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sz="1400" dirty="0">
                <a:ea typeface="新細明體" pitchFamily="18" charset="-120"/>
                <a:cs typeface="Times New Roman" pitchFamily="18" charset="0"/>
              </a:rPr>
              <a:t> </a:t>
            </a: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Note: There is </a:t>
            </a:r>
            <a:r>
              <a:rPr kumimoji="1" lang="en-US" altLang="zh-TW" b="1" u="sng" dirty="0">
                <a:ea typeface="新細明體" pitchFamily="18" charset="-120"/>
                <a:cs typeface="Times New Roman" pitchFamily="18" charset="0"/>
              </a:rPr>
              <a:t>no </a:t>
            </a:r>
            <a:r>
              <a:rPr kumimoji="1" lang="en-US" altLang="zh-TW" b="1" u="sng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</a:t>
            </a:r>
            <a:r>
              <a:rPr kumimoji="1" lang="en-US" altLang="zh-TW" b="1" u="sng" dirty="0">
                <a:ea typeface="新細明體" pitchFamily="18" charset="-120"/>
                <a:cs typeface="Times New Roman" pitchFamily="18" charset="0"/>
              </a:rPr>
              <a:t> before </a:t>
            </a:r>
            <a:r>
              <a:rPr kumimoji="1" lang="en-US" altLang="zh-TW" b="1" u="sng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</a:t>
            </a:r>
            <a:r>
              <a:rPr kumimoji="1" lang="en-US" altLang="zh-TW" dirty="0">
                <a:ea typeface="新細明體" pitchFamily="18" charset="-12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4343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981200" y="2010229"/>
            <a:ext cx="32766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altLang="zh-TW" sz="4000">
                <a:ea typeface="新細明體" pitchFamily="18" charset="-120"/>
              </a:rPr>
              <a:t>2.2. Reading a line of text using </a:t>
            </a:r>
            <a:r>
              <a:rPr lang="en-US" altLang="zh-TW" sz="400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fgets</a:t>
            </a:r>
            <a:r>
              <a:rPr lang="en-US" altLang="zh-TW" sz="40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endParaRPr lang="en-US" altLang="zh-TW" sz="4000">
              <a:solidFill>
                <a:srgbClr val="C00000"/>
              </a:solidFill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90600"/>
            <a:ext cx="86868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str[100];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("Input: ");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fgets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(str, 100, stdin);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("You have entered: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%s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", str);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("End!");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791200" y="1202191"/>
            <a:ext cx="4572000" cy="1017135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Input: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Apple Orange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You have entered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Apple Orange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End!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150471" y="3410858"/>
            <a:ext cx="11817751" cy="2945495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Here </a:t>
            </a:r>
            <a:r>
              <a:rPr kumimoji="1" lang="en-US" altLang="zh-TW" sz="2400" dirty="0" err="1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fgets</a:t>
            </a:r>
            <a:r>
              <a:rPr kumimoji="1" lang="en-US" altLang="zh-TW" sz="24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()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reads </a:t>
            </a:r>
            <a:r>
              <a:rPr kumimoji="1" lang="en-US" altLang="zh-TW" sz="2400" dirty="0">
                <a:highlight>
                  <a:srgbClr val="FFFF00"/>
                </a:highlight>
                <a:ea typeface="新細明體" pitchFamily="18" charset="-120"/>
                <a:cs typeface="Times New Roman" pitchFamily="18" charset="0"/>
              </a:rPr>
              <a:t>at most 99 characters 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from the input </a:t>
            </a:r>
            <a:r>
              <a:rPr kumimoji="1" lang="en-US" altLang="zh-TW" sz="2400" dirty="0">
                <a:highlight>
                  <a:srgbClr val="FFFF00"/>
                </a:highlight>
                <a:ea typeface="新細明體" pitchFamily="18" charset="-120"/>
                <a:cs typeface="Times New Roman" pitchFamily="18" charset="0"/>
              </a:rPr>
              <a:t>or until a newline 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character is encountered in the input (whichever happens first), and stores the characters (</a:t>
            </a:r>
            <a:r>
              <a:rPr kumimoji="1" lang="en-US" altLang="zh-TW" sz="2400" dirty="0">
                <a:highlight>
                  <a:srgbClr val="FFFF00"/>
                </a:highlight>
                <a:ea typeface="新細明體" pitchFamily="18" charset="-120"/>
                <a:cs typeface="Times New Roman" pitchFamily="18" charset="0"/>
              </a:rPr>
              <a:t>including the newline character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, if any) in </a:t>
            </a:r>
            <a:r>
              <a:rPr kumimoji="1"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str[]</a:t>
            </a:r>
            <a:r>
              <a:rPr kumimoji="1" lang="en-US" altLang="zh-TW" sz="2400" dirty="0">
                <a:cs typeface="Times New Roman" pitchFamily="18" charset="0"/>
              </a:rPr>
              <a:t>.</a:t>
            </a:r>
          </a:p>
          <a:p>
            <a:pPr marL="0" indent="0">
              <a:spcBef>
                <a:spcPct val="0"/>
              </a:spcBef>
              <a:buNone/>
            </a:pPr>
            <a:endParaRPr kumimoji="1" lang="en-US" altLang="zh-TW" sz="24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		</a:t>
            </a:r>
            <a:r>
              <a:rPr kumimoji="1" lang="en-US" altLang="zh-TW" sz="2400" dirty="0">
                <a:solidFill>
                  <a:srgbClr val="FF0000"/>
                </a:solidFill>
                <a:ea typeface="新細明體" pitchFamily="18" charset="-120"/>
                <a:cs typeface="Times New Roman" pitchFamily="18" charset="0"/>
              </a:rPr>
              <a:t>1</a:t>
            </a:r>
            <a:r>
              <a:rPr kumimoji="1" lang="en-US" altLang="zh-TW" sz="2400" baseline="30000" dirty="0">
                <a:solidFill>
                  <a:srgbClr val="FF0000"/>
                </a:solidFill>
                <a:ea typeface="新細明體" pitchFamily="18" charset="-120"/>
                <a:cs typeface="Times New Roman" pitchFamily="18" charset="0"/>
              </a:rPr>
              <a:t>st</a:t>
            </a:r>
            <a:r>
              <a:rPr kumimoji="1" lang="en-US" altLang="zh-TW" sz="2400" dirty="0">
                <a:solidFill>
                  <a:srgbClr val="FF0000"/>
                </a:solidFill>
                <a:ea typeface="新細明體" pitchFamily="18" charset="-120"/>
                <a:cs typeface="Times New Roman" pitchFamily="18" charset="0"/>
              </a:rPr>
              <a:t> argument – the array to store the input string</a:t>
            </a:r>
          </a:p>
          <a:p>
            <a:pPr marL="2695575" indent="0">
              <a:spcBef>
                <a:spcPct val="0"/>
              </a:spcBef>
              <a:buNone/>
            </a:pPr>
            <a:r>
              <a:rPr kumimoji="1" lang="en-US" altLang="zh-TW" sz="2400" dirty="0">
                <a:solidFill>
                  <a:srgbClr val="0070C0"/>
                </a:solidFill>
                <a:highlight>
                  <a:srgbClr val="00FF00"/>
                </a:highlight>
                <a:ea typeface="新細明體" pitchFamily="18" charset="-120"/>
                <a:cs typeface="Times New Roman" pitchFamily="18" charset="0"/>
              </a:rPr>
              <a:t>2</a:t>
            </a:r>
            <a:r>
              <a:rPr kumimoji="1" lang="en-US" altLang="zh-TW" sz="2400" baseline="30000" dirty="0">
                <a:solidFill>
                  <a:srgbClr val="0070C0"/>
                </a:solidFill>
                <a:highlight>
                  <a:srgbClr val="00FF00"/>
                </a:highlight>
                <a:ea typeface="新細明體" pitchFamily="18" charset="-120"/>
                <a:cs typeface="Times New Roman" pitchFamily="18" charset="0"/>
              </a:rPr>
              <a:t>nd</a:t>
            </a:r>
            <a:r>
              <a:rPr kumimoji="1" lang="en-US" altLang="zh-TW" sz="2400" dirty="0">
                <a:solidFill>
                  <a:srgbClr val="0070C0"/>
                </a:solidFill>
                <a:highlight>
                  <a:srgbClr val="00FF00"/>
                </a:highlight>
                <a:ea typeface="新細明體" pitchFamily="18" charset="-120"/>
                <a:cs typeface="Times New Roman" pitchFamily="18" charset="0"/>
              </a:rPr>
              <a:t> argument – the size of the array in the 1</a:t>
            </a:r>
            <a:r>
              <a:rPr kumimoji="1" lang="en-US" altLang="zh-TW" sz="2400" baseline="30000" dirty="0">
                <a:solidFill>
                  <a:srgbClr val="0070C0"/>
                </a:solidFill>
                <a:highlight>
                  <a:srgbClr val="00FF00"/>
                </a:highlight>
                <a:ea typeface="新細明體" pitchFamily="18" charset="-120"/>
                <a:cs typeface="Times New Roman" pitchFamily="18" charset="0"/>
              </a:rPr>
              <a:t>st</a:t>
            </a:r>
            <a:r>
              <a:rPr kumimoji="1" lang="en-US" altLang="zh-TW" sz="2400" dirty="0">
                <a:solidFill>
                  <a:srgbClr val="0070C0"/>
                </a:solidFill>
                <a:highlight>
                  <a:srgbClr val="00FF00"/>
                </a:highlight>
                <a:ea typeface="新細明體" pitchFamily="18" charset="-120"/>
                <a:cs typeface="Times New Roman" pitchFamily="18" charset="0"/>
              </a:rPr>
              <a:t> argument (can also be used to control the maximum number of characters to read)</a:t>
            </a:r>
          </a:p>
          <a:p>
            <a:pPr marL="3676650" indent="0">
              <a:spcBef>
                <a:spcPct val="0"/>
              </a:spcBef>
              <a:buNone/>
            </a:pPr>
            <a:r>
              <a:rPr kumimoji="1" lang="en-US" altLang="zh-TW" sz="2400" dirty="0">
                <a:solidFill>
                  <a:srgbClr val="750F6D"/>
                </a:solidFill>
                <a:ea typeface="新細明體" pitchFamily="18" charset="-120"/>
                <a:cs typeface="Times New Roman" pitchFamily="18" charset="0"/>
              </a:rPr>
              <a:t>3</a:t>
            </a:r>
            <a:r>
              <a:rPr kumimoji="1" lang="en-US" altLang="zh-TW" sz="2400" baseline="30000" dirty="0">
                <a:solidFill>
                  <a:srgbClr val="750F6D"/>
                </a:solidFill>
                <a:ea typeface="新細明體" pitchFamily="18" charset="-120"/>
                <a:cs typeface="Times New Roman" pitchFamily="18" charset="0"/>
              </a:rPr>
              <a:t>rd</a:t>
            </a:r>
            <a:r>
              <a:rPr kumimoji="1" lang="en-US" altLang="zh-TW" sz="2400" dirty="0">
                <a:solidFill>
                  <a:srgbClr val="750F6D"/>
                </a:solidFill>
                <a:ea typeface="新細明體" pitchFamily="18" charset="-120"/>
                <a:cs typeface="Times New Roman" pitchFamily="18" charset="0"/>
              </a:rPr>
              <a:t> argument – from where to read the input. </a:t>
            </a:r>
            <a:r>
              <a:rPr kumimoji="1" lang="en-US" altLang="zh-TW" sz="2400" dirty="0">
                <a:solidFill>
                  <a:srgbClr val="750F6D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stdin</a:t>
            </a:r>
            <a:r>
              <a:rPr kumimoji="1" lang="en-US" altLang="zh-TW" sz="2400" dirty="0">
                <a:solidFill>
                  <a:srgbClr val="750F6D"/>
                </a:solidFill>
                <a:ea typeface="新細明體" pitchFamily="18" charset="-120"/>
                <a:cs typeface="Times New Roman" pitchFamily="18" charset="0"/>
              </a:rPr>
              <a:t> represents the "</a:t>
            </a:r>
            <a:r>
              <a:rPr kumimoji="1" lang="en-US" altLang="zh-TW" sz="2400" dirty="0">
                <a:solidFill>
                  <a:srgbClr val="750F6D"/>
                </a:solidFill>
                <a:highlight>
                  <a:srgbClr val="00FFFF"/>
                </a:highlight>
                <a:ea typeface="新細明體" pitchFamily="18" charset="-120"/>
                <a:cs typeface="Times New Roman" pitchFamily="18" charset="0"/>
              </a:rPr>
              <a:t>console input</a:t>
            </a:r>
            <a:r>
              <a:rPr kumimoji="1" lang="en-US" altLang="zh-TW" sz="2400" dirty="0">
                <a:solidFill>
                  <a:srgbClr val="750F6D"/>
                </a:solidFill>
                <a:ea typeface="新細明體" pitchFamily="18" charset="-120"/>
                <a:cs typeface="Times New Roman" pitchFamily="18" charset="0"/>
              </a:rPr>
              <a:t>".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TW" b="1" dirty="0" err="1">
                <a:latin typeface="Consolas" panose="020B0609020204030204" pitchFamily="49" charset="0"/>
                <a:cs typeface="Consolas" panose="020B0609020204030204" pitchFamily="49" charset="0"/>
              </a:rPr>
              <a:t>fgets</a:t>
            </a:r>
            <a:r>
              <a:rPr lang="en-US" altLang="zh-TW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dirty="0">
                <a:solidFill>
                  <a:srgbClr val="0070C0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dirty="0">
                <a:solidFill>
                  <a:srgbClr val="750F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stdin</a:t>
            </a:r>
            <a:r>
              <a:rPr lang="en-US" altLang="zh-TW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kumimoji="1" lang="en-US" altLang="zh-TW" b="1" dirty="0">
              <a:cs typeface="Times New Roman" pitchFamily="18" charset="0"/>
            </a:endParaRPr>
          </a:p>
          <a:p>
            <a:pPr marL="4486275" indent="0">
              <a:spcBef>
                <a:spcPct val="0"/>
              </a:spcBef>
              <a:buNone/>
            </a:pPr>
            <a:endParaRPr kumimoji="1" lang="en-US" altLang="zh-TW" sz="2400" dirty="0"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E7A05C5-40D4-E140-9686-78CFBCDD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3" name="Bent Arrow 12"/>
          <p:cNvSpPr/>
          <p:nvPr/>
        </p:nvSpPr>
        <p:spPr>
          <a:xfrm rot="5400000" flipV="1">
            <a:off x="1081087" y="4949145"/>
            <a:ext cx="1228726" cy="571500"/>
          </a:xfrm>
          <a:prstGeom prst="bentArrow">
            <a:avLst>
              <a:gd name="adj1" fmla="val 25000"/>
              <a:gd name="adj2" fmla="val 32143"/>
              <a:gd name="adj3" fmla="val 25000"/>
              <a:gd name="adj4" fmla="val 4375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Bent Arrow 17"/>
          <p:cNvSpPr/>
          <p:nvPr/>
        </p:nvSpPr>
        <p:spPr>
          <a:xfrm rot="5400000" flipV="1">
            <a:off x="2157443" y="5050696"/>
            <a:ext cx="857553" cy="571500"/>
          </a:xfrm>
          <a:prstGeom prst="bentArrow">
            <a:avLst>
              <a:gd name="adj1" fmla="val 25000"/>
              <a:gd name="adj2" fmla="val 32143"/>
              <a:gd name="adj3" fmla="val 25000"/>
              <a:gd name="adj4" fmla="val 4375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Bent Arrow 18"/>
          <p:cNvSpPr/>
          <p:nvPr/>
        </p:nvSpPr>
        <p:spPr>
          <a:xfrm rot="5400000" flipV="1">
            <a:off x="3391925" y="5336018"/>
            <a:ext cx="455149" cy="571331"/>
          </a:xfrm>
          <a:prstGeom prst="bentArrow">
            <a:avLst>
              <a:gd name="adj1" fmla="val 25000"/>
              <a:gd name="adj2" fmla="val 37021"/>
              <a:gd name="adj3" fmla="val 25000"/>
              <a:gd name="adj4" fmla="val 4375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374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2.3 String Functions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zh-TW" sz="4000" dirty="0">
                <a:ea typeface="新細明體" pitchFamily="18" charset="-120"/>
                <a:cs typeface="Times New Roman" pitchFamily="18" charset="0"/>
              </a:rPr>
              <a:t>Include </a:t>
            </a:r>
            <a:r>
              <a:rPr kumimoji="1" lang="en-US" altLang="zh-TW" sz="400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&lt;</a:t>
            </a:r>
            <a:r>
              <a:rPr kumimoji="1" lang="en-US" altLang="zh-TW" sz="40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string.h</a:t>
            </a:r>
            <a:r>
              <a:rPr kumimoji="1" lang="en-US" altLang="zh-TW" sz="400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  <a:r>
              <a:rPr kumimoji="1" lang="en-US" altLang="zh-TW" sz="4000" dirty="0">
                <a:ea typeface="新細明體" pitchFamily="18" charset="-120"/>
                <a:cs typeface="Times New Roman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32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strlen</a:t>
            </a:r>
            <a:r>
              <a:rPr lang="en-US" altLang="zh-TW" sz="32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(str1); // </a:t>
            </a:r>
            <a:r>
              <a:rPr lang="en-US" altLang="zh-TW" sz="3200" dirty="0">
                <a:ea typeface="新細明體" pitchFamily="18" charset="-120"/>
              </a:rPr>
              <a:t>Obtaining string </a:t>
            </a:r>
            <a:r>
              <a:rPr lang="en-US" altLang="zh-TW" sz="3200" b="1" dirty="0">
                <a:ea typeface="新細明體" pitchFamily="18" charset="-120"/>
              </a:rPr>
              <a:t>length</a:t>
            </a:r>
          </a:p>
          <a:p>
            <a:pPr>
              <a:lnSpc>
                <a:spcPct val="150000"/>
              </a:lnSpc>
            </a:pPr>
            <a:r>
              <a:rPr lang="en-US" altLang="zh-TW" sz="32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strcpy</a:t>
            </a:r>
            <a:r>
              <a:rPr lang="en-US" altLang="zh-TW" sz="32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(str2, str1); // </a:t>
            </a:r>
            <a:r>
              <a:rPr lang="en-US" altLang="zh-TW" sz="3200" b="1" dirty="0">
                <a:ea typeface="新細明體" pitchFamily="18" charset="-120"/>
              </a:rPr>
              <a:t>Copying</a:t>
            </a:r>
            <a:r>
              <a:rPr lang="en-US" altLang="zh-TW" sz="3200" dirty="0">
                <a:ea typeface="新細明體" pitchFamily="18" charset="-120"/>
              </a:rPr>
              <a:t> string</a:t>
            </a:r>
          </a:p>
          <a:p>
            <a:pPr>
              <a:lnSpc>
                <a:spcPct val="150000"/>
              </a:lnSpc>
            </a:pPr>
            <a:r>
              <a:rPr lang="en-US" altLang="zh-TW" sz="32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strcat</a:t>
            </a:r>
            <a:r>
              <a:rPr lang="en-US" altLang="zh-TW" sz="32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(str1, str2); // </a:t>
            </a:r>
            <a:r>
              <a:rPr lang="en-US" altLang="zh-TW" sz="3200" b="1" dirty="0">
                <a:ea typeface="新細明體" pitchFamily="18" charset="-120"/>
              </a:rPr>
              <a:t>Concatenating</a:t>
            </a:r>
            <a:r>
              <a:rPr lang="en-US" altLang="zh-TW" sz="3200" dirty="0">
                <a:ea typeface="新細明體" pitchFamily="18" charset="-120"/>
              </a:rPr>
              <a:t> string </a:t>
            </a:r>
          </a:p>
          <a:p>
            <a:pPr>
              <a:lnSpc>
                <a:spcPct val="150000"/>
              </a:lnSpc>
            </a:pPr>
            <a:r>
              <a:rPr lang="en-US" altLang="zh-TW" sz="3200" b="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strcmp</a:t>
            </a:r>
            <a:r>
              <a:rPr lang="en-US" altLang="zh-TW" sz="32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(str1, str2); // </a:t>
            </a:r>
            <a:r>
              <a:rPr lang="en-US" altLang="zh-TW" sz="3200" b="1" dirty="0">
                <a:ea typeface="新細明體" pitchFamily="18" charset="-120"/>
              </a:rPr>
              <a:t>Comparing</a:t>
            </a:r>
            <a:r>
              <a:rPr lang="en-US" altLang="zh-TW" sz="3200" dirty="0">
                <a:ea typeface="新細明體" pitchFamily="18" charset="-120"/>
              </a:rPr>
              <a:t> String</a:t>
            </a:r>
            <a:endParaRPr lang="en-US" altLang="en-US" sz="32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6C550DE-0863-3748-B4ED-F6F5CC2A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9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10000" y="3354615"/>
            <a:ext cx="1972694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7751" y="152400"/>
            <a:ext cx="10998679" cy="7620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2.3. Obtaining string length:</a:t>
            </a:r>
            <a:r>
              <a:rPr lang="en-US" altLang="zh-TW" sz="4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40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strlen</a:t>
            </a:r>
            <a:r>
              <a:rPr lang="en-US" altLang="zh-TW" sz="4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(str)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90600"/>
            <a:ext cx="8686800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string.h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str1[100]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"Hello\n"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return type of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strlen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() is </a:t>
            </a:r>
            <a:r>
              <a:rPr lang="en-US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size_t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, an unsigned int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N = </a:t>
            </a:r>
            <a:r>
              <a:rPr lang="en-US" altLang="zh-TW" sz="2000" b="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u="sng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u="sng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strlen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(str1);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apply int type casting, </a:t>
            </a: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N=6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Print the characters in the string one by one in the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reverse order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N-1;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0;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--)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("%c", str1[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0;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5243512" y="1037771"/>
            <a:ext cx="5424488" cy="9144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Need to include </a:t>
            </a:r>
            <a:r>
              <a:rPr kumimoji="1"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&lt;</a:t>
            </a:r>
            <a:r>
              <a:rPr kumimoji="1" lang="en-US" altLang="zh-TW" sz="24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string.h</a:t>
            </a:r>
            <a:r>
              <a:rPr kumimoji="1"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 to use the built-in string related functions.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04332" y="6451600"/>
            <a:ext cx="455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Think: What is the value of N in this example?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7682415-0C82-6A40-B7C2-BED3D726A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Group 216">
            <a:extLst>
              <a:ext uri="{FF2B5EF4-FFF2-40B4-BE49-F238E27FC236}">
                <a16:creationId xmlns:a16="http://schemas.microsoft.com/office/drawing/2014/main" id="{87A9BE68-C104-FA44-B352-4C2283416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57856"/>
              </p:ext>
            </p:extLst>
          </p:nvPr>
        </p:nvGraphicFramePr>
        <p:xfrm>
          <a:off x="5782694" y="2542611"/>
          <a:ext cx="3252656" cy="382587"/>
        </p:xfrm>
        <a:graphic>
          <a:graphicData uri="http://schemas.openxmlformats.org/drawingml/2006/table">
            <a:tbl>
              <a:tblPr/>
              <a:tblGrid>
                <a:gridCol w="40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643481606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AABBD37-6AC3-0DA6-0C54-5BDFA7EB8AD7}"/>
              </a:ext>
            </a:extLst>
          </p:cNvPr>
          <p:cNvSpPr/>
          <p:nvPr/>
        </p:nvSpPr>
        <p:spPr>
          <a:xfrm>
            <a:off x="9052358" y="2542611"/>
            <a:ext cx="1111160" cy="382587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600" dirty="0">
                <a:solidFill>
                  <a:schemeClr val="tx1"/>
                </a:solidFill>
                <a:sym typeface="Wingdings 2" panose="05020102010507070707" pitchFamily="18" charset="2"/>
              </a:rPr>
              <a:t>  </a:t>
            </a:r>
            <a:endParaRPr lang="en-HK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734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4600" y="3354615"/>
            <a:ext cx="29718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529114" y="4419600"/>
            <a:ext cx="29718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2.3. Copying strings </a:t>
            </a:r>
            <a:r>
              <a:rPr lang="en-US" altLang="zh-TW" sz="40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strcpy</a:t>
            </a:r>
            <a:r>
              <a:rPr lang="en-US" altLang="zh-TW" sz="4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(s1,s2)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90600"/>
            <a:ext cx="9375648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string.h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str1[100], str2[100];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"Foo" to str1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strcpy</a:t>
            </a: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(str1, "Foo");  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Never write this: str1 = "Foo";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Copy the string stored in str1 to str2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strcpy</a:t>
            </a: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(str2, str1);   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Never write this: str2 = str1;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0;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destination is big enough; source is NULL-terminated.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3399C8F-A2AD-E746-9379-23C70E21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2" name="Group 216">
            <a:extLst>
              <a:ext uri="{FF2B5EF4-FFF2-40B4-BE49-F238E27FC236}">
                <a16:creationId xmlns:a16="http://schemas.microsoft.com/office/drawing/2014/main" id="{ED2E97D1-48AD-A73A-72BA-9822928DA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51143"/>
              </p:ext>
            </p:extLst>
          </p:nvPr>
        </p:nvGraphicFramePr>
        <p:xfrm>
          <a:off x="6837228" y="2622756"/>
          <a:ext cx="3556000" cy="382587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FA590CA-6293-1B41-A63E-1B64939AF74F}"/>
              </a:ext>
            </a:extLst>
          </p:cNvPr>
          <p:cNvSpPr/>
          <p:nvPr/>
        </p:nvSpPr>
        <p:spPr>
          <a:xfrm>
            <a:off x="10393228" y="2622756"/>
            <a:ext cx="1111160" cy="382587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600" dirty="0">
                <a:solidFill>
                  <a:schemeClr val="tx1"/>
                </a:solidFill>
                <a:sym typeface="Wingdings 2" panose="05020102010507070707" pitchFamily="18" charset="2"/>
              </a:rPr>
              <a:t>  </a:t>
            </a:r>
            <a:endParaRPr lang="en-HK" sz="1600" dirty="0">
              <a:solidFill>
                <a:schemeClr val="tx1"/>
              </a:solidFill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AFD421B-9D91-601B-91AB-45FF3031C903}"/>
              </a:ext>
            </a:extLst>
          </p:cNvPr>
          <p:cNvSpPr txBox="1">
            <a:spLocks noChangeArrowheads="1"/>
          </p:cNvSpPr>
          <p:nvPr/>
        </p:nvSpPr>
        <p:spPr>
          <a:xfrm>
            <a:off x="6775704" y="1037771"/>
            <a:ext cx="3892296" cy="1184568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str1[100]</a:t>
            </a:r>
            <a:r>
              <a:rPr lang="en-US" altLang="zh-CN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ct val="0"/>
              </a:spcBef>
              <a:buNone/>
            </a:pPr>
            <a:endParaRPr kumimoji="1" lang="en-US" altLang="zh-TW" sz="2400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latin typeface="Consolas" panose="020B0609020204030204" pitchFamily="49" charset="0"/>
                <a:ea typeface="新細明體" pitchFamily="18" charset="-120"/>
                <a:cs typeface="Times New Roman" pitchFamily="18" charset="0"/>
              </a:rPr>
              <a:t>str1="Foo";</a:t>
            </a:r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E5672567-7313-0612-D83F-F92E61C08658}"/>
              </a:ext>
            </a:extLst>
          </p:cNvPr>
          <p:cNvSpPr/>
          <p:nvPr/>
        </p:nvSpPr>
        <p:spPr>
          <a:xfrm>
            <a:off x="8377484" y="1335534"/>
            <a:ext cx="1278579" cy="1184568"/>
          </a:xfrm>
          <a:prstGeom prst="mathMultiply">
            <a:avLst>
              <a:gd name="adj1" fmla="val 1657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243A74A-0414-E1FC-AB3C-6D30D370B94A}"/>
              </a:ext>
            </a:extLst>
          </p:cNvPr>
          <p:cNvSpPr txBox="1">
            <a:spLocks noChangeArrowheads="1"/>
          </p:cNvSpPr>
          <p:nvPr/>
        </p:nvSpPr>
        <p:spPr>
          <a:xfrm>
            <a:off x="7947659" y="4992636"/>
            <a:ext cx="3892296" cy="812639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str1[100]</a:t>
            </a:r>
            <a:r>
              <a:rPr kumimoji="1" lang="en-US" altLang="zh-TW" sz="2000" dirty="0">
                <a:latin typeface="Consolas" panose="020B0609020204030204" pitchFamily="49" charset="0"/>
                <a:cs typeface="Times New Roman" pitchFamily="18" charset="0"/>
              </a:rPr>
              <a:t> ="Foo";</a:t>
            </a:r>
            <a:endParaRPr lang="en-US" altLang="zh-CN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 str2[100] = str1;</a:t>
            </a:r>
            <a:endParaRPr kumimoji="1" lang="en-US" altLang="zh-TW" sz="2000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0547CBD-3580-C316-BE89-EE8D8A485186}"/>
              </a:ext>
            </a:extLst>
          </p:cNvPr>
          <p:cNvSpPr txBox="1">
            <a:spLocks noChangeArrowheads="1"/>
          </p:cNvSpPr>
          <p:nvPr/>
        </p:nvSpPr>
        <p:spPr>
          <a:xfrm>
            <a:off x="4722932" y="5054762"/>
            <a:ext cx="2235652" cy="516774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str2 = str1;</a:t>
            </a:r>
            <a:endParaRPr kumimoji="1" lang="en-US" altLang="zh-TW" sz="2400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94AE5FA5-015D-4196-C43C-FB006FC8FED6}"/>
              </a:ext>
            </a:extLst>
          </p:cNvPr>
          <p:cNvSpPr/>
          <p:nvPr/>
        </p:nvSpPr>
        <p:spPr>
          <a:xfrm>
            <a:off x="6542474" y="4720865"/>
            <a:ext cx="1278579" cy="1184568"/>
          </a:xfrm>
          <a:prstGeom prst="mathMultiply">
            <a:avLst>
              <a:gd name="adj1" fmla="val 1657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5506E023-B692-DA53-9B56-95899C910414}"/>
              </a:ext>
            </a:extLst>
          </p:cNvPr>
          <p:cNvSpPr/>
          <p:nvPr/>
        </p:nvSpPr>
        <p:spPr>
          <a:xfrm>
            <a:off x="10939500" y="5194660"/>
            <a:ext cx="1027061" cy="908378"/>
          </a:xfrm>
          <a:prstGeom prst="mathMultiply">
            <a:avLst>
              <a:gd name="adj1" fmla="val 1657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164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11" grpId="0" animBg="1"/>
      <p:bldP spid="7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981200" y="990600"/>
            <a:ext cx="8686800" cy="40864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string.h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str1[100] = "Hello", str2[100] = "World";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strcat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(str1, " "); 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str1 becomes "Hello "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strcat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(str1, str2);    </a:t>
            </a: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str1 becomes "Hello World"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return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0;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2.3. Concatenating string:</a:t>
            </a:r>
            <a:r>
              <a:rPr lang="en-US" altLang="zh-TW" sz="4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40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strcat</a:t>
            </a:r>
            <a:r>
              <a:rPr lang="en-US" altLang="zh-TW" sz="4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(s1, s2) 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40864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1733210" y="5261186"/>
            <a:ext cx="8782390" cy="911013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strcat</a:t>
            </a:r>
            <a:r>
              <a:rPr kumimoji="1" lang="en-US" altLang="zh-TW" sz="24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(str1, str2)</a:t>
            </a:r>
            <a:r>
              <a:rPr kumimoji="1" lang="en-US" altLang="zh-TW" sz="2400">
                <a:cs typeface="Times New Roman" pitchFamily="18" charset="0"/>
              </a:rPr>
              <a:t> </a:t>
            </a:r>
            <a:r>
              <a:rPr kumimoji="1" lang="en-US" altLang="zh-TW" sz="2400">
                <a:solidFill>
                  <a:srgbClr val="FF0000"/>
                </a:solidFill>
                <a:cs typeface="Times New Roman" pitchFamily="18" charset="0"/>
              </a:rPr>
              <a:t>appends</a:t>
            </a:r>
            <a:r>
              <a:rPr kumimoji="1" lang="en-US" altLang="zh-TW" sz="2400">
                <a:cs typeface="Times New Roman" pitchFamily="18" charset="0"/>
              </a:rPr>
              <a:t> </a:t>
            </a:r>
            <a:r>
              <a:rPr kumimoji="1" lang="en-US" altLang="zh-TW" sz="24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str2</a:t>
            </a: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 to </a:t>
            </a:r>
            <a:r>
              <a:rPr kumimoji="1" lang="en-US" altLang="zh-TW" sz="24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str1</a:t>
            </a: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. </a:t>
            </a: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str1</a:t>
            </a: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 must have enough space to store the concatenated string.</a:t>
            </a:r>
          </a:p>
        </p:txBody>
      </p:sp>
      <p:graphicFrame>
        <p:nvGraphicFramePr>
          <p:cNvPr id="3" name="Group 216">
            <a:extLst>
              <a:ext uri="{FF2B5EF4-FFF2-40B4-BE49-F238E27FC236}">
                <a16:creationId xmlns:a16="http://schemas.microsoft.com/office/drawing/2014/main" id="{5438EBE8-AC63-073C-8BCD-540A0ED34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486889"/>
              </p:ext>
            </p:extLst>
          </p:nvPr>
        </p:nvGraphicFramePr>
        <p:xfrm>
          <a:off x="5986730" y="1104635"/>
          <a:ext cx="2865184" cy="382587"/>
        </p:xfrm>
        <a:graphic>
          <a:graphicData uri="http://schemas.openxmlformats.org/drawingml/2006/table">
            <a:tbl>
              <a:tblPr/>
              <a:tblGrid>
                <a:gridCol w="409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29FCAD1B-F26C-A848-4B4E-8C9C4834C79E}"/>
              </a:ext>
            </a:extLst>
          </p:cNvPr>
          <p:cNvSpPr/>
          <p:nvPr/>
        </p:nvSpPr>
        <p:spPr>
          <a:xfrm>
            <a:off x="8868922" y="1098553"/>
            <a:ext cx="1498632" cy="382587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600" dirty="0">
                <a:solidFill>
                  <a:schemeClr val="tx1"/>
                </a:solidFill>
                <a:sym typeface="Wingdings 2" panose="05020102010507070707" pitchFamily="18" charset="2"/>
              </a:rPr>
              <a:t>  </a:t>
            </a:r>
            <a:endParaRPr lang="en-HK" sz="1600" dirty="0">
              <a:solidFill>
                <a:schemeClr val="tx1"/>
              </a:solidFill>
            </a:endParaRPr>
          </a:p>
        </p:txBody>
      </p:sp>
      <p:graphicFrame>
        <p:nvGraphicFramePr>
          <p:cNvPr id="11" name="Group 216">
            <a:extLst>
              <a:ext uri="{FF2B5EF4-FFF2-40B4-BE49-F238E27FC236}">
                <a16:creationId xmlns:a16="http://schemas.microsoft.com/office/drawing/2014/main" id="{6E1BEFEE-242B-2D5E-6C85-685E140EC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19990"/>
              </p:ext>
            </p:extLst>
          </p:nvPr>
        </p:nvGraphicFramePr>
        <p:xfrm>
          <a:off x="5986730" y="2954450"/>
          <a:ext cx="3252656" cy="382587"/>
        </p:xfrm>
        <a:graphic>
          <a:graphicData uri="http://schemas.openxmlformats.org/drawingml/2006/table">
            <a:tbl>
              <a:tblPr/>
              <a:tblGrid>
                <a:gridCol w="40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643481606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8EDADA5A-05C5-1668-2013-D3A9E560EA3D}"/>
              </a:ext>
            </a:extLst>
          </p:cNvPr>
          <p:cNvSpPr/>
          <p:nvPr/>
        </p:nvSpPr>
        <p:spPr>
          <a:xfrm>
            <a:off x="9260680" y="2935639"/>
            <a:ext cx="1111160" cy="382587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600" dirty="0">
                <a:solidFill>
                  <a:schemeClr val="tx1"/>
                </a:solidFill>
                <a:sym typeface="Wingdings 2" panose="05020102010507070707" pitchFamily="18" charset="2"/>
              </a:rPr>
              <a:t>  </a:t>
            </a:r>
            <a:endParaRPr lang="en-HK" sz="1600" dirty="0">
              <a:solidFill>
                <a:schemeClr val="tx1"/>
              </a:solidFill>
            </a:endParaRPr>
          </a:p>
        </p:txBody>
      </p:sp>
      <p:graphicFrame>
        <p:nvGraphicFramePr>
          <p:cNvPr id="13" name="Group 216">
            <a:extLst>
              <a:ext uri="{FF2B5EF4-FFF2-40B4-BE49-F238E27FC236}">
                <a16:creationId xmlns:a16="http://schemas.microsoft.com/office/drawing/2014/main" id="{0C53CF9A-AC42-9977-F4DA-48B712443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947588"/>
              </p:ext>
            </p:extLst>
          </p:nvPr>
        </p:nvGraphicFramePr>
        <p:xfrm>
          <a:off x="5986730" y="4596508"/>
          <a:ext cx="5299580" cy="382587"/>
        </p:xfrm>
        <a:graphic>
          <a:graphicData uri="http://schemas.openxmlformats.org/drawingml/2006/table">
            <a:tbl>
              <a:tblPr/>
              <a:tblGrid>
                <a:gridCol w="40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643481606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1459905553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3581550233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2350230074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1980270676"/>
                    </a:ext>
                  </a:extLst>
                </a:gridCol>
                <a:gridCol w="407660">
                  <a:extLst>
                    <a:ext uri="{9D8B030D-6E8A-4147-A177-3AD203B41FA5}">
                      <a16:colId xmlns:a16="http://schemas.microsoft.com/office/drawing/2014/main" val="3671311250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134F2C4E-F76C-7B76-9244-6B56A240FB03}"/>
              </a:ext>
            </a:extLst>
          </p:cNvPr>
          <p:cNvSpPr/>
          <p:nvPr/>
        </p:nvSpPr>
        <p:spPr>
          <a:xfrm>
            <a:off x="11286310" y="4596508"/>
            <a:ext cx="774052" cy="382587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600" dirty="0">
                <a:solidFill>
                  <a:schemeClr val="tx1"/>
                </a:solidFill>
                <a:sym typeface="Wingdings 2" panose="05020102010507070707" pitchFamily="18" charset="2"/>
              </a:rPr>
              <a:t>  </a:t>
            </a:r>
            <a:endParaRPr lang="en-HK" sz="1600" dirty="0">
              <a:solidFill>
                <a:schemeClr val="tx1"/>
              </a:solidFill>
            </a:endParaRPr>
          </a:p>
        </p:txBody>
      </p:sp>
      <p:graphicFrame>
        <p:nvGraphicFramePr>
          <p:cNvPr id="6" name="Group 216">
            <a:extLst>
              <a:ext uri="{FF2B5EF4-FFF2-40B4-BE49-F238E27FC236}">
                <a16:creationId xmlns:a16="http://schemas.microsoft.com/office/drawing/2014/main" id="{082B3632-DC5C-8AC7-703E-FB47279A2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015007"/>
              </p:ext>
            </p:extLst>
          </p:nvPr>
        </p:nvGraphicFramePr>
        <p:xfrm>
          <a:off x="5986730" y="1791284"/>
          <a:ext cx="2865184" cy="382587"/>
        </p:xfrm>
        <a:graphic>
          <a:graphicData uri="http://schemas.openxmlformats.org/drawingml/2006/table">
            <a:tbl>
              <a:tblPr/>
              <a:tblGrid>
                <a:gridCol w="409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9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矩形 9">
            <a:extLst>
              <a:ext uri="{FF2B5EF4-FFF2-40B4-BE49-F238E27FC236}">
                <a16:creationId xmlns:a16="http://schemas.microsoft.com/office/drawing/2014/main" id="{EAF224A3-8FF1-B8FB-2B17-CA39870E49D1}"/>
              </a:ext>
            </a:extLst>
          </p:cNvPr>
          <p:cNvSpPr/>
          <p:nvPr/>
        </p:nvSpPr>
        <p:spPr>
          <a:xfrm>
            <a:off x="8868922" y="1785202"/>
            <a:ext cx="1498632" cy="382587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600" dirty="0">
                <a:solidFill>
                  <a:schemeClr val="tx1"/>
                </a:solidFill>
                <a:sym typeface="Wingdings 2" panose="05020102010507070707" pitchFamily="18" charset="2"/>
              </a:rPr>
              <a:t>  </a:t>
            </a:r>
            <a:endParaRPr lang="en-HK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D201C-2399-273A-004D-5D6D5A0051C2}"/>
              </a:ext>
            </a:extLst>
          </p:cNvPr>
          <p:cNvSpPr txBox="1"/>
          <p:nvPr/>
        </p:nvSpPr>
        <p:spPr>
          <a:xfrm>
            <a:off x="5259914" y="1123972"/>
            <a:ext cx="83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>
                <a:solidFill>
                  <a:schemeClr val="tx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str1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A64E0F-5209-20B2-1B75-FBBCCA09AB0C}"/>
              </a:ext>
            </a:extLst>
          </p:cNvPr>
          <p:cNvSpPr txBox="1"/>
          <p:nvPr/>
        </p:nvSpPr>
        <p:spPr>
          <a:xfrm>
            <a:off x="5259914" y="1785202"/>
            <a:ext cx="83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>
                <a:solidFill>
                  <a:schemeClr val="tx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str2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180F39-8259-8345-337D-D603A3F12376}"/>
              </a:ext>
            </a:extLst>
          </p:cNvPr>
          <p:cNvSpPr txBox="1"/>
          <p:nvPr/>
        </p:nvSpPr>
        <p:spPr>
          <a:xfrm>
            <a:off x="5292605" y="2961077"/>
            <a:ext cx="83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>
                <a:solidFill>
                  <a:schemeClr val="tx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str1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8FBC92-D5AA-398A-178F-827420C6440C}"/>
              </a:ext>
            </a:extLst>
          </p:cNvPr>
          <p:cNvSpPr txBox="1"/>
          <p:nvPr/>
        </p:nvSpPr>
        <p:spPr>
          <a:xfrm>
            <a:off x="5292605" y="4624670"/>
            <a:ext cx="83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>
                <a:solidFill>
                  <a:schemeClr val="tx2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str1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132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Calibri" panose="020F0502020204030204" pitchFamily="34" charset="0"/>
                <a:ea typeface="新細明體" pitchFamily="18" charset="-120"/>
                <a:cs typeface="Calibri" panose="020F0502020204030204" pitchFamily="34" charset="0"/>
              </a:rPr>
              <a:t>2.4. </a:t>
            </a:r>
            <a:r>
              <a:rPr lang="en-US" altLang="zh-TW" sz="400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strcmp</a:t>
            </a:r>
            <a:r>
              <a:rPr lang="en-US" altLang="zh-TW" sz="400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862" y="2362200"/>
            <a:ext cx="11671138" cy="365760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TW" sz="4000" dirty="0">
                <a:ea typeface="新細明體" pitchFamily="18" charset="-120"/>
              </a:rPr>
              <a:t>This function compares two strings</a:t>
            </a:r>
            <a:r>
              <a:rPr lang="en-US" altLang="zh-TW" sz="3600" dirty="0">
                <a:ea typeface="新細明體" pitchFamily="18" charset="-120"/>
              </a:rPr>
              <a:t> and returns: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3600" dirty="0">
                <a:ea typeface="新細明體" pitchFamily="18" charset="-120"/>
              </a:rPr>
              <a:t>A </a:t>
            </a:r>
            <a:r>
              <a:rPr lang="en-US" altLang="zh-TW" sz="3600" u="sng" dirty="0">
                <a:solidFill>
                  <a:srgbClr val="C00000"/>
                </a:solidFill>
                <a:ea typeface="新細明體" pitchFamily="18" charset="-120"/>
              </a:rPr>
              <a:t>positive integer</a:t>
            </a:r>
            <a:r>
              <a:rPr lang="en-US" altLang="zh-TW" sz="3600" dirty="0">
                <a:solidFill>
                  <a:srgbClr val="C00000"/>
                </a:solidFill>
                <a:ea typeface="新細明體" pitchFamily="18" charset="-120"/>
              </a:rPr>
              <a:t> </a:t>
            </a:r>
            <a:r>
              <a:rPr lang="en-US" altLang="zh-TW" sz="3600" dirty="0">
                <a:ea typeface="新細明體" pitchFamily="18" charset="-120"/>
              </a:rPr>
              <a:t>if </a:t>
            </a:r>
            <a:r>
              <a:rPr lang="en-US" altLang="zh-TW" sz="36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s1</a:t>
            </a:r>
            <a:r>
              <a:rPr lang="en-US" altLang="zh-TW" sz="3600" dirty="0">
                <a:ea typeface="新細明體" pitchFamily="18" charset="-120"/>
              </a:rPr>
              <a:t> is lexicographically </a:t>
            </a:r>
            <a:r>
              <a:rPr lang="en-US" altLang="zh-TW" sz="3600" u="sng" dirty="0">
                <a:solidFill>
                  <a:srgbClr val="C00000"/>
                </a:solidFill>
                <a:ea typeface="新細明體" pitchFamily="18" charset="-120"/>
              </a:rPr>
              <a:t>larger</a:t>
            </a:r>
            <a:r>
              <a:rPr lang="en-US" altLang="zh-TW" sz="3600" dirty="0">
                <a:ea typeface="新細明體" pitchFamily="18" charset="-120"/>
              </a:rPr>
              <a:t> than </a:t>
            </a:r>
            <a:r>
              <a:rPr lang="en-US" altLang="zh-TW" sz="36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3600" dirty="0">
                <a:ea typeface="新細明體" pitchFamily="18" charset="-120"/>
              </a:rPr>
              <a:t>A </a:t>
            </a:r>
            <a:r>
              <a:rPr lang="en-US" altLang="zh-TW" sz="3600" u="sng" dirty="0">
                <a:solidFill>
                  <a:srgbClr val="C00000"/>
                </a:solidFill>
                <a:ea typeface="新細明體" pitchFamily="18" charset="-120"/>
              </a:rPr>
              <a:t>negative integer</a:t>
            </a:r>
            <a:r>
              <a:rPr lang="en-US" altLang="zh-TW" sz="3600" dirty="0">
                <a:solidFill>
                  <a:srgbClr val="C00000"/>
                </a:solidFill>
                <a:ea typeface="新細明體" pitchFamily="18" charset="-120"/>
              </a:rPr>
              <a:t> </a:t>
            </a:r>
            <a:r>
              <a:rPr lang="en-US" altLang="zh-TW" sz="3600" dirty="0">
                <a:ea typeface="新細明體" pitchFamily="18" charset="-120"/>
              </a:rPr>
              <a:t>if </a:t>
            </a:r>
            <a:r>
              <a:rPr lang="en-US" altLang="zh-TW" sz="36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s1</a:t>
            </a:r>
            <a:r>
              <a:rPr lang="en-US" altLang="zh-TW" sz="3600" dirty="0">
                <a:ea typeface="新細明體" pitchFamily="18" charset="-120"/>
              </a:rPr>
              <a:t> is lexicographically </a:t>
            </a:r>
            <a:r>
              <a:rPr lang="en-US" altLang="zh-TW" sz="3600" u="sng" dirty="0">
                <a:solidFill>
                  <a:srgbClr val="C00000"/>
                </a:solidFill>
                <a:ea typeface="新細明體" pitchFamily="18" charset="-120"/>
              </a:rPr>
              <a:t>smaller</a:t>
            </a:r>
            <a:r>
              <a:rPr lang="en-US" altLang="zh-TW" sz="3600" dirty="0">
                <a:ea typeface="新細明體" pitchFamily="18" charset="-120"/>
              </a:rPr>
              <a:t> than </a:t>
            </a:r>
            <a:r>
              <a:rPr lang="en-US" altLang="zh-TW" sz="36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3600" dirty="0">
                <a:ea typeface="新細明體" pitchFamily="18" charset="-120"/>
              </a:rPr>
              <a:t>A </a:t>
            </a:r>
            <a:r>
              <a:rPr lang="en-US" altLang="zh-TW" sz="3600" u="sng" dirty="0">
                <a:solidFill>
                  <a:srgbClr val="C00000"/>
                </a:solidFill>
                <a:ea typeface="新細明體" pitchFamily="18" charset="-120"/>
              </a:rPr>
              <a:t>zero</a:t>
            </a:r>
            <a:r>
              <a:rPr lang="en-US" altLang="zh-TW" sz="3600" dirty="0">
                <a:ea typeface="新細明體" pitchFamily="18" charset="-120"/>
              </a:rPr>
              <a:t> if </a:t>
            </a:r>
            <a:r>
              <a:rPr lang="en-US" altLang="zh-TW" sz="36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s1</a:t>
            </a:r>
            <a:r>
              <a:rPr lang="en-US" altLang="zh-TW" sz="3600" dirty="0">
                <a:ea typeface="新細明體" pitchFamily="18" charset="-120"/>
              </a:rPr>
              <a:t> is </a:t>
            </a:r>
            <a:r>
              <a:rPr lang="en-US" altLang="zh-TW" sz="3600" u="sng" dirty="0">
                <a:solidFill>
                  <a:srgbClr val="C00000"/>
                </a:solidFill>
                <a:ea typeface="新細明體" pitchFamily="18" charset="-120"/>
              </a:rPr>
              <a:t>equal</a:t>
            </a:r>
            <a:r>
              <a:rPr lang="en-US" altLang="zh-TW" sz="3600" dirty="0">
                <a:ea typeface="新細明體" pitchFamily="18" charset="-120"/>
              </a:rPr>
              <a:t> to </a:t>
            </a:r>
            <a:r>
              <a:rPr lang="en-US" altLang="zh-TW" sz="36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s2</a:t>
            </a:r>
          </a:p>
        </p:txBody>
      </p:sp>
      <p:sp>
        <p:nvSpPr>
          <p:cNvPr id="2" name="Rectangle 1"/>
          <p:cNvSpPr/>
          <p:nvPr/>
        </p:nvSpPr>
        <p:spPr>
          <a:xfrm>
            <a:off x="3800857" y="1317762"/>
            <a:ext cx="41344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strcmp</a:t>
            </a:r>
            <a:r>
              <a:rPr lang="en-US" altLang="zh-TW" sz="4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(s1, s2)</a:t>
            </a:r>
            <a:endParaRPr lang="en-US" sz="400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3063F55-1E3D-6C4D-B4F7-8D89CB792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22D52767-73DE-8C91-82B2-834B1F9BA34E}"/>
              </a:ext>
            </a:extLst>
          </p:cNvPr>
          <p:cNvSpPr txBox="1">
            <a:spLocks noChangeArrowheads="1"/>
          </p:cNvSpPr>
          <p:nvPr/>
        </p:nvSpPr>
        <p:spPr>
          <a:xfrm>
            <a:off x="7745476" y="307514"/>
            <a:ext cx="3015940" cy="606885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str2 == str1;</a:t>
            </a:r>
            <a:endParaRPr kumimoji="1" lang="en-US" altLang="zh-TW" sz="3200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82FA59C6-83EF-ED4C-8209-B2E63A8B29A7}"/>
              </a:ext>
            </a:extLst>
          </p:cNvPr>
          <p:cNvSpPr/>
          <p:nvPr/>
        </p:nvSpPr>
        <p:spPr>
          <a:xfrm>
            <a:off x="10389842" y="18672"/>
            <a:ext cx="1278579" cy="1184568"/>
          </a:xfrm>
          <a:prstGeom prst="mathMultiply">
            <a:avLst>
              <a:gd name="adj1" fmla="val 1657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656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0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0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0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08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08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8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1" grpId="0" uiExpand="1" build="p"/>
      <p:bldP spid="2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TW" sz="4000" dirty="0">
                <a:ea typeface="新細明體" pitchFamily="18" charset="-120"/>
              </a:rPr>
              <a:t>2.4. Strings are compared </a:t>
            </a:r>
            <a:r>
              <a:rPr lang="en-US" altLang="zh-TW" sz="4000" b="1" dirty="0">
                <a:ea typeface="新細明體" pitchFamily="18" charset="-120"/>
              </a:rPr>
              <a:t>lexicographically</a:t>
            </a:r>
            <a:r>
              <a:rPr lang="en-US" altLang="zh-TW" sz="4000" dirty="0">
                <a:ea typeface="新細明體" pitchFamily="18" charset="-120"/>
              </a:rPr>
              <a:t> order(</a:t>
            </a:r>
            <a:r>
              <a:rPr lang="zh-CN" altLang="en-US" sz="3100" dirty="0">
                <a:ea typeface="新細明體" pitchFamily="18" charset="-120"/>
              </a:rPr>
              <a:t>字典順序</a:t>
            </a:r>
            <a:r>
              <a:rPr lang="en-US" altLang="zh-TW" sz="4000" dirty="0">
                <a:ea typeface="新細明體" pitchFamily="18" charset="-120"/>
              </a:rPr>
              <a:t>)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585" y="2667000"/>
            <a:ext cx="11331615" cy="365760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3200" dirty="0">
                <a:ea typeface="新細明體" pitchFamily="18" charset="-120"/>
              </a:rPr>
              <a:t>Compare the 1</a:t>
            </a:r>
            <a:r>
              <a:rPr lang="en-US" altLang="zh-TW" sz="3200" baseline="30000" dirty="0">
                <a:ea typeface="新細明體" pitchFamily="18" charset="-120"/>
              </a:rPr>
              <a:t>st</a:t>
            </a:r>
            <a:r>
              <a:rPr lang="en-US" altLang="zh-TW" sz="3200" dirty="0">
                <a:ea typeface="新細明體" pitchFamily="18" charset="-120"/>
              </a:rPr>
              <a:t> character of each string, then the 2</a:t>
            </a:r>
            <a:r>
              <a:rPr lang="en-US" altLang="zh-TW" sz="3200" baseline="30000" dirty="0">
                <a:ea typeface="新細明體" pitchFamily="18" charset="-120"/>
              </a:rPr>
              <a:t>nd</a:t>
            </a:r>
            <a:r>
              <a:rPr lang="en-US" altLang="zh-TW" sz="3200" dirty="0">
                <a:ea typeface="新細明體" pitchFamily="18" charset="-120"/>
              </a:rPr>
              <a:t> character of each string, and so on until an order can be determined.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18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3200" dirty="0">
                <a:ea typeface="新細明體" pitchFamily="18" charset="-120"/>
              </a:rPr>
              <a:t>ASCII value determines the order of the characters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ASCII value of 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'X'</a:t>
            </a:r>
            <a:r>
              <a:rPr lang="en-US" altLang="zh-TW" sz="2800" dirty="0">
                <a:ea typeface="新細明體" pitchFamily="18" charset="-120"/>
              </a:rPr>
              <a:t> is 88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ASCII value of 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'D'</a:t>
            </a:r>
            <a:r>
              <a:rPr lang="en-US" altLang="zh-TW" sz="2800" dirty="0">
                <a:ea typeface="新細明體" pitchFamily="18" charset="-120"/>
              </a:rPr>
              <a:t> is 68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1800" dirty="0">
              <a:ea typeface="新細明體" pitchFamily="18" charset="-12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dirty="0">
                <a:ea typeface="新細明體" pitchFamily="18" charset="-120"/>
              </a:rPr>
              <a:t>In this example, 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s1</a:t>
            </a:r>
            <a:r>
              <a:rPr lang="en-US" altLang="zh-TW" dirty="0">
                <a:ea typeface="新細明體" pitchFamily="18" charset="-120"/>
              </a:rPr>
              <a:t> is said to be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lexicographically</a:t>
            </a:r>
            <a:r>
              <a:rPr lang="en-US" altLang="zh-TW" dirty="0">
                <a:ea typeface="新細明體" pitchFamily="18" charset="-120"/>
              </a:rPr>
              <a:t> smaller than 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s2</a:t>
            </a:r>
            <a:r>
              <a:rPr lang="en-US" altLang="zh-TW" dirty="0">
                <a:ea typeface="新細明體" pitchFamily="18" charset="-120"/>
              </a:rPr>
              <a:t>.</a:t>
            </a:r>
          </a:p>
        </p:txBody>
      </p:sp>
      <p:graphicFrame>
        <p:nvGraphicFramePr>
          <p:cNvPr id="50893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717405"/>
              </p:ext>
            </p:extLst>
          </p:nvPr>
        </p:nvGraphicFramePr>
        <p:xfrm>
          <a:off x="5094288" y="1239839"/>
          <a:ext cx="2525710" cy="382587"/>
        </p:xfrm>
        <a:graphic>
          <a:graphicData uri="http://schemas.openxmlformats.org/drawingml/2006/table">
            <a:tbl>
              <a:tblPr/>
              <a:tblGrid>
                <a:gridCol w="505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1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4171950" y="1201739"/>
            <a:ext cx="8445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</a:rPr>
              <a:t>s1</a:t>
            </a:r>
            <a:endParaRPr lang="en-US" altLang="zh-TW" b="0" u="sng">
              <a:latin typeface="Consolas" panose="020B0609020204030204" pitchFamily="49" charset="0"/>
              <a:ea typeface="新細明體" pitchFamily="18" charset="-120"/>
            </a:endParaRPr>
          </a:p>
        </p:txBody>
      </p:sp>
      <p:graphicFrame>
        <p:nvGraphicFramePr>
          <p:cNvPr id="508946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361676"/>
              </p:ext>
            </p:extLst>
          </p:nvPr>
        </p:nvGraphicFramePr>
        <p:xfrm>
          <a:off x="5094288" y="2008189"/>
          <a:ext cx="3059112" cy="382587"/>
        </p:xfrm>
        <a:graphic>
          <a:graphicData uri="http://schemas.openxmlformats.org/drawingml/2006/table">
            <a:tbl>
              <a:tblPr/>
              <a:tblGrid>
                <a:gridCol w="509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8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98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800" name="Rectangle 32"/>
          <p:cNvSpPr>
            <a:spLocks noChangeArrowheads="1"/>
          </p:cNvSpPr>
          <p:nvPr/>
        </p:nvSpPr>
        <p:spPr bwMode="auto">
          <a:xfrm>
            <a:off x="4171951" y="1970089"/>
            <a:ext cx="5245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</a:rPr>
              <a:t>s2</a:t>
            </a:r>
          </a:p>
        </p:txBody>
      </p:sp>
      <p:sp>
        <p:nvSpPr>
          <p:cNvPr id="508961" name="Line 33"/>
          <p:cNvSpPr>
            <a:spLocks noChangeShapeType="1"/>
          </p:cNvSpPr>
          <p:nvPr/>
        </p:nvSpPr>
        <p:spPr bwMode="auto">
          <a:xfrm>
            <a:off x="5324475" y="1625600"/>
            <a:ext cx="0" cy="344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8962" name="Line 34"/>
          <p:cNvSpPr>
            <a:spLocks noChangeShapeType="1"/>
          </p:cNvSpPr>
          <p:nvPr/>
        </p:nvSpPr>
        <p:spPr bwMode="auto">
          <a:xfrm>
            <a:off x="5824538" y="1625600"/>
            <a:ext cx="0" cy="344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8963" name="Line 35"/>
          <p:cNvSpPr>
            <a:spLocks noChangeShapeType="1"/>
          </p:cNvSpPr>
          <p:nvPr/>
        </p:nvSpPr>
        <p:spPr bwMode="auto">
          <a:xfrm>
            <a:off x="6323013" y="1625600"/>
            <a:ext cx="0" cy="344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8964" name="Line 36"/>
          <p:cNvSpPr>
            <a:spLocks noChangeShapeType="1"/>
          </p:cNvSpPr>
          <p:nvPr/>
        </p:nvSpPr>
        <p:spPr bwMode="auto">
          <a:xfrm>
            <a:off x="6861175" y="1625600"/>
            <a:ext cx="0" cy="344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3570CFC-5D37-7347-857D-63F38733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41FF49BF-EFF0-033C-E224-E5A15B68769E}"/>
              </a:ext>
            </a:extLst>
          </p:cNvPr>
          <p:cNvSpPr txBox="1">
            <a:spLocks noChangeArrowheads="1"/>
          </p:cNvSpPr>
          <p:nvPr/>
        </p:nvSpPr>
        <p:spPr>
          <a:xfrm>
            <a:off x="7184448" y="4495800"/>
            <a:ext cx="4528248" cy="1122361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s1 &lt; s2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TW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strcmp</a:t>
            </a:r>
            <a:r>
              <a:rPr lang="en-US" altLang="zh-TW" sz="3200" dirty="0">
                <a:latin typeface="Consolas" panose="020B0609020204030204" pitchFamily="49" charset="0"/>
                <a:cs typeface="Consolas" panose="020B0609020204030204" pitchFamily="49" charset="0"/>
              </a:rPr>
              <a:t>(s1, s2) &lt; 0</a:t>
            </a:r>
            <a:endParaRPr lang="en-US" altLang="zh-CN" sz="3200" dirty="0"/>
          </a:p>
          <a:p>
            <a:pPr marL="0" indent="0">
              <a:spcBef>
                <a:spcPct val="0"/>
              </a:spcBef>
              <a:buNone/>
            </a:pPr>
            <a:endParaRPr kumimoji="1" lang="en-US" altLang="zh-TW" sz="3200" dirty="0">
              <a:latin typeface="Consolas" panose="020B0609020204030204" pitchFamily="49" charset="0"/>
              <a:ea typeface="新細明體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207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withGroup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61" grpId="0" animBg="1"/>
      <p:bldP spid="508962" grpId="0" animBg="1"/>
      <p:bldP spid="508963" grpId="0" animBg="1"/>
      <p:bldP spid="508964" grpId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altLang="zh-TW" sz="4000">
                <a:ea typeface="新細明體" pitchFamily="18" charset="-120"/>
              </a:rPr>
              <a:t>2.4. String comparison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199" y="990599"/>
            <a:ext cx="9628909" cy="52901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s1[100], s2[100];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... </a:t>
            </a:r>
            <a:r>
              <a:rPr lang="en-US" altLang="zh-TW" sz="24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s1 and s2 are assigned some values here</a:t>
            </a:r>
          </a:p>
          <a:p>
            <a:pPr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If s1 is </a:t>
            </a:r>
            <a:r>
              <a:rPr lang="en-US" altLang="zh-TW" sz="24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equal</a:t>
            </a:r>
            <a:r>
              <a:rPr lang="en-US" altLang="zh-TW" sz="24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to "Hello"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dirty="0" err="1"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strcmp</a:t>
            </a:r>
            <a:r>
              <a:rPr lang="en-US" altLang="zh-TW" sz="2400" b="0" dirty="0"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(s1, "Hello") </a:t>
            </a: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== 0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...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If s1 is not equal to s2 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strcmp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(s1, s2) != 0) {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...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sz="24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599"/>
            <a:ext cx="461963" cy="52901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endParaRPr lang="en-US" altLang="zh-TW" sz="2400" b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ECAF88A-D4AB-B146-88EE-DBDA632B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2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7700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126156"/>
              </p:ext>
            </p:extLst>
          </p:nvPr>
        </p:nvGraphicFramePr>
        <p:xfrm>
          <a:off x="5610225" y="1163030"/>
          <a:ext cx="6403976" cy="4779962"/>
        </p:xfrm>
        <a:graphic>
          <a:graphicData uri="http://schemas.openxmlformats.org/drawingml/2006/table">
            <a:tbl>
              <a:tblPr/>
              <a:tblGrid>
                <a:gridCol w="532943">
                  <a:extLst>
                    <a:ext uri="{9D8B030D-6E8A-4147-A177-3AD203B41FA5}">
                      <a16:colId xmlns:a16="http://schemas.microsoft.com/office/drawing/2014/main" val="2594595443"/>
                    </a:ext>
                  </a:extLst>
                </a:gridCol>
                <a:gridCol w="1696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1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4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s1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Value of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strcmp</a:t>
                      </a: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(s1, s2)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alibri" panose="020F0502020204030204" pitchFamily="34" charset="0"/>
                        </a:rPr>
                        <a:t>+</a:t>
                      </a:r>
                      <a:r>
                        <a:rPr kumimoji="0" lang="en-US" altLang="zh-TW" sz="2400" b="1" i="1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alibri" panose="020F0502020204030204" pitchFamily="34" charset="0"/>
                        </a:rPr>
                        <a:t>ve</a:t>
                      </a:r>
                      <a:r>
                        <a:rPr kumimoji="0" lang="en-US" altLang="zh-TW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alibri" panose="020F0502020204030204" pitchFamily="34" charset="0"/>
                        </a:rPr>
                        <a:t>, -</a:t>
                      </a:r>
                      <a:r>
                        <a:rPr kumimoji="0" lang="en-US" altLang="zh-TW" sz="2400" b="1" i="1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alibri" panose="020F0502020204030204" pitchFamily="34" charset="0"/>
                        </a:rPr>
                        <a:t>ve</a:t>
                      </a:r>
                      <a:r>
                        <a:rPr kumimoji="0" lang="en-US" altLang="zh-TW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  <a:cs typeface="Calibri" panose="020F0502020204030204" pitchFamily="34" charset="0"/>
                        </a:rPr>
                        <a:t>, or 0?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4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1.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"ABC"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"ABCDE"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4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2.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"XYZ"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</a:t>
                      </a:r>
                      <a:r>
                        <a:rPr kumimoji="0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abc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4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3.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"AB C"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"ABC"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4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4.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"ABC"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4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5.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"13145"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"013145"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4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6.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altLang="zh-TW" sz="2400" b="0" i="0">
                          <a:ea typeface="新細明體" pitchFamily="18" charset="-120"/>
                        </a:rPr>
                        <a:t>"^.^"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altLang="zh-TW" sz="2400" b="0" i="0" dirty="0">
                          <a:ea typeface="新細明體" pitchFamily="18" charset="-120"/>
                        </a:rPr>
                        <a:t>"&gt;.&lt;"</a:t>
                      </a:r>
                      <a:endParaRPr kumimoji="0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849" name="Rectangle 3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zh-TW" sz="4000">
                <a:ea typeface="新細明體" pitchFamily="18" charset="-120"/>
              </a:rPr>
              <a:t>2.4. String comparison (Exercise)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4E5F324-EDE5-764A-939D-1A6BB1E61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2" name="Group 2">
            <a:extLst>
              <a:ext uri="{FF2B5EF4-FFF2-40B4-BE49-F238E27FC236}">
                <a16:creationId xmlns:a16="http://schemas.microsoft.com/office/drawing/2014/main" id="{2BC14BE4-B656-631C-4752-AE6990D83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39125"/>
              </p:ext>
            </p:extLst>
          </p:nvPr>
        </p:nvGraphicFramePr>
        <p:xfrm>
          <a:off x="93784" y="1573687"/>
          <a:ext cx="4819651" cy="4224975"/>
        </p:xfrm>
        <a:graphic>
          <a:graphicData uri="http://schemas.openxmlformats.org/drawingml/2006/table">
            <a:tbl>
              <a:tblPr/>
              <a:tblGrid>
                <a:gridCol w="43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6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69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78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78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78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82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VT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CR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ESC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SP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!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&amp;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,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50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@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70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80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90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[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\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_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`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110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120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{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|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756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E835C-D3F1-ABA9-C509-3ECD7F12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617E97CB-0AC6-7CF0-E98D-272B62C1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String Functions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34A02665-3B5E-43F0-F016-2C3155AAA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zh-TW" sz="4000" dirty="0">
                <a:ea typeface="新細明體" pitchFamily="18" charset="-120"/>
                <a:cs typeface="Times New Roman" pitchFamily="18" charset="0"/>
              </a:rPr>
              <a:t>Include </a:t>
            </a:r>
            <a:r>
              <a:rPr kumimoji="1" lang="en-US" altLang="zh-TW" sz="400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&lt;</a:t>
            </a:r>
            <a:r>
              <a:rPr kumimoji="1" lang="en-US" altLang="zh-TW" sz="40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string.h</a:t>
            </a:r>
            <a:r>
              <a:rPr kumimoji="1" lang="en-US" altLang="zh-TW" sz="400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  <a:r>
              <a:rPr kumimoji="1" lang="en-US" altLang="zh-TW" sz="4000" dirty="0">
                <a:ea typeface="新細明體" pitchFamily="18" charset="-120"/>
                <a:cs typeface="Times New Roman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32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strlen</a:t>
            </a:r>
            <a:r>
              <a:rPr lang="en-US" altLang="zh-TW" sz="32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(str1); // </a:t>
            </a:r>
            <a:r>
              <a:rPr lang="en-US" altLang="zh-TW" sz="3200" dirty="0">
                <a:ea typeface="新細明體" pitchFamily="18" charset="-120"/>
              </a:rPr>
              <a:t>Obtaining string </a:t>
            </a:r>
            <a:r>
              <a:rPr lang="en-US" altLang="zh-TW" sz="3200" b="1" dirty="0">
                <a:ea typeface="新細明體" pitchFamily="18" charset="-120"/>
              </a:rPr>
              <a:t>length</a:t>
            </a:r>
          </a:p>
          <a:p>
            <a:pPr>
              <a:lnSpc>
                <a:spcPct val="150000"/>
              </a:lnSpc>
            </a:pPr>
            <a:r>
              <a:rPr lang="en-US" altLang="zh-TW" sz="32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strcpy</a:t>
            </a:r>
            <a:r>
              <a:rPr lang="en-US" altLang="zh-TW" sz="32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(str2, str1); // </a:t>
            </a:r>
            <a:r>
              <a:rPr lang="en-US" altLang="zh-TW" sz="3200" b="1" dirty="0">
                <a:ea typeface="新細明體" pitchFamily="18" charset="-120"/>
              </a:rPr>
              <a:t>Copying</a:t>
            </a:r>
            <a:r>
              <a:rPr lang="en-US" altLang="zh-TW" sz="3200" dirty="0">
                <a:ea typeface="新細明體" pitchFamily="18" charset="-120"/>
              </a:rPr>
              <a:t> string</a:t>
            </a:r>
          </a:p>
          <a:p>
            <a:pPr>
              <a:lnSpc>
                <a:spcPct val="150000"/>
              </a:lnSpc>
            </a:pPr>
            <a:r>
              <a:rPr lang="en-US" altLang="zh-TW" sz="320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strcat</a:t>
            </a:r>
            <a:r>
              <a:rPr lang="en-US" altLang="zh-TW" sz="32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(str1, str2); // </a:t>
            </a:r>
            <a:r>
              <a:rPr lang="en-US" altLang="zh-TW" sz="3200" b="1" dirty="0">
                <a:ea typeface="新細明體" pitchFamily="18" charset="-120"/>
              </a:rPr>
              <a:t>Concatenating</a:t>
            </a:r>
            <a:r>
              <a:rPr lang="en-US" altLang="zh-TW" sz="3200" dirty="0">
                <a:ea typeface="新細明體" pitchFamily="18" charset="-120"/>
              </a:rPr>
              <a:t> string </a:t>
            </a:r>
          </a:p>
          <a:p>
            <a:pPr>
              <a:lnSpc>
                <a:spcPct val="150000"/>
              </a:lnSpc>
            </a:pPr>
            <a:r>
              <a:rPr lang="en-US" altLang="zh-TW" sz="3200" b="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strcmp</a:t>
            </a:r>
            <a:r>
              <a:rPr lang="en-US" altLang="zh-TW" sz="32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(str1, str2); // </a:t>
            </a:r>
            <a:r>
              <a:rPr lang="en-US" altLang="zh-TW" sz="3200" b="1" dirty="0">
                <a:ea typeface="新細明體" pitchFamily="18" charset="-120"/>
              </a:rPr>
              <a:t>Comparing</a:t>
            </a:r>
            <a:r>
              <a:rPr lang="en-US" altLang="zh-TW" sz="3200" dirty="0">
                <a:ea typeface="新細明體" pitchFamily="18" charset="-120"/>
              </a:rPr>
              <a:t> String</a:t>
            </a:r>
            <a:endParaRPr lang="en-US" altLang="en-US" sz="32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764589-40B7-4177-A4E1-FDECD561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81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altLang="zh-TW" sz="3200">
                <a:ea typeface="新細明體" pitchFamily="18" charset="-120"/>
              </a:rPr>
              <a:t>2.5. Example: Lowercase to uppercase conversion</a:t>
            </a:r>
            <a:endParaRPr lang="en-US" altLang="zh-TW" sz="3200">
              <a:solidFill>
                <a:srgbClr val="C00000"/>
              </a:solidFill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90600"/>
            <a:ext cx="8686800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string.h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ctype.h</a:t>
            </a: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str1[100]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"Hello\n"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int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N = (int)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strlen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for (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0;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N;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str1[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</a:t>
            </a:r>
            <a:r>
              <a:rPr lang="en-US" altLang="zh-TW" sz="2000" b="0" dirty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toupper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(str1[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return 0;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600"/>
            <a:ext cx="461963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0B2CF-C880-B04F-8B88-BF98E1DC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5410200" y="5715000"/>
            <a:ext cx="5105400" cy="457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What is str1 at the end?</a:t>
            </a:r>
          </a:p>
        </p:txBody>
      </p:sp>
      <p:graphicFrame>
        <p:nvGraphicFramePr>
          <p:cNvPr id="2" name="Group 216">
            <a:extLst>
              <a:ext uri="{FF2B5EF4-FFF2-40B4-BE49-F238E27FC236}">
                <a16:creationId xmlns:a16="http://schemas.microsoft.com/office/drawing/2014/main" id="{35CA8287-50AA-1772-9F21-DE5136B86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428531"/>
              </p:ext>
            </p:extLst>
          </p:nvPr>
        </p:nvGraphicFramePr>
        <p:xfrm>
          <a:off x="6210976" y="3307685"/>
          <a:ext cx="3252656" cy="382587"/>
        </p:xfrm>
        <a:graphic>
          <a:graphicData uri="http://schemas.openxmlformats.org/drawingml/2006/table">
            <a:tbl>
              <a:tblPr/>
              <a:tblGrid>
                <a:gridCol w="40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643481606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8934D0E3-00E0-0BDF-9238-EF580348A79C}"/>
              </a:ext>
            </a:extLst>
          </p:cNvPr>
          <p:cNvSpPr/>
          <p:nvPr/>
        </p:nvSpPr>
        <p:spPr>
          <a:xfrm>
            <a:off x="9463632" y="3307685"/>
            <a:ext cx="1111160" cy="382587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600" dirty="0">
                <a:solidFill>
                  <a:schemeClr val="tx1"/>
                </a:solidFill>
                <a:sym typeface="Wingdings 2" panose="05020102010507070707" pitchFamily="18" charset="2"/>
              </a:rPr>
              <a:t>  </a:t>
            </a:r>
            <a:endParaRPr lang="en-HK" sz="1600" dirty="0">
              <a:solidFill>
                <a:schemeClr val="tx1"/>
              </a:solidFill>
            </a:endParaRPr>
          </a:p>
        </p:txBody>
      </p:sp>
      <p:graphicFrame>
        <p:nvGraphicFramePr>
          <p:cNvPr id="4" name="Group 216">
            <a:extLst>
              <a:ext uri="{FF2B5EF4-FFF2-40B4-BE49-F238E27FC236}">
                <a16:creationId xmlns:a16="http://schemas.microsoft.com/office/drawing/2014/main" id="{F30FDE77-7391-4300-10D3-3B9205C27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64748"/>
              </p:ext>
            </p:extLst>
          </p:nvPr>
        </p:nvGraphicFramePr>
        <p:xfrm>
          <a:off x="6193968" y="4189414"/>
          <a:ext cx="3252656" cy="382587"/>
        </p:xfrm>
        <a:graphic>
          <a:graphicData uri="http://schemas.openxmlformats.org/drawingml/2006/table">
            <a:tbl>
              <a:tblPr/>
              <a:tblGrid>
                <a:gridCol w="40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643481606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9F15DE5-C3E2-D415-7A34-0BCAAE6B2CE7}"/>
              </a:ext>
            </a:extLst>
          </p:cNvPr>
          <p:cNvSpPr/>
          <p:nvPr/>
        </p:nvSpPr>
        <p:spPr>
          <a:xfrm>
            <a:off x="9463632" y="4189414"/>
            <a:ext cx="1111160" cy="382587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600" dirty="0">
                <a:solidFill>
                  <a:schemeClr val="tx1"/>
                </a:solidFill>
                <a:sym typeface="Wingdings 2" panose="05020102010507070707" pitchFamily="18" charset="2"/>
              </a:rPr>
              <a:t>  </a:t>
            </a:r>
            <a:endParaRPr lang="en-HK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389810-6C85-599E-0D38-C67274544FC4}"/>
              </a:ext>
            </a:extLst>
          </p:cNvPr>
          <p:cNvSpPr txBox="1"/>
          <p:nvPr/>
        </p:nvSpPr>
        <p:spPr>
          <a:xfrm>
            <a:off x="7461505" y="870670"/>
            <a:ext cx="4443984" cy="145668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500"/>
              </a:spcAft>
            </a:pPr>
            <a:endParaRPr lang="en-US" altLang="zh-CN" sz="1100" b="1" i="0" dirty="0">
              <a:solidFill>
                <a:srgbClr val="25265E"/>
              </a:solidFill>
              <a:effectLst/>
              <a:latin typeface="euclid_circular_a"/>
            </a:endParaRPr>
          </a:p>
          <a:p>
            <a:pPr>
              <a:lnSpc>
                <a:spcPts val="1500"/>
              </a:lnSpc>
              <a:spcAft>
                <a:spcPts val="500"/>
              </a:spcAft>
            </a:pPr>
            <a:r>
              <a:rPr lang="en-US" altLang="zh-CN" sz="2800" b="1" i="0" dirty="0">
                <a:solidFill>
                  <a:srgbClr val="25265E"/>
                </a:solidFill>
                <a:effectLst/>
                <a:latin typeface="euclid_circular_a"/>
              </a:rPr>
              <a:t>char a=</a:t>
            </a:r>
            <a:r>
              <a:rPr lang="en-US" altLang="zh-CN" sz="2800" b="1" i="0" dirty="0" err="1">
                <a:solidFill>
                  <a:srgbClr val="25265E"/>
                </a:solidFill>
                <a:effectLst/>
                <a:latin typeface="euclid_circular_a"/>
              </a:rPr>
              <a:t>toupper</a:t>
            </a:r>
            <a:r>
              <a:rPr lang="en-US" altLang="zh-CN" sz="2800" b="1" i="0" dirty="0">
                <a:solidFill>
                  <a:srgbClr val="25265E"/>
                </a:solidFill>
                <a:effectLst/>
                <a:latin typeface="euclid_circular_a"/>
              </a:rPr>
              <a:t>(c); </a:t>
            </a:r>
          </a:p>
          <a:p>
            <a:pPr algn="l">
              <a:lnSpc>
                <a:spcPts val="1500"/>
              </a:lnSpc>
              <a:spcAft>
                <a:spcPts val="500"/>
              </a:spcAft>
            </a:pPr>
            <a:endParaRPr lang="en-US" altLang="zh-CN" sz="2800" b="1" i="0" dirty="0">
              <a:solidFill>
                <a:srgbClr val="25265E"/>
              </a:solidFill>
              <a:effectLst/>
              <a:latin typeface="euclid_circular_a"/>
            </a:endParaRPr>
          </a:p>
          <a:p>
            <a:pPr algn="l">
              <a:lnSpc>
                <a:spcPts val="1500"/>
              </a:lnSpc>
              <a:spcAft>
                <a:spcPts val="500"/>
              </a:spcAft>
            </a:pPr>
            <a:r>
              <a:rPr lang="en-US" altLang="zh-CN" sz="2800" b="1" i="0" dirty="0">
                <a:solidFill>
                  <a:srgbClr val="25265E"/>
                </a:solidFill>
                <a:effectLst/>
                <a:latin typeface="euclid_circular_a"/>
              </a:rPr>
              <a:t>char a=</a:t>
            </a:r>
            <a:r>
              <a:rPr lang="en-US" altLang="zh-CN" sz="2800" b="1" i="0" dirty="0" err="1">
                <a:solidFill>
                  <a:srgbClr val="25265E"/>
                </a:solidFill>
                <a:effectLst/>
                <a:latin typeface="euclid_circular_a"/>
              </a:rPr>
              <a:t>tolower</a:t>
            </a:r>
            <a:r>
              <a:rPr lang="en-US" altLang="zh-CN" sz="2800" b="1" i="0" dirty="0">
                <a:solidFill>
                  <a:srgbClr val="25265E"/>
                </a:solidFill>
                <a:effectLst/>
                <a:latin typeface="euclid_circular_a"/>
              </a:rPr>
              <a:t>(c); </a:t>
            </a:r>
          </a:p>
          <a:p>
            <a:pPr algn="l">
              <a:lnSpc>
                <a:spcPts val="1500"/>
              </a:lnSpc>
              <a:spcAft>
                <a:spcPts val="500"/>
              </a:spcAft>
            </a:pPr>
            <a:r>
              <a:rPr lang="en-US" altLang="zh-CN" sz="1000" b="1" i="0" dirty="0">
                <a:solidFill>
                  <a:srgbClr val="25265E"/>
                </a:solidFill>
                <a:effectLst/>
                <a:latin typeface="euclid_circular_a"/>
                <a:hlinkClick r:id="rId3"/>
              </a:rPr>
              <a:t>https://www.programiz.com/c-programming/library-function/ctype.h/tolower</a:t>
            </a:r>
            <a:r>
              <a:rPr lang="en-US" altLang="zh-CN" sz="1000" b="1" dirty="0">
                <a:solidFill>
                  <a:srgbClr val="25265E"/>
                </a:solidFill>
                <a:latin typeface="euclid_circular_a"/>
              </a:rPr>
              <a:t> </a:t>
            </a:r>
          </a:p>
          <a:p>
            <a:pPr algn="l">
              <a:lnSpc>
                <a:spcPts val="500"/>
              </a:lnSpc>
              <a:spcAft>
                <a:spcPts val="1500"/>
              </a:spcAft>
            </a:pPr>
            <a:endParaRPr lang="en-US" altLang="zh-CN" sz="1000" b="1" i="0" dirty="0">
              <a:solidFill>
                <a:srgbClr val="25265E"/>
              </a:solidFill>
              <a:effectLst/>
              <a:latin typeface="euclid_circular_a"/>
            </a:endParaRPr>
          </a:p>
        </p:txBody>
      </p:sp>
    </p:spTree>
    <p:extLst>
      <p:ext uri="{BB962C8B-B14F-4D97-AF65-F5344CB8AC3E}">
        <p14:creationId xmlns:p14="http://schemas.microsoft.com/office/powerpoint/2010/main" val="3496848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altLang="zh-TW" sz="3200">
                <a:ea typeface="新細明體" pitchFamily="18" charset="-120"/>
              </a:rPr>
              <a:t>2.6. Example: 2D char array</a:t>
            </a:r>
            <a:endParaRPr lang="en-US" altLang="zh-TW" sz="3200">
              <a:solidFill>
                <a:srgbClr val="C00000"/>
              </a:solidFill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1981200" y="990600"/>
            <a:ext cx="8686800" cy="388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char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strings[2][100] = {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"%s\n"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"Hello!"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strings[0]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strings[1]);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0;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524001" y="990600"/>
            <a:ext cx="457200" cy="388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0B2CF-C880-B04F-8B88-BF98E1DC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5379720" y="4191000"/>
            <a:ext cx="5105400" cy="457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What is the printout at the end?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C50A3CB3-4FBC-4799-A5CA-244DCD0D4540}"/>
              </a:ext>
            </a:extLst>
          </p:cNvPr>
          <p:cNvSpPr txBox="1">
            <a:spLocks noChangeArrowheads="1"/>
          </p:cNvSpPr>
          <p:nvPr/>
        </p:nvSpPr>
        <p:spPr>
          <a:xfrm>
            <a:off x="1733210" y="5029200"/>
            <a:ext cx="8782390" cy="11430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cs typeface="Times New Roman" pitchFamily="18" charset="0"/>
              </a:rPr>
              <a:t>2D array of char can be regarded as an </a:t>
            </a:r>
            <a:r>
              <a:rPr kumimoji="1" lang="en-US" altLang="zh-TW" sz="2400" dirty="0">
                <a:solidFill>
                  <a:srgbClr val="FF0000"/>
                </a:solidFill>
                <a:cs typeface="Times New Roman" pitchFamily="18" charset="0"/>
              </a:rPr>
              <a:t>array of strings</a:t>
            </a:r>
            <a:r>
              <a:rPr kumimoji="1" lang="en-US" altLang="zh-TW" sz="2400" dirty="0">
                <a:cs typeface="Times New Roman" pitchFamily="18" charset="0"/>
              </a:rPr>
              <a:t>. </a:t>
            </a:r>
          </a:p>
          <a:p>
            <a:pPr marL="0" indent="0">
              <a:spcBef>
                <a:spcPct val="0"/>
              </a:spcBef>
              <a:buNone/>
            </a:pPr>
            <a:endParaRPr kumimoji="1" lang="en-US" altLang="zh-TW" sz="2400" dirty="0"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sz="2400" dirty="0">
                <a:cs typeface="Times New Roman" pitchFamily="18" charset="0"/>
              </a:rPr>
              <a:t>The </a:t>
            </a:r>
            <a:r>
              <a:rPr kumimoji="1" lang="en-US" altLang="zh-TW" sz="2400" i="1" dirty="0">
                <a:cs typeface="Times New Roman" pitchFamily="18" charset="0"/>
              </a:rPr>
              <a:t>first argument </a:t>
            </a:r>
            <a:r>
              <a:rPr kumimoji="1" lang="en-US" altLang="zh-TW" sz="2400" dirty="0">
                <a:cs typeface="Times New Roman" pitchFamily="18" charset="0"/>
              </a:rPr>
              <a:t>of </a:t>
            </a:r>
            <a:r>
              <a:rPr kumimoji="1"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dirty="0">
                <a:cs typeface="Times New Roman" pitchFamily="18" charset="0"/>
              </a:rPr>
              <a:t>, the </a:t>
            </a:r>
            <a:r>
              <a:rPr kumimoji="1" lang="en-US" altLang="zh-TW" sz="2400" i="1" u="sng" dirty="0">
                <a:highlight>
                  <a:srgbClr val="00FFFF"/>
                </a:highlight>
                <a:cs typeface="Times New Roman" pitchFamily="18" charset="0"/>
              </a:rPr>
              <a:t>format string</a:t>
            </a:r>
            <a:r>
              <a:rPr kumimoji="1" lang="en-US" altLang="zh-TW" sz="2400" dirty="0">
                <a:cs typeface="Times New Roman" pitchFamily="18" charset="0"/>
              </a:rPr>
              <a:t>, is just another normal string</a:t>
            </a:r>
            <a:r>
              <a:rPr kumimoji="1" lang="en-US" altLang="zh-TW" sz="2400" dirty="0">
                <a:ea typeface="新細明體" pitchFamily="18" charset="-120"/>
                <a:cs typeface="Times New Roman" pitchFamily="18" charset="0"/>
              </a:rPr>
              <a:t>.</a:t>
            </a:r>
          </a:p>
        </p:txBody>
      </p:sp>
      <p:graphicFrame>
        <p:nvGraphicFramePr>
          <p:cNvPr id="2" name="Group 216">
            <a:extLst>
              <a:ext uri="{FF2B5EF4-FFF2-40B4-BE49-F238E27FC236}">
                <a16:creationId xmlns:a16="http://schemas.microsoft.com/office/drawing/2014/main" id="{7FF84122-E2BF-1975-B7D1-B7ADDE720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485973"/>
              </p:ext>
            </p:extLst>
          </p:nvPr>
        </p:nvGraphicFramePr>
        <p:xfrm>
          <a:off x="6450872" y="1291830"/>
          <a:ext cx="3251204" cy="382587"/>
        </p:xfrm>
        <a:graphic>
          <a:graphicData uri="http://schemas.openxmlformats.org/drawingml/2006/table">
            <a:tbl>
              <a:tblPr/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643481606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D09B7DE-8BE3-7B94-3F65-5D831F50F805}"/>
              </a:ext>
            </a:extLst>
          </p:cNvPr>
          <p:cNvSpPr/>
          <p:nvPr/>
        </p:nvSpPr>
        <p:spPr>
          <a:xfrm>
            <a:off x="9720536" y="1291830"/>
            <a:ext cx="806360" cy="381595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600" dirty="0">
                <a:solidFill>
                  <a:schemeClr val="tx1"/>
                </a:solidFill>
                <a:sym typeface="Wingdings 2" panose="05020102010507070707" pitchFamily="18" charset="2"/>
              </a:rPr>
              <a:t>  </a:t>
            </a:r>
            <a:endParaRPr lang="en-HK" sz="1600" dirty="0">
              <a:solidFill>
                <a:schemeClr val="tx1"/>
              </a:solidFill>
            </a:endParaRPr>
          </a:p>
        </p:txBody>
      </p:sp>
      <p:graphicFrame>
        <p:nvGraphicFramePr>
          <p:cNvPr id="5" name="Group 216">
            <a:extLst>
              <a:ext uri="{FF2B5EF4-FFF2-40B4-BE49-F238E27FC236}">
                <a16:creationId xmlns:a16="http://schemas.microsoft.com/office/drawing/2014/main" id="{9B2028F0-AD0A-5987-A0A3-4E2CD2F7B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037148"/>
              </p:ext>
            </p:extLst>
          </p:nvPr>
        </p:nvGraphicFramePr>
        <p:xfrm>
          <a:off x="6450872" y="1764865"/>
          <a:ext cx="3252656" cy="382587"/>
        </p:xfrm>
        <a:graphic>
          <a:graphicData uri="http://schemas.openxmlformats.org/drawingml/2006/table">
            <a:tbl>
              <a:tblPr/>
              <a:tblGrid>
                <a:gridCol w="40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643481606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5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!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0E12E364-E0BA-4587-965E-099BF023EC7F}"/>
              </a:ext>
            </a:extLst>
          </p:cNvPr>
          <p:cNvSpPr txBox="1"/>
          <p:nvPr/>
        </p:nvSpPr>
        <p:spPr>
          <a:xfrm>
            <a:off x="5025931" y="1227298"/>
            <a:ext cx="1440180" cy="3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strings[0]</a:t>
            </a:r>
            <a:endParaRPr lang="en-HK" dirty="0">
              <a:solidFill>
                <a:srgbClr val="00B0F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EC6957-FB2A-5EAA-E861-A25169302D65}"/>
              </a:ext>
            </a:extLst>
          </p:cNvPr>
          <p:cNvSpPr/>
          <p:nvPr/>
        </p:nvSpPr>
        <p:spPr>
          <a:xfrm>
            <a:off x="9720536" y="1765360"/>
            <a:ext cx="806360" cy="381595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K" sz="1600" dirty="0">
                <a:solidFill>
                  <a:schemeClr val="tx1"/>
                </a:solidFill>
                <a:sym typeface="Wingdings 2" panose="05020102010507070707" pitchFamily="18" charset="2"/>
              </a:rPr>
              <a:t>  </a:t>
            </a:r>
            <a:endParaRPr lang="en-HK" sz="1600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D480398-A823-330D-EBF0-658FF3E190D4}"/>
              </a:ext>
            </a:extLst>
          </p:cNvPr>
          <p:cNvSpPr txBox="1"/>
          <p:nvPr/>
        </p:nvSpPr>
        <p:spPr>
          <a:xfrm>
            <a:off x="5025931" y="1689836"/>
            <a:ext cx="1440180" cy="3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B0F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strings[1]</a:t>
            </a:r>
            <a:endParaRPr lang="en-HK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060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4" y="1094232"/>
            <a:ext cx="11910647" cy="5105400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Understand how a string is represented in the C language</a:t>
            </a:r>
          </a:p>
          <a:p>
            <a:pPr lvl="1"/>
            <a:r>
              <a:rPr lang="en-US" altLang="zh-TW" sz="2800" b="1" dirty="0">
                <a:ea typeface="新細明體" pitchFamily="18" charset="-120"/>
              </a:rPr>
              <a:t>array of char, end with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</a:rPr>
              <a:t>'\0'</a:t>
            </a:r>
            <a:r>
              <a:rPr lang="en-US" altLang="zh-TW" sz="2800" dirty="0">
                <a:ea typeface="新細明體" pitchFamily="18" charset="-120"/>
              </a:rPr>
              <a:t> (need one more place)</a:t>
            </a:r>
          </a:p>
          <a:p>
            <a:r>
              <a:rPr lang="en-US" altLang="zh-TW" dirty="0">
                <a:ea typeface="新細明體" pitchFamily="18" charset="-120"/>
              </a:rPr>
              <a:t>Know how to declare an </a:t>
            </a:r>
            <a:r>
              <a:rPr lang="en-US" altLang="zh-TW" b="1" dirty="0">
                <a:ea typeface="新細明體" pitchFamily="18" charset="-120"/>
              </a:rPr>
              <a:t>initialize</a:t>
            </a:r>
            <a:r>
              <a:rPr lang="en-US" altLang="zh-TW" dirty="0">
                <a:ea typeface="新細明體" pitchFamily="18" charset="-120"/>
              </a:rPr>
              <a:t> a string variable</a:t>
            </a:r>
          </a:p>
          <a:p>
            <a:pPr lvl="1"/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str1[100] = </a:t>
            </a:r>
            <a:r>
              <a:rPr lang="en-US" altLang="zh-TW" sz="24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"Hello"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// similar to array</a:t>
            </a:r>
            <a:endParaRPr lang="en-US" altLang="zh-TW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Know how to input/output strings using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dirty="0">
                <a:ea typeface="新細明體" pitchFamily="18" charset="-120"/>
              </a:rPr>
              <a:t>/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</a:p>
          <a:p>
            <a:pPr lvl="1"/>
            <a:r>
              <a:rPr lang="en-US" altLang="zh-TW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TW" sz="2800" b="1" dirty="0">
                <a:latin typeface="Consolas" panose="020B0609020204030204" pitchFamily="49" charset="0"/>
              </a:rPr>
              <a:t>%s</a:t>
            </a:r>
            <a:r>
              <a:rPr lang="en-US" altLang="zh-TW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altLang="zh-TW" sz="2800" b="1" dirty="0">
              <a:latin typeface="Consolas" panose="020B0609020204030204" pitchFamily="49" charset="0"/>
            </a:endParaRPr>
          </a:p>
          <a:p>
            <a:r>
              <a:rPr lang="en-US" altLang="zh-TW" dirty="0"/>
              <a:t>Know how to use the following </a:t>
            </a:r>
            <a:r>
              <a:rPr lang="en-US" altLang="zh-TW" b="1" dirty="0"/>
              <a:t>string functions</a:t>
            </a:r>
          </a:p>
          <a:p>
            <a:pPr lvl="1"/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strcat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altLang="zh-TW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strcmp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altLang="zh-TW" sz="2800" dirty="0">
              <a:ea typeface="新細明體" pitchFamily="18" charset="-120"/>
            </a:endParaRPr>
          </a:p>
          <a:p>
            <a:pPr lvl="1"/>
            <a:r>
              <a:rPr lang="en-US" altLang="zh-TW" dirty="0">
                <a:ea typeface="新細明體" pitchFamily="18" charset="-120"/>
              </a:rPr>
              <a:t>Understand how strings are being compared</a:t>
            </a:r>
          </a:p>
          <a:p>
            <a:pPr lvl="2"/>
            <a:r>
              <a:rPr lang="en-US" altLang="zh-TW" dirty="0">
                <a:ea typeface="新細明體" pitchFamily="18" charset="-120"/>
              </a:rPr>
              <a:t>lexicographically order, ASCII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32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C: How to Program, 8</a:t>
            </a:r>
            <a:r>
              <a:rPr lang="en-US" baseline="30000"/>
              <a:t>th</a:t>
            </a:r>
            <a:r>
              <a:rPr lang="en-US"/>
              <a:t> </a:t>
            </a:r>
            <a:r>
              <a:rPr lang="en-US" err="1"/>
              <a:t>ed</a:t>
            </a:r>
            <a:r>
              <a:rPr lang="en-US"/>
              <a:t>, </a:t>
            </a:r>
            <a:r>
              <a:rPr lang="en-US" err="1"/>
              <a:t>Deitel</a:t>
            </a:r>
            <a:r>
              <a:rPr lang="en-US"/>
              <a:t> and </a:t>
            </a:r>
            <a:r>
              <a:rPr lang="en-US" err="1"/>
              <a:t>Deitel</a:t>
            </a:r>
            <a:endParaRPr lang="en-US"/>
          </a:p>
          <a:p>
            <a:r>
              <a:rPr lang="en-US"/>
              <a:t>Chapter 8 C Characters and Strings</a:t>
            </a:r>
          </a:p>
          <a:p>
            <a:pPr lvl="1"/>
            <a:r>
              <a:rPr lang="en-US"/>
              <a:t>Sections 8.1 – 8.2: Fundamentals of Strings</a:t>
            </a:r>
          </a:p>
          <a:p>
            <a:pPr lvl="1"/>
            <a:r>
              <a:rPr lang="en-US"/>
              <a:t>Sections 8.4 – 8.10: String Handling Functions by Categories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34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2767</Words>
  <Application>Microsoft Office PowerPoint</Application>
  <PresentationFormat>Widescreen</PresentationFormat>
  <Paragraphs>777</Paragraphs>
  <Slides>25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euclid_circular_a</vt:lpstr>
      <vt:lpstr>Wingdings 2</vt:lpstr>
      <vt:lpstr>Times New Roman</vt:lpstr>
      <vt:lpstr>PMingLiU</vt:lpstr>
      <vt:lpstr>Consolas</vt:lpstr>
      <vt:lpstr>Wingdings</vt:lpstr>
      <vt:lpstr>Calibri</vt:lpstr>
      <vt:lpstr>Arial</vt:lpstr>
      <vt:lpstr>Droid Sans Mono</vt:lpstr>
      <vt:lpstr>Office Theme</vt:lpstr>
      <vt:lpstr>Last Week: File I/O</vt:lpstr>
      <vt:lpstr>Strings  “String…”</vt:lpstr>
      <vt:lpstr>Outline</vt:lpstr>
      <vt:lpstr>1.1. String Literals vs. Character Constants</vt:lpstr>
      <vt:lpstr>1. Introduction</vt:lpstr>
      <vt:lpstr>1.2. String Representation in C Language</vt:lpstr>
      <vt:lpstr>1.3. String Processing</vt:lpstr>
      <vt:lpstr>2. String Manipulation Basics</vt:lpstr>
      <vt:lpstr>2.1. Declaring and initializing string variables</vt:lpstr>
      <vt:lpstr>2.2. String I/O with scanf() and printf() </vt:lpstr>
      <vt:lpstr>2.2. String I/O with scanf() and printf() </vt:lpstr>
      <vt:lpstr>2.2. Reading a line of text using fgets()</vt:lpstr>
      <vt:lpstr>2.3 String Functions</vt:lpstr>
      <vt:lpstr>2.3. Obtaining string length: strlen(str)</vt:lpstr>
      <vt:lpstr>2.3. Copying strings strcpy(s1,s2)</vt:lpstr>
      <vt:lpstr>2.3. Concatenating string: strcat(s1, s2) </vt:lpstr>
      <vt:lpstr>2.4. strcmp()</vt:lpstr>
      <vt:lpstr>2.4. Strings are compared lexicographically order(字典順序)</vt:lpstr>
      <vt:lpstr>2.4. String comparison</vt:lpstr>
      <vt:lpstr>2.4. String comparison (Exercise)</vt:lpstr>
      <vt:lpstr>String Functions</vt:lpstr>
      <vt:lpstr>2.5. Example: Lowercase to uppercase conversion</vt:lpstr>
      <vt:lpstr>2.6. Example: 2D char array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</dc:title>
  <dc:subject/>
  <dc:creator/>
  <cp:keywords/>
  <dc:description/>
  <cp:lastModifiedBy>Yuli Jiang (CSD)</cp:lastModifiedBy>
  <cp:revision>1</cp:revision>
  <dcterms:created xsi:type="dcterms:W3CDTF">2011-07-19T12:51:33Z</dcterms:created>
  <dcterms:modified xsi:type="dcterms:W3CDTF">2025-11-09T17:59:35Z</dcterms:modified>
  <cp:category/>
</cp:coreProperties>
</file>