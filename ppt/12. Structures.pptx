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370" r:id="rId2"/>
    <p:sldId id="256" r:id="rId3"/>
    <p:sldId id="257" r:id="rId4"/>
    <p:sldId id="296" r:id="rId5"/>
    <p:sldId id="299" r:id="rId6"/>
    <p:sldId id="352" r:id="rId7"/>
    <p:sldId id="351" r:id="rId8"/>
    <p:sldId id="350" r:id="rId9"/>
    <p:sldId id="349" r:id="rId10"/>
    <p:sldId id="348" r:id="rId11"/>
    <p:sldId id="347" r:id="rId12"/>
    <p:sldId id="346" r:id="rId13"/>
    <p:sldId id="298" r:id="rId14"/>
    <p:sldId id="301" r:id="rId15"/>
    <p:sldId id="302" r:id="rId16"/>
    <p:sldId id="303" r:id="rId17"/>
    <p:sldId id="304" r:id="rId18"/>
    <p:sldId id="371" r:id="rId19"/>
    <p:sldId id="343" r:id="rId20"/>
    <p:sldId id="342" r:id="rId21"/>
    <p:sldId id="341" r:id="rId22"/>
    <p:sldId id="306" r:id="rId23"/>
    <p:sldId id="335" r:id="rId24"/>
    <p:sldId id="334" r:id="rId25"/>
    <p:sldId id="305" r:id="rId26"/>
    <p:sldId id="311" r:id="rId27"/>
    <p:sldId id="313" r:id="rId28"/>
    <p:sldId id="361" r:id="rId29"/>
    <p:sldId id="362" r:id="rId30"/>
    <p:sldId id="363" r:id="rId31"/>
    <p:sldId id="338" r:id="rId32"/>
    <p:sldId id="364" r:id="rId33"/>
    <p:sldId id="366" r:id="rId34"/>
    <p:sldId id="332" r:id="rId35"/>
    <p:sldId id="333" r:id="rId36"/>
    <p:sldId id="367" r:id="rId37"/>
    <p:sldId id="331" r:id="rId38"/>
    <p:sldId id="365" r:id="rId39"/>
    <p:sldId id="330" r:id="rId40"/>
    <p:sldId id="329" r:id="rId41"/>
    <p:sldId id="354" r:id="rId42"/>
    <p:sldId id="355" r:id="rId43"/>
    <p:sldId id="356" r:id="rId44"/>
    <p:sldId id="375" r:id="rId45"/>
    <p:sldId id="357" r:id="rId46"/>
    <p:sldId id="358" r:id="rId47"/>
    <p:sldId id="376" r:id="rId48"/>
    <p:sldId id="377" r:id="rId49"/>
    <p:sldId id="359" r:id="rId50"/>
    <p:sldId id="368" r:id="rId51"/>
    <p:sldId id="318" r:id="rId52"/>
    <p:sldId id="317" r:id="rId53"/>
  </p:sldIdLst>
  <p:sldSz cx="12192000" cy="6858000"/>
  <p:notesSz cx="6858000" cy="9144000"/>
  <p:custDataLst>
    <p:tags r:id="rId5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 jee Chau (CSD)" initials="CjC(" lastIdx="8" clrIdx="0">
    <p:extLst>
      <p:ext uri="{19B8F6BF-5375-455C-9EA6-DF929625EA0E}">
        <p15:presenceInfo xmlns:p15="http://schemas.microsoft.com/office/powerpoint/2012/main" userId="S::chuckjee.chau@cuhk.edu.hk::7aa7a09e-983f-4214-9e5a-071cbb678e81" providerId="AD"/>
      </p:ext>
    </p:extLst>
  </p:cmAuthor>
  <p:cmAuthor id="2" name="William Hui (IEG)" initials="W(" lastIdx="3" clrIdx="1">
    <p:extLst>
      <p:ext uri="{19B8F6BF-5375-455C-9EA6-DF929625EA0E}">
        <p15:presenceInfo xmlns:p15="http://schemas.microsoft.com/office/powerpoint/2012/main" userId="S::kyhui@cuhk.edu.hk::07728535-8fdc-4325-b24f-20cc4d58a3a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CCCEFF"/>
    <a:srgbClr val="FF99FF"/>
    <a:srgbClr val="0100FF"/>
    <a:srgbClr val="FFFFCC"/>
    <a:srgbClr val="F79646"/>
    <a:srgbClr val="9A31FF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B0D0BA-916B-47F1-BA63-C8F4F1E3ECF8}" v="106" dt="2025-11-09T18:54:23.8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08" autoAdjust="0"/>
    <p:restoredTop sz="81303" autoAdjust="0"/>
  </p:normalViewPr>
  <p:slideViewPr>
    <p:cSldViewPr>
      <p:cViewPr varScale="1">
        <p:scale>
          <a:sx n="90" d="100"/>
          <a:sy n="90" d="100"/>
        </p:scale>
        <p:origin x="630" y="84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15187"/>
    </p:cViewPr>
  </p:sorterViewPr>
  <p:notesViewPr>
    <p:cSldViewPr>
      <p:cViewPr varScale="1">
        <p:scale>
          <a:sx n="60" d="100"/>
          <a:sy n="60" d="100"/>
        </p:scale>
        <p:origin x="-224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li Jiang (CSD)" userId="7c291cd4-aa97-4867-8d2d-ebf5c1c3b419" providerId="ADAL" clId="{8FBD0129-C0BB-4F8A-B9D2-D31C5DC212F7}"/>
    <pc:docChg chg="undo custSel delSld modSld">
      <pc:chgData name="Yuli Jiang (CSD)" userId="7c291cd4-aa97-4867-8d2d-ebf5c1c3b419" providerId="ADAL" clId="{8FBD0129-C0BB-4F8A-B9D2-D31C5DC212F7}" dt="2025-11-09T18:55:19.466" v="270" actId="47"/>
      <pc:docMkLst>
        <pc:docMk/>
      </pc:docMkLst>
      <pc:sldChg chg="modSp mod">
        <pc:chgData name="Yuli Jiang (CSD)" userId="7c291cd4-aa97-4867-8d2d-ebf5c1c3b419" providerId="ADAL" clId="{8FBD0129-C0BB-4F8A-B9D2-D31C5DC212F7}" dt="2025-11-09T18:02:03.621" v="1" actId="1076"/>
        <pc:sldMkLst>
          <pc:docMk/>
          <pc:sldMk cId="0" sldId="256"/>
        </pc:sldMkLst>
        <pc:spChg chg="mod">
          <ac:chgData name="Yuli Jiang (CSD)" userId="7c291cd4-aa97-4867-8d2d-ebf5c1c3b419" providerId="ADAL" clId="{8FBD0129-C0BB-4F8A-B9D2-D31C5DC212F7}" dt="2025-11-09T18:02:03.621" v="1" actId="1076"/>
          <ac:spMkLst>
            <pc:docMk/>
            <pc:sldMk cId="0" sldId="256"/>
            <ac:spMk id="11" creationId="{5C38DBB2-E6D5-9938-94C9-48D90BB70D86}"/>
          </ac:spMkLst>
        </pc:spChg>
      </pc:sldChg>
      <pc:sldChg chg="delSp mod">
        <pc:chgData name="Yuli Jiang (CSD)" userId="7c291cd4-aa97-4867-8d2d-ebf5c1c3b419" providerId="ADAL" clId="{8FBD0129-C0BB-4F8A-B9D2-D31C5DC212F7}" dt="2025-11-09T18:12:36.060" v="71" actId="478"/>
        <pc:sldMkLst>
          <pc:docMk/>
          <pc:sldMk cId="993566219" sldId="301"/>
        </pc:sldMkLst>
        <pc:spChg chg="del">
          <ac:chgData name="Yuli Jiang (CSD)" userId="7c291cd4-aa97-4867-8d2d-ebf5c1c3b419" providerId="ADAL" clId="{8FBD0129-C0BB-4F8A-B9D2-D31C5DC212F7}" dt="2025-11-09T18:12:34.358" v="70" actId="478"/>
          <ac:spMkLst>
            <pc:docMk/>
            <pc:sldMk cId="993566219" sldId="301"/>
            <ac:spMk id="9" creationId="{00000000-0000-0000-0000-000000000000}"/>
          </ac:spMkLst>
        </pc:spChg>
        <pc:spChg chg="del">
          <ac:chgData name="Yuli Jiang (CSD)" userId="7c291cd4-aa97-4867-8d2d-ebf5c1c3b419" providerId="ADAL" clId="{8FBD0129-C0BB-4F8A-B9D2-D31C5DC212F7}" dt="2025-11-09T18:12:36.060" v="71" actId="478"/>
          <ac:spMkLst>
            <pc:docMk/>
            <pc:sldMk cId="993566219" sldId="301"/>
            <ac:spMk id="17" creationId="{00000000-0000-0000-0000-000000000000}"/>
          </ac:spMkLst>
        </pc:spChg>
      </pc:sldChg>
      <pc:sldChg chg="delSp mod">
        <pc:chgData name="Yuli Jiang (CSD)" userId="7c291cd4-aa97-4867-8d2d-ebf5c1c3b419" providerId="ADAL" clId="{8FBD0129-C0BB-4F8A-B9D2-D31C5DC212F7}" dt="2025-11-09T18:13:09.143" v="73" actId="478"/>
        <pc:sldMkLst>
          <pc:docMk/>
          <pc:sldMk cId="2131925444" sldId="302"/>
        </pc:sldMkLst>
        <pc:spChg chg="del">
          <ac:chgData name="Yuli Jiang (CSD)" userId="7c291cd4-aa97-4867-8d2d-ebf5c1c3b419" providerId="ADAL" clId="{8FBD0129-C0BB-4F8A-B9D2-D31C5DC212F7}" dt="2025-11-09T18:13:07.877" v="72" actId="478"/>
          <ac:spMkLst>
            <pc:docMk/>
            <pc:sldMk cId="2131925444" sldId="302"/>
            <ac:spMk id="9" creationId="{00000000-0000-0000-0000-000000000000}"/>
          </ac:spMkLst>
        </pc:spChg>
        <pc:spChg chg="del">
          <ac:chgData name="Yuli Jiang (CSD)" userId="7c291cd4-aa97-4867-8d2d-ebf5c1c3b419" providerId="ADAL" clId="{8FBD0129-C0BB-4F8A-B9D2-D31C5DC212F7}" dt="2025-11-09T18:13:09.143" v="73" actId="478"/>
          <ac:spMkLst>
            <pc:docMk/>
            <pc:sldMk cId="2131925444" sldId="302"/>
            <ac:spMk id="17" creationId="{00000000-0000-0000-0000-000000000000}"/>
          </ac:spMkLst>
        </pc:spChg>
      </pc:sldChg>
      <pc:sldChg chg="delSp mod">
        <pc:chgData name="Yuli Jiang (CSD)" userId="7c291cd4-aa97-4867-8d2d-ebf5c1c3b419" providerId="ADAL" clId="{8FBD0129-C0BB-4F8A-B9D2-D31C5DC212F7}" dt="2025-11-09T18:13:16.637" v="75" actId="478"/>
        <pc:sldMkLst>
          <pc:docMk/>
          <pc:sldMk cId="4020483830" sldId="303"/>
        </pc:sldMkLst>
        <pc:spChg chg="del">
          <ac:chgData name="Yuli Jiang (CSD)" userId="7c291cd4-aa97-4867-8d2d-ebf5c1c3b419" providerId="ADAL" clId="{8FBD0129-C0BB-4F8A-B9D2-D31C5DC212F7}" dt="2025-11-09T18:13:15.013" v="74" actId="478"/>
          <ac:spMkLst>
            <pc:docMk/>
            <pc:sldMk cId="4020483830" sldId="303"/>
            <ac:spMk id="9" creationId="{00000000-0000-0000-0000-000000000000}"/>
          </ac:spMkLst>
        </pc:spChg>
        <pc:spChg chg="del">
          <ac:chgData name="Yuli Jiang (CSD)" userId="7c291cd4-aa97-4867-8d2d-ebf5c1c3b419" providerId="ADAL" clId="{8FBD0129-C0BB-4F8A-B9D2-D31C5DC212F7}" dt="2025-11-09T18:13:16.637" v="75" actId="478"/>
          <ac:spMkLst>
            <pc:docMk/>
            <pc:sldMk cId="4020483830" sldId="303"/>
            <ac:spMk id="17" creationId="{00000000-0000-0000-0000-000000000000}"/>
          </ac:spMkLst>
        </pc:spChg>
      </pc:sldChg>
      <pc:sldChg chg="addSp delSp modSp mod modAnim">
        <pc:chgData name="Yuli Jiang (CSD)" userId="7c291cd4-aa97-4867-8d2d-ebf5c1c3b419" providerId="ADAL" clId="{8FBD0129-C0BB-4F8A-B9D2-D31C5DC212F7}" dt="2025-11-09T18:15:56.034" v="109"/>
        <pc:sldMkLst>
          <pc:docMk/>
          <pc:sldMk cId="1508375161" sldId="304"/>
        </pc:sldMkLst>
        <pc:spChg chg="del">
          <ac:chgData name="Yuli Jiang (CSD)" userId="7c291cd4-aa97-4867-8d2d-ebf5c1c3b419" providerId="ADAL" clId="{8FBD0129-C0BB-4F8A-B9D2-D31C5DC212F7}" dt="2025-11-09T18:13:28.920" v="76" actId="478"/>
          <ac:spMkLst>
            <pc:docMk/>
            <pc:sldMk cId="1508375161" sldId="304"/>
            <ac:spMk id="2" creationId="{E974E2C6-F691-7771-F370-DF9CA877CA91}"/>
          </ac:spMkLst>
        </pc:spChg>
        <pc:spChg chg="del">
          <ac:chgData name="Yuli Jiang (CSD)" userId="7c291cd4-aa97-4867-8d2d-ebf5c1c3b419" providerId="ADAL" clId="{8FBD0129-C0BB-4F8A-B9D2-D31C5DC212F7}" dt="2025-11-09T18:13:31.720" v="77" actId="478"/>
          <ac:spMkLst>
            <pc:docMk/>
            <pc:sldMk cId="1508375161" sldId="304"/>
            <ac:spMk id="11" creationId="{20248D51-ED28-B182-B5BE-30B0F79BBBE2}"/>
          </ac:spMkLst>
        </pc:spChg>
        <pc:spChg chg="add mod">
          <ac:chgData name="Yuli Jiang (CSD)" userId="7c291cd4-aa97-4867-8d2d-ebf5c1c3b419" providerId="ADAL" clId="{8FBD0129-C0BB-4F8A-B9D2-D31C5DC212F7}" dt="2025-11-09T18:14:30.976" v="106" actId="14100"/>
          <ac:spMkLst>
            <pc:docMk/>
            <pc:sldMk cId="1508375161" sldId="304"/>
            <ac:spMk id="21" creationId="{599471D0-BA77-EB7E-B565-81D710BCF341}"/>
          </ac:spMkLst>
        </pc:spChg>
        <pc:spChg chg="mod">
          <ac:chgData name="Yuli Jiang (CSD)" userId="7c291cd4-aa97-4867-8d2d-ebf5c1c3b419" providerId="ADAL" clId="{8FBD0129-C0BB-4F8A-B9D2-D31C5DC212F7}" dt="2025-11-09T18:13:42.208" v="82" actId="20577"/>
          <ac:spMkLst>
            <pc:docMk/>
            <pc:sldMk cId="1508375161" sldId="304"/>
            <ac:spMk id="11268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1-09T18:22:24.625" v="113" actId="14100"/>
        <pc:sldMkLst>
          <pc:docMk/>
          <pc:sldMk cId="704003454" sldId="305"/>
        </pc:sldMkLst>
        <pc:spChg chg="mod">
          <ac:chgData name="Yuli Jiang (CSD)" userId="7c291cd4-aa97-4867-8d2d-ebf5c1c3b419" providerId="ADAL" clId="{8FBD0129-C0BB-4F8A-B9D2-D31C5DC212F7}" dt="2025-11-09T18:22:24.625" v="113" actId="14100"/>
          <ac:spMkLst>
            <pc:docMk/>
            <pc:sldMk cId="704003454" sldId="305"/>
            <ac:spMk id="6" creationId="{F80A06B9-7020-4637-57BC-A19907639BFB}"/>
          </ac:spMkLst>
        </pc:spChg>
      </pc:sldChg>
      <pc:sldChg chg="addSp modSp mod addAnim delAnim modAnim">
        <pc:chgData name="Yuli Jiang (CSD)" userId="7c291cd4-aa97-4867-8d2d-ebf5c1c3b419" providerId="ADAL" clId="{8FBD0129-C0BB-4F8A-B9D2-D31C5DC212F7}" dt="2025-11-09T18:46:45.644" v="237"/>
        <pc:sldMkLst>
          <pc:docMk/>
          <pc:sldMk cId="4204366257" sldId="329"/>
        </pc:sldMkLst>
        <pc:spChg chg="mod">
          <ac:chgData name="Yuli Jiang (CSD)" userId="7c291cd4-aa97-4867-8d2d-ebf5c1c3b419" providerId="ADAL" clId="{8FBD0129-C0BB-4F8A-B9D2-D31C5DC212F7}" dt="2025-11-09T18:41:19.786" v="196" actId="21"/>
          <ac:spMkLst>
            <pc:docMk/>
            <pc:sldMk cId="4204366257" sldId="329"/>
            <ac:spMk id="2" creationId="{6F392FA7-7ACD-B95E-8835-A88CC88BAFEA}"/>
          </ac:spMkLst>
        </pc:spChg>
        <pc:spChg chg="mod">
          <ac:chgData name="Yuli Jiang (CSD)" userId="7c291cd4-aa97-4867-8d2d-ebf5c1c3b419" providerId="ADAL" clId="{8FBD0129-C0BB-4F8A-B9D2-D31C5DC212F7}" dt="2025-11-09T18:41:31.793" v="200" actId="20577"/>
          <ac:spMkLst>
            <pc:docMk/>
            <pc:sldMk cId="4204366257" sldId="329"/>
            <ac:spMk id="3" creationId="{AC52E0AA-8FBA-2E30-7761-C04DB7EBB367}"/>
          </ac:spMkLst>
        </pc:spChg>
        <pc:spChg chg="mod">
          <ac:chgData name="Yuli Jiang (CSD)" userId="7c291cd4-aa97-4867-8d2d-ebf5c1c3b419" providerId="ADAL" clId="{8FBD0129-C0BB-4F8A-B9D2-D31C5DC212F7}" dt="2025-11-09T18:41:52.611" v="205" actId="20577"/>
          <ac:spMkLst>
            <pc:docMk/>
            <pc:sldMk cId="4204366257" sldId="329"/>
            <ac:spMk id="7" creationId="{272BBE93-EB88-A454-FA79-59FEEFF10593}"/>
          </ac:spMkLst>
        </pc:spChg>
        <pc:spChg chg="mod">
          <ac:chgData name="Yuli Jiang (CSD)" userId="7c291cd4-aa97-4867-8d2d-ebf5c1c3b419" providerId="ADAL" clId="{8FBD0129-C0BB-4F8A-B9D2-D31C5DC212F7}" dt="2025-11-09T18:41:56.170" v="208" actId="20577"/>
          <ac:spMkLst>
            <pc:docMk/>
            <pc:sldMk cId="4204366257" sldId="329"/>
            <ac:spMk id="8" creationId="{09380CA1-C4F5-21C2-AA6A-2AC249122325}"/>
          </ac:spMkLst>
        </pc:spChg>
        <pc:spChg chg="add mod">
          <ac:chgData name="Yuli Jiang (CSD)" userId="7c291cd4-aa97-4867-8d2d-ebf5c1c3b419" providerId="ADAL" clId="{8FBD0129-C0BB-4F8A-B9D2-D31C5DC212F7}" dt="2025-11-09T18:41:29.024" v="199" actId="1076"/>
          <ac:spMkLst>
            <pc:docMk/>
            <pc:sldMk cId="4204366257" sldId="329"/>
            <ac:spMk id="14" creationId="{F588E62E-0E74-7813-D201-386F2C5B1FC2}"/>
          </ac:spMkLst>
        </pc:spChg>
        <pc:spChg chg="add mod">
          <ac:chgData name="Yuli Jiang (CSD)" userId="7c291cd4-aa97-4867-8d2d-ebf5c1c3b419" providerId="ADAL" clId="{8FBD0129-C0BB-4F8A-B9D2-D31C5DC212F7}" dt="2025-11-09T18:42:16.459" v="214" actId="1076"/>
          <ac:spMkLst>
            <pc:docMk/>
            <pc:sldMk cId="4204366257" sldId="329"/>
            <ac:spMk id="15" creationId="{FBA3CE23-94C6-D795-C7B3-361E5308ED7F}"/>
          </ac:spMkLst>
        </pc:spChg>
        <pc:spChg chg="add mod">
          <ac:chgData name="Yuli Jiang (CSD)" userId="7c291cd4-aa97-4867-8d2d-ebf5c1c3b419" providerId="ADAL" clId="{8FBD0129-C0BB-4F8A-B9D2-D31C5DC212F7}" dt="2025-11-09T18:42:08.398" v="211" actId="20577"/>
          <ac:spMkLst>
            <pc:docMk/>
            <pc:sldMk cId="4204366257" sldId="329"/>
            <ac:spMk id="17" creationId="{A13BA11C-D83E-8C6E-CDB8-A84C542A4F31}"/>
          </ac:spMkLst>
        </pc:spChg>
        <pc:spChg chg="add mod">
          <ac:chgData name="Yuli Jiang (CSD)" userId="7c291cd4-aa97-4867-8d2d-ebf5c1c3b419" providerId="ADAL" clId="{8FBD0129-C0BB-4F8A-B9D2-D31C5DC212F7}" dt="2025-11-09T18:42:13.175" v="213" actId="1076"/>
          <ac:spMkLst>
            <pc:docMk/>
            <pc:sldMk cId="4204366257" sldId="329"/>
            <ac:spMk id="18" creationId="{9A463BB9-7650-7253-2897-782299B12EBF}"/>
          </ac:spMkLst>
        </pc:spChg>
        <pc:spChg chg="mod">
          <ac:chgData name="Yuli Jiang (CSD)" userId="7c291cd4-aa97-4867-8d2d-ebf5c1c3b419" providerId="ADAL" clId="{8FBD0129-C0BB-4F8A-B9D2-D31C5DC212F7}" dt="2025-11-09T18:38:50.857" v="186" actId="13822"/>
          <ac:spMkLst>
            <pc:docMk/>
            <pc:sldMk cId="4204366257" sldId="329"/>
            <ac:spMk id="74761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9T18:38:46.455" v="185" actId="207"/>
          <ac:spMkLst>
            <pc:docMk/>
            <pc:sldMk cId="4204366257" sldId="329"/>
            <ac:spMk id="74768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9T18:38:46.455" v="185" actId="207"/>
          <ac:spMkLst>
            <pc:docMk/>
            <pc:sldMk cId="4204366257" sldId="329"/>
            <ac:spMk id="74769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9T18:38:46.455" v="185" actId="207"/>
          <ac:spMkLst>
            <pc:docMk/>
            <pc:sldMk cId="4204366257" sldId="329"/>
            <ac:spMk id="74770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9T18:38:46.455" v="185" actId="207"/>
          <ac:spMkLst>
            <pc:docMk/>
            <pc:sldMk cId="4204366257" sldId="329"/>
            <ac:spMk id="74771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9T18:38:46.455" v="185" actId="207"/>
          <ac:spMkLst>
            <pc:docMk/>
            <pc:sldMk cId="4204366257" sldId="329"/>
            <ac:spMk id="74772" creationId="{00000000-0000-0000-0000-000000000000}"/>
          </ac:spMkLst>
        </pc:spChg>
      </pc:sldChg>
      <pc:sldChg chg="delSp modSp mod delAnim modAnim">
        <pc:chgData name="Yuli Jiang (CSD)" userId="7c291cd4-aa97-4867-8d2d-ebf5c1c3b419" providerId="ADAL" clId="{8FBD0129-C0BB-4F8A-B9D2-D31C5DC212F7}" dt="2025-11-09T18:43:54.296" v="226" actId="14100"/>
        <pc:sldMkLst>
          <pc:docMk/>
          <pc:sldMk cId="4039365292" sldId="330"/>
        </pc:sldMkLst>
        <pc:spChg chg="mod">
          <ac:chgData name="Yuli Jiang (CSD)" userId="7c291cd4-aa97-4867-8d2d-ebf5c1c3b419" providerId="ADAL" clId="{8FBD0129-C0BB-4F8A-B9D2-D31C5DC212F7}" dt="2025-11-09T18:36:56.025" v="180" actId="1076"/>
          <ac:spMkLst>
            <pc:docMk/>
            <pc:sldMk cId="4039365292" sldId="330"/>
            <ac:spMk id="7" creationId="{2B46B751-9FD0-EB9B-3E4F-CAD8E9D10E80}"/>
          </ac:spMkLst>
        </pc:spChg>
        <pc:spChg chg="mod">
          <ac:chgData name="Yuli Jiang (CSD)" userId="7c291cd4-aa97-4867-8d2d-ebf5c1c3b419" providerId="ADAL" clId="{8FBD0129-C0BB-4F8A-B9D2-D31C5DC212F7}" dt="2025-11-09T18:36:56.025" v="180" actId="1076"/>
          <ac:spMkLst>
            <pc:docMk/>
            <pc:sldMk cId="4039365292" sldId="330"/>
            <ac:spMk id="8" creationId="{B78D8283-129C-3421-0BA0-1D644E3B0A24}"/>
          </ac:spMkLst>
        </pc:spChg>
        <pc:spChg chg="mod">
          <ac:chgData name="Yuli Jiang (CSD)" userId="7c291cd4-aa97-4867-8d2d-ebf5c1c3b419" providerId="ADAL" clId="{8FBD0129-C0BB-4F8A-B9D2-D31C5DC212F7}" dt="2025-11-09T18:36:56.025" v="180" actId="1076"/>
          <ac:spMkLst>
            <pc:docMk/>
            <pc:sldMk cId="4039365292" sldId="330"/>
            <ac:spMk id="9" creationId="{CC9E830A-8B22-56A4-7B6A-3C79B6C67E63}"/>
          </ac:spMkLst>
        </pc:spChg>
        <pc:spChg chg="mod">
          <ac:chgData name="Yuli Jiang (CSD)" userId="7c291cd4-aa97-4867-8d2d-ebf5c1c3b419" providerId="ADAL" clId="{8FBD0129-C0BB-4F8A-B9D2-D31C5DC212F7}" dt="2025-11-09T18:36:56.025" v="180" actId="1076"/>
          <ac:spMkLst>
            <pc:docMk/>
            <pc:sldMk cId="4039365292" sldId="330"/>
            <ac:spMk id="10" creationId="{4AA856D9-24A4-9B26-3298-7E6CC8AAACB9}"/>
          </ac:spMkLst>
        </pc:spChg>
        <pc:spChg chg="mod">
          <ac:chgData name="Yuli Jiang (CSD)" userId="7c291cd4-aa97-4867-8d2d-ebf5c1c3b419" providerId="ADAL" clId="{8FBD0129-C0BB-4F8A-B9D2-D31C5DC212F7}" dt="2025-11-09T18:36:56.025" v="180" actId="1076"/>
          <ac:spMkLst>
            <pc:docMk/>
            <pc:sldMk cId="4039365292" sldId="330"/>
            <ac:spMk id="12" creationId="{C6CA0305-2DFD-E4B7-03EA-72CF8EFE130E}"/>
          </ac:spMkLst>
        </pc:spChg>
        <pc:spChg chg="mod ord">
          <ac:chgData name="Yuli Jiang (CSD)" userId="7c291cd4-aa97-4867-8d2d-ebf5c1c3b419" providerId="ADAL" clId="{8FBD0129-C0BB-4F8A-B9D2-D31C5DC212F7}" dt="2025-11-09T18:43:48.792" v="225" actId="14100"/>
          <ac:spMkLst>
            <pc:docMk/>
            <pc:sldMk cId="4039365292" sldId="330"/>
            <ac:spMk id="15" creationId="{DBCC6146-0538-5989-A272-EFDBBF4ADA7A}"/>
          </ac:spMkLst>
        </pc:spChg>
        <pc:spChg chg="mod">
          <ac:chgData name="Yuli Jiang (CSD)" userId="7c291cd4-aa97-4867-8d2d-ebf5c1c3b419" providerId="ADAL" clId="{8FBD0129-C0BB-4F8A-B9D2-D31C5DC212F7}" dt="2025-11-09T18:43:54.296" v="226" actId="14100"/>
          <ac:spMkLst>
            <pc:docMk/>
            <pc:sldMk cId="4039365292" sldId="330"/>
            <ac:spMk id="16" creationId="{345770A2-8D90-0F3F-8168-541434C0B13E}"/>
          </ac:spMkLst>
        </pc:spChg>
        <pc:spChg chg="del mod">
          <ac:chgData name="Yuli Jiang (CSD)" userId="7c291cd4-aa97-4867-8d2d-ebf5c1c3b419" providerId="ADAL" clId="{8FBD0129-C0BB-4F8A-B9D2-D31C5DC212F7}" dt="2025-11-09T18:36:58.933" v="181" actId="478"/>
          <ac:spMkLst>
            <pc:docMk/>
            <pc:sldMk cId="4039365292" sldId="330"/>
            <ac:spMk id="18" creationId="{E67AA10E-FB4E-521B-D461-3CB4FA2965CA}"/>
          </ac:spMkLst>
        </pc:spChg>
        <pc:spChg chg="mod">
          <ac:chgData name="Yuli Jiang (CSD)" userId="7c291cd4-aa97-4867-8d2d-ebf5c1c3b419" providerId="ADAL" clId="{8FBD0129-C0BB-4F8A-B9D2-D31C5DC212F7}" dt="2025-11-09T18:34:46.218" v="168" actId="13822"/>
          <ac:spMkLst>
            <pc:docMk/>
            <pc:sldMk cId="4039365292" sldId="330"/>
            <ac:spMk id="72714" creationId="{00000000-0000-0000-0000-000000000000}"/>
          </ac:spMkLst>
        </pc:spChg>
        <pc:spChg chg="del">
          <ac:chgData name="Yuli Jiang (CSD)" userId="7c291cd4-aa97-4867-8d2d-ebf5c1c3b419" providerId="ADAL" clId="{8FBD0129-C0BB-4F8A-B9D2-D31C5DC212F7}" dt="2025-11-09T18:36:50.769" v="179" actId="478"/>
          <ac:spMkLst>
            <pc:docMk/>
            <pc:sldMk cId="4039365292" sldId="330"/>
            <ac:spMk id="72719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9T18:34:53.243" v="169" actId="207"/>
          <ac:spMkLst>
            <pc:docMk/>
            <pc:sldMk cId="4039365292" sldId="330"/>
            <ac:spMk id="72720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9T18:34:53.243" v="169" actId="207"/>
          <ac:spMkLst>
            <pc:docMk/>
            <pc:sldMk cId="4039365292" sldId="330"/>
            <ac:spMk id="72721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9T18:34:53.243" v="169" actId="207"/>
          <ac:spMkLst>
            <pc:docMk/>
            <pc:sldMk cId="4039365292" sldId="330"/>
            <ac:spMk id="72722" creationId="{00000000-0000-0000-0000-000000000000}"/>
          </ac:spMkLst>
        </pc:spChg>
        <pc:grpChg chg="mod">
          <ac:chgData name="Yuli Jiang (CSD)" userId="7c291cd4-aa97-4867-8d2d-ebf5c1c3b419" providerId="ADAL" clId="{8FBD0129-C0BB-4F8A-B9D2-D31C5DC212F7}" dt="2025-11-09T18:36:56.025" v="180" actId="1076"/>
          <ac:grpSpMkLst>
            <pc:docMk/>
            <pc:sldMk cId="4039365292" sldId="330"/>
            <ac:grpSpMk id="13" creationId="{B145F1F1-05F5-EB18-657F-7F6FEE143507}"/>
          </ac:grpSpMkLst>
        </pc:grpChg>
      </pc:sldChg>
      <pc:sldChg chg="addSp delSp modSp mod modTransition modAnim">
        <pc:chgData name="Yuli Jiang (CSD)" userId="7c291cd4-aa97-4867-8d2d-ebf5c1c3b419" providerId="ADAL" clId="{8FBD0129-C0BB-4F8A-B9D2-D31C5DC212F7}" dt="2025-11-09T18:32:13.774" v="166"/>
        <pc:sldMkLst>
          <pc:docMk/>
          <pc:sldMk cId="1671377025" sldId="331"/>
        </pc:sldMkLst>
        <pc:spChg chg="add mod">
          <ac:chgData name="Yuli Jiang (CSD)" userId="7c291cd4-aa97-4867-8d2d-ebf5c1c3b419" providerId="ADAL" clId="{8FBD0129-C0BB-4F8A-B9D2-D31C5DC212F7}" dt="2025-11-09T18:31:33.940" v="156"/>
          <ac:spMkLst>
            <pc:docMk/>
            <pc:sldMk cId="1671377025" sldId="331"/>
            <ac:spMk id="14" creationId="{11D140AD-2D8D-F9B8-AB5F-E4EC8BB36F67}"/>
          </ac:spMkLst>
        </pc:spChg>
        <pc:spChg chg="del mod">
          <ac:chgData name="Yuli Jiang (CSD)" userId="7c291cd4-aa97-4867-8d2d-ebf5c1c3b419" providerId="ADAL" clId="{8FBD0129-C0BB-4F8A-B9D2-D31C5DC212F7}" dt="2025-11-09T18:31:51.633" v="160" actId="478"/>
          <ac:spMkLst>
            <pc:docMk/>
            <pc:sldMk cId="1671377025" sldId="331"/>
            <ac:spMk id="71697" creationId="{00000000-0000-0000-0000-000000000000}"/>
          </ac:spMkLst>
        </pc:spChg>
        <pc:spChg chg="mod ord">
          <ac:chgData name="Yuli Jiang (CSD)" userId="7c291cd4-aa97-4867-8d2d-ebf5c1c3b419" providerId="ADAL" clId="{8FBD0129-C0BB-4F8A-B9D2-D31C5DC212F7}" dt="2025-11-09T18:31:56.283" v="161" actId="1076"/>
          <ac:spMkLst>
            <pc:docMk/>
            <pc:sldMk cId="1671377025" sldId="331"/>
            <ac:spMk id="71698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1-09T18:27:17.388" v="134" actId="20577"/>
        <pc:sldMkLst>
          <pc:docMk/>
          <pc:sldMk cId="3905729016" sldId="332"/>
        </pc:sldMkLst>
        <pc:spChg chg="mod">
          <ac:chgData name="Yuli Jiang (CSD)" userId="7c291cd4-aa97-4867-8d2d-ebf5c1c3b419" providerId="ADAL" clId="{8FBD0129-C0BB-4F8A-B9D2-D31C5DC212F7}" dt="2025-11-09T18:26:06.257" v="128" actId="14100"/>
          <ac:spMkLst>
            <pc:docMk/>
            <pc:sldMk cId="3905729016" sldId="332"/>
            <ac:spMk id="10" creationId="{10C20AA4-6191-09C1-E857-9BC810212F02}"/>
          </ac:spMkLst>
        </pc:spChg>
        <pc:spChg chg="mod">
          <ac:chgData name="Yuli Jiang (CSD)" userId="7c291cd4-aa97-4867-8d2d-ebf5c1c3b419" providerId="ADAL" clId="{8FBD0129-C0BB-4F8A-B9D2-D31C5DC212F7}" dt="2025-11-09T18:27:17.388" v="134" actId="20577"/>
          <ac:spMkLst>
            <pc:docMk/>
            <pc:sldMk cId="3905729016" sldId="332"/>
            <ac:spMk id="14" creationId="{7EC62931-3157-4FFF-9572-B756D3DFDCEC}"/>
          </ac:spMkLst>
        </pc:spChg>
      </pc:sldChg>
      <pc:sldChg chg="addSp delSp modSp mod modAnim">
        <pc:chgData name="Yuli Jiang (CSD)" userId="7c291cd4-aa97-4867-8d2d-ebf5c1c3b419" providerId="ADAL" clId="{8FBD0129-C0BB-4F8A-B9D2-D31C5DC212F7}" dt="2025-11-09T18:11:41.523" v="69" actId="1076"/>
        <pc:sldMkLst>
          <pc:docMk/>
          <pc:sldMk cId="811715113" sldId="346"/>
        </pc:sldMkLst>
        <pc:spChg chg="del mod">
          <ac:chgData name="Yuli Jiang (CSD)" userId="7c291cd4-aa97-4867-8d2d-ebf5c1c3b419" providerId="ADAL" clId="{8FBD0129-C0BB-4F8A-B9D2-D31C5DC212F7}" dt="2025-11-09T18:11:06.023" v="60" actId="478"/>
          <ac:spMkLst>
            <pc:docMk/>
            <pc:sldMk cId="811715113" sldId="346"/>
            <ac:spMk id="34" creationId="{C2F01D65-56E7-19DB-5FF0-5D1171EFFB0A}"/>
          </ac:spMkLst>
        </pc:spChg>
        <pc:spChg chg="mod">
          <ac:chgData name="Yuli Jiang (CSD)" userId="7c291cd4-aa97-4867-8d2d-ebf5c1c3b419" providerId="ADAL" clId="{8FBD0129-C0BB-4F8A-B9D2-D31C5DC212F7}" dt="2025-11-09T18:11:16.599" v="63" actId="164"/>
          <ac:spMkLst>
            <pc:docMk/>
            <pc:sldMk cId="811715113" sldId="346"/>
            <ac:spMk id="35" creationId="{4F180A7A-B16C-0A36-9772-4BC8C9DB1D7C}"/>
          </ac:spMkLst>
        </pc:spChg>
        <pc:spChg chg="mod">
          <ac:chgData name="Yuli Jiang (CSD)" userId="7c291cd4-aa97-4867-8d2d-ebf5c1c3b419" providerId="ADAL" clId="{8FBD0129-C0BB-4F8A-B9D2-D31C5DC212F7}" dt="2025-11-09T18:11:27.733" v="66" actId="1076"/>
          <ac:spMkLst>
            <pc:docMk/>
            <pc:sldMk cId="811715113" sldId="346"/>
            <ac:spMk id="51234" creationId="{00000000-0000-0000-0000-000000000000}"/>
          </ac:spMkLst>
        </pc:spChg>
        <pc:grpChg chg="add mod">
          <ac:chgData name="Yuli Jiang (CSD)" userId="7c291cd4-aa97-4867-8d2d-ebf5c1c3b419" providerId="ADAL" clId="{8FBD0129-C0BB-4F8A-B9D2-D31C5DC212F7}" dt="2025-11-09T18:11:41.523" v="69" actId="1076"/>
          <ac:grpSpMkLst>
            <pc:docMk/>
            <pc:sldMk cId="811715113" sldId="346"/>
            <ac:grpSpMk id="2" creationId="{7365A391-3138-37BA-19E7-D852E0D612D5}"/>
          </ac:grpSpMkLst>
        </pc:grpChg>
        <pc:grpChg chg="mod">
          <ac:chgData name="Yuli Jiang (CSD)" userId="7c291cd4-aa97-4867-8d2d-ebf5c1c3b419" providerId="ADAL" clId="{8FBD0129-C0BB-4F8A-B9D2-D31C5DC212F7}" dt="2025-11-09T18:11:16.599" v="63" actId="164"/>
          <ac:grpSpMkLst>
            <pc:docMk/>
            <pc:sldMk cId="811715113" sldId="346"/>
            <ac:grpSpMk id="36" creationId="{230BC6E7-EBA1-9997-829E-AC59184ED6C7}"/>
          </ac:grpSpMkLst>
        </pc:grpChg>
      </pc:sldChg>
      <pc:sldChg chg="addSp modSp mod modAnim">
        <pc:chgData name="Yuli Jiang (CSD)" userId="7c291cd4-aa97-4867-8d2d-ebf5c1c3b419" providerId="ADAL" clId="{8FBD0129-C0BB-4F8A-B9D2-D31C5DC212F7}" dt="2025-11-09T18:19:15.148" v="110"/>
        <pc:sldMkLst>
          <pc:docMk/>
          <pc:sldMk cId="3114397456" sldId="347"/>
        </pc:sldMkLst>
        <pc:spChg chg="add mod">
          <ac:chgData name="Yuli Jiang (CSD)" userId="7c291cd4-aa97-4867-8d2d-ebf5c1c3b419" providerId="ADAL" clId="{8FBD0129-C0BB-4F8A-B9D2-D31C5DC212F7}" dt="2025-11-09T18:10:37.918" v="57" actId="1076"/>
          <ac:spMkLst>
            <pc:docMk/>
            <pc:sldMk cId="3114397456" sldId="347"/>
            <ac:spMk id="2" creationId="{A5F039E4-50B8-E0AD-EDAB-37956765A95C}"/>
          </ac:spMkLst>
        </pc:spChg>
        <pc:spChg chg="add mod">
          <ac:chgData name="Yuli Jiang (CSD)" userId="7c291cd4-aa97-4867-8d2d-ebf5c1c3b419" providerId="ADAL" clId="{8FBD0129-C0BB-4F8A-B9D2-D31C5DC212F7}" dt="2025-11-09T18:10:35.601" v="56" actId="1076"/>
          <ac:spMkLst>
            <pc:docMk/>
            <pc:sldMk cId="3114397456" sldId="347"/>
            <ac:spMk id="3" creationId="{D8739BDC-C338-0646-9363-2F5265D1A1E2}"/>
          </ac:spMkLst>
        </pc:spChg>
        <pc:spChg chg="mod">
          <ac:chgData name="Yuli Jiang (CSD)" userId="7c291cd4-aa97-4867-8d2d-ebf5c1c3b419" providerId="ADAL" clId="{8FBD0129-C0BB-4F8A-B9D2-D31C5DC212F7}" dt="2025-11-09T18:08:51.571" v="29" actId="20577"/>
          <ac:spMkLst>
            <pc:docMk/>
            <pc:sldMk cId="3114397456" sldId="347"/>
            <ac:spMk id="4" creationId="{0F90D5D4-571E-CF4B-A5C6-77485D9E890E}"/>
          </ac:spMkLst>
        </pc:spChg>
      </pc:sldChg>
      <pc:sldChg chg="modSp mod">
        <pc:chgData name="Yuli Jiang (CSD)" userId="7c291cd4-aa97-4867-8d2d-ebf5c1c3b419" providerId="ADAL" clId="{8FBD0129-C0BB-4F8A-B9D2-D31C5DC212F7}" dt="2025-11-09T18:07:03.149" v="20" actId="13926"/>
        <pc:sldMkLst>
          <pc:docMk/>
          <pc:sldMk cId="1296859988" sldId="350"/>
        </pc:sldMkLst>
        <pc:spChg chg="mod">
          <ac:chgData name="Yuli Jiang (CSD)" userId="7c291cd4-aa97-4867-8d2d-ebf5c1c3b419" providerId="ADAL" clId="{8FBD0129-C0BB-4F8A-B9D2-D31C5DC212F7}" dt="2025-11-09T18:07:00.539" v="19" actId="13926"/>
          <ac:spMkLst>
            <pc:docMk/>
            <pc:sldMk cId="1296859988" sldId="350"/>
            <ac:spMk id="44035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9T18:06:57.157" v="18" actId="13926"/>
          <ac:spMkLst>
            <pc:docMk/>
            <pc:sldMk cId="1296859988" sldId="350"/>
            <ac:spMk id="44199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9T18:07:03.149" v="20" actId="13926"/>
          <ac:spMkLst>
            <pc:docMk/>
            <pc:sldMk cId="1296859988" sldId="350"/>
            <ac:spMk id="44200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1-09T18:04:17.020" v="12" actId="13926"/>
        <pc:sldMkLst>
          <pc:docMk/>
          <pc:sldMk cId="4039276895" sldId="351"/>
        </pc:sldMkLst>
        <pc:spChg chg="mod">
          <ac:chgData name="Yuli Jiang (CSD)" userId="7c291cd4-aa97-4867-8d2d-ebf5c1c3b419" providerId="ADAL" clId="{8FBD0129-C0BB-4F8A-B9D2-D31C5DC212F7}" dt="2025-11-09T18:04:17.020" v="12" actId="13926"/>
          <ac:spMkLst>
            <pc:docMk/>
            <pc:sldMk cId="4039276895" sldId="351"/>
            <ac:spMk id="91139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1-09T18:03:44.836" v="5" actId="115"/>
        <pc:sldMkLst>
          <pc:docMk/>
          <pc:sldMk cId="3602538144" sldId="352"/>
        </pc:sldMkLst>
        <pc:spChg chg="mod">
          <ac:chgData name="Yuli Jiang (CSD)" userId="7c291cd4-aa97-4867-8d2d-ebf5c1c3b419" providerId="ADAL" clId="{8FBD0129-C0BB-4F8A-B9D2-D31C5DC212F7}" dt="2025-11-09T18:03:44.836" v="5" actId="115"/>
          <ac:spMkLst>
            <pc:docMk/>
            <pc:sldMk cId="3602538144" sldId="352"/>
            <ac:spMk id="31746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9T18:03:23.158" v="3" actId="115"/>
          <ac:spMkLst>
            <pc:docMk/>
            <pc:sldMk cId="3602538144" sldId="352"/>
            <ac:spMk id="31747" creationId="{00000000-0000-0000-0000-000000000000}"/>
          </ac:spMkLst>
        </pc:spChg>
      </pc:sldChg>
      <pc:sldChg chg="modSp mod modAnim">
        <pc:chgData name="Yuli Jiang (CSD)" userId="7c291cd4-aa97-4867-8d2d-ebf5c1c3b419" providerId="ADAL" clId="{8FBD0129-C0BB-4F8A-B9D2-D31C5DC212F7}" dt="2025-11-09T18:50:33.040" v="243" actId="20577"/>
        <pc:sldMkLst>
          <pc:docMk/>
          <pc:sldMk cId="1169990127" sldId="356"/>
        </pc:sldMkLst>
        <pc:graphicFrameChg chg="mod modGraphic">
          <ac:chgData name="Yuli Jiang (CSD)" userId="7c291cd4-aa97-4867-8d2d-ebf5c1c3b419" providerId="ADAL" clId="{8FBD0129-C0BB-4F8A-B9D2-D31C5DC212F7}" dt="2025-11-09T18:50:33.040" v="243" actId="20577"/>
          <ac:graphicFrameMkLst>
            <pc:docMk/>
            <pc:sldMk cId="1169990127" sldId="356"/>
            <ac:graphicFrameMk id="56391" creationId="{00000000-0000-0000-0000-000000000000}"/>
          </ac:graphicFrameMkLst>
        </pc:graphicFrameChg>
      </pc:sldChg>
      <pc:sldChg chg="modSp mod">
        <pc:chgData name="Yuli Jiang (CSD)" userId="7c291cd4-aa97-4867-8d2d-ebf5c1c3b419" providerId="ADAL" clId="{8FBD0129-C0BB-4F8A-B9D2-D31C5DC212F7}" dt="2025-11-09T18:51:47.272" v="255" actId="313"/>
        <pc:sldMkLst>
          <pc:docMk/>
          <pc:sldMk cId="1519028957" sldId="357"/>
        </pc:sldMkLst>
        <pc:spChg chg="mod">
          <ac:chgData name="Yuli Jiang (CSD)" userId="7c291cd4-aa97-4867-8d2d-ebf5c1c3b419" providerId="ADAL" clId="{8FBD0129-C0BB-4F8A-B9D2-D31C5DC212F7}" dt="2025-11-09T18:51:47.272" v="255" actId="313"/>
          <ac:spMkLst>
            <pc:docMk/>
            <pc:sldMk cId="1519028957" sldId="357"/>
            <ac:spMk id="67587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1-09T18:53:24.024" v="266" actId="20577"/>
        <pc:sldMkLst>
          <pc:docMk/>
          <pc:sldMk cId="3588621455" sldId="359"/>
        </pc:sldMkLst>
        <pc:spChg chg="mod">
          <ac:chgData name="Yuli Jiang (CSD)" userId="7c291cd4-aa97-4867-8d2d-ebf5c1c3b419" providerId="ADAL" clId="{8FBD0129-C0BB-4F8A-B9D2-D31C5DC212F7}" dt="2025-11-09T18:53:24.024" v="266" actId="20577"/>
          <ac:spMkLst>
            <pc:docMk/>
            <pc:sldMk cId="3588621455" sldId="359"/>
            <ac:spMk id="76802" creationId="{00000000-0000-0000-0000-000000000000}"/>
          </ac:spMkLst>
        </pc:spChg>
      </pc:sldChg>
      <pc:sldChg chg="delSp modSp addAnim delAnim modAnim">
        <pc:chgData name="Yuli Jiang (CSD)" userId="7c291cd4-aa97-4867-8d2d-ebf5c1c3b419" providerId="ADAL" clId="{8FBD0129-C0BB-4F8A-B9D2-D31C5DC212F7}" dt="2025-11-09T18:24:24.454" v="123"/>
        <pc:sldMkLst>
          <pc:docMk/>
          <pc:sldMk cId="3957337826" sldId="363"/>
        </pc:sldMkLst>
        <pc:spChg chg="mod topLvl">
          <ac:chgData name="Yuli Jiang (CSD)" userId="7c291cd4-aa97-4867-8d2d-ebf5c1c3b419" providerId="ADAL" clId="{8FBD0129-C0BB-4F8A-B9D2-D31C5DC212F7}" dt="2025-11-09T18:23:04.357" v="115" actId="165"/>
          <ac:spMkLst>
            <pc:docMk/>
            <pc:sldMk cId="3957337826" sldId="363"/>
            <ac:spMk id="3" creationId="{1C750EEF-6DF8-CF4E-ACB5-FF9581DCA8A6}"/>
          </ac:spMkLst>
        </pc:spChg>
        <pc:spChg chg="mod topLvl">
          <ac:chgData name="Yuli Jiang (CSD)" userId="7c291cd4-aa97-4867-8d2d-ebf5c1c3b419" providerId="ADAL" clId="{8FBD0129-C0BB-4F8A-B9D2-D31C5DC212F7}" dt="2025-11-09T18:23:04.357" v="115" actId="165"/>
          <ac:spMkLst>
            <pc:docMk/>
            <pc:sldMk cId="3957337826" sldId="363"/>
            <ac:spMk id="5" creationId="{BA2E7754-0DE5-9E4E-9AF4-CD104ADF542B}"/>
          </ac:spMkLst>
        </pc:spChg>
        <pc:spChg chg="mod topLvl">
          <ac:chgData name="Yuli Jiang (CSD)" userId="7c291cd4-aa97-4867-8d2d-ebf5c1c3b419" providerId="ADAL" clId="{8FBD0129-C0BB-4F8A-B9D2-D31C5DC212F7}" dt="2025-11-09T18:23:04.357" v="115" actId="165"/>
          <ac:spMkLst>
            <pc:docMk/>
            <pc:sldMk cId="3957337826" sldId="363"/>
            <ac:spMk id="7" creationId="{00000000-0000-0000-0000-000000000000}"/>
          </ac:spMkLst>
        </pc:spChg>
        <pc:spChg chg="mod topLvl">
          <ac:chgData name="Yuli Jiang (CSD)" userId="7c291cd4-aa97-4867-8d2d-ebf5c1c3b419" providerId="ADAL" clId="{8FBD0129-C0BB-4F8A-B9D2-D31C5DC212F7}" dt="2025-11-09T18:23:04.357" v="115" actId="165"/>
          <ac:spMkLst>
            <pc:docMk/>
            <pc:sldMk cId="3957337826" sldId="363"/>
            <ac:spMk id="8" creationId="{00000000-0000-0000-0000-000000000000}"/>
          </ac:spMkLst>
        </pc:spChg>
        <pc:spChg chg="mod topLvl">
          <ac:chgData name="Yuli Jiang (CSD)" userId="7c291cd4-aa97-4867-8d2d-ebf5c1c3b419" providerId="ADAL" clId="{8FBD0129-C0BB-4F8A-B9D2-D31C5DC212F7}" dt="2025-11-09T18:23:04.357" v="115" actId="165"/>
          <ac:spMkLst>
            <pc:docMk/>
            <pc:sldMk cId="3957337826" sldId="363"/>
            <ac:spMk id="12" creationId="{00000000-0000-0000-0000-000000000000}"/>
          </ac:spMkLst>
        </pc:spChg>
        <pc:spChg chg="mod topLvl">
          <ac:chgData name="Yuli Jiang (CSD)" userId="7c291cd4-aa97-4867-8d2d-ebf5c1c3b419" providerId="ADAL" clId="{8FBD0129-C0BB-4F8A-B9D2-D31C5DC212F7}" dt="2025-11-09T18:23:04.357" v="115" actId="165"/>
          <ac:spMkLst>
            <pc:docMk/>
            <pc:sldMk cId="3957337826" sldId="363"/>
            <ac:spMk id="13" creationId="{822F59C0-92D7-D345-A129-DA18F3F5BBCB}"/>
          </ac:spMkLst>
        </pc:spChg>
        <pc:spChg chg="mod topLvl">
          <ac:chgData name="Yuli Jiang (CSD)" userId="7c291cd4-aa97-4867-8d2d-ebf5c1c3b419" providerId="ADAL" clId="{8FBD0129-C0BB-4F8A-B9D2-D31C5DC212F7}" dt="2025-11-09T18:23:04.357" v="115" actId="165"/>
          <ac:spMkLst>
            <pc:docMk/>
            <pc:sldMk cId="3957337826" sldId="363"/>
            <ac:spMk id="17" creationId="{F937C430-761F-B94B-84CE-DDBCE27F228D}"/>
          </ac:spMkLst>
        </pc:spChg>
        <pc:grpChg chg="del">
          <ac:chgData name="Yuli Jiang (CSD)" userId="7c291cd4-aa97-4867-8d2d-ebf5c1c3b419" providerId="ADAL" clId="{8FBD0129-C0BB-4F8A-B9D2-D31C5DC212F7}" dt="2025-11-09T18:23:04.357" v="115" actId="165"/>
          <ac:grpSpMkLst>
            <pc:docMk/>
            <pc:sldMk cId="3957337826" sldId="363"/>
            <ac:grpSpMk id="9" creationId="{B5C14F98-9B60-2A50-BC76-3196A0E7A709}"/>
          </ac:grpSpMkLst>
        </pc:grpChg>
      </pc:sldChg>
      <pc:sldChg chg="modAnim">
        <pc:chgData name="Yuli Jiang (CSD)" userId="7c291cd4-aa97-4867-8d2d-ebf5c1c3b419" providerId="ADAL" clId="{8FBD0129-C0BB-4F8A-B9D2-D31C5DC212F7}" dt="2025-11-09T18:33:21.849" v="167"/>
        <pc:sldMkLst>
          <pc:docMk/>
          <pc:sldMk cId="2743369620" sldId="365"/>
        </pc:sldMkLst>
      </pc:sldChg>
      <pc:sldChg chg="delSp modSp mod addAnim delAnim modAnim">
        <pc:chgData name="Yuli Jiang (CSD)" userId="7c291cd4-aa97-4867-8d2d-ebf5c1c3b419" providerId="ADAL" clId="{8FBD0129-C0BB-4F8A-B9D2-D31C5DC212F7}" dt="2025-11-09T18:30:10.996" v="149"/>
        <pc:sldMkLst>
          <pc:docMk/>
          <pc:sldMk cId="1989744374" sldId="367"/>
        </pc:sldMkLst>
        <pc:spChg chg="mod">
          <ac:chgData name="Yuli Jiang (CSD)" userId="7c291cd4-aa97-4867-8d2d-ebf5c1c3b419" providerId="ADAL" clId="{8FBD0129-C0BB-4F8A-B9D2-D31C5DC212F7}" dt="2025-11-09T18:29:06.112" v="143" actId="1076"/>
          <ac:spMkLst>
            <pc:docMk/>
            <pc:sldMk cId="1989744374" sldId="367"/>
            <ac:spMk id="71697" creationId="{00000000-0000-0000-0000-000000000000}"/>
          </ac:spMkLst>
        </pc:spChg>
        <pc:spChg chg="del">
          <ac:chgData name="Yuli Jiang (CSD)" userId="7c291cd4-aa97-4867-8d2d-ebf5c1c3b419" providerId="ADAL" clId="{8FBD0129-C0BB-4F8A-B9D2-D31C5DC212F7}" dt="2025-11-09T18:28:49.054" v="138" actId="478"/>
          <ac:spMkLst>
            <pc:docMk/>
            <pc:sldMk cId="1989744374" sldId="367"/>
            <ac:spMk id="71698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1-09T18:53:46.935" v="268" actId="1076"/>
        <pc:sldMkLst>
          <pc:docMk/>
          <pc:sldMk cId="2707323437" sldId="368"/>
        </pc:sldMkLst>
        <pc:spChg chg="mod">
          <ac:chgData name="Yuli Jiang (CSD)" userId="7c291cd4-aa97-4867-8d2d-ebf5c1c3b419" providerId="ADAL" clId="{8FBD0129-C0BB-4F8A-B9D2-D31C5DC212F7}" dt="2025-11-09T18:53:46.935" v="268" actId="1076"/>
          <ac:spMkLst>
            <pc:docMk/>
            <pc:sldMk cId="2707323437" sldId="368"/>
            <ac:spMk id="5" creationId="{871A995C-5E8C-CB21-2F1F-A16A266C438A}"/>
          </ac:spMkLst>
        </pc:spChg>
        <pc:spChg chg="mod">
          <ac:chgData name="Yuli Jiang (CSD)" userId="7c291cd4-aa97-4867-8d2d-ebf5c1c3b419" providerId="ADAL" clId="{8FBD0129-C0BB-4F8A-B9D2-D31C5DC212F7}" dt="2025-11-09T18:53:46.935" v="268" actId="1076"/>
          <ac:spMkLst>
            <pc:docMk/>
            <pc:sldMk cId="2707323437" sldId="368"/>
            <ac:spMk id="7" creationId="{A4D48D28-2572-148A-9CDD-A75C10CBF1BD}"/>
          </ac:spMkLst>
        </pc:spChg>
        <pc:spChg chg="mod">
          <ac:chgData name="Yuli Jiang (CSD)" userId="7c291cd4-aa97-4867-8d2d-ebf5c1c3b419" providerId="ADAL" clId="{8FBD0129-C0BB-4F8A-B9D2-D31C5DC212F7}" dt="2025-11-09T18:53:46.935" v="268" actId="1076"/>
          <ac:spMkLst>
            <pc:docMk/>
            <pc:sldMk cId="2707323437" sldId="368"/>
            <ac:spMk id="8" creationId="{F6C2DE33-FA5C-8C99-3E02-20F15B072DB2}"/>
          </ac:spMkLst>
        </pc:spChg>
        <pc:spChg chg="mod">
          <ac:chgData name="Yuli Jiang (CSD)" userId="7c291cd4-aa97-4867-8d2d-ebf5c1c3b419" providerId="ADAL" clId="{8FBD0129-C0BB-4F8A-B9D2-D31C5DC212F7}" dt="2025-11-09T18:53:46.935" v="268" actId="1076"/>
          <ac:spMkLst>
            <pc:docMk/>
            <pc:sldMk cId="2707323437" sldId="368"/>
            <ac:spMk id="9" creationId="{0BF7F27A-D4DF-1CE9-7DA4-66D6B388BDCE}"/>
          </ac:spMkLst>
        </pc:spChg>
        <pc:spChg chg="mod">
          <ac:chgData name="Yuli Jiang (CSD)" userId="7c291cd4-aa97-4867-8d2d-ebf5c1c3b419" providerId="ADAL" clId="{8FBD0129-C0BB-4F8A-B9D2-D31C5DC212F7}" dt="2025-11-09T18:53:46.935" v="268" actId="1076"/>
          <ac:spMkLst>
            <pc:docMk/>
            <pc:sldMk cId="2707323437" sldId="368"/>
            <ac:spMk id="12" creationId="{5477E6B0-79E1-FB27-8039-D3D937C79A70}"/>
          </ac:spMkLst>
        </pc:spChg>
        <pc:spChg chg="mod">
          <ac:chgData name="Yuli Jiang (CSD)" userId="7c291cd4-aa97-4867-8d2d-ebf5c1c3b419" providerId="ADAL" clId="{8FBD0129-C0BB-4F8A-B9D2-D31C5DC212F7}" dt="2025-11-09T18:53:46.935" v="268" actId="1076"/>
          <ac:spMkLst>
            <pc:docMk/>
            <pc:sldMk cId="2707323437" sldId="368"/>
            <ac:spMk id="14" creationId="{985BCEEE-93F8-2525-CE56-92A31A753E7A}"/>
          </ac:spMkLst>
        </pc:spChg>
        <pc:spChg chg="mod">
          <ac:chgData name="Yuli Jiang (CSD)" userId="7c291cd4-aa97-4867-8d2d-ebf5c1c3b419" providerId="ADAL" clId="{8FBD0129-C0BB-4F8A-B9D2-D31C5DC212F7}" dt="2025-11-09T18:53:46.935" v="268" actId="1076"/>
          <ac:spMkLst>
            <pc:docMk/>
            <pc:sldMk cId="2707323437" sldId="368"/>
            <ac:spMk id="17" creationId="{9510DB85-587D-E891-821F-CFC487E1441E}"/>
          </ac:spMkLst>
        </pc:spChg>
        <pc:spChg chg="mod">
          <ac:chgData name="Yuli Jiang (CSD)" userId="7c291cd4-aa97-4867-8d2d-ebf5c1c3b419" providerId="ADAL" clId="{8FBD0129-C0BB-4F8A-B9D2-D31C5DC212F7}" dt="2025-11-09T18:53:46.935" v="268" actId="1076"/>
          <ac:spMkLst>
            <pc:docMk/>
            <pc:sldMk cId="2707323437" sldId="368"/>
            <ac:spMk id="18" creationId="{52DCA94C-C9EB-A858-F0ED-48148E48C962}"/>
          </ac:spMkLst>
        </pc:spChg>
        <pc:spChg chg="mod">
          <ac:chgData name="Yuli Jiang (CSD)" userId="7c291cd4-aa97-4867-8d2d-ebf5c1c3b419" providerId="ADAL" clId="{8FBD0129-C0BB-4F8A-B9D2-D31C5DC212F7}" dt="2025-11-09T18:53:46.935" v="268" actId="1076"/>
          <ac:spMkLst>
            <pc:docMk/>
            <pc:sldMk cId="2707323437" sldId="368"/>
            <ac:spMk id="19" creationId="{CEF21B9B-EA3A-5049-C811-B9D29B031599}"/>
          </ac:spMkLst>
        </pc:spChg>
        <pc:spChg chg="mod">
          <ac:chgData name="Yuli Jiang (CSD)" userId="7c291cd4-aa97-4867-8d2d-ebf5c1c3b419" providerId="ADAL" clId="{8FBD0129-C0BB-4F8A-B9D2-D31C5DC212F7}" dt="2025-11-09T18:53:46.935" v="268" actId="1076"/>
          <ac:spMkLst>
            <pc:docMk/>
            <pc:sldMk cId="2707323437" sldId="368"/>
            <ac:spMk id="22" creationId="{EFDDDB7C-4F6D-14AD-391C-43FE28F31435}"/>
          </ac:spMkLst>
        </pc:spChg>
        <pc:spChg chg="mod">
          <ac:chgData name="Yuli Jiang (CSD)" userId="7c291cd4-aa97-4867-8d2d-ebf5c1c3b419" providerId="ADAL" clId="{8FBD0129-C0BB-4F8A-B9D2-D31C5DC212F7}" dt="2025-11-09T18:53:26.701" v="267" actId="20577"/>
          <ac:spMkLst>
            <pc:docMk/>
            <pc:sldMk cId="2707323437" sldId="368"/>
            <ac:spMk id="76802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1-09T18:01:09.022" v="0" actId="20577"/>
        <pc:sldMkLst>
          <pc:docMk/>
          <pc:sldMk cId="4212966927" sldId="370"/>
        </pc:sldMkLst>
        <pc:spChg chg="mod">
          <ac:chgData name="Yuli Jiang (CSD)" userId="7c291cd4-aa97-4867-8d2d-ebf5c1c3b419" providerId="ADAL" clId="{8FBD0129-C0BB-4F8A-B9D2-D31C5DC212F7}" dt="2025-11-09T18:01:09.022" v="0" actId="20577"/>
          <ac:spMkLst>
            <pc:docMk/>
            <pc:sldMk cId="4212966927" sldId="370"/>
            <ac:spMk id="3" creationId="{F94292AA-0E71-818A-B869-505103721C03}"/>
          </ac:spMkLst>
        </pc:spChg>
      </pc:sldChg>
      <pc:sldChg chg="del">
        <pc:chgData name="Yuli Jiang (CSD)" userId="7c291cd4-aa97-4867-8d2d-ebf5c1c3b419" providerId="ADAL" clId="{8FBD0129-C0BB-4F8A-B9D2-D31C5DC212F7}" dt="2025-11-09T18:49:10.024" v="238" actId="47"/>
        <pc:sldMkLst>
          <pc:docMk/>
          <pc:sldMk cId="3980695206" sldId="372"/>
        </pc:sldMkLst>
      </pc:sldChg>
      <pc:sldChg chg="modSp del">
        <pc:chgData name="Yuli Jiang (CSD)" userId="7c291cd4-aa97-4867-8d2d-ebf5c1c3b419" providerId="ADAL" clId="{8FBD0129-C0BB-4F8A-B9D2-D31C5DC212F7}" dt="2025-11-09T18:55:19.466" v="270" actId="47"/>
        <pc:sldMkLst>
          <pc:docMk/>
          <pc:sldMk cId="3155240473" sldId="373"/>
        </pc:sldMkLst>
        <pc:spChg chg="mod">
          <ac:chgData name="Yuli Jiang (CSD)" userId="7c291cd4-aa97-4867-8d2d-ebf5c1c3b419" providerId="ADAL" clId="{8FBD0129-C0BB-4F8A-B9D2-D31C5DC212F7}" dt="2025-11-09T18:54:23.837" v="269"/>
          <ac:spMkLst>
            <pc:docMk/>
            <pc:sldMk cId="3155240473" sldId="373"/>
            <ac:spMk id="9" creationId="{42CAAC6D-1AF9-323B-22D9-C39FA8EB13D2}"/>
          </ac:spMkLst>
        </pc:spChg>
      </pc:sldChg>
      <pc:sldChg chg="del">
        <pc:chgData name="Yuli Jiang (CSD)" userId="7c291cd4-aa97-4867-8d2d-ebf5c1c3b419" providerId="ADAL" clId="{8FBD0129-C0BB-4F8A-B9D2-D31C5DC212F7}" dt="2025-11-09T18:49:31.170" v="239" actId="47"/>
        <pc:sldMkLst>
          <pc:docMk/>
          <pc:sldMk cId="1889684750" sldId="374"/>
        </pc:sldMkLst>
      </pc:sldChg>
      <pc:sldChg chg="del">
        <pc:chgData name="Yuli Jiang (CSD)" userId="7c291cd4-aa97-4867-8d2d-ebf5c1c3b419" providerId="ADAL" clId="{8FBD0129-C0BB-4F8A-B9D2-D31C5DC212F7}" dt="2025-11-09T18:52:42.909" v="256" actId="47"/>
        <pc:sldMkLst>
          <pc:docMk/>
          <pc:sldMk cId="2602627684" sldId="37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435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3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416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685817" indent="-263776" defTabSz="90416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055103" indent="-211021" defTabSz="90416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477145" indent="-211021" defTabSz="90416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1899186" indent="-211021" defTabSz="90416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321227" indent="-211021" defTabSz="90416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743269" indent="-211021" defTabSz="90416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165310" indent="-211021" defTabSz="90416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587351" indent="-211021" defTabSz="90416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A2E596D4-E135-4EEF-9462-2EA6C23ECC07}" type="slidenum">
              <a:rPr lang="zh-TW" altLang="en-US" b="0" smtClean="0">
                <a:latin typeface="Calibri" panose="020F0502020204030204" pitchFamily="34" charset="0"/>
              </a:rPr>
              <a:pPr/>
              <a:t>5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 b="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18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17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85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3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005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50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48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21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712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80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0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9755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099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63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0660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In C programming, #define is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a preprocessor directive that is used to define macros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, which are the identifiers defined by #define which are </a:t>
            </a: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replaced by their value before compilation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. </a:t>
            </a:r>
          </a:p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One typical use of #define is to </a:t>
            </a: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define constants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074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313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9620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364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123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287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978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0047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931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981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706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6559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9878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0" u="none" strike="noStrike" kern="1200" cap="none" spc="0" normalizeH="0" baseline="0" noProof="0" dirty="0">
              <a:ln>
                <a:noFill/>
              </a:ln>
              <a:solidFill>
                <a:srgbClr val="9933FF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468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4234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167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8601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038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F8341-BD90-2510-9CF2-DB9C620D0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06902D-8582-D32F-A325-FF63A9E2C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AE251-0916-7A0A-C798-D9E30E95E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A78F7-3415-0095-05AE-B8911998F4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0561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517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788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F4860-4324-B976-7C68-D73E33746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B5DB3B-F2C0-C0DC-F91C-624D06105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D1810-4486-9EA9-28E7-B91CB2EC5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D9B1D-1ABC-1E16-1621-8689E7D1F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9248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BF14C-8C4C-BD79-C1A4-1F87C5EBD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FCF2A-D6FC-1BB5-7DC5-2E07E2C2B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98AEC9-05E5-DF1F-B23E-1948FCC9D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15D12-4FF9-4404-BDE0-17443D40D6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1167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387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151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1996616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1996616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405563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2EC328A8-BCC7-4674-AAD1-52023218739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03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47200" y="6405563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B6C3EDE-78D2-4485-B559-C2F66F6C931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39586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" y="76200"/>
            <a:ext cx="119888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" y="1066800"/>
            <a:ext cx="119888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>
    <p:fade/>
  </p:transition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651EE-04C1-1DED-2B7E-E8C900569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Review: String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292AA-0E71-818A-B869-505103721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3600" dirty="0"/>
              <a:t>Array of char</a:t>
            </a:r>
          </a:p>
          <a:p>
            <a:pPr lvl="1"/>
            <a:r>
              <a:rPr lang="en-US" altLang="zh-CN" sz="3200" dirty="0"/>
              <a:t>	char str[100]=“</a:t>
            </a:r>
            <a:r>
              <a:rPr lang="en-US" altLang="zh-TW" sz="32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Hello</a:t>
            </a:r>
            <a:r>
              <a:rPr lang="en-US" altLang="zh-CN" sz="3200" dirty="0"/>
              <a:t>”;// can only store str with max length 99</a:t>
            </a:r>
          </a:p>
          <a:p>
            <a:pPr lvl="1"/>
            <a:r>
              <a:rPr lang="en-US" altLang="zh-CN" sz="3200" dirty="0"/>
              <a:t>  End with ‘\0’</a:t>
            </a:r>
          </a:p>
          <a:p>
            <a:r>
              <a:rPr lang="en-US" altLang="zh-CN" sz="3600" dirty="0" err="1"/>
              <a:t>scanf</a:t>
            </a:r>
            <a:r>
              <a:rPr lang="en-US" altLang="zh-CN" sz="3600" dirty="0"/>
              <a:t>()/</a:t>
            </a:r>
            <a:r>
              <a:rPr lang="en-US" altLang="zh-CN" sz="3600" dirty="0" err="1"/>
              <a:t>printf</a:t>
            </a:r>
            <a:r>
              <a:rPr lang="en-US" altLang="zh-CN" sz="3600" dirty="0"/>
              <a:t>()    “%s”  </a:t>
            </a:r>
            <a:r>
              <a:rPr lang="en-US" altLang="zh-CN" sz="3200" dirty="0"/>
              <a:t>//cannot read in space</a:t>
            </a:r>
            <a:endParaRPr lang="en-US" altLang="zh-CN" sz="3600" dirty="0"/>
          </a:p>
          <a:p>
            <a:r>
              <a:rPr lang="en-US" altLang="zh-CN" sz="3600" dirty="0" err="1"/>
              <a:t>fgets</a:t>
            </a:r>
            <a:r>
              <a:rPr lang="en-US" altLang="zh-CN" sz="3600" dirty="0"/>
              <a:t>(str,100,stdin);   </a:t>
            </a:r>
            <a:r>
              <a:rPr lang="en-US" altLang="zh-CN" sz="3200" dirty="0"/>
              <a:t>//can read in space</a:t>
            </a:r>
            <a:endParaRPr lang="en-US" altLang="zh-CN" sz="3600" dirty="0"/>
          </a:p>
          <a:p>
            <a:r>
              <a:rPr lang="en-US" altLang="zh-CN" sz="3600" dirty="0"/>
              <a:t>&lt;</a:t>
            </a:r>
            <a:r>
              <a:rPr lang="en-US" altLang="zh-CN" sz="3600" dirty="0" err="1"/>
              <a:t>string.h</a:t>
            </a:r>
            <a:r>
              <a:rPr lang="en-US" altLang="zh-CN" sz="3600" dirty="0"/>
              <a:t>&gt; functions</a:t>
            </a:r>
          </a:p>
          <a:p>
            <a:pPr lvl="1"/>
            <a:r>
              <a:rPr lang="en-US" altLang="zh-TW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(s), </a:t>
            </a:r>
            <a:r>
              <a:rPr lang="en-US" altLang="zh-TW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(s1,s2), </a:t>
            </a:r>
            <a:r>
              <a:rPr lang="en-US" altLang="zh-TW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strcat</a:t>
            </a:r>
            <a:r>
              <a:rPr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(s1,s2)</a:t>
            </a:r>
          </a:p>
          <a:p>
            <a:pPr lvl="1"/>
            <a:r>
              <a:rPr lang="en-US" altLang="zh-TW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strcmp</a:t>
            </a:r>
            <a:r>
              <a:rPr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(s1,s2) + 0 – </a:t>
            </a:r>
          </a:p>
          <a:p>
            <a:pPr lvl="2"/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	ASCII code</a:t>
            </a:r>
            <a:endParaRPr lang="en-US" altLang="zh-TW" sz="2400" dirty="0">
              <a:ea typeface="新細明體" pitchFamily="18" charset="-120"/>
            </a:endParaRPr>
          </a:p>
          <a:p>
            <a:pPr marL="0" indent="0">
              <a:buNone/>
            </a:pPr>
            <a:endParaRPr lang="zh-CN" alt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0CA6C-0F90-6186-6216-930D0B6D7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96692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40" y="914400"/>
            <a:ext cx="8534400" cy="1798618"/>
          </a:xfrm>
        </p:spPr>
        <p:txBody>
          <a:bodyPr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8000" b="1" dirty="0"/>
              <a:t>Structures</a:t>
            </a:r>
            <a:endParaRPr lang="en-US" altLang="zh-TW" sz="8000" dirty="0">
              <a:ea typeface="新細明體" pitchFamily="18" charset="-120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F7AE0CE-7495-C72A-9F21-15CEB068741F}"/>
              </a:ext>
            </a:extLst>
          </p:cNvPr>
          <p:cNvGrpSpPr/>
          <p:nvPr/>
        </p:nvGrpSpPr>
        <p:grpSpPr>
          <a:xfrm>
            <a:off x="1252602" y="3094018"/>
            <a:ext cx="5757798" cy="2895600"/>
            <a:chOff x="4800600" y="1964373"/>
            <a:chExt cx="4518907" cy="206629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1D88554-1113-E9AD-18CF-15933CA7E9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00" y="1964373"/>
              <a:ext cx="2286000" cy="2066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5" name="Line 9">
              <a:extLst>
                <a:ext uri="{FF2B5EF4-FFF2-40B4-BE49-F238E27FC236}">
                  <a16:creationId xmlns:a16="http://schemas.microsoft.com/office/drawing/2014/main" id="{DE2BADC3-DCF1-3922-C998-3D05EDCB01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090138" y="2133600"/>
              <a:ext cx="1377462" cy="1846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3EE720C-8A7A-9DA6-E28B-A929DEE35615}"/>
                </a:ext>
              </a:extLst>
            </p:cNvPr>
            <p:cNvSpPr txBox="1"/>
            <p:nvPr/>
          </p:nvSpPr>
          <p:spPr>
            <a:xfrm>
              <a:off x="7467600" y="2109669"/>
              <a:ext cx="1058909" cy="329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Structure</a:t>
              </a:r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E391F6D2-3748-96DB-684B-BE795A6905B2}"/>
                </a:ext>
              </a:extLst>
            </p:cNvPr>
            <p:cNvSpPr txBox="1"/>
            <p:nvPr/>
          </p:nvSpPr>
          <p:spPr>
            <a:xfrm>
              <a:off x="7467600" y="2965635"/>
              <a:ext cx="1851907" cy="329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Storage elements</a:t>
              </a:r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B1FA4BA1-EDA9-6643-5D06-1E7DCA2FC0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15760" y="3062801"/>
              <a:ext cx="7518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E917EA2C-D8F6-08C2-1FC7-9613AA9054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55360" y="3247467"/>
              <a:ext cx="1412240" cy="25773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5C38DBB2-E6D5-9938-94C9-48D90BB70D86}"/>
              </a:ext>
            </a:extLst>
          </p:cNvPr>
          <p:cNvSpPr txBox="1"/>
          <p:nvPr/>
        </p:nvSpPr>
        <p:spPr>
          <a:xfrm>
            <a:off x="7010400" y="1204750"/>
            <a:ext cx="4953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sz="32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student {</a:t>
            </a:r>
            <a:br>
              <a:rPr lang="en-US" altLang="zh-TW" sz="32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</a:br>
            <a:r>
              <a:rPr lang="en-US" altLang="zh-TW" sz="32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32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char</a:t>
            </a:r>
            <a:r>
              <a:rPr lang="en-US" altLang="zh-TW" sz="32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id[11];</a:t>
            </a:r>
            <a:br>
              <a:rPr lang="en-US" altLang="zh-TW" sz="32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</a:br>
            <a:r>
              <a:rPr lang="en-US" altLang="zh-TW" sz="32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32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char</a:t>
            </a:r>
            <a:r>
              <a:rPr lang="en-US" altLang="zh-TW" sz="32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name[40];</a:t>
            </a:r>
            <a:br>
              <a:rPr lang="en-US" altLang="zh-TW" sz="32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</a:br>
            <a:r>
              <a:rPr lang="en-US" altLang="zh-TW" sz="32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32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double</a:t>
            </a:r>
            <a:r>
              <a:rPr lang="en-US" altLang="zh-TW" sz="32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32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gpa</a:t>
            </a:r>
            <a:r>
              <a:rPr lang="en-US" altLang="zh-TW" sz="32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  <a:br>
              <a:rPr lang="en-US" altLang="zh-TW" sz="32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</a:br>
            <a:r>
              <a:rPr lang="en-US" altLang="zh-TW" sz="32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  <a:endParaRPr lang="LID4096" sz="32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3200" b="1" dirty="0"/>
              <a:t>Introduction</a:t>
            </a:r>
            <a:endParaRPr lang="en-US" sz="3200" b="1" dirty="0">
              <a:cs typeface="Calibri"/>
            </a:endParaRPr>
          </a:p>
          <a:p>
            <a:pPr lvl="8"/>
            <a:endParaRPr lang="en-US" sz="2400" b="1" dirty="0"/>
          </a:p>
          <a:p>
            <a:r>
              <a:rPr lang="en-US" sz="3200" b="1" dirty="0"/>
              <a:t>Syntax</a:t>
            </a:r>
            <a:endParaRPr lang="en-US" sz="3200" b="1" dirty="0">
              <a:cs typeface="Calibri"/>
            </a:endParaRPr>
          </a:p>
          <a:p>
            <a:pPr lvl="1"/>
            <a:r>
              <a:rPr lang="en-US" sz="2800" b="1" dirty="0"/>
              <a:t>Defining a structure</a:t>
            </a:r>
          </a:p>
          <a:p>
            <a:pPr lvl="1"/>
            <a:r>
              <a:rPr lang="en-US" sz="2800" b="1" dirty="0"/>
              <a:t>Accessing members of a structure</a:t>
            </a:r>
          </a:p>
          <a:p>
            <a:pPr lvl="8"/>
            <a:endParaRPr lang="en-US" sz="2400" b="1" dirty="0"/>
          </a:p>
          <a:p>
            <a:r>
              <a:rPr lang="en-US" sz="3200" b="1" dirty="0">
                <a:latin typeface="Consolas"/>
                <a:cs typeface="Consolas" panose="020B0609020204030204" pitchFamily="49" charset="0"/>
              </a:rPr>
              <a:t>typedef</a:t>
            </a:r>
          </a:p>
          <a:p>
            <a:pPr lvl="8"/>
            <a:endParaRPr lang="en-US" sz="2400" b="1" dirty="0"/>
          </a:p>
          <a:p>
            <a:r>
              <a:rPr lang="en-US" sz="3200" b="1" dirty="0"/>
              <a:t>Syntax</a:t>
            </a:r>
            <a:endParaRPr lang="en-US" sz="3200" b="1" dirty="0">
              <a:cs typeface="Calibri"/>
            </a:endParaRPr>
          </a:p>
          <a:p>
            <a:pPr lvl="1"/>
            <a:r>
              <a:rPr lang="en-US" sz="2800" b="1" dirty="0"/>
              <a:t>Passing structures to a function</a:t>
            </a:r>
          </a:p>
          <a:p>
            <a:pPr lvl="1"/>
            <a:r>
              <a:rPr lang="en-US" sz="2800" b="1" dirty="0"/>
              <a:t>Returning a structure from a function</a:t>
            </a:r>
            <a:endParaRPr lang="en-US" sz="2800" b="1" dirty="0">
              <a:cs typeface="Calibri"/>
            </a:endParaRPr>
          </a:p>
          <a:p>
            <a:endParaRPr lang="en-US" sz="3200" b="1" dirty="0"/>
          </a:p>
          <a:p>
            <a:endParaRPr lang="en-US" sz="3200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1728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/>
          <a:lstStyle/>
          <a:p>
            <a:r>
              <a:rPr lang="en-US" dirty="0"/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tabLst>
                <a:tab pos="2857500" algn="l"/>
              </a:tabLst>
            </a:pPr>
            <a:r>
              <a:rPr lang="en-US" altLang="zh-TW" sz="3600" dirty="0">
                <a:ea typeface="新細明體" pitchFamily="18" charset="-120"/>
              </a:rPr>
              <a:t>A </a:t>
            </a:r>
            <a:r>
              <a:rPr lang="en-US" altLang="zh-TW" sz="3600" b="1" i="1" dirty="0">
                <a:solidFill>
                  <a:srgbClr val="0070C0"/>
                </a:solidFill>
                <a:ea typeface="新細明體" pitchFamily="18" charset="-120"/>
              </a:rPr>
              <a:t>structure</a:t>
            </a:r>
            <a:r>
              <a:rPr lang="en-US" altLang="zh-TW" sz="3600" dirty="0">
                <a:solidFill>
                  <a:srgbClr val="0070C0"/>
                </a:solidFill>
                <a:ea typeface="新細明體" pitchFamily="18" charset="-120"/>
              </a:rPr>
              <a:t> </a:t>
            </a:r>
            <a:r>
              <a:rPr lang="en-US" altLang="zh-TW" sz="3600" dirty="0">
                <a:ea typeface="新細明體" pitchFamily="18" charset="-120"/>
              </a:rPr>
              <a:t>is a collection of related storage elements under a single name.</a:t>
            </a:r>
          </a:p>
          <a:p>
            <a:pPr>
              <a:lnSpc>
                <a:spcPct val="90000"/>
              </a:lnSpc>
              <a:tabLst>
                <a:tab pos="2857500" algn="l"/>
              </a:tabLst>
            </a:pPr>
            <a:endParaRPr lang="en-US" altLang="zh-TW" sz="3600" dirty="0">
              <a:ea typeface="新細明體" pitchFamily="18" charset="-120"/>
            </a:endParaRPr>
          </a:p>
          <a:p>
            <a:pPr>
              <a:lnSpc>
                <a:spcPct val="90000"/>
              </a:lnSpc>
              <a:tabLst>
                <a:tab pos="2857500" algn="l"/>
              </a:tabLst>
            </a:pPr>
            <a:endParaRPr lang="en-US" altLang="zh-TW" sz="3600" dirty="0">
              <a:ea typeface="新細明體" pitchFamily="18" charset="-120"/>
            </a:endParaRPr>
          </a:p>
          <a:p>
            <a:pPr>
              <a:lnSpc>
                <a:spcPct val="90000"/>
              </a:lnSpc>
              <a:tabLst>
                <a:tab pos="2857500" algn="l"/>
              </a:tabLst>
            </a:pPr>
            <a:endParaRPr lang="en-US" altLang="zh-TW" sz="3600" dirty="0">
              <a:ea typeface="新細明體" pitchFamily="18" charset="-120"/>
            </a:endParaRPr>
          </a:p>
          <a:p>
            <a:pPr>
              <a:lnSpc>
                <a:spcPct val="90000"/>
              </a:lnSpc>
              <a:tabLst>
                <a:tab pos="2857500" algn="l"/>
              </a:tabLst>
            </a:pPr>
            <a:endParaRPr lang="en-US" altLang="zh-TW" sz="3600" dirty="0">
              <a:ea typeface="新細明體" pitchFamily="18" charset="-120"/>
            </a:endParaRPr>
          </a:p>
          <a:p>
            <a:pPr>
              <a:lnSpc>
                <a:spcPct val="90000"/>
              </a:lnSpc>
              <a:tabLst>
                <a:tab pos="2857500" algn="l"/>
              </a:tabLst>
            </a:pPr>
            <a:endParaRPr lang="en-US" altLang="zh-TW" sz="3600" dirty="0">
              <a:ea typeface="新細明體" pitchFamily="18" charset="-120"/>
            </a:endParaRPr>
          </a:p>
          <a:p>
            <a:pPr>
              <a:lnSpc>
                <a:spcPct val="90000"/>
              </a:lnSpc>
              <a:tabLst>
                <a:tab pos="2857500" algn="l"/>
              </a:tabLst>
            </a:pPr>
            <a:r>
              <a:rPr lang="en-US" altLang="zh-TW" sz="3600" dirty="0">
                <a:ea typeface="新細明體" pitchFamily="18" charset="-120"/>
              </a:rPr>
              <a:t>The </a:t>
            </a:r>
            <a:r>
              <a:rPr lang="en-US" altLang="zh-TW" sz="3600" dirty="0">
                <a:solidFill>
                  <a:srgbClr val="FF0000"/>
                </a:solidFill>
                <a:ea typeface="新細明體" pitchFamily="18" charset="-120"/>
              </a:rPr>
              <a:t>elements</a:t>
            </a:r>
            <a:r>
              <a:rPr lang="en-US" altLang="zh-TW" sz="3600" dirty="0">
                <a:ea typeface="新細明體" pitchFamily="18" charset="-120"/>
              </a:rPr>
              <a:t> in a structure </a:t>
            </a:r>
            <a:r>
              <a:rPr lang="en-US" altLang="zh-TW" sz="3600" dirty="0">
                <a:solidFill>
                  <a:srgbClr val="FF0000"/>
                </a:solidFill>
                <a:ea typeface="新細明體" pitchFamily="18" charset="-120"/>
              </a:rPr>
              <a:t>can be of different</a:t>
            </a:r>
            <a:r>
              <a:rPr lang="en-US" altLang="zh-TW" sz="3600" dirty="0">
                <a:ea typeface="新細明體" pitchFamily="18" charset="-120"/>
              </a:rPr>
              <a:t> </a:t>
            </a:r>
            <a:r>
              <a:rPr lang="en-US" altLang="zh-TW" sz="3600" dirty="0">
                <a:solidFill>
                  <a:srgbClr val="FF0000"/>
                </a:solidFill>
                <a:ea typeface="新細明體" pitchFamily="18" charset="-120"/>
              </a:rPr>
              <a:t>types</a:t>
            </a:r>
            <a:r>
              <a:rPr lang="en-US" altLang="zh-TW" sz="3600" dirty="0">
                <a:ea typeface="新細明體" pitchFamily="18" charset="-120"/>
              </a:rPr>
              <a:t>.  </a:t>
            </a:r>
            <a:br>
              <a:rPr lang="en-US" altLang="zh-TW" sz="3600" dirty="0">
                <a:ea typeface="新細明體" pitchFamily="18" charset="-120"/>
              </a:rPr>
            </a:br>
            <a:endParaRPr lang="en-US" altLang="zh-TW" sz="3600" dirty="0">
              <a:ea typeface="新細明體" pitchFamily="18" charset="-120"/>
            </a:endParaRPr>
          </a:p>
          <a:p>
            <a:pPr>
              <a:lnSpc>
                <a:spcPct val="90000"/>
              </a:lnSpc>
              <a:tabLst>
                <a:tab pos="2857500" algn="l"/>
              </a:tabLst>
            </a:pPr>
            <a:r>
              <a:rPr lang="en-US" altLang="zh-TW" sz="3600" dirty="0">
                <a:ea typeface="新細明體" pitchFamily="18" charset="-120"/>
              </a:rPr>
              <a:t>All elements in a structure are</a:t>
            </a:r>
            <a:r>
              <a:rPr lang="zh-CN" altLang="en-US" sz="3600" dirty="0">
                <a:ea typeface="新細明體" pitchFamily="18" charset="-120"/>
              </a:rPr>
              <a:t> </a:t>
            </a:r>
            <a:r>
              <a:rPr lang="en-US" altLang="zh-TW" sz="3600" dirty="0">
                <a:ea typeface="新細明體" pitchFamily="18" charset="-120"/>
              </a:rPr>
              <a:t>typically related semantically.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24000" y="6248400"/>
            <a:ext cx="8458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Image </a:t>
            </a:r>
            <a:r>
              <a:rPr lang="en-US" sz="1600" dirty="0" err="1"/>
              <a:t>src</a:t>
            </a:r>
            <a:r>
              <a:rPr lang="en-US" sz="1600" dirty="0"/>
              <a:t>: http://www.ladybug-lunches.com/2013/07/bento-buddies-review.html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A7E8CE5-F583-C357-A845-F8EC22637F77}"/>
              </a:ext>
            </a:extLst>
          </p:cNvPr>
          <p:cNvGrpSpPr/>
          <p:nvPr/>
        </p:nvGrpSpPr>
        <p:grpSpPr>
          <a:xfrm>
            <a:off x="1584857" y="2085479"/>
            <a:ext cx="4485318" cy="2066290"/>
            <a:chOff x="4800600" y="1964373"/>
            <a:chExt cx="4485318" cy="2066290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00" y="1964373"/>
              <a:ext cx="2286000" cy="20662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9" name="Line 9"/>
            <p:cNvSpPr>
              <a:spLocks noChangeShapeType="1"/>
            </p:cNvSpPr>
            <p:nvPr/>
          </p:nvSpPr>
          <p:spPr bwMode="auto">
            <a:xfrm flipH="1" flipV="1">
              <a:off x="6090138" y="2133600"/>
              <a:ext cx="1377462" cy="1846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67600" y="2109669"/>
              <a:ext cx="10584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Structure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67600" y="2965635"/>
              <a:ext cx="1818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Storage elements</a:t>
              </a: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 flipH="1">
              <a:off x="6715760" y="3062801"/>
              <a:ext cx="7518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H="1">
              <a:off x="6055360" y="3247467"/>
              <a:ext cx="1412240" cy="25773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CD7FFBD-ED4F-1D4E-B6BB-E129985E0FDD}"/>
              </a:ext>
            </a:extLst>
          </p:cNvPr>
          <p:cNvSpPr txBox="1"/>
          <p:nvPr/>
        </p:nvSpPr>
        <p:spPr>
          <a:xfrm>
            <a:off x="7010400" y="1905000"/>
            <a:ext cx="4308232" cy="224676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student {</a:t>
            </a:r>
            <a:b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</a:b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char</a:t>
            </a: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id[11];</a:t>
            </a:r>
            <a:b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</a:b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char</a:t>
            </a: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name[40];</a:t>
            </a:r>
            <a:b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</a:b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double</a:t>
            </a: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28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gpa</a:t>
            </a: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  <a:b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</a:b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9817017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76200"/>
            <a:ext cx="8839200" cy="895350"/>
          </a:xfrm>
        </p:spPr>
        <p:txBody>
          <a:bodyPr>
            <a:normAutofit/>
          </a:bodyPr>
          <a:lstStyle/>
          <a:p>
            <a:r>
              <a:rPr lang="en-US" altLang="zh-TW" dirty="0">
                <a:ea typeface="新細明體"/>
              </a:rPr>
              <a:t>1.1. Defining a Structure </a:t>
            </a:r>
            <a:r>
              <a:rPr lang="en-US" altLang="zh-TW" b="1" u="sng" dirty="0">
                <a:ea typeface="新細明體"/>
              </a:rPr>
              <a:t>Type</a:t>
            </a:r>
            <a:r>
              <a:rPr lang="en-US" altLang="zh-TW" dirty="0">
                <a:ea typeface="新細明體"/>
              </a:rPr>
              <a:t> (</a:t>
            </a:r>
            <a:r>
              <a:rPr lang="en-US" altLang="zh-TW" i="1" dirty="0">
                <a:ea typeface="新細明體"/>
              </a:rPr>
              <a:t>Syntax</a:t>
            </a:r>
            <a:r>
              <a:rPr lang="en-US" altLang="zh-TW" dirty="0">
                <a:ea typeface="新細明體"/>
              </a:rPr>
              <a:t>)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04900"/>
            <a:ext cx="8262938" cy="264795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struct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</a:rPr>
              <a:t>struct_name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</a:rPr>
              <a:t>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</a:rPr>
              <a:t>  type1 member1;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</a:rPr>
              <a:t>  type2 member2a, member2b;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</a:rPr>
              <a:t>  …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</a:rPr>
              <a:t> 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</a:rPr>
              <a:t>typeN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</a:rPr>
              <a:t>memberN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</a:rPr>
              <a:t>} </a:t>
            </a:r>
            <a:r>
              <a:rPr lang="en-US" altLang="zh-TW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;</a:t>
            </a:r>
            <a:endParaRPr lang="en-US" altLang="zh-TW" dirty="0">
              <a:highlight>
                <a:srgbClr val="FFFF00"/>
              </a:highlight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6149" name="Rectangle 7"/>
          <p:cNvSpPr>
            <a:spLocks noChangeArrowheads="1"/>
          </p:cNvSpPr>
          <p:nvPr/>
        </p:nvSpPr>
        <p:spPr bwMode="auto">
          <a:xfrm>
            <a:off x="381000" y="3886201"/>
            <a:ext cx="115062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457200" indent="-45720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TW" sz="3200" b="0" dirty="0">
                <a:latin typeface="Calibri" panose="020F0502020204030204" pitchFamily="34" charset="0"/>
                <a:ea typeface="新細明體" pitchFamily="18" charset="-120"/>
              </a:rPr>
              <a:t>A </a:t>
            </a:r>
            <a:r>
              <a:rPr lang="en-US" altLang="zh-TW" sz="4000" u="sng" dirty="0">
                <a:solidFill>
                  <a:srgbClr val="0070C0"/>
                </a:solidFill>
                <a:latin typeface="Calibri" panose="020F0502020204030204" pitchFamily="34" charset="0"/>
                <a:ea typeface="新細明體" pitchFamily="18" charset="-120"/>
              </a:rPr>
              <a:t>structure type</a:t>
            </a:r>
            <a:r>
              <a:rPr lang="en-US" altLang="zh-TW" sz="4000" u="sng" dirty="0">
                <a:latin typeface="Calibri" panose="020F0502020204030204" pitchFamily="34" charset="0"/>
                <a:ea typeface="新細明體" pitchFamily="18" charset="-120"/>
              </a:rPr>
              <a:t> </a:t>
            </a:r>
            <a:r>
              <a:rPr lang="en-US" altLang="zh-TW" sz="3200" b="0" dirty="0">
                <a:latin typeface="Calibri" panose="020F0502020204030204" pitchFamily="34" charset="0"/>
                <a:ea typeface="新細明體" pitchFamily="18" charset="-120"/>
              </a:rPr>
              <a:t>is a defined using the keyword </a:t>
            </a:r>
            <a:r>
              <a:rPr lang="en-US" altLang="zh-TW" sz="3200" b="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3200" b="0" dirty="0">
                <a:latin typeface="Calibri" panose="020F0502020204030204" pitchFamily="34" charset="0"/>
                <a:ea typeface="新細明體" pitchFamily="18" charset="-120"/>
              </a:rPr>
              <a:t>.</a:t>
            </a:r>
          </a:p>
          <a:p>
            <a:pPr marL="457200" indent="-45720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TW" b="0" dirty="0">
              <a:latin typeface="Calibri" panose="020F0502020204030204" pitchFamily="34" charset="0"/>
              <a:ea typeface="新細明體" pitchFamily="18" charset="-120"/>
            </a:endParaRPr>
          </a:p>
          <a:p>
            <a:pPr marL="457200" indent="-45720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TW" sz="3200" b="0" dirty="0">
                <a:latin typeface="Calibri" panose="020F0502020204030204" pitchFamily="34" charset="0"/>
                <a:ea typeface="新細明體" pitchFamily="18" charset="-120"/>
              </a:rPr>
              <a:t>We need to </a:t>
            </a:r>
            <a:r>
              <a:rPr lang="en-US" altLang="zh-TW" sz="3200" b="0" u="sng" dirty="0">
                <a:latin typeface="Calibri" panose="020F0502020204030204" pitchFamily="34" charset="0"/>
                <a:ea typeface="新細明體" pitchFamily="18" charset="-120"/>
              </a:rPr>
              <a:t>define</a:t>
            </a:r>
            <a:r>
              <a:rPr lang="en-US" altLang="zh-TW" sz="3200" b="0" dirty="0">
                <a:latin typeface="Calibri" panose="020F0502020204030204" pitchFamily="34" charset="0"/>
                <a:ea typeface="新細明體" pitchFamily="18" charset="-120"/>
              </a:rPr>
              <a:t> a structure type before we can declare variables of that type to store values.</a:t>
            </a:r>
          </a:p>
          <a:p>
            <a:pPr marL="0" indent="0">
              <a:spcBef>
                <a:spcPct val="20000"/>
              </a:spcBef>
              <a:buClr>
                <a:schemeClr val="accent1"/>
              </a:buClr>
            </a:pPr>
            <a:endParaRPr lang="en-US" altLang="zh-TW" sz="1600" b="0" dirty="0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6150" name="AutoShape 8"/>
          <p:cNvSpPr>
            <a:spLocks/>
          </p:cNvSpPr>
          <p:nvPr/>
        </p:nvSpPr>
        <p:spPr bwMode="auto">
          <a:xfrm>
            <a:off x="5257800" y="1371600"/>
            <a:ext cx="489448" cy="1904999"/>
          </a:xfrm>
          <a:prstGeom prst="rightBrace">
            <a:avLst>
              <a:gd name="adj1" fmla="val 30876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 b="0" dirty="0">
              <a:latin typeface="Calibri" panose="020F0502020204030204" pitchFamily="34" charset="0"/>
            </a:endParaRPr>
          </a:p>
        </p:txBody>
      </p:sp>
      <p:sp>
        <p:nvSpPr>
          <p:cNvPr id="6151" name="Text Box 9"/>
          <p:cNvSpPr txBox="1">
            <a:spLocks noChangeArrowheads="1"/>
          </p:cNvSpPr>
          <p:nvPr/>
        </p:nvSpPr>
        <p:spPr bwMode="auto">
          <a:xfrm>
            <a:off x="5823993" y="1908600"/>
            <a:ext cx="248180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2400" b="0" dirty="0">
                <a:latin typeface="Calibri" panose="020F0502020204030204" pitchFamily="34" charset="0"/>
                <a:ea typeface="新細明體" pitchFamily="18" charset="-120"/>
              </a:rPr>
              <a:t>Define what kinds of data to hold.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01BBDE7-D506-6745-9F5B-745072172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3EC5A4-E277-7826-BED6-F56EA5CDE3A0}"/>
              </a:ext>
            </a:extLst>
          </p:cNvPr>
          <p:cNvSpPr txBox="1"/>
          <p:nvPr/>
        </p:nvSpPr>
        <p:spPr>
          <a:xfrm>
            <a:off x="8344172" y="1459379"/>
            <a:ext cx="3733255" cy="19389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student {</a:t>
            </a:r>
            <a:b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</a:b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char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id[11];</a:t>
            </a:r>
            <a:b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</a:b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char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name[40];</a:t>
            </a:r>
            <a:b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</a:b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double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24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gpa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  <a:b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</a:b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0077411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1.1. Defining a Structure </a:t>
            </a:r>
            <a:r>
              <a:rPr lang="en-US" altLang="zh-TW" b="1" u="sng" dirty="0">
                <a:ea typeface="新細明體"/>
              </a:rPr>
              <a:t>Type</a:t>
            </a:r>
            <a:endParaRPr lang="zh-TW" altLang="en-US" b="1" u="sng" dirty="0">
              <a:ea typeface="新細明體" panose="02020500000000000000" pitchFamily="18" charset="-12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3200" dirty="0">
                <a:ea typeface="新細明體"/>
              </a:rPr>
              <a:t>An example:</a:t>
            </a:r>
            <a:endParaRPr lang="en-US" altLang="zh-TW" sz="3200" b="1" i="1" dirty="0">
              <a:solidFill>
                <a:srgbClr val="FF0000"/>
              </a:solidFill>
              <a:ea typeface="新細明體" panose="02020500000000000000" pitchFamily="18" charset="-120"/>
              <a:cs typeface="Calibri"/>
            </a:endParaRPr>
          </a:p>
          <a:p>
            <a:pPr>
              <a:lnSpc>
                <a:spcPct val="90000"/>
              </a:lnSpc>
            </a:pPr>
            <a:endParaRPr lang="en-US" altLang="zh-TW" sz="32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sz="32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sz="32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90000"/>
              </a:lnSpc>
            </a:pPr>
            <a:endParaRPr lang="en-US" altLang="zh-TW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4">
              <a:lnSpc>
                <a:spcPct val="90000"/>
              </a:lnSpc>
            </a:pPr>
            <a:endParaRPr lang="en-US" altLang="zh-TW" sz="20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4">
              <a:lnSpc>
                <a:spcPct val="90000"/>
              </a:lnSpc>
            </a:pPr>
            <a:endParaRPr lang="en-US" altLang="zh-TW" sz="20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3600" dirty="0">
                <a:ea typeface="新細明體"/>
              </a:rPr>
              <a:t>This defines </a:t>
            </a:r>
            <a:r>
              <a:rPr lang="en-US" altLang="zh-TW" sz="3600" b="1" u="sng" dirty="0">
                <a:ea typeface="新細明體"/>
              </a:rPr>
              <a:t>a new data type </a:t>
            </a:r>
            <a:r>
              <a:rPr lang="en-US" altLang="zh-TW" sz="3600" dirty="0">
                <a:ea typeface="新細明體"/>
              </a:rPr>
              <a:t>called </a:t>
            </a:r>
            <a:r>
              <a:rPr lang="en-US" altLang="zh-TW" sz="360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 student</a:t>
            </a:r>
            <a:r>
              <a:rPr lang="en-US" altLang="zh-TW" sz="3600" dirty="0">
                <a:ea typeface="新細明體"/>
              </a:rPr>
              <a:t>, which consists of three </a:t>
            </a:r>
            <a:r>
              <a:rPr lang="en-US" altLang="zh-TW" sz="3600" i="1" dirty="0">
                <a:ea typeface="新細明體"/>
              </a:rPr>
              <a:t>related </a:t>
            </a:r>
            <a:r>
              <a:rPr lang="en-US" altLang="zh-TW" sz="3600" b="1" i="1" dirty="0">
                <a:solidFill>
                  <a:srgbClr val="FF0000"/>
                </a:solidFill>
                <a:ea typeface="新細明體"/>
              </a:rPr>
              <a:t>members</a:t>
            </a:r>
            <a:r>
              <a:rPr lang="en-US" altLang="zh-TW" sz="3600" dirty="0">
                <a:ea typeface="新細明體"/>
              </a:rPr>
              <a:t>:</a:t>
            </a:r>
            <a:r>
              <a:rPr lang="en-US" altLang="zh-TW" sz="3600" i="1" dirty="0">
                <a:ea typeface="新細明體"/>
              </a:rPr>
              <a:t> </a:t>
            </a:r>
            <a:r>
              <a:rPr lang="en-US" altLang="zh-TW" sz="36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id</a:t>
            </a:r>
            <a:r>
              <a:rPr lang="en-US" altLang="zh-TW" sz="3600" i="1" dirty="0">
                <a:ea typeface="新細明體"/>
              </a:rPr>
              <a:t>, </a:t>
            </a:r>
            <a:r>
              <a:rPr lang="en-US" altLang="zh-TW" sz="360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name</a:t>
            </a:r>
            <a:r>
              <a:rPr lang="en-US" altLang="zh-TW" sz="3600" dirty="0">
                <a:ea typeface="新細明體"/>
              </a:rPr>
              <a:t>, and </a:t>
            </a:r>
            <a:r>
              <a:rPr lang="en-US" altLang="zh-TW" sz="3600" dirty="0" err="1">
                <a:solidFill>
                  <a:srgbClr val="0000FF"/>
                </a:solidFill>
                <a:highlight>
                  <a:srgbClr val="C0C0C0"/>
                </a:highlight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gpa</a:t>
            </a:r>
            <a:r>
              <a:rPr lang="en-US" altLang="zh-TW" sz="3600" dirty="0">
                <a:ea typeface="新細明體"/>
              </a:rPr>
              <a:t>.</a:t>
            </a:r>
            <a:endParaRPr lang="en-US" altLang="zh-TW" sz="3600" dirty="0">
              <a:ea typeface="新細明體"/>
              <a:cs typeface="Calibri"/>
            </a:endParaRPr>
          </a:p>
        </p:txBody>
      </p:sp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2493963" y="1646855"/>
            <a:ext cx="8000908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/* define a NEW type for storing data LATER */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sz="240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 student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char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id[11]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char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40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name[40]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double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2400" dirty="0" err="1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gpa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  <a:endParaRPr lang="zh-TW" altLang="en-US" sz="24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31751" name="AutoShape 7"/>
          <p:cNvSpPr>
            <a:spLocks noChangeArrowheads="1"/>
          </p:cNvSpPr>
          <p:nvPr/>
        </p:nvSpPr>
        <p:spPr bwMode="auto">
          <a:xfrm>
            <a:off x="7159625" y="2801017"/>
            <a:ext cx="3051175" cy="919401"/>
          </a:xfrm>
          <a:prstGeom prst="wedgeRoundRectCallout">
            <a:avLst>
              <a:gd name="adj1" fmla="val -184912"/>
              <a:gd name="adj2" fmla="val 57561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Note the semicolon (</a:t>
            </a:r>
            <a:r>
              <a:rPr lang="en-US" altLang="zh-TW" sz="2400" dirty="0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  <a:r>
              <a:rPr lang="en-US" altLang="zh-TW" sz="2400" dirty="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) at the end.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C9CF887-DD79-014B-A8D9-63876AA51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538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新細明體" panose="02020500000000000000" pitchFamily="18" charset="-120"/>
              </a:rPr>
              <a:t>1.1. Defining a Structure Type</a:t>
            </a:r>
            <a:endParaRPr lang="en-US" altLang="zh-TW" dirty="0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10115"/>
            <a:ext cx="11658600" cy="537563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90000"/>
              </a:lnSpc>
            </a:pPr>
            <a:endParaRPr lang="en-US" altLang="zh-TW" sz="3600" dirty="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sz="3600" dirty="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sz="3600" dirty="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sz="3600" dirty="0">
              <a:ea typeface="新細明體" panose="02020500000000000000" pitchFamily="18" charset="-12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TW" sz="3600" b="1" dirty="0">
              <a:ea typeface="新細明體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TW" sz="3600" b="1" dirty="0">
                <a:ea typeface="新細明體"/>
                <a:cs typeface="Calibri"/>
              </a:rPr>
              <a:t>Important:</a:t>
            </a:r>
          </a:p>
          <a:p>
            <a:pPr>
              <a:lnSpc>
                <a:spcPct val="90000"/>
              </a:lnSpc>
            </a:pPr>
            <a:r>
              <a:rPr lang="en-US" altLang="zh-TW" sz="3600" dirty="0">
                <a:ea typeface="新細明體"/>
              </a:rPr>
              <a:t>This defines only </a:t>
            </a:r>
            <a:r>
              <a:rPr lang="en-US" altLang="zh-TW" sz="3600" b="1" u="sng" dirty="0">
                <a:ea typeface="新細明體"/>
              </a:rPr>
              <a:t>a new data type </a:t>
            </a:r>
            <a:r>
              <a:rPr lang="en-US" altLang="zh-TW" sz="3600" dirty="0">
                <a:ea typeface="新細明體"/>
              </a:rPr>
              <a:t>called </a:t>
            </a:r>
            <a:r>
              <a:rPr lang="en-US" altLang="zh-TW" sz="360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 student</a:t>
            </a:r>
            <a:r>
              <a:rPr lang="en-US" altLang="zh-TW" sz="3600" dirty="0">
                <a:ea typeface="新細明體"/>
              </a:rPr>
              <a:t>.</a:t>
            </a:r>
            <a:endParaRPr lang="en-US" sz="3600" dirty="0">
              <a:ea typeface="新細明體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altLang="zh-TW" sz="3600" b="1" i="1" u="sng" dirty="0">
                <a:solidFill>
                  <a:srgbClr val="FF0000"/>
                </a:solidFill>
                <a:ea typeface="新細明體"/>
              </a:rPr>
              <a:t>No</a:t>
            </a:r>
            <a:r>
              <a:rPr lang="en-US" altLang="zh-TW" sz="3600" b="1" u="sng" dirty="0">
                <a:ea typeface="新細明體"/>
              </a:rPr>
              <a:t> variable </a:t>
            </a:r>
            <a:r>
              <a:rPr lang="en-US" altLang="zh-TW" sz="3600" dirty="0">
                <a:ea typeface="新細明體"/>
              </a:rPr>
              <a:t>storage has YET been allocated.</a:t>
            </a:r>
            <a:endParaRPr lang="en-US" altLang="zh-TW" sz="3600" dirty="0">
              <a:ea typeface="新細明體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altLang="zh-TW" sz="3600" dirty="0">
                <a:ea typeface="新細明體"/>
              </a:rPr>
              <a:t>This is just the </a:t>
            </a:r>
            <a:r>
              <a:rPr lang="en-US" altLang="zh-TW" sz="3600" i="1" dirty="0">
                <a:solidFill>
                  <a:srgbClr val="0000FF"/>
                </a:solidFill>
                <a:ea typeface="新細明體"/>
              </a:rPr>
              <a:t>blueprint</a:t>
            </a:r>
            <a:r>
              <a:rPr lang="en-US" altLang="zh-TW" sz="3600" dirty="0">
                <a:ea typeface="新細明體"/>
              </a:rPr>
              <a:t> (</a:t>
            </a:r>
            <a:r>
              <a:rPr lang="en-US" altLang="zh-TW" sz="3600" i="1" dirty="0">
                <a:solidFill>
                  <a:srgbClr val="0000FF"/>
                </a:solidFill>
                <a:ea typeface="新細明體"/>
              </a:rPr>
              <a:t>design</a:t>
            </a:r>
            <a:r>
              <a:rPr lang="en-US" altLang="zh-TW" sz="3600" i="1" dirty="0">
                <a:ea typeface="新細明體"/>
              </a:rPr>
              <a:t>)</a:t>
            </a:r>
            <a:r>
              <a:rPr lang="en-US" altLang="zh-TW" sz="3600" dirty="0">
                <a:ea typeface="新細明體"/>
              </a:rPr>
              <a:t> of the new type.</a:t>
            </a:r>
            <a:endParaRPr lang="en-US" altLang="zh-TW" sz="3600" dirty="0">
              <a:ea typeface="新細明體"/>
              <a:cs typeface="Calibri"/>
            </a:endParaRPr>
          </a:p>
        </p:txBody>
      </p:sp>
      <p:sp>
        <p:nvSpPr>
          <p:cNvPr id="91140" name="Text Box 4"/>
          <p:cNvSpPr txBox="1">
            <a:spLocks noChangeArrowheads="1"/>
          </p:cNvSpPr>
          <p:nvPr/>
        </p:nvSpPr>
        <p:spPr bwMode="auto">
          <a:xfrm>
            <a:off x="1905000" y="1358224"/>
            <a:ext cx="8000908" cy="208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/* define a NEW type for storing data LATER */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sz="240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 student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{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char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id[11];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char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name[40];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double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24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gpa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  <a:endParaRPr lang="zh-TW" altLang="en-US" sz="24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9EBBF-6D8B-524A-A684-963B533B2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76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新細明體" panose="02020500000000000000" pitchFamily="18" charset="-120"/>
              </a:rPr>
              <a:t>1.1. Defining a Structure variables</a:t>
            </a:r>
            <a:endParaRPr lang="en-US" altLang="zh-TW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11775832" cy="5105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sz="3200" i="1" dirty="0">
                <a:solidFill>
                  <a:srgbClr val="FF0000"/>
                </a:solidFill>
                <a:ea typeface="新細明體"/>
              </a:rPr>
              <a:t>Structure variables</a:t>
            </a:r>
            <a:r>
              <a:rPr lang="en-US" altLang="zh-TW" sz="3200" dirty="0">
                <a:ea typeface="新細明體"/>
              </a:rPr>
              <a:t> can then be declared just like variables of simple data types.</a:t>
            </a:r>
            <a:endParaRPr lang="en-US" altLang="zh-TW" sz="3200" dirty="0">
              <a:ea typeface="新細明體"/>
              <a:cs typeface="Calibri"/>
            </a:endParaRPr>
          </a:p>
          <a:p>
            <a:r>
              <a:rPr lang="en-US" altLang="zh-TW" sz="3200" dirty="0">
                <a:ea typeface="新細明體" panose="02020500000000000000" pitchFamily="18" charset="-120"/>
              </a:rPr>
              <a:t>E.g.,</a:t>
            </a:r>
            <a:endParaRPr lang="en-US" altLang="zh-TW" sz="3200" dirty="0">
              <a:ea typeface="新細明體" panose="02020500000000000000" pitchFamily="18" charset="-120"/>
              <a:cs typeface="Calibri"/>
            </a:endParaRPr>
          </a:p>
          <a:p>
            <a:pPr marL="0" indent="0">
              <a:buNone/>
            </a:pPr>
            <a:r>
              <a:rPr lang="en-US" altLang="zh-TW" sz="32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Calibri"/>
              </a:rPr>
              <a:t>      </a:t>
            </a:r>
            <a:r>
              <a:rPr lang="en-US" altLang="zh-TW" sz="3200" dirty="0">
                <a:solidFill>
                  <a:srgbClr val="FF33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 </a:t>
            </a:r>
            <a:r>
              <a:rPr lang="en-US" altLang="zh-TW" sz="3200" dirty="0">
                <a:solidFill>
                  <a:srgbClr val="0099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student</a:t>
            </a:r>
            <a:r>
              <a:rPr lang="en-US" altLang="zh-TW" sz="3200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 </a:t>
            </a:r>
            <a:r>
              <a:rPr lang="en-US" altLang="zh-TW" sz="3200" dirty="0">
                <a:solidFill>
                  <a:schemeClr val="folHlink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peter</a:t>
            </a:r>
            <a:r>
              <a:rPr lang="en-US" altLang="zh-TW" sz="3200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;</a:t>
            </a:r>
            <a:endParaRPr lang="en-US" altLang="zh-TW" sz="2800" dirty="0"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  <a:p>
            <a:endParaRPr lang="zh-TW" altLang="en-US" sz="3200" dirty="0">
              <a:ea typeface="新細明體" panose="02020500000000000000" pitchFamily="18" charset="-120"/>
            </a:endParaRPr>
          </a:p>
        </p:txBody>
      </p:sp>
      <p:sp>
        <p:nvSpPr>
          <p:cNvPr id="44038" name="AutoShape 6"/>
          <p:cNvSpPr>
            <a:spLocks noChangeArrowheads="1"/>
          </p:cNvSpPr>
          <p:nvPr/>
        </p:nvSpPr>
        <p:spPr bwMode="auto">
          <a:xfrm>
            <a:off x="2946570" y="4575514"/>
            <a:ext cx="6631335" cy="2275398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t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3600" b="1" u="sng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peter</a:t>
            </a:r>
          </a:p>
        </p:txBody>
      </p:sp>
      <p:sp>
        <p:nvSpPr>
          <p:cNvPr id="44195" name="AutoShape 163"/>
          <p:cNvSpPr>
            <a:spLocks/>
          </p:cNvSpPr>
          <p:nvPr/>
        </p:nvSpPr>
        <p:spPr bwMode="auto">
          <a:xfrm rot="16200000">
            <a:off x="3045390" y="2102708"/>
            <a:ext cx="381000" cy="2762011"/>
          </a:xfrm>
          <a:prstGeom prst="leftBrace">
            <a:avLst>
              <a:gd name="adj1" fmla="val 68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4196" name="AutoShape 164"/>
          <p:cNvSpPr>
            <a:spLocks/>
          </p:cNvSpPr>
          <p:nvPr/>
        </p:nvSpPr>
        <p:spPr bwMode="auto">
          <a:xfrm rot="16200000">
            <a:off x="5531293" y="2954122"/>
            <a:ext cx="381000" cy="990600"/>
          </a:xfrm>
          <a:prstGeom prst="leftBrace">
            <a:avLst>
              <a:gd name="adj1" fmla="val 2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4199" name="Text Box 167"/>
          <p:cNvSpPr txBox="1">
            <a:spLocks noChangeArrowheads="1"/>
          </p:cNvSpPr>
          <p:nvPr/>
        </p:nvSpPr>
        <p:spPr bwMode="auto">
          <a:xfrm>
            <a:off x="207062" y="3479857"/>
            <a:ext cx="205339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This is the </a:t>
            </a:r>
            <a:r>
              <a:rPr lang="en-US" altLang="zh-TW" sz="2800" b="1" dirty="0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  <a:ea typeface="新細明體" panose="02020500000000000000" pitchFamily="18" charset="-120"/>
              </a:rPr>
              <a:t>type</a:t>
            </a:r>
            <a:r>
              <a:rPr lang="en-US" altLang="zh-TW" sz="2800" dirty="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 name.</a:t>
            </a:r>
          </a:p>
        </p:txBody>
      </p:sp>
      <p:sp>
        <p:nvSpPr>
          <p:cNvPr id="44200" name="Text Box 168"/>
          <p:cNvSpPr txBox="1">
            <a:spLocks noChangeArrowheads="1"/>
          </p:cNvSpPr>
          <p:nvPr/>
        </p:nvSpPr>
        <p:spPr bwMode="auto">
          <a:xfrm>
            <a:off x="6264718" y="3549601"/>
            <a:ext cx="248590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This is the </a:t>
            </a:r>
            <a:r>
              <a:rPr lang="en-US" altLang="zh-TW" sz="2800" b="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  <a:ea typeface="新細明體" panose="02020500000000000000" pitchFamily="18" charset="-120"/>
              </a:rPr>
              <a:t>variable</a:t>
            </a:r>
            <a:r>
              <a:rPr lang="en-US" altLang="zh-TW" sz="2800" dirty="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 name.</a:t>
            </a:r>
          </a:p>
        </p:txBody>
      </p:sp>
      <p:cxnSp>
        <p:nvCxnSpPr>
          <p:cNvPr id="44201" name="AutoShape 169"/>
          <p:cNvCxnSpPr>
            <a:cxnSpLocks noChangeShapeType="1"/>
          </p:cNvCxnSpPr>
          <p:nvPr/>
        </p:nvCxnSpPr>
        <p:spPr bwMode="auto">
          <a:xfrm rot="10800000">
            <a:off x="5721793" y="3693535"/>
            <a:ext cx="542925" cy="411163"/>
          </a:xfrm>
          <a:prstGeom prst="bentConnector2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202" name="AutoShape 170"/>
          <p:cNvCxnSpPr>
            <a:cxnSpLocks noChangeShapeType="1"/>
          </p:cNvCxnSpPr>
          <p:nvPr/>
        </p:nvCxnSpPr>
        <p:spPr bwMode="auto">
          <a:xfrm flipV="1">
            <a:off x="1824604" y="3674214"/>
            <a:ext cx="1411286" cy="325892"/>
          </a:xfrm>
          <a:prstGeom prst="bentConnector3">
            <a:avLst>
              <a:gd name="adj1" fmla="val 99724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53079510-8476-B642-A350-4C209D88D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BE1801-B97B-0F26-A46B-820C9159820B}"/>
              </a:ext>
            </a:extLst>
          </p:cNvPr>
          <p:cNvSpPr txBox="1"/>
          <p:nvPr/>
        </p:nvSpPr>
        <p:spPr>
          <a:xfrm>
            <a:off x="8374866" y="2037943"/>
            <a:ext cx="3733255" cy="19389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student {</a:t>
            </a:r>
            <a:b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</a:b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char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id[11];</a:t>
            </a:r>
            <a:b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</a:b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char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name[40];</a:t>
            </a:r>
            <a:b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</a:b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double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24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gpa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  <a:b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</a:b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  <a:endParaRPr lang="zh-CN" altLang="en-US" sz="2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2CE0579-A1F8-5A6E-E5B7-CFEE249DEDC7}"/>
              </a:ext>
            </a:extLst>
          </p:cNvPr>
          <p:cNvGrpSpPr/>
          <p:nvPr/>
        </p:nvGrpSpPr>
        <p:grpSpPr>
          <a:xfrm>
            <a:off x="3052758" y="4992369"/>
            <a:ext cx="6429082" cy="1600200"/>
            <a:chOff x="3052758" y="4992369"/>
            <a:chExt cx="6429082" cy="1600200"/>
          </a:xfrm>
          <a:solidFill>
            <a:schemeClr val="bg1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AE8B40D-52E7-BA55-A44A-89210BE7594A}"/>
                </a:ext>
              </a:extLst>
            </p:cNvPr>
            <p:cNvGrpSpPr/>
            <p:nvPr/>
          </p:nvGrpSpPr>
          <p:grpSpPr>
            <a:xfrm>
              <a:off x="3052758" y="4992369"/>
              <a:ext cx="5481642" cy="1600200"/>
              <a:chOff x="3052758" y="4992369"/>
              <a:chExt cx="5481642" cy="1600200"/>
            </a:xfrm>
            <a:grpFill/>
          </p:grpSpPr>
          <p:sp>
            <p:nvSpPr>
              <p:cNvPr id="44167" name="Rectangle 135"/>
              <p:cNvSpPr>
                <a:spLocks noChangeArrowheads="1"/>
              </p:cNvSpPr>
              <p:nvPr/>
            </p:nvSpPr>
            <p:spPr bwMode="auto">
              <a:xfrm>
                <a:off x="4066278" y="49923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168" name="Rectangle 136"/>
              <p:cNvSpPr>
                <a:spLocks noChangeArrowheads="1"/>
              </p:cNvSpPr>
              <p:nvPr/>
            </p:nvSpPr>
            <p:spPr bwMode="auto">
              <a:xfrm>
                <a:off x="3052758" y="4992369"/>
                <a:ext cx="929060" cy="381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anchor="ctr"/>
              <a:lstStyle/>
              <a:p>
                <a:pPr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b="1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</a:rPr>
                  <a:t>id</a:t>
                </a:r>
              </a:p>
            </p:txBody>
          </p:sp>
          <p:sp>
            <p:nvSpPr>
              <p:cNvPr id="44169" name="Rectangle 137"/>
              <p:cNvSpPr>
                <a:spLocks noChangeArrowheads="1"/>
              </p:cNvSpPr>
              <p:nvPr/>
            </p:nvSpPr>
            <p:spPr bwMode="auto">
              <a:xfrm>
                <a:off x="3052758" y="5601969"/>
                <a:ext cx="929060" cy="381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anchor="ctr"/>
              <a:lstStyle/>
              <a:p>
                <a:pPr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b="1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</a:rPr>
                  <a:t>name</a:t>
                </a:r>
              </a:p>
            </p:txBody>
          </p:sp>
          <p:sp>
            <p:nvSpPr>
              <p:cNvPr id="44170" name="Rectangle 138"/>
              <p:cNvSpPr>
                <a:spLocks noChangeArrowheads="1"/>
              </p:cNvSpPr>
              <p:nvPr/>
            </p:nvSpPr>
            <p:spPr bwMode="auto">
              <a:xfrm>
                <a:off x="3052758" y="6211569"/>
                <a:ext cx="929060" cy="381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anchor="ctr"/>
              <a:lstStyle/>
              <a:p>
                <a:pPr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b="1" dirty="0" err="1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</a:rPr>
                  <a:t>gpa</a:t>
                </a:r>
                <a:endParaRPr lang="en-US" altLang="zh-TW" sz="2400" b="1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44172" name="Rectangle 140"/>
              <p:cNvSpPr>
                <a:spLocks noChangeArrowheads="1"/>
              </p:cNvSpPr>
              <p:nvPr/>
            </p:nvSpPr>
            <p:spPr bwMode="auto">
              <a:xfrm>
                <a:off x="4404118" y="49923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173" name="Rectangle 141"/>
              <p:cNvSpPr>
                <a:spLocks noChangeArrowheads="1"/>
              </p:cNvSpPr>
              <p:nvPr/>
            </p:nvSpPr>
            <p:spPr bwMode="auto">
              <a:xfrm>
                <a:off x="4741958" y="49923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174" name="Rectangle 142"/>
              <p:cNvSpPr>
                <a:spLocks noChangeArrowheads="1"/>
              </p:cNvSpPr>
              <p:nvPr/>
            </p:nvSpPr>
            <p:spPr bwMode="auto">
              <a:xfrm>
                <a:off x="5079798" y="49923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175" name="Rectangle 143"/>
              <p:cNvSpPr>
                <a:spLocks noChangeArrowheads="1"/>
              </p:cNvSpPr>
              <p:nvPr/>
            </p:nvSpPr>
            <p:spPr bwMode="auto">
              <a:xfrm>
                <a:off x="5417638" y="49923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176" name="Rectangle 144"/>
              <p:cNvSpPr>
                <a:spLocks noChangeArrowheads="1"/>
              </p:cNvSpPr>
              <p:nvPr/>
            </p:nvSpPr>
            <p:spPr bwMode="auto">
              <a:xfrm>
                <a:off x="5755478" y="49923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177" name="Rectangle 145"/>
              <p:cNvSpPr>
                <a:spLocks noChangeArrowheads="1"/>
              </p:cNvSpPr>
              <p:nvPr/>
            </p:nvSpPr>
            <p:spPr bwMode="auto">
              <a:xfrm>
                <a:off x="6093318" y="49923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178" name="Rectangle 146"/>
              <p:cNvSpPr>
                <a:spLocks noChangeArrowheads="1"/>
              </p:cNvSpPr>
              <p:nvPr/>
            </p:nvSpPr>
            <p:spPr bwMode="auto">
              <a:xfrm>
                <a:off x="6515618" y="49923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0</a:t>
                </a:r>
              </a:p>
            </p:txBody>
          </p:sp>
          <p:sp>
            <p:nvSpPr>
              <p:cNvPr id="44179" name="Rectangle 147"/>
              <p:cNvSpPr>
                <a:spLocks noChangeArrowheads="1"/>
              </p:cNvSpPr>
              <p:nvPr/>
            </p:nvSpPr>
            <p:spPr bwMode="auto">
              <a:xfrm>
                <a:off x="6431158" y="49923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180" name="Rectangle 148"/>
              <p:cNvSpPr>
                <a:spLocks noChangeArrowheads="1"/>
              </p:cNvSpPr>
              <p:nvPr/>
            </p:nvSpPr>
            <p:spPr bwMode="auto">
              <a:xfrm>
                <a:off x="6768998" y="49923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181" name="Rectangle 149"/>
              <p:cNvSpPr>
                <a:spLocks noChangeArrowheads="1"/>
              </p:cNvSpPr>
              <p:nvPr/>
            </p:nvSpPr>
            <p:spPr bwMode="auto">
              <a:xfrm>
                <a:off x="4066278" y="6211569"/>
                <a:ext cx="4468122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???</a:t>
                </a:r>
              </a:p>
            </p:txBody>
          </p:sp>
          <p:sp>
            <p:nvSpPr>
              <p:cNvPr id="44182" name="Rectangle 150"/>
              <p:cNvSpPr>
                <a:spLocks noChangeArrowheads="1"/>
              </p:cNvSpPr>
              <p:nvPr/>
            </p:nvSpPr>
            <p:spPr bwMode="auto">
              <a:xfrm>
                <a:off x="4066278" y="56019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183" name="Rectangle 151"/>
              <p:cNvSpPr>
                <a:spLocks noChangeArrowheads="1"/>
              </p:cNvSpPr>
              <p:nvPr/>
            </p:nvSpPr>
            <p:spPr bwMode="auto">
              <a:xfrm>
                <a:off x="4404118" y="56019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184" name="Rectangle 152"/>
              <p:cNvSpPr>
                <a:spLocks noChangeArrowheads="1"/>
              </p:cNvSpPr>
              <p:nvPr/>
            </p:nvSpPr>
            <p:spPr bwMode="auto">
              <a:xfrm>
                <a:off x="4741958" y="56019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185" name="Rectangle 153"/>
              <p:cNvSpPr>
                <a:spLocks noChangeArrowheads="1"/>
              </p:cNvSpPr>
              <p:nvPr/>
            </p:nvSpPr>
            <p:spPr bwMode="auto">
              <a:xfrm>
                <a:off x="5079798" y="56019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186" name="Rectangle 154"/>
              <p:cNvSpPr>
                <a:spLocks noChangeArrowheads="1"/>
              </p:cNvSpPr>
              <p:nvPr/>
            </p:nvSpPr>
            <p:spPr bwMode="auto">
              <a:xfrm>
                <a:off x="5417638" y="56019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187" name="Rectangle 155"/>
              <p:cNvSpPr>
                <a:spLocks noChangeArrowheads="1"/>
              </p:cNvSpPr>
              <p:nvPr/>
            </p:nvSpPr>
            <p:spPr bwMode="auto">
              <a:xfrm>
                <a:off x="5755478" y="56019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188" name="Rectangle 156"/>
              <p:cNvSpPr>
                <a:spLocks noChangeArrowheads="1"/>
              </p:cNvSpPr>
              <p:nvPr/>
            </p:nvSpPr>
            <p:spPr bwMode="auto">
              <a:xfrm>
                <a:off x="6093318" y="56019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189" name="Rectangle 157"/>
              <p:cNvSpPr>
                <a:spLocks noChangeArrowheads="1"/>
              </p:cNvSpPr>
              <p:nvPr/>
            </p:nvSpPr>
            <p:spPr bwMode="auto">
              <a:xfrm>
                <a:off x="6431158" y="56019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190" name="Rectangle 158"/>
              <p:cNvSpPr>
                <a:spLocks noChangeArrowheads="1"/>
              </p:cNvSpPr>
              <p:nvPr/>
            </p:nvSpPr>
            <p:spPr bwMode="auto">
              <a:xfrm>
                <a:off x="6768998" y="56019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191" name="Rectangle 159"/>
              <p:cNvSpPr>
                <a:spLocks noChangeArrowheads="1"/>
              </p:cNvSpPr>
              <p:nvPr/>
            </p:nvSpPr>
            <p:spPr bwMode="auto">
              <a:xfrm>
                <a:off x="7106838" y="56019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192" name="Rectangle 160"/>
              <p:cNvSpPr>
                <a:spLocks noChangeArrowheads="1"/>
              </p:cNvSpPr>
              <p:nvPr/>
            </p:nvSpPr>
            <p:spPr bwMode="auto">
              <a:xfrm>
                <a:off x="7444678" y="56019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193" name="Rectangle 161"/>
              <p:cNvSpPr>
                <a:spLocks noChangeArrowheads="1"/>
              </p:cNvSpPr>
              <p:nvPr/>
            </p:nvSpPr>
            <p:spPr bwMode="auto">
              <a:xfrm>
                <a:off x="7782518" y="56019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…</a:t>
                </a:r>
              </a:p>
            </p:txBody>
          </p:sp>
          <p:sp>
            <p:nvSpPr>
              <p:cNvPr id="44194" name="Rectangle 162"/>
              <p:cNvSpPr>
                <a:spLocks noChangeArrowheads="1"/>
              </p:cNvSpPr>
              <p:nvPr/>
            </p:nvSpPr>
            <p:spPr bwMode="auto">
              <a:xfrm>
                <a:off x="8120358" y="56019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203" name="Rectangle 171"/>
              <p:cNvSpPr>
                <a:spLocks noChangeArrowheads="1"/>
              </p:cNvSpPr>
              <p:nvPr/>
            </p:nvSpPr>
            <p:spPr bwMode="auto">
              <a:xfrm>
                <a:off x="7106838" y="49923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4204" name="Rectangle 172"/>
              <p:cNvSpPr>
                <a:spLocks noChangeArrowheads="1"/>
              </p:cNvSpPr>
              <p:nvPr/>
            </p:nvSpPr>
            <p:spPr bwMode="auto">
              <a:xfrm>
                <a:off x="7444678" y="49923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</p:grpSp>
        <p:sp>
          <p:nvSpPr>
            <p:cNvPr id="3" name="Rectangle 162">
              <a:extLst>
                <a:ext uri="{FF2B5EF4-FFF2-40B4-BE49-F238E27FC236}">
                  <a16:creationId xmlns:a16="http://schemas.microsoft.com/office/drawing/2014/main" id="{A5C3C6ED-C906-4F5D-C0A3-B085DA4F9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7951" y="5602352"/>
              <a:ext cx="337840" cy="381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4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anose="02020500000000000000" pitchFamily="18" charset="-12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" name="Rectangle 162">
              <a:extLst>
                <a:ext uri="{FF2B5EF4-FFF2-40B4-BE49-F238E27FC236}">
                  <a16:creationId xmlns:a16="http://schemas.microsoft.com/office/drawing/2014/main" id="{4B7A7290-9943-0E3B-D68E-0339AC80C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6864" y="5601969"/>
              <a:ext cx="337840" cy="381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4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anose="02020500000000000000" pitchFamily="18" charset="-12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7" name="Rectangle 162">
              <a:extLst>
                <a:ext uri="{FF2B5EF4-FFF2-40B4-BE49-F238E27FC236}">
                  <a16:creationId xmlns:a16="http://schemas.microsoft.com/office/drawing/2014/main" id="{9796901F-80C0-1C47-57D1-0C9C46556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5601969"/>
              <a:ext cx="337840" cy="3810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4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anose="02020500000000000000" pitchFamily="18" charset="-120"/>
                  <a:cs typeface="Consolas" panose="020B0609020204030204" pitchFamily="49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685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4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4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8" grpId="0" animBg="1"/>
      <p:bldP spid="44199" grpId="0"/>
      <p:bldP spid="4420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1.1. Altogether: Global Structure Type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>
                <a:ea typeface="新細明體" panose="02020500000000000000" pitchFamily="18" charset="-120"/>
              </a:rPr>
              <a:t>A struct type is usually defined </a:t>
            </a:r>
            <a:r>
              <a:rPr lang="en-US" altLang="zh-TW" sz="3600" b="1" i="1" dirty="0">
                <a:solidFill>
                  <a:srgbClr val="FF0000"/>
                </a:solidFill>
                <a:ea typeface="新細明體" panose="02020500000000000000" pitchFamily="18" charset="-120"/>
              </a:rPr>
              <a:t>outside</a:t>
            </a:r>
            <a:r>
              <a:rPr lang="en-US" altLang="zh-TW" sz="3600" b="1" dirty="0">
                <a:ea typeface="新細明體" panose="02020500000000000000" pitchFamily="18" charset="-120"/>
              </a:rPr>
              <a:t> any functions.</a:t>
            </a:r>
            <a:endParaRPr lang="zh-TW" altLang="en-US" sz="3600" b="1" dirty="0">
              <a:ea typeface="新細明體" panose="02020500000000000000" pitchFamily="18" charset="-12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932173-D056-AEAC-0706-20AD93331A49}"/>
              </a:ext>
            </a:extLst>
          </p:cNvPr>
          <p:cNvGrpSpPr/>
          <p:nvPr/>
        </p:nvGrpSpPr>
        <p:grpSpPr>
          <a:xfrm>
            <a:off x="1447800" y="1905000"/>
            <a:ext cx="8914452" cy="4708982"/>
            <a:chOff x="1448749" y="1533990"/>
            <a:chExt cx="8914452" cy="4708982"/>
          </a:xfrm>
        </p:grpSpPr>
        <p:sp>
          <p:nvSpPr>
            <p:cNvPr id="46150" name="Rectangle 70"/>
            <p:cNvSpPr>
              <a:spLocks noChangeArrowheads="1"/>
            </p:cNvSpPr>
            <p:nvPr/>
          </p:nvSpPr>
          <p:spPr bwMode="auto">
            <a:xfrm>
              <a:off x="1448749" y="1533990"/>
              <a:ext cx="1330325" cy="467360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6151" name="Rectangle 71"/>
            <p:cNvSpPr>
              <a:spLocks noChangeArrowheads="1"/>
            </p:cNvSpPr>
            <p:nvPr/>
          </p:nvSpPr>
          <p:spPr bwMode="auto">
            <a:xfrm>
              <a:off x="1526537" y="4650254"/>
              <a:ext cx="1252537" cy="1293347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6091" name="AutoShape 11"/>
            <p:cNvSpPr>
              <a:spLocks/>
            </p:cNvSpPr>
            <p:nvPr/>
          </p:nvSpPr>
          <p:spPr bwMode="auto">
            <a:xfrm>
              <a:off x="2475861" y="2549990"/>
              <a:ext cx="304800" cy="1447800"/>
            </a:xfrm>
            <a:prstGeom prst="leftBrace">
              <a:avLst>
                <a:gd name="adj1" fmla="val 39583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6092" name="AutoShape 12"/>
            <p:cNvSpPr>
              <a:spLocks/>
            </p:cNvSpPr>
            <p:nvPr/>
          </p:nvSpPr>
          <p:spPr bwMode="auto">
            <a:xfrm>
              <a:off x="2475861" y="4650253"/>
              <a:ext cx="304800" cy="1293348"/>
            </a:xfrm>
            <a:prstGeom prst="leftBrace">
              <a:avLst>
                <a:gd name="adj1" fmla="val 47917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6147" name="Text Box 67"/>
            <p:cNvSpPr txBox="1">
              <a:spLocks noChangeArrowheads="1"/>
            </p:cNvSpPr>
            <p:nvPr/>
          </p:nvSpPr>
          <p:spPr bwMode="auto">
            <a:xfrm>
              <a:off x="2779074" y="1533991"/>
              <a:ext cx="7584127" cy="47089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>
              <a:spAutoFit/>
            </a:bodyPr>
            <a:lstStyle/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#include &lt;</a:t>
              </a:r>
              <a:r>
                <a:rPr lang="en-US" altLang="zh-TW" sz="2000" dirty="0" err="1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stdio.h</a:t>
              </a: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&gt;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endParaRP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000" dirty="0">
                  <a:solidFill>
                    <a:srgbClr val="0099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/* define a NEW type for storing data LATER */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000" dirty="0">
                  <a:solidFill>
                    <a:srgbClr val="0000FF"/>
                  </a:solidFill>
                  <a:highlight>
                    <a:srgbClr val="00FFFF"/>
                  </a:highlight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struct</a:t>
              </a:r>
              <a:r>
                <a:rPr lang="en-US" altLang="zh-TW" sz="2000" dirty="0">
                  <a:solidFill>
                    <a:srgbClr val="000000"/>
                  </a:solidFill>
                  <a:highlight>
                    <a:srgbClr val="00FFFF"/>
                  </a:highlight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 student</a:t>
              </a: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 {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   </a:t>
              </a:r>
              <a:r>
                <a:rPr lang="en-US" altLang="zh-TW" sz="200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char</a:t>
              </a: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   id[11];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   </a:t>
              </a:r>
              <a:r>
                <a:rPr lang="en-US" altLang="zh-TW" sz="200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char</a:t>
              </a: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   name[40];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   </a:t>
              </a:r>
              <a:r>
                <a:rPr lang="en-US" altLang="zh-TW" sz="200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double</a:t>
              </a: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 </a:t>
              </a:r>
              <a:r>
                <a:rPr lang="en-US" altLang="zh-TW" sz="2000" dirty="0" err="1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gpa</a:t>
              </a: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;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};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endParaRP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00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int</a:t>
              </a: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 main() {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   </a:t>
              </a:r>
              <a:r>
                <a:rPr lang="en-US" altLang="zh-TW" sz="2000" dirty="0">
                  <a:solidFill>
                    <a:srgbClr val="0099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/* a variable declaration using the NEW type*/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   </a:t>
              </a:r>
              <a:r>
                <a:rPr lang="en-US" altLang="zh-TW" sz="2000" dirty="0">
                  <a:solidFill>
                    <a:srgbClr val="0000FF"/>
                  </a:solidFill>
                  <a:highlight>
                    <a:srgbClr val="00FFFF"/>
                  </a:highlight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struct</a:t>
              </a:r>
              <a:r>
                <a:rPr lang="en-US" altLang="zh-TW" sz="2000" dirty="0">
                  <a:solidFill>
                    <a:srgbClr val="000000"/>
                  </a:solidFill>
                  <a:highlight>
                    <a:srgbClr val="00FFFF"/>
                  </a:highlight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 student</a:t>
              </a: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  peter;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   </a:t>
              </a:r>
              <a:r>
                <a:rPr lang="en-US" altLang="zh-TW" sz="200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int</a:t>
              </a: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             </a:t>
              </a:r>
              <a:r>
                <a:rPr lang="en-US" altLang="zh-TW" sz="2000" dirty="0" err="1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no_of_students</a:t>
              </a: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;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   ...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}</a:t>
              </a:r>
              <a:endParaRPr lang="zh-TW" altLang="en-US" sz="200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endParaRPr>
            </a:p>
          </p:txBody>
        </p:sp>
        <p:sp>
          <p:nvSpPr>
            <p:cNvPr id="46148" name="Text Box 68"/>
            <p:cNvSpPr txBox="1">
              <a:spLocks noChangeArrowheads="1"/>
            </p:cNvSpPr>
            <p:nvPr/>
          </p:nvSpPr>
          <p:spPr bwMode="auto">
            <a:xfrm>
              <a:off x="1664256" y="2923053"/>
              <a:ext cx="869149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000" dirty="0">
                  <a:solidFill>
                    <a:srgbClr val="000000"/>
                  </a:solidFill>
                  <a:latin typeface="Calibri" panose="020F0502020204030204" pitchFamily="34" charset="0"/>
                  <a:ea typeface="新細明體" panose="02020500000000000000" pitchFamily="18" charset="-120"/>
                </a:rPr>
                <a:t>Global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000" dirty="0">
                  <a:solidFill>
                    <a:srgbClr val="000000"/>
                  </a:solidFill>
                  <a:latin typeface="Calibri" panose="020F0502020204030204" pitchFamily="34" charset="0"/>
                  <a:ea typeface="新細明體" panose="02020500000000000000" pitchFamily="18" charset="-120"/>
                </a:rPr>
                <a:t>scope</a:t>
              </a:r>
            </a:p>
          </p:txBody>
        </p:sp>
        <p:sp>
          <p:nvSpPr>
            <p:cNvPr id="46149" name="Text Box 69"/>
            <p:cNvSpPr txBox="1">
              <a:spLocks noChangeArrowheads="1"/>
            </p:cNvSpPr>
            <p:nvPr/>
          </p:nvSpPr>
          <p:spPr bwMode="auto">
            <a:xfrm>
              <a:off x="1591608" y="4904253"/>
              <a:ext cx="1014445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000" dirty="0">
                  <a:solidFill>
                    <a:srgbClr val="000000"/>
                  </a:solidFill>
                  <a:latin typeface="Calibri" panose="020F0502020204030204" pitchFamily="34" charset="0"/>
                  <a:ea typeface="新細明體" panose="02020500000000000000" pitchFamily="18" charset="-120"/>
                </a:rPr>
                <a:t>Local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000" dirty="0">
                  <a:solidFill>
                    <a:srgbClr val="000000"/>
                  </a:solidFill>
                  <a:latin typeface="Calibri" panose="020F0502020204030204" pitchFamily="34" charset="0"/>
                  <a:ea typeface="新細明體" panose="02020500000000000000" pitchFamily="18" charset="-120"/>
                </a:rPr>
                <a:t>variable</a:t>
              </a:r>
            </a:p>
          </p:txBody>
        </p:sp>
      </p:grp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C6F6579-1057-0B46-8DA8-949160D4B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87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1.2. More Structure Examples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1"/>
            <a:ext cx="5181600" cy="4530725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2D Coordinates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</a:t>
            </a:r>
            <a:r>
              <a:rPr lang="en-US" altLang="zh-TW" sz="26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coord2D</a:t>
            </a: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{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double  x;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double  y;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500" dirty="0">
              <a:solidFill>
                <a:srgbClr val="FF33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500" dirty="0">
              <a:solidFill>
                <a:srgbClr val="FF33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Employee record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</a:t>
            </a:r>
            <a:r>
              <a:rPr lang="en-US" altLang="zh-TW" sz="26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employee</a:t>
            </a: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{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char    name[50];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double  salary[12];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double  </a:t>
            </a:r>
            <a:r>
              <a:rPr lang="en-US" altLang="zh-TW" sz="25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MPF_contrib</a:t>
            </a:r>
            <a:r>
              <a:rPr lang="en-US" altLang="zh-TW" sz="25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  <a:endParaRPr lang="en-US" altLang="zh-TW" sz="2000" dirty="0">
              <a:ea typeface="新細明體" panose="02020500000000000000" pitchFamily="18" charset="-120"/>
            </a:endParaRPr>
          </a:p>
        </p:txBody>
      </p:sp>
      <p:sp>
        <p:nvSpPr>
          <p:cNvPr id="47109" name="Line 5"/>
          <p:cNvSpPr>
            <a:spLocks noChangeShapeType="1"/>
          </p:cNvSpPr>
          <p:nvPr/>
        </p:nvSpPr>
        <p:spPr bwMode="auto">
          <a:xfrm>
            <a:off x="5943600" y="990600"/>
            <a:ext cx="76200" cy="5365753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B7A155A-C8A1-0A4F-A67A-6D7E5BF19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D00024F-BA56-F348-8270-79344D0892E1}"/>
              </a:ext>
            </a:extLst>
          </p:cNvPr>
          <p:cNvSpPr txBox="1">
            <a:spLocks noChangeArrowheads="1"/>
          </p:cNvSpPr>
          <p:nvPr/>
        </p:nvSpPr>
        <p:spPr>
          <a:xfrm>
            <a:off x="7467600" y="1600200"/>
            <a:ext cx="4343400" cy="4530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Quadratic form Ax</a:t>
            </a:r>
            <a:r>
              <a:rPr lang="en-US" altLang="zh-TW" sz="2400" baseline="30000" dirty="0">
                <a:ea typeface="新細明體" panose="02020500000000000000" pitchFamily="18" charset="-120"/>
              </a:rPr>
              <a:t>2</a:t>
            </a:r>
            <a:r>
              <a:rPr lang="en-US" altLang="zh-TW" sz="2400" dirty="0">
                <a:ea typeface="新細明體" panose="02020500000000000000" pitchFamily="18" charset="-120"/>
              </a:rPr>
              <a:t>+Bx+C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</a:t>
            </a:r>
            <a:r>
              <a:rPr lang="en-US" altLang="zh-TW" sz="2600" dirty="0" err="1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quad_form</a:t>
            </a: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{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double  A, B, C;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500" dirty="0">
              <a:solidFill>
                <a:srgbClr val="FF33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500" dirty="0">
              <a:solidFill>
                <a:srgbClr val="FF33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Polynomial Ax</a:t>
            </a:r>
            <a:r>
              <a:rPr lang="en-US" altLang="zh-TW" sz="2400" baseline="30000" dirty="0">
                <a:ea typeface="新細明體" panose="02020500000000000000" pitchFamily="18" charset="-120"/>
              </a:rPr>
              <a:t>n</a:t>
            </a:r>
            <a:r>
              <a:rPr lang="en-US" altLang="zh-TW" sz="2400" dirty="0">
                <a:ea typeface="新細明體" panose="02020500000000000000" pitchFamily="18" charset="-120"/>
              </a:rPr>
              <a:t>+Bx</a:t>
            </a:r>
            <a:r>
              <a:rPr lang="en-US" altLang="zh-TW" sz="2400" baseline="30000" dirty="0">
                <a:ea typeface="新細明體" panose="02020500000000000000" pitchFamily="18" charset="-120"/>
              </a:rPr>
              <a:t>n-1</a:t>
            </a:r>
            <a:r>
              <a:rPr lang="en-US" altLang="zh-TW" sz="2400" dirty="0">
                <a:ea typeface="新細明體" panose="02020500000000000000" pitchFamily="18" charset="-120"/>
              </a:rPr>
              <a:t>+…+E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</a:t>
            </a:r>
            <a:r>
              <a:rPr lang="en-US" altLang="zh-TW" sz="26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polynomial</a:t>
            </a: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{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int    degree;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double </a:t>
            </a:r>
            <a:r>
              <a:rPr lang="en-US" altLang="zh-TW" sz="25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coeff</a:t>
            </a:r>
            <a:r>
              <a:rPr lang="en-US" altLang="zh-TW" sz="25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[10];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  <a:endParaRPr lang="en-US" altLang="zh-TW" sz="200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4880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1.3. Accessing struct Members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0D5D4-571E-CF4B-A5C6-77485D9E8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TW" sz="3200" dirty="0"/>
              <a:t>The Member Operator:</a:t>
            </a:r>
            <a:endParaRPr lang="en-US" sz="3200" dirty="0"/>
          </a:p>
          <a:p>
            <a:pPr lvl="1"/>
            <a:r>
              <a:rPr lang="en-US" altLang="zh-TW" sz="2800" dirty="0"/>
              <a:t>Members of a struct variable can be </a:t>
            </a:r>
            <a:r>
              <a:rPr lang="en-US" altLang="zh-TW" sz="2800" u="sng" dirty="0"/>
              <a:t>accessed</a:t>
            </a:r>
            <a:r>
              <a:rPr lang="en-US" altLang="zh-TW" sz="2800" dirty="0"/>
              <a:t> using the member operator, </a:t>
            </a:r>
            <a:br>
              <a:rPr lang="en-US" altLang="zh-TW" sz="2800" dirty="0"/>
            </a:br>
            <a:r>
              <a:rPr lang="en-US" altLang="zh-TW" sz="2800" dirty="0"/>
              <a:t>		i.e. the DOT </a:t>
            </a:r>
            <a:r>
              <a:rPr lang="en-US" altLang="zh-TW" sz="2800" dirty="0">
                <a:highlight>
                  <a:srgbClr val="FFFF00"/>
                </a:highlight>
              </a:rPr>
              <a:t> </a:t>
            </a:r>
            <a:r>
              <a:rPr lang="en-US" altLang="zh-TW" sz="2800" b="1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pPr lvl="1"/>
            <a:r>
              <a:rPr lang="en-US" altLang="zh-TW" sz="2800" dirty="0"/>
              <a:t>For example,</a:t>
            </a:r>
            <a:br>
              <a:rPr lang="en-US" altLang="zh-TW" sz="2800" dirty="0"/>
            </a:br>
            <a:r>
              <a:rPr lang="en-US" altLang="zh-TW" sz="2800" dirty="0"/>
              <a:t>		</a:t>
            </a:r>
            <a:r>
              <a:rPr lang="en-US" altLang="zh-TW" sz="2800" dirty="0" err="1">
                <a:solidFill>
                  <a:srgbClr val="9933F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variable</a:t>
            </a:r>
            <a:r>
              <a:rPr lang="en-US" altLang="zh-TW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zh-TW" sz="2800" dirty="0" err="1">
                <a:solidFill>
                  <a:srgbClr val="01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member</a:t>
            </a:r>
            <a:r>
              <a:rPr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 = 999;</a:t>
            </a:r>
          </a:p>
          <a:p>
            <a:pPr marL="800100" lvl="2" indent="0">
              <a:buNone/>
            </a:pPr>
            <a:r>
              <a:rPr lang="en-US" altLang="zh-TW" sz="2800" dirty="0"/>
              <a:t>where </a:t>
            </a:r>
            <a:r>
              <a:rPr lang="en-US" altLang="zh-TW" sz="2800" dirty="0">
                <a:solidFill>
                  <a:srgbClr val="9A3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variable</a:t>
            </a:r>
            <a:r>
              <a:rPr lang="en-US" altLang="zh-TW" sz="2800" dirty="0"/>
              <a:t> is a </a:t>
            </a:r>
            <a:r>
              <a:rPr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altLang="zh-TW" sz="2800" dirty="0"/>
              <a:t> variable and </a:t>
            </a:r>
            <a:r>
              <a:rPr lang="en-US" altLang="zh-TW" sz="2800" dirty="0">
                <a:solidFill>
                  <a:srgbClr val="01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member</a:t>
            </a:r>
            <a:r>
              <a:rPr lang="en-US" altLang="zh-TW" sz="2800" dirty="0"/>
              <a:t> is a defined component of the </a:t>
            </a:r>
            <a:r>
              <a:rPr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altLang="zh-TW" sz="2800" dirty="0"/>
              <a:t>.</a:t>
            </a:r>
            <a:endParaRPr lang="zh-TW" altLang="en-US" sz="2800" dirty="0"/>
          </a:p>
          <a:p>
            <a:endParaRPr lang="en-GB" sz="3200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A1FF2C-FB3D-F44B-810A-17771C329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F039E4-50B8-E0AD-EDAB-37956765A95C}"/>
              </a:ext>
            </a:extLst>
          </p:cNvPr>
          <p:cNvSpPr txBox="1"/>
          <p:nvPr/>
        </p:nvSpPr>
        <p:spPr>
          <a:xfrm>
            <a:off x="7924800" y="4233208"/>
            <a:ext cx="3733255" cy="19389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student {</a:t>
            </a:r>
            <a:b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</a:b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char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id[11];</a:t>
            </a:r>
            <a:b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</a:b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char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name[40];</a:t>
            </a:r>
            <a:b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</a:b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double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24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gpa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  <a:b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</a:b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  <a:endParaRPr lang="zh-CN" altLang="en-US" sz="2400" dirty="0"/>
          </a:p>
        </p:txBody>
      </p:sp>
      <p:sp>
        <p:nvSpPr>
          <p:cNvPr id="3" name="Text Box 34">
            <a:extLst>
              <a:ext uri="{FF2B5EF4-FFF2-40B4-BE49-F238E27FC236}">
                <a16:creationId xmlns:a16="http://schemas.microsoft.com/office/drawing/2014/main" id="{D8739BDC-C338-0646-9363-2F5265D1A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724400"/>
            <a:ext cx="4522392" cy="120032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student  </a:t>
            </a:r>
            <a:r>
              <a:rPr lang="en-US" altLang="zh-TW" sz="2800" dirty="0">
                <a:solidFill>
                  <a:srgbClr val="9933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peter</a:t>
            </a: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sz="14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800" b="1" dirty="0" err="1">
                <a:solidFill>
                  <a:srgbClr val="9933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peter</a:t>
            </a:r>
            <a:r>
              <a:rPr lang="en-US" altLang="zh-TW" sz="2800" b="1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.</a:t>
            </a:r>
            <a:r>
              <a:rPr lang="en-US" altLang="zh-TW" sz="2800" b="1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gpa</a:t>
            </a:r>
            <a:r>
              <a:rPr lang="en-US" altLang="zh-TW" sz="28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sz="2800" b="1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= 3.28;</a:t>
            </a:r>
          </a:p>
        </p:txBody>
      </p:sp>
    </p:spTree>
    <p:extLst>
      <p:ext uri="{BB962C8B-B14F-4D97-AF65-F5344CB8AC3E}">
        <p14:creationId xmlns:p14="http://schemas.microsoft.com/office/powerpoint/2010/main" val="311439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1.3. Accessing struct Members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D650E7-D00D-DF42-ADCB-E066A45C4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314" y="1064021"/>
            <a:ext cx="8241323" cy="4876800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Calibri" panose="020F0502020204030204" pitchFamily="34" charset="0"/>
              </a:rPr>
              <a:t>The previous example:</a:t>
            </a:r>
            <a:endParaRPr lang="zh-TW" alt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GB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5EF6E69-0555-A64A-B667-8FFBFBF24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1234" name="Text Box 34"/>
          <p:cNvSpPr txBox="1">
            <a:spLocks noChangeArrowheads="1"/>
          </p:cNvSpPr>
          <p:nvPr/>
        </p:nvSpPr>
        <p:spPr bwMode="auto">
          <a:xfrm>
            <a:off x="459581" y="1706823"/>
            <a:ext cx="5113900" cy="48320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</a:rPr>
              <a:t> student {</a:t>
            </a:r>
            <a:b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id[11];</a:t>
            </a:r>
            <a:b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name[40];</a:t>
            </a:r>
            <a:b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TW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gpa</a:t>
            </a: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endParaRPr lang="zh-CN" altLang="en-US" sz="28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 main()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struct student  </a:t>
            </a:r>
            <a:r>
              <a:rPr lang="en-US" altLang="zh-TW" sz="2800" dirty="0">
                <a:solidFill>
                  <a:srgbClr val="9933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peter</a:t>
            </a: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2800" dirty="0" err="1">
                <a:solidFill>
                  <a:srgbClr val="9933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peter</a:t>
            </a:r>
            <a:r>
              <a:rPr lang="en-US" altLang="zh-TW" sz="2800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</a:t>
            </a:r>
            <a:r>
              <a:rPr lang="en-US" altLang="zh-TW" sz="28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gpa</a:t>
            </a: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= 3.28;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…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365A391-3138-37BA-19E7-D852E0D612D5}"/>
              </a:ext>
            </a:extLst>
          </p:cNvPr>
          <p:cNvGrpSpPr/>
          <p:nvPr/>
        </p:nvGrpSpPr>
        <p:grpSpPr>
          <a:xfrm>
            <a:off x="6019800" y="3873189"/>
            <a:ext cx="5881486" cy="2275398"/>
            <a:chOff x="2946570" y="4575514"/>
            <a:chExt cx="6631335" cy="2275398"/>
          </a:xfrm>
        </p:grpSpPr>
        <p:sp>
          <p:nvSpPr>
            <p:cNvPr id="35" name="AutoShape 6">
              <a:extLst>
                <a:ext uri="{FF2B5EF4-FFF2-40B4-BE49-F238E27FC236}">
                  <a16:creationId xmlns:a16="http://schemas.microsoft.com/office/drawing/2014/main" id="{4F180A7A-B16C-0A36-9772-4BC8C9DB1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6570" y="4575514"/>
              <a:ext cx="6631335" cy="2275398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t"/>
            <a:lstStyle/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3600" b="1" u="sng" dirty="0">
                  <a:latin typeface="Consolas" panose="020B0609020204030204" pitchFamily="49" charset="0"/>
                  <a:ea typeface="新細明體"/>
                  <a:cs typeface="Consolas" panose="020B0609020204030204" pitchFamily="49" charset="0"/>
                </a:rPr>
                <a:t>peter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30BC6E7-EBA1-9997-829E-AC59184ED6C7}"/>
                </a:ext>
              </a:extLst>
            </p:cNvPr>
            <p:cNvGrpSpPr/>
            <p:nvPr/>
          </p:nvGrpSpPr>
          <p:grpSpPr>
            <a:xfrm>
              <a:off x="3052758" y="4992369"/>
              <a:ext cx="6429082" cy="1600200"/>
              <a:chOff x="3052758" y="4992369"/>
              <a:chExt cx="6429082" cy="1600200"/>
            </a:xfrm>
            <a:solidFill>
              <a:schemeClr val="bg1"/>
            </a:solidFill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0B0BF0E-EFBF-B5EE-A5AC-489965358BF1}"/>
                  </a:ext>
                </a:extLst>
              </p:cNvPr>
              <p:cNvGrpSpPr/>
              <p:nvPr/>
            </p:nvGrpSpPr>
            <p:grpSpPr>
              <a:xfrm>
                <a:off x="3052758" y="4992369"/>
                <a:ext cx="5481642" cy="1600200"/>
                <a:chOff x="3052758" y="4992369"/>
                <a:chExt cx="5481642" cy="1600200"/>
              </a:xfrm>
              <a:grpFill/>
            </p:grpSpPr>
            <p:sp>
              <p:nvSpPr>
                <p:cNvPr id="41" name="Rectangle 135">
                  <a:extLst>
                    <a:ext uri="{FF2B5EF4-FFF2-40B4-BE49-F238E27FC236}">
                      <a16:creationId xmlns:a16="http://schemas.microsoft.com/office/drawing/2014/main" id="{FAAF5F80-D386-7BD9-FA19-4A8DF72A95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66278" y="49923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42" name="Rectangle 136">
                  <a:extLst>
                    <a:ext uri="{FF2B5EF4-FFF2-40B4-BE49-F238E27FC236}">
                      <a16:creationId xmlns:a16="http://schemas.microsoft.com/office/drawing/2014/main" id="{FCF5E1E9-74C3-A722-865C-D2C95DB3F9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52758" y="4992369"/>
                  <a:ext cx="929060" cy="3810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b="1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</a:rPr>
                    <a:t>id</a:t>
                  </a:r>
                </a:p>
              </p:txBody>
            </p:sp>
            <p:sp>
              <p:nvSpPr>
                <p:cNvPr id="43" name="Rectangle 137">
                  <a:extLst>
                    <a:ext uri="{FF2B5EF4-FFF2-40B4-BE49-F238E27FC236}">
                      <a16:creationId xmlns:a16="http://schemas.microsoft.com/office/drawing/2014/main" id="{AF82BC9C-4309-0788-AE60-68A2E87B02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52758" y="5601969"/>
                  <a:ext cx="929060" cy="3810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b="1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</a:rPr>
                    <a:t>name</a:t>
                  </a:r>
                </a:p>
              </p:txBody>
            </p:sp>
            <p:sp>
              <p:nvSpPr>
                <p:cNvPr id="44" name="Rectangle 138">
                  <a:extLst>
                    <a:ext uri="{FF2B5EF4-FFF2-40B4-BE49-F238E27FC236}">
                      <a16:creationId xmlns:a16="http://schemas.microsoft.com/office/drawing/2014/main" id="{5B311038-31D5-245C-29E0-AC93659D98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52758" y="6211569"/>
                  <a:ext cx="929060" cy="3810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b="1" dirty="0" err="1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</a:rPr>
                    <a:t>gpa</a:t>
                  </a:r>
                  <a:endParaRPr lang="en-US" altLang="zh-TW" sz="2400" b="1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5" name="Rectangle 140">
                  <a:extLst>
                    <a:ext uri="{FF2B5EF4-FFF2-40B4-BE49-F238E27FC236}">
                      <a16:creationId xmlns:a16="http://schemas.microsoft.com/office/drawing/2014/main" id="{08A1AD4F-D609-C832-1952-F35B9453EB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04118" y="49923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46" name="Rectangle 141">
                  <a:extLst>
                    <a:ext uri="{FF2B5EF4-FFF2-40B4-BE49-F238E27FC236}">
                      <a16:creationId xmlns:a16="http://schemas.microsoft.com/office/drawing/2014/main" id="{F8E628B4-5089-479C-3AA0-A1FB265AFC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41958" y="49923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47" name="Rectangle 142">
                  <a:extLst>
                    <a:ext uri="{FF2B5EF4-FFF2-40B4-BE49-F238E27FC236}">
                      <a16:creationId xmlns:a16="http://schemas.microsoft.com/office/drawing/2014/main" id="{A7EF409B-4C5A-C339-D288-44F21F470F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79798" y="49923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48" name="Rectangle 143">
                  <a:extLst>
                    <a:ext uri="{FF2B5EF4-FFF2-40B4-BE49-F238E27FC236}">
                      <a16:creationId xmlns:a16="http://schemas.microsoft.com/office/drawing/2014/main" id="{9C3EBB48-CAA8-8029-9DA1-1823327476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17638" y="49923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49" name="Rectangle 144">
                  <a:extLst>
                    <a:ext uri="{FF2B5EF4-FFF2-40B4-BE49-F238E27FC236}">
                      <a16:creationId xmlns:a16="http://schemas.microsoft.com/office/drawing/2014/main" id="{C889B5EE-A84C-98CB-B7AC-BD3A173B59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55478" y="49923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50" name="Rectangle 145">
                  <a:extLst>
                    <a:ext uri="{FF2B5EF4-FFF2-40B4-BE49-F238E27FC236}">
                      <a16:creationId xmlns:a16="http://schemas.microsoft.com/office/drawing/2014/main" id="{76F6C574-6EEC-79B1-9DEF-6F5E6B4AB6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93318" y="49923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51" name="Rectangle 146">
                  <a:extLst>
                    <a:ext uri="{FF2B5EF4-FFF2-40B4-BE49-F238E27FC236}">
                      <a16:creationId xmlns:a16="http://schemas.microsoft.com/office/drawing/2014/main" id="{A769DAAF-205D-5ACD-A4FD-F03BCA8B19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15618" y="49923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0</a:t>
                  </a:r>
                </a:p>
              </p:txBody>
            </p:sp>
            <p:sp>
              <p:nvSpPr>
                <p:cNvPr id="52" name="Rectangle 147">
                  <a:extLst>
                    <a:ext uri="{FF2B5EF4-FFF2-40B4-BE49-F238E27FC236}">
                      <a16:creationId xmlns:a16="http://schemas.microsoft.com/office/drawing/2014/main" id="{E15A8D3B-B163-AD1C-9FA5-A71F16374B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31158" y="49923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53" name="Rectangle 148">
                  <a:extLst>
                    <a:ext uri="{FF2B5EF4-FFF2-40B4-BE49-F238E27FC236}">
                      <a16:creationId xmlns:a16="http://schemas.microsoft.com/office/drawing/2014/main" id="{E04A8C84-A4DD-2B29-730D-C4BE8E5F15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68998" y="49923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54" name="Rectangle 149">
                  <a:extLst>
                    <a:ext uri="{FF2B5EF4-FFF2-40B4-BE49-F238E27FC236}">
                      <a16:creationId xmlns:a16="http://schemas.microsoft.com/office/drawing/2014/main" id="{82292713-658C-3E73-529E-E2EBB66BF6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66278" y="6211569"/>
                  <a:ext cx="4468122" cy="381000"/>
                </a:xfrm>
                <a:prstGeom prst="rect">
                  <a:avLst/>
                </a:prstGeom>
                <a:solidFill>
                  <a:srgbClr val="FF99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3200" b="1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3.28</a:t>
                  </a:r>
                </a:p>
              </p:txBody>
            </p:sp>
            <p:sp>
              <p:nvSpPr>
                <p:cNvPr id="55" name="Rectangle 150">
                  <a:extLst>
                    <a:ext uri="{FF2B5EF4-FFF2-40B4-BE49-F238E27FC236}">
                      <a16:creationId xmlns:a16="http://schemas.microsoft.com/office/drawing/2014/main" id="{D70CAAF0-0A3F-5569-F8CC-E39E0AC71E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66278" y="56019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56" name="Rectangle 151">
                  <a:extLst>
                    <a:ext uri="{FF2B5EF4-FFF2-40B4-BE49-F238E27FC236}">
                      <a16:creationId xmlns:a16="http://schemas.microsoft.com/office/drawing/2014/main" id="{CC299BBD-61DD-BC21-288D-8B8E532F8C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04118" y="56019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57" name="Rectangle 152">
                  <a:extLst>
                    <a:ext uri="{FF2B5EF4-FFF2-40B4-BE49-F238E27FC236}">
                      <a16:creationId xmlns:a16="http://schemas.microsoft.com/office/drawing/2014/main" id="{4E36D07B-7AD5-B93A-F44B-7F7728F1FE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41958" y="56019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58" name="Rectangle 153">
                  <a:extLst>
                    <a:ext uri="{FF2B5EF4-FFF2-40B4-BE49-F238E27FC236}">
                      <a16:creationId xmlns:a16="http://schemas.microsoft.com/office/drawing/2014/main" id="{DA06CFC2-EE4A-2E68-5068-45D78477DA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79798" y="56019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59" name="Rectangle 154">
                  <a:extLst>
                    <a:ext uri="{FF2B5EF4-FFF2-40B4-BE49-F238E27FC236}">
                      <a16:creationId xmlns:a16="http://schemas.microsoft.com/office/drawing/2014/main" id="{D81EF359-6CB6-8B34-669C-143602FF9F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17638" y="56019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60" name="Rectangle 155">
                  <a:extLst>
                    <a:ext uri="{FF2B5EF4-FFF2-40B4-BE49-F238E27FC236}">
                      <a16:creationId xmlns:a16="http://schemas.microsoft.com/office/drawing/2014/main" id="{424EF7D1-14A2-1907-45C0-5BD080E54C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55478" y="56019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61" name="Rectangle 156">
                  <a:extLst>
                    <a:ext uri="{FF2B5EF4-FFF2-40B4-BE49-F238E27FC236}">
                      <a16:creationId xmlns:a16="http://schemas.microsoft.com/office/drawing/2014/main" id="{9C0DAD84-CF92-7BD6-E8CA-646FB127D6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93318" y="56019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62" name="Rectangle 157">
                  <a:extLst>
                    <a:ext uri="{FF2B5EF4-FFF2-40B4-BE49-F238E27FC236}">
                      <a16:creationId xmlns:a16="http://schemas.microsoft.com/office/drawing/2014/main" id="{1C39FEEC-143D-C520-BB38-3CE81DFF1D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31158" y="56019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63" name="Rectangle 158">
                  <a:extLst>
                    <a:ext uri="{FF2B5EF4-FFF2-40B4-BE49-F238E27FC236}">
                      <a16:creationId xmlns:a16="http://schemas.microsoft.com/office/drawing/2014/main" id="{616BE87F-40BC-6D9E-EDB7-8D54987C44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68998" y="56019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51200" name="Rectangle 159">
                  <a:extLst>
                    <a:ext uri="{FF2B5EF4-FFF2-40B4-BE49-F238E27FC236}">
                      <a16:creationId xmlns:a16="http://schemas.microsoft.com/office/drawing/2014/main" id="{DEFC0FFC-1726-9F68-5A8F-3D3508B18A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6838" y="56019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51201" name="Rectangle 160">
                  <a:extLst>
                    <a:ext uri="{FF2B5EF4-FFF2-40B4-BE49-F238E27FC236}">
                      <a16:creationId xmlns:a16="http://schemas.microsoft.com/office/drawing/2014/main" id="{69BC827F-D4A3-74A3-5FE2-882167AF70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44678" y="56019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51203" name="Rectangle 161">
                  <a:extLst>
                    <a:ext uri="{FF2B5EF4-FFF2-40B4-BE49-F238E27FC236}">
                      <a16:creationId xmlns:a16="http://schemas.microsoft.com/office/drawing/2014/main" id="{4CC3DF86-75C5-B20E-45E8-A7043AFC4F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82518" y="56019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…</a:t>
                  </a:r>
                </a:p>
              </p:txBody>
            </p:sp>
            <p:sp>
              <p:nvSpPr>
                <p:cNvPr id="51204" name="Rectangle 162">
                  <a:extLst>
                    <a:ext uri="{FF2B5EF4-FFF2-40B4-BE49-F238E27FC236}">
                      <a16:creationId xmlns:a16="http://schemas.microsoft.com/office/drawing/2014/main" id="{E12CF6CD-53F1-DA97-1B7E-395CDFBDC7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20358" y="56019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51205" name="Rectangle 171">
                  <a:extLst>
                    <a:ext uri="{FF2B5EF4-FFF2-40B4-BE49-F238E27FC236}">
                      <a16:creationId xmlns:a16="http://schemas.microsoft.com/office/drawing/2014/main" id="{51344B70-893C-D6B7-AC3D-6A2FC98956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6838" y="49923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  <p:sp>
              <p:nvSpPr>
                <p:cNvPr id="51206" name="Rectangle 172">
                  <a:extLst>
                    <a:ext uri="{FF2B5EF4-FFF2-40B4-BE49-F238E27FC236}">
                      <a16:creationId xmlns:a16="http://schemas.microsoft.com/office/drawing/2014/main" id="{E0C700EB-364C-365A-5984-C936A7DE05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44678" y="4992369"/>
                  <a:ext cx="337840" cy="381000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TW" sz="2400" dirty="0">
                      <a:solidFill>
                        <a:srgbClr val="000000"/>
                      </a:solidFill>
                      <a:latin typeface="Consolas" panose="020B0609020204030204" pitchFamily="49" charset="0"/>
                      <a:ea typeface="新細明體" panose="02020500000000000000" pitchFamily="18" charset="-120"/>
                      <a:cs typeface="Consolas" panose="020B0609020204030204" pitchFamily="49" charset="0"/>
                    </a:rPr>
                    <a:t>?</a:t>
                  </a:r>
                </a:p>
              </p:txBody>
            </p:sp>
          </p:grpSp>
          <p:sp>
            <p:nvSpPr>
              <p:cNvPr id="38" name="Rectangle 162">
                <a:extLst>
                  <a:ext uri="{FF2B5EF4-FFF2-40B4-BE49-F238E27FC236}">
                    <a16:creationId xmlns:a16="http://schemas.microsoft.com/office/drawing/2014/main" id="{993F16C1-95C5-B970-2AB1-4DC4FFB479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57951" y="5602352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39" name="Rectangle 162">
                <a:extLst>
                  <a:ext uri="{FF2B5EF4-FFF2-40B4-BE49-F238E27FC236}">
                    <a16:creationId xmlns:a16="http://schemas.microsoft.com/office/drawing/2014/main" id="{3ED36624-23E5-30BC-6EC3-523EDDE2D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6864" y="56019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  <p:sp>
            <p:nvSpPr>
              <p:cNvPr id="40" name="Rectangle 162">
                <a:extLst>
                  <a:ext uri="{FF2B5EF4-FFF2-40B4-BE49-F238E27FC236}">
                    <a16:creationId xmlns:a16="http://schemas.microsoft.com/office/drawing/2014/main" id="{098F4ABE-AC0D-95A8-1218-98665A468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0" y="5601969"/>
                <a:ext cx="337840" cy="381000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  <a:cs typeface="Consolas" panose="020B0609020204030204" pitchFamily="49" charset="0"/>
                  </a:rPr>
                  <a:t>?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11715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985963" y="990600"/>
            <a:ext cx="3652837" cy="1066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altLang="zh-TW" dirty="0">
                <a:ea typeface="新細明體"/>
              </a:rPr>
              <a:t>1.4. Another Example</a:t>
            </a:r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1985964" y="990600"/>
            <a:ext cx="39576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day, month, year;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d1, d2;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Assign 3 to the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member "day" of d1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d1.day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Assign 2023 to the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member "year" of d2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d2.year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2023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</a:t>
            </a:r>
          </a:p>
          <a:p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1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17</a:t>
            </a:r>
          </a:p>
        </p:txBody>
      </p:sp>
      <p:sp>
        <p:nvSpPr>
          <p:cNvPr id="18" name="Rectangle 7"/>
          <p:cNvSpPr txBox="1">
            <a:spLocks noChangeArrowheads="1"/>
          </p:cNvSpPr>
          <p:nvPr/>
        </p:nvSpPr>
        <p:spPr>
          <a:xfrm>
            <a:off x="5943600" y="990600"/>
            <a:ext cx="4724400" cy="32004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Defining a new structure type named 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date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.</a:t>
            </a:r>
          </a:p>
          <a:p>
            <a:pPr marL="0" indent="0">
              <a:buNone/>
            </a:pPr>
            <a:endParaRPr lang="en-US" altLang="zh-TW" sz="2400" dirty="0">
              <a:solidFill>
                <a:srgbClr val="000000"/>
              </a:solidFill>
              <a:ea typeface="新細明體" pitchFamily="18" charset="-120"/>
            </a:endParaRPr>
          </a:p>
          <a:p>
            <a:pPr marL="0" indent="0">
              <a:buNone/>
            </a:pP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In this </a:t>
            </a:r>
            <a:r>
              <a:rPr lang="en-US" altLang="zh-TW" sz="2400" u="sng" dirty="0">
                <a:solidFill>
                  <a:srgbClr val="000000"/>
                </a:solidFill>
                <a:ea typeface="新細明體" pitchFamily="18" charset="-120"/>
              </a:rPr>
              <a:t>definition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, we specify that each "value" of this type contains three members (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,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month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, and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year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) which are of type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.</a:t>
            </a:r>
          </a:p>
        </p:txBody>
      </p:sp>
      <p:sp>
        <p:nvSpPr>
          <p:cNvPr id="21" name="Line 9"/>
          <p:cNvSpPr>
            <a:spLocks noChangeShapeType="1"/>
          </p:cNvSpPr>
          <p:nvPr/>
        </p:nvSpPr>
        <p:spPr bwMode="auto">
          <a:xfrm flipH="1">
            <a:off x="5595938" y="1295401"/>
            <a:ext cx="347663" cy="36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78FEE0D-EBDF-E442-98FE-3D78B0736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778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985963" y="2552700"/>
            <a:ext cx="3271838" cy="266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dirty="0">
                <a:ea typeface="新細明體"/>
              </a:rPr>
              <a:t>1.4. Another Example</a:t>
            </a:r>
            <a:endParaRPr lang="en-US" sz="4800" dirty="0">
              <a:ea typeface="新細明體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1985964" y="990600"/>
            <a:ext cx="39576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day, month, year;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d1, d2;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Assign 3 to the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member "day" of d1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d1.day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Assign 2023 to the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member "year" of d2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d2.year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2023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</a:t>
            </a:r>
          </a:p>
          <a:p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1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17</a:t>
            </a:r>
          </a:p>
        </p:txBody>
      </p:sp>
      <p:sp>
        <p:nvSpPr>
          <p:cNvPr id="18" name="Rectangle 7"/>
          <p:cNvSpPr txBox="1">
            <a:spLocks noChangeArrowheads="1"/>
          </p:cNvSpPr>
          <p:nvPr/>
        </p:nvSpPr>
        <p:spPr>
          <a:xfrm>
            <a:off x="5962806" y="4930500"/>
            <a:ext cx="5771993" cy="13179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Each variable of type "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 date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" has its own members.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Initially the members are uninitialized.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7125019" y="1435736"/>
            <a:ext cx="1076325" cy="37941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7125019" y="1799274"/>
            <a:ext cx="1076325" cy="3762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7125019" y="2147213"/>
            <a:ext cx="1076325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6510655" y="1448435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6242369" y="1815148"/>
            <a:ext cx="817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month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6396356" y="2161223"/>
            <a:ext cx="6912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year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6204268" y="984885"/>
            <a:ext cx="4667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</a:t>
            </a:r>
          </a:p>
        </p:txBody>
      </p:sp>
      <p:sp>
        <p:nvSpPr>
          <p:cNvPr id="20" name="Rectangle 25"/>
          <p:cNvSpPr>
            <a:spLocks noChangeArrowheads="1"/>
          </p:cNvSpPr>
          <p:nvPr/>
        </p:nvSpPr>
        <p:spPr bwMode="auto">
          <a:xfrm>
            <a:off x="7125019" y="3202623"/>
            <a:ext cx="1076325" cy="3794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2" name="Rectangle 26"/>
          <p:cNvSpPr>
            <a:spLocks noChangeArrowheads="1"/>
          </p:cNvSpPr>
          <p:nvPr/>
        </p:nvSpPr>
        <p:spPr bwMode="auto">
          <a:xfrm>
            <a:off x="7125019" y="3566160"/>
            <a:ext cx="1076325" cy="376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3" name="Rectangle 27"/>
          <p:cNvSpPr>
            <a:spLocks noChangeArrowheads="1"/>
          </p:cNvSpPr>
          <p:nvPr/>
        </p:nvSpPr>
        <p:spPr bwMode="auto">
          <a:xfrm>
            <a:off x="7125019" y="3914101"/>
            <a:ext cx="1076325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24" name="Text Box 28"/>
          <p:cNvSpPr txBox="1">
            <a:spLocks noChangeArrowheads="1"/>
          </p:cNvSpPr>
          <p:nvPr/>
        </p:nvSpPr>
        <p:spPr bwMode="auto">
          <a:xfrm>
            <a:off x="6510655" y="3215323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6242369" y="3582035"/>
            <a:ext cx="817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month</a:t>
            </a:r>
          </a:p>
        </p:txBody>
      </p:sp>
      <p:sp>
        <p:nvSpPr>
          <p:cNvPr id="26" name="Text Box 30"/>
          <p:cNvSpPr txBox="1">
            <a:spLocks noChangeArrowheads="1"/>
          </p:cNvSpPr>
          <p:nvPr/>
        </p:nvSpPr>
        <p:spPr bwMode="auto">
          <a:xfrm>
            <a:off x="6396356" y="3928110"/>
            <a:ext cx="6912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year</a:t>
            </a:r>
          </a:p>
        </p:txBody>
      </p:sp>
      <p:sp>
        <p:nvSpPr>
          <p:cNvPr id="27" name="Text Box 31"/>
          <p:cNvSpPr txBox="1">
            <a:spLocks noChangeArrowheads="1"/>
          </p:cNvSpPr>
          <p:nvPr/>
        </p:nvSpPr>
        <p:spPr bwMode="auto">
          <a:xfrm>
            <a:off x="6204268" y="2751773"/>
            <a:ext cx="4667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d2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07547D6D-462D-BE4A-9FE2-1961CBD51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D5BFAB4C-5BDB-0B38-E88A-14A5996D1CB1}"/>
              </a:ext>
            </a:extLst>
          </p:cNvPr>
          <p:cNvSpPr txBox="1">
            <a:spLocks noChangeArrowheads="1"/>
          </p:cNvSpPr>
          <p:nvPr/>
        </p:nvSpPr>
        <p:spPr>
          <a:xfrm>
            <a:off x="7315200" y="151924"/>
            <a:ext cx="4724400" cy="935395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At line 6, we declare two variables,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 and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d2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, of type "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 date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99356621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985964" y="3815398"/>
            <a:ext cx="2509837" cy="266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dirty="0">
                <a:ea typeface="新細明體"/>
              </a:rPr>
              <a:t>1.4. Another Example</a:t>
            </a:r>
            <a:endParaRPr lang="en-US" sz="4800" dirty="0">
              <a:ea typeface="新細明體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1985964" y="990600"/>
            <a:ext cx="39576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day, month, year;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d1, d2;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Assign 3 to the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member "day" of d1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d1.day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Assign 2023 to the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member "year" of d2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d2.year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2023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</a:t>
            </a:r>
          </a:p>
          <a:p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1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17</a:t>
            </a:r>
          </a:p>
        </p:txBody>
      </p:sp>
      <p:sp>
        <p:nvSpPr>
          <p:cNvPr id="18" name="Rectangle 7"/>
          <p:cNvSpPr txBox="1">
            <a:spLocks noChangeArrowheads="1"/>
          </p:cNvSpPr>
          <p:nvPr/>
        </p:nvSpPr>
        <p:spPr>
          <a:xfrm>
            <a:off x="5962807" y="4495800"/>
            <a:ext cx="4724400" cy="17526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The </a:t>
            </a:r>
            <a:r>
              <a:rPr lang="en-US" altLang="zh-TW" sz="2400" i="1" dirty="0">
                <a:solidFill>
                  <a:srgbClr val="0070C0"/>
                </a:solidFill>
                <a:ea typeface="新細明體" pitchFamily="18" charset="-120"/>
              </a:rPr>
              <a:t>dot operator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 (</a:t>
            </a:r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.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) is called a </a:t>
            </a:r>
            <a:r>
              <a:rPr lang="en-US" altLang="zh-TW" sz="2400" i="1" dirty="0">
                <a:solidFill>
                  <a:srgbClr val="0070C0"/>
                </a:solidFill>
                <a:ea typeface="新細明體" pitchFamily="18" charset="-120"/>
              </a:rPr>
              <a:t>member selection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 operator.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d1.day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 means "select the member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 of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".</a:t>
            </a:r>
          </a:p>
          <a:p>
            <a:pPr marL="0" indent="0">
              <a:buNone/>
            </a:pPr>
            <a:endParaRPr lang="en-US" altLang="zh-TW" sz="2400" dirty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7125019" y="1435736"/>
            <a:ext cx="1076325" cy="37941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zh-TW" altLang="en-US" b="0" dirty="0">
              <a:solidFill>
                <a:srgbClr val="C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7125019" y="1799274"/>
            <a:ext cx="1076325" cy="3762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7125019" y="2147213"/>
            <a:ext cx="1076325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6510655" y="1448435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6242369" y="1815148"/>
            <a:ext cx="817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month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6396356" y="2161223"/>
            <a:ext cx="6912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year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6204268" y="984885"/>
            <a:ext cx="4667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</a:t>
            </a:r>
          </a:p>
        </p:txBody>
      </p:sp>
      <p:sp>
        <p:nvSpPr>
          <p:cNvPr id="20" name="Rectangle 25"/>
          <p:cNvSpPr>
            <a:spLocks noChangeArrowheads="1"/>
          </p:cNvSpPr>
          <p:nvPr/>
        </p:nvSpPr>
        <p:spPr bwMode="auto">
          <a:xfrm>
            <a:off x="7125019" y="3202623"/>
            <a:ext cx="1076325" cy="3794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2" name="Rectangle 26"/>
          <p:cNvSpPr>
            <a:spLocks noChangeArrowheads="1"/>
          </p:cNvSpPr>
          <p:nvPr/>
        </p:nvSpPr>
        <p:spPr bwMode="auto">
          <a:xfrm>
            <a:off x="7125019" y="3566160"/>
            <a:ext cx="1076325" cy="376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3" name="Rectangle 27"/>
          <p:cNvSpPr>
            <a:spLocks noChangeArrowheads="1"/>
          </p:cNvSpPr>
          <p:nvPr/>
        </p:nvSpPr>
        <p:spPr bwMode="auto">
          <a:xfrm>
            <a:off x="7125019" y="3914101"/>
            <a:ext cx="1076325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24" name="Text Box 28"/>
          <p:cNvSpPr txBox="1">
            <a:spLocks noChangeArrowheads="1"/>
          </p:cNvSpPr>
          <p:nvPr/>
        </p:nvSpPr>
        <p:spPr bwMode="auto">
          <a:xfrm>
            <a:off x="6510655" y="3215323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6242369" y="3582035"/>
            <a:ext cx="817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month</a:t>
            </a:r>
          </a:p>
        </p:txBody>
      </p:sp>
      <p:sp>
        <p:nvSpPr>
          <p:cNvPr id="26" name="Text Box 30"/>
          <p:cNvSpPr txBox="1">
            <a:spLocks noChangeArrowheads="1"/>
          </p:cNvSpPr>
          <p:nvPr/>
        </p:nvSpPr>
        <p:spPr bwMode="auto">
          <a:xfrm>
            <a:off x="6396356" y="3928110"/>
            <a:ext cx="6912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year</a:t>
            </a:r>
          </a:p>
        </p:txBody>
      </p:sp>
      <p:sp>
        <p:nvSpPr>
          <p:cNvPr id="27" name="Text Box 31"/>
          <p:cNvSpPr txBox="1">
            <a:spLocks noChangeArrowheads="1"/>
          </p:cNvSpPr>
          <p:nvPr/>
        </p:nvSpPr>
        <p:spPr bwMode="auto">
          <a:xfrm>
            <a:off x="6204268" y="2751773"/>
            <a:ext cx="4667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d2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996E9A0F-2F17-EA43-8EB8-5C4DB0ED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2544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985964" y="5029200"/>
            <a:ext cx="2657474" cy="266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dirty="0">
                <a:ea typeface="新細明體"/>
              </a:rPr>
              <a:t>1.4. Another Example</a:t>
            </a:r>
            <a:endParaRPr lang="en-US" sz="4800" dirty="0">
              <a:ea typeface="新細明體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1985964" y="990600"/>
            <a:ext cx="39576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day, month, year;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d1, d2;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Assign 3 to the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member "day" of d1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d1.day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Assign 2023 to the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member "year" of d2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d2.year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2023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</a:t>
            </a:r>
          </a:p>
          <a:p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1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17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7125019" y="1435736"/>
            <a:ext cx="1076325" cy="37941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7125019" y="1799274"/>
            <a:ext cx="1076325" cy="3762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7125019" y="2147213"/>
            <a:ext cx="1076325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6510655" y="1448435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6242369" y="1815148"/>
            <a:ext cx="817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month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6396356" y="2161223"/>
            <a:ext cx="6912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year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6204268" y="984885"/>
            <a:ext cx="4667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</a:t>
            </a:r>
          </a:p>
        </p:txBody>
      </p:sp>
      <p:sp>
        <p:nvSpPr>
          <p:cNvPr id="20" name="Rectangle 25"/>
          <p:cNvSpPr>
            <a:spLocks noChangeArrowheads="1"/>
          </p:cNvSpPr>
          <p:nvPr/>
        </p:nvSpPr>
        <p:spPr bwMode="auto">
          <a:xfrm>
            <a:off x="7125019" y="3202623"/>
            <a:ext cx="1076325" cy="3794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2" name="Rectangle 26"/>
          <p:cNvSpPr>
            <a:spLocks noChangeArrowheads="1"/>
          </p:cNvSpPr>
          <p:nvPr/>
        </p:nvSpPr>
        <p:spPr bwMode="auto">
          <a:xfrm>
            <a:off x="7125019" y="3566160"/>
            <a:ext cx="1076325" cy="376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3" name="Rectangle 27"/>
          <p:cNvSpPr>
            <a:spLocks noChangeArrowheads="1"/>
          </p:cNvSpPr>
          <p:nvPr/>
        </p:nvSpPr>
        <p:spPr bwMode="auto">
          <a:xfrm>
            <a:off x="7125019" y="3914101"/>
            <a:ext cx="1076325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en-US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2023</a:t>
            </a:r>
          </a:p>
        </p:txBody>
      </p:sp>
      <p:sp>
        <p:nvSpPr>
          <p:cNvPr id="24" name="Text Box 28"/>
          <p:cNvSpPr txBox="1">
            <a:spLocks noChangeArrowheads="1"/>
          </p:cNvSpPr>
          <p:nvPr/>
        </p:nvSpPr>
        <p:spPr bwMode="auto">
          <a:xfrm>
            <a:off x="6510655" y="3215323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6242369" y="3582035"/>
            <a:ext cx="817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month</a:t>
            </a:r>
          </a:p>
        </p:txBody>
      </p:sp>
      <p:sp>
        <p:nvSpPr>
          <p:cNvPr id="26" name="Text Box 30"/>
          <p:cNvSpPr txBox="1">
            <a:spLocks noChangeArrowheads="1"/>
          </p:cNvSpPr>
          <p:nvPr/>
        </p:nvSpPr>
        <p:spPr bwMode="auto">
          <a:xfrm>
            <a:off x="6396356" y="3928110"/>
            <a:ext cx="6912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year</a:t>
            </a:r>
          </a:p>
        </p:txBody>
      </p:sp>
      <p:sp>
        <p:nvSpPr>
          <p:cNvPr id="27" name="Text Box 31"/>
          <p:cNvSpPr txBox="1">
            <a:spLocks noChangeArrowheads="1"/>
          </p:cNvSpPr>
          <p:nvPr/>
        </p:nvSpPr>
        <p:spPr bwMode="auto">
          <a:xfrm>
            <a:off x="6204268" y="2751773"/>
            <a:ext cx="4667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d2</a:t>
            </a:r>
          </a:p>
        </p:txBody>
      </p:sp>
      <p:sp>
        <p:nvSpPr>
          <p:cNvPr id="28" name="Rectangle 7"/>
          <p:cNvSpPr txBox="1">
            <a:spLocks noChangeArrowheads="1"/>
          </p:cNvSpPr>
          <p:nvPr/>
        </p:nvSpPr>
        <p:spPr>
          <a:xfrm>
            <a:off x="6062330" y="4577609"/>
            <a:ext cx="5848193" cy="1562456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A member of type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 is just like a regular variable of type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. Any syntax that is valid for a variable of type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 is also valid for a member of type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.</a:t>
            </a: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AD673DE0-182A-5A46-8F1D-E5B14336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8383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152400"/>
            <a:ext cx="8915400" cy="762000"/>
          </a:xfrm>
        </p:spPr>
        <p:txBody>
          <a:bodyPr>
            <a:noAutofit/>
          </a:bodyPr>
          <a:lstStyle/>
          <a:p>
            <a:r>
              <a:rPr lang="en-US" sz="3200" dirty="0">
                <a:ea typeface="新細明體"/>
              </a:rPr>
              <a:t>1.4. Accessing </a:t>
            </a:r>
            <a:r>
              <a:rPr lang="en-US" sz="3200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</a:t>
            </a:r>
            <a:r>
              <a:rPr lang="en-US" sz="3200" dirty="0">
                <a:ea typeface="新細明體"/>
              </a:rPr>
              <a:t> Members </a:t>
            </a:r>
            <a:r>
              <a:rPr lang="en-US" altLang="zh-TW" sz="3200" dirty="0">
                <a:ea typeface="新細明體"/>
              </a:rPr>
              <a:t> (Another Example)</a:t>
            </a:r>
            <a:endParaRPr lang="en-US" sz="3200" dirty="0">
              <a:ea typeface="新細明體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1981200" y="990600"/>
            <a:ext cx="8686800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{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int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day, month, year; };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main(void) {</a:t>
            </a: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today, dob; </a:t>
            </a:r>
          </a:p>
          <a:p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today.day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10;</a:t>
            </a: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today.month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11;</a:t>
            </a: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today.year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2025;</a:t>
            </a:r>
          </a:p>
          <a:p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printf("Date of birth (dd mm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yyyy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)? ");</a:t>
            </a: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("%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d%d%d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", </a:t>
            </a:r>
            <a:r>
              <a:rPr lang="en-US" altLang="zh-TW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</a:t>
            </a:r>
            <a:r>
              <a:rPr lang="en-US" altLang="zh-TW" dirty="0" err="1">
                <a:solidFill>
                  <a:srgbClr val="C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dob.day</a:t>
            </a:r>
            <a:r>
              <a:rPr lang="en-US" altLang="zh-TW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dirty="0" err="1">
                <a:solidFill>
                  <a:srgbClr val="C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dob.month</a:t>
            </a:r>
            <a:r>
              <a:rPr lang="en-US" altLang="zh-TW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dirty="0" err="1">
                <a:solidFill>
                  <a:srgbClr val="C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dob.year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if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today.month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&gt; </a:t>
            </a:r>
            <a:r>
              <a:rPr lang="en-US" altLang="zh-TW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dob.month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||</a:t>
            </a:r>
          </a:p>
          <a:p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(</a:t>
            </a:r>
            <a:r>
              <a:rPr lang="en-US" altLang="zh-TW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today.month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== </a:t>
            </a:r>
            <a:r>
              <a:rPr lang="en-US" altLang="zh-TW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dob.month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&amp;&amp; </a:t>
            </a:r>
            <a:r>
              <a:rPr lang="en-US" altLang="zh-TW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today.day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&gt;= </a:t>
            </a:r>
            <a:r>
              <a:rPr lang="en-US" altLang="zh-TW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dob.day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printf( "Age = %d\n",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today.year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-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dob.year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);</a:t>
            </a: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else</a:t>
            </a: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printf( "Age = %d\n",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today.year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-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dob.year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- 1 );</a:t>
            </a: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return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0;</a:t>
            </a: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1524001" y="990600"/>
            <a:ext cx="461963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17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1819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525DB-196A-9841-9F2D-323D093E5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63D3B5B-68E4-0BAA-1152-2A5B76BD3E4D}"/>
              </a:ext>
            </a:extLst>
          </p:cNvPr>
          <p:cNvGrpSpPr/>
          <p:nvPr/>
        </p:nvGrpSpPr>
        <p:grpSpPr>
          <a:xfrm>
            <a:off x="6065352" y="1447800"/>
            <a:ext cx="4315133" cy="1492593"/>
            <a:chOff x="6065352" y="1447800"/>
            <a:chExt cx="4315133" cy="1492593"/>
          </a:xfrm>
        </p:grpSpPr>
        <p:sp>
          <p:nvSpPr>
            <p:cNvPr id="3" name="Rectangle 8">
              <a:extLst>
                <a:ext uri="{FF2B5EF4-FFF2-40B4-BE49-F238E27FC236}">
                  <a16:creationId xmlns:a16="http://schemas.microsoft.com/office/drawing/2014/main" id="{207894F5-F32B-6A53-2632-5EEFF9269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8002" y="1845574"/>
              <a:ext cx="1076325" cy="379413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3</a:t>
              </a:r>
              <a:endParaRPr lang="zh-TW" altLang="en-US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B5FA346B-855B-9159-5E19-DCB641926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0574" y="2553637"/>
              <a:ext cx="1076325" cy="36933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en-US" b="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7" name="Text Box 12">
              <a:extLst>
                <a:ext uri="{FF2B5EF4-FFF2-40B4-BE49-F238E27FC236}">
                  <a16:creationId xmlns:a16="http://schemas.microsoft.com/office/drawing/2014/main" id="{41BA223E-D1AD-C1E2-94E2-5E39F88D5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3638" y="1858273"/>
              <a:ext cx="5645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day</a:t>
              </a:r>
            </a:p>
          </p:txBody>
        </p:sp>
        <p:sp>
          <p:nvSpPr>
            <p:cNvPr id="8" name="Text Box 13">
              <a:extLst>
                <a:ext uri="{FF2B5EF4-FFF2-40B4-BE49-F238E27FC236}">
                  <a16:creationId xmlns:a16="http://schemas.microsoft.com/office/drawing/2014/main" id="{239801DC-EF07-8254-F575-2C0FCEDE76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5352" y="2224986"/>
              <a:ext cx="81785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month</a:t>
              </a:r>
            </a:p>
          </p:txBody>
        </p:sp>
        <p:sp>
          <p:nvSpPr>
            <p:cNvPr id="9" name="Text Box 14">
              <a:extLst>
                <a:ext uri="{FF2B5EF4-FFF2-40B4-BE49-F238E27FC236}">
                  <a16:creationId xmlns:a16="http://schemas.microsoft.com/office/drawing/2014/main" id="{91A6374B-53C7-6C66-33E9-A0A2A958F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19339" y="2571061"/>
              <a:ext cx="69121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year</a:t>
              </a:r>
            </a:p>
          </p:txBody>
        </p:sp>
        <p:sp>
          <p:nvSpPr>
            <p:cNvPr id="10" name="Text Box 15">
              <a:extLst>
                <a:ext uri="{FF2B5EF4-FFF2-40B4-BE49-F238E27FC236}">
                  <a16:creationId xmlns:a16="http://schemas.microsoft.com/office/drawing/2014/main" id="{AE73E247-7BDB-BE32-2465-1D1228B55F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1852" y="1481303"/>
              <a:ext cx="8899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sz="2000" b="0" dirty="0">
                  <a:solidFill>
                    <a:srgbClr val="01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today</a:t>
              </a:r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D8062A19-2E40-4548-8AFC-D976B9C4A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4160" y="1841642"/>
              <a:ext cx="1076325" cy="37941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?</a:t>
              </a:r>
              <a:endParaRPr lang="zh-TW" altLang="en-US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13" name="Rectangle 26">
              <a:extLst>
                <a:ext uri="{FF2B5EF4-FFF2-40B4-BE49-F238E27FC236}">
                  <a16:creationId xmlns:a16="http://schemas.microsoft.com/office/drawing/2014/main" id="{BB3BFAE8-6DF1-41D5-045A-6BF83530C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4160" y="2205179"/>
              <a:ext cx="1076325" cy="376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?</a:t>
              </a:r>
              <a:endParaRPr lang="zh-TW" altLang="en-US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256C4D41-3154-F6FE-C923-B1819E44A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4416" y="2571061"/>
              <a:ext cx="1076325" cy="369332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en-US" b="0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2023</a:t>
              </a:r>
            </a:p>
          </p:txBody>
        </p:sp>
        <p:sp>
          <p:nvSpPr>
            <p:cNvPr id="15" name="Text Box 28">
              <a:extLst>
                <a:ext uri="{FF2B5EF4-FFF2-40B4-BE49-F238E27FC236}">
                  <a16:creationId xmlns:a16="http://schemas.microsoft.com/office/drawing/2014/main" id="{E6232DA8-E1E8-CD87-8610-1C4C6FE478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9796" y="1854342"/>
              <a:ext cx="5645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day</a:t>
              </a:r>
            </a:p>
          </p:txBody>
        </p:sp>
        <p:sp>
          <p:nvSpPr>
            <p:cNvPr id="16" name="Text Box 29">
              <a:extLst>
                <a:ext uri="{FF2B5EF4-FFF2-40B4-BE49-F238E27FC236}">
                  <a16:creationId xmlns:a16="http://schemas.microsoft.com/office/drawing/2014/main" id="{0F9DB439-0CB3-F7D5-0F5E-E7F93A40C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1510" y="2221054"/>
              <a:ext cx="81785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month</a:t>
              </a:r>
            </a:p>
          </p:txBody>
        </p:sp>
        <p:sp>
          <p:nvSpPr>
            <p:cNvPr id="17" name="Text Box 30">
              <a:extLst>
                <a:ext uri="{FF2B5EF4-FFF2-40B4-BE49-F238E27FC236}">
                  <a16:creationId xmlns:a16="http://schemas.microsoft.com/office/drawing/2014/main" id="{BB823E68-CA52-4409-D99D-AF4A46A976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75497" y="2567129"/>
              <a:ext cx="69121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year</a:t>
              </a:r>
            </a:p>
          </p:txBody>
        </p:sp>
        <p:sp>
          <p:nvSpPr>
            <p:cNvPr id="18" name="Text Box 31">
              <a:extLst>
                <a:ext uri="{FF2B5EF4-FFF2-40B4-BE49-F238E27FC236}">
                  <a16:creationId xmlns:a16="http://schemas.microsoft.com/office/drawing/2014/main" id="{B7CF8A3C-B9D8-0710-B36E-2085FEF93F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2662" y="1447800"/>
              <a:ext cx="60785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sz="2000" b="0" dirty="0">
                  <a:solidFill>
                    <a:srgbClr val="01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dob</a:t>
              </a:r>
            </a:p>
          </p:txBody>
        </p:sp>
        <p:sp>
          <p:nvSpPr>
            <p:cNvPr id="19" name="Rectangle 8">
              <a:extLst>
                <a:ext uri="{FF2B5EF4-FFF2-40B4-BE49-F238E27FC236}">
                  <a16:creationId xmlns:a16="http://schemas.microsoft.com/office/drawing/2014/main" id="{14FFF94A-C7A7-E5AE-E34A-96AC87728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1588" y="2207523"/>
              <a:ext cx="1076325" cy="379413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HK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4</a:t>
              </a:r>
              <a:endParaRPr lang="zh-TW" altLang="en-US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</p:grpSp>
      <p:sp>
        <p:nvSpPr>
          <p:cNvPr id="20" name="箭號: 彎曲 19">
            <a:extLst>
              <a:ext uri="{FF2B5EF4-FFF2-40B4-BE49-F238E27FC236}">
                <a16:creationId xmlns:a16="http://schemas.microsoft.com/office/drawing/2014/main" id="{A3EFB5CB-5DBE-3902-69D6-AFFFA2A0C979}"/>
              </a:ext>
            </a:extLst>
          </p:cNvPr>
          <p:cNvSpPr/>
          <p:nvPr/>
        </p:nvSpPr>
        <p:spPr>
          <a:xfrm rot="5400000" flipH="1">
            <a:off x="8825415" y="2733496"/>
            <a:ext cx="1115632" cy="1494578"/>
          </a:xfrm>
          <a:prstGeom prst="bentArrow">
            <a:avLst>
              <a:gd name="adj1" fmla="val 25000"/>
              <a:gd name="adj2" fmla="val 27436"/>
              <a:gd name="adj3" fmla="val 27945"/>
              <a:gd name="adj4" fmla="val 3565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chemeClr val="tx1"/>
              </a:solidFill>
            </a:endParaRP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599471D0-BA77-EB7E-B565-81D710BCF341}"/>
              </a:ext>
            </a:extLst>
          </p:cNvPr>
          <p:cNvSpPr txBox="1">
            <a:spLocks noChangeArrowheads="1"/>
          </p:cNvSpPr>
          <p:nvPr/>
        </p:nvSpPr>
        <p:spPr>
          <a:xfrm>
            <a:off x="9300574" y="5702086"/>
            <a:ext cx="3002404" cy="578067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Calculate the age.</a:t>
            </a:r>
          </a:p>
        </p:txBody>
      </p:sp>
    </p:spTree>
    <p:extLst>
      <p:ext uri="{BB962C8B-B14F-4D97-AF65-F5344CB8AC3E}">
        <p14:creationId xmlns:p14="http://schemas.microsoft.com/office/powerpoint/2010/main" val="15083751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26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2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26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26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26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87A4-E511-79D9-E124-FC6688B6A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Ureply</a:t>
            </a:r>
            <a:r>
              <a:rPr lang="en-US" altLang="zh-CN" dirty="0"/>
              <a:t>:</a:t>
            </a:r>
            <a:endParaRPr lang="zh-CN" alt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721CBA7-8869-BCA0-AB04-4AD6D1785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3197" y="34922"/>
            <a:ext cx="9365019" cy="664527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0AB1A-044A-1E98-E7FB-1FB0818F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402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064568"/>
            <a:ext cx="11557000" cy="5257800"/>
          </a:xfrm>
        </p:spPr>
        <p:txBody>
          <a:bodyPr>
            <a:noAutofit/>
          </a:bodyPr>
          <a:lstStyle/>
          <a:p>
            <a:r>
              <a:rPr lang="en-US" altLang="zh-TW" dirty="0"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b="1" dirty="0">
                <a:ea typeface="新細明體" panose="02020500000000000000" pitchFamily="18" charset="-120"/>
              </a:rPr>
              <a:t> </a:t>
            </a:r>
            <a:r>
              <a:rPr lang="en-US" altLang="zh-TW" dirty="0">
                <a:ea typeface="新細明體" panose="02020500000000000000" pitchFamily="18" charset="-120"/>
              </a:rPr>
              <a:t>variables can be initialized as follows:</a:t>
            </a:r>
          </a:p>
          <a:p>
            <a:pPr lvl="4"/>
            <a:endParaRPr lang="en-US" altLang="zh-TW" dirty="0">
              <a:ea typeface="新細明體" panose="02020500000000000000" pitchFamily="18" charset="-120"/>
            </a:endParaRPr>
          </a:p>
          <a:p>
            <a:pPr lvl="2" eaLnBrk="0" hangingPunct="0">
              <a:spcBef>
                <a:spcPct val="0"/>
              </a:spcBef>
              <a:buClrTx/>
              <a:buFontTx/>
              <a:buNone/>
            </a:pPr>
            <a:endParaRPr lang="en-US" altLang="zh-TW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2" eaLnBrk="0" hangingPunct="0">
              <a:spcBef>
                <a:spcPct val="0"/>
              </a:spcBef>
              <a:buClrTx/>
              <a:buFontTx/>
              <a:buNone/>
            </a:pPr>
            <a:endParaRPr lang="en-US" altLang="zh-TW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2" eaLnBrk="0" hangingPunct="0">
              <a:spcBef>
                <a:spcPct val="0"/>
              </a:spcBef>
              <a:buClrTx/>
              <a:buFontTx/>
              <a:buNone/>
            </a:pPr>
            <a:endParaRPr lang="en-US" altLang="zh-TW" sz="28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marL="1828800" lvl="4" indent="0">
              <a:buNone/>
            </a:pPr>
            <a:endParaRPr lang="en-US" altLang="zh-TW" dirty="0">
              <a:ea typeface="新細明體" panose="02020500000000000000" pitchFamily="18" charset="-120"/>
            </a:endParaRPr>
          </a:p>
          <a:p>
            <a:pPr marL="1828800" lvl="4" indent="0">
              <a:buNone/>
            </a:pPr>
            <a:endParaRPr lang="en-US" altLang="zh-TW" dirty="0">
              <a:ea typeface="新細明體" panose="02020500000000000000" pitchFamily="18" charset="-120"/>
            </a:endParaRPr>
          </a:p>
          <a:p>
            <a:pPr marL="1828800" lvl="4" indent="0">
              <a:buNone/>
            </a:pPr>
            <a:endParaRPr lang="en-US" altLang="zh-TW" dirty="0">
              <a:ea typeface="新細明體" panose="02020500000000000000" pitchFamily="18" charset="-120"/>
            </a:endParaRPr>
          </a:p>
          <a:p>
            <a:pPr marL="1828800" lvl="4" indent="0">
              <a:buNone/>
            </a:pPr>
            <a:endParaRPr lang="en-US" altLang="zh-TW" dirty="0">
              <a:ea typeface="新細明體" panose="02020500000000000000" pitchFamily="18" charset="-120"/>
            </a:endParaRPr>
          </a:p>
          <a:p>
            <a:r>
              <a:rPr lang="en-US" altLang="zh-TW" dirty="0">
                <a:ea typeface="新細明體" panose="02020500000000000000" pitchFamily="18" charset="-120"/>
              </a:rPr>
              <a:t>If there are </a:t>
            </a:r>
            <a:r>
              <a:rPr lang="en-US" altLang="zh-TW" i="1" u="sng" dirty="0">
                <a:ea typeface="新細明體" panose="02020500000000000000" pitchFamily="18" charset="-120"/>
              </a:rPr>
              <a:t>not enough </a:t>
            </a:r>
            <a:r>
              <a:rPr lang="en-US" altLang="zh-TW" dirty="0">
                <a:ea typeface="新細明體" panose="02020500000000000000" pitchFamily="18" charset="-120"/>
              </a:rPr>
              <a:t>initializers, values of the </a:t>
            </a:r>
            <a:r>
              <a:rPr lang="en-US" altLang="zh-TW" i="1" u="sng" dirty="0">
                <a:ea typeface="新細明體" panose="02020500000000000000" pitchFamily="18" charset="-120"/>
              </a:rPr>
              <a:t>remaining members are assigned </a:t>
            </a:r>
            <a:r>
              <a:rPr lang="en-US" altLang="zh-TW" b="1" i="1" u="sng" dirty="0">
                <a:ea typeface="新細明體" panose="02020500000000000000" pitchFamily="18" charset="-120"/>
              </a:rPr>
              <a:t>zero</a:t>
            </a:r>
            <a:r>
              <a:rPr lang="en-US" altLang="zh-TW" i="1" u="sng" dirty="0">
                <a:ea typeface="新細明體" panose="02020500000000000000" pitchFamily="18" charset="-120"/>
              </a:rPr>
              <a:t> by default</a:t>
            </a:r>
            <a:r>
              <a:rPr lang="en-US" altLang="zh-TW" dirty="0">
                <a:ea typeface="新細明體" panose="02020500000000000000" pitchFamily="18" charset="-120"/>
              </a:rPr>
              <a:t>, similar to array initialization.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TW" sz="2800" dirty="0">
                <a:latin typeface="Consolas" panose="020B0609020204030204" pitchFamily="49" charset="0"/>
                <a:ea typeface="新細明體" panose="02020500000000000000" pitchFamily="18" charset="-120"/>
              </a:rPr>
              <a:t>struct date   </a:t>
            </a:r>
            <a:r>
              <a:rPr lang="en-US" altLang="zh-TW" sz="2800" dirty="0">
                <a:solidFill>
                  <a:schemeClr val="folHlink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today</a:t>
            </a:r>
            <a:r>
              <a:rPr lang="en-US" altLang="zh-TW" sz="28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= {3, 4}</a:t>
            </a:r>
            <a:r>
              <a:rPr lang="en-US" altLang="zh-TW" sz="2800" dirty="0"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/* </a:t>
            </a:r>
            <a:r>
              <a:rPr lang="en-US" altLang="zh-TW" sz="2800" dirty="0" err="1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today.year</a:t>
            </a:r>
            <a:r>
              <a:rPr lang="en-US" altLang="zh-TW" sz="28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is assigned 0 implicitly */</a:t>
            </a:r>
            <a:endParaRPr lang="zh-TW" altLang="en-US" sz="28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38AE189-C597-DC96-7F72-9BFC072B5FA9}"/>
              </a:ext>
            </a:extLst>
          </p:cNvPr>
          <p:cNvGrpSpPr/>
          <p:nvPr/>
        </p:nvGrpSpPr>
        <p:grpSpPr>
          <a:xfrm>
            <a:off x="2362200" y="1669973"/>
            <a:ext cx="6471643" cy="2548390"/>
            <a:chOff x="2362200" y="1669973"/>
            <a:chExt cx="6471643" cy="2548390"/>
          </a:xfrm>
        </p:grpSpPr>
        <p:sp>
          <p:nvSpPr>
            <p:cNvPr id="49158" name="Text Box 6"/>
            <p:cNvSpPr txBox="1">
              <a:spLocks noChangeArrowheads="1"/>
            </p:cNvSpPr>
            <p:nvPr/>
          </p:nvSpPr>
          <p:spPr bwMode="auto">
            <a:xfrm>
              <a:off x="2362200" y="1669973"/>
              <a:ext cx="6471643" cy="25483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4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anose="02020500000000000000" pitchFamily="18" charset="-120"/>
                </a:rPr>
                <a:t>struct date {</a:t>
              </a:r>
            </a:p>
            <a:p>
              <a:pPr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4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anose="02020500000000000000" pitchFamily="18" charset="-120"/>
                </a:rPr>
                <a:t>   int </a:t>
              </a:r>
              <a:r>
                <a:rPr lang="en-US" altLang="zh-TW" sz="240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anose="02020500000000000000" pitchFamily="18" charset="-120"/>
                </a:rPr>
                <a:t>day</a:t>
              </a:r>
              <a:r>
                <a:rPr lang="en-US" altLang="zh-TW" sz="24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anose="02020500000000000000" pitchFamily="18" charset="-120"/>
                </a:rPr>
                <a:t>, </a:t>
              </a:r>
              <a:r>
                <a:rPr lang="en-US" altLang="zh-TW" sz="240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anose="02020500000000000000" pitchFamily="18" charset="-120"/>
                </a:rPr>
                <a:t>month</a:t>
              </a:r>
              <a:r>
                <a:rPr lang="en-US" altLang="zh-TW" sz="24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anose="02020500000000000000" pitchFamily="18" charset="-120"/>
                </a:rPr>
                <a:t>, </a:t>
              </a:r>
              <a:r>
                <a:rPr lang="en-US" altLang="zh-TW" sz="240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anose="02020500000000000000" pitchFamily="18" charset="-120"/>
                </a:rPr>
                <a:t>year</a:t>
              </a:r>
              <a:r>
                <a:rPr lang="en-US" altLang="zh-TW" sz="24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anose="02020500000000000000" pitchFamily="18" charset="-120"/>
                </a:rPr>
                <a:t>;</a:t>
              </a:r>
            </a:p>
            <a:p>
              <a:pPr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4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anose="02020500000000000000" pitchFamily="18" charset="-120"/>
                </a:rPr>
                <a:t>}</a:t>
              </a:r>
              <a:r>
                <a:rPr lang="en-US" altLang="zh-TW" sz="2400" dirty="0">
                  <a:solidFill>
                    <a:srgbClr val="000000"/>
                  </a:solidFill>
                  <a:highlight>
                    <a:srgbClr val="FFFF00"/>
                  </a:highlight>
                  <a:latin typeface="Consolas" panose="020B0609020204030204" pitchFamily="49" charset="0"/>
                  <a:ea typeface="新細明體" panose="02020500000000000000" pitchFamily="18" charset="-120"/>
                </a:rPr>
                <a:t>;</a:t>
              </a:r>
            </a:p>
            <a:p>
              <a:pPr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4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anose="02020500000000000000" pitchFamily="18" charset="-120"/>
                </a:rPr>
                <a:t>int main() {</a:t>
              </a:r>
            </a:p>
            <a:p>
              <a:pPr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4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anose="02020500000000000000" pitchFamily="18" charset="-120"/>
                </a:rPr>
                <a:t>   struct date </a:t>
              </a:r>
              <a:r>
                <a:rPr lang="en-US" altLang="zh-TW" sz="2400" dirty="0">
                  <a:solidFill>
                    <a:srgbClr val="9933FF"/>
                  </a:solidFill>
                  <a:latin typeface="Consolas" panose="020B0609020204030204" pitchFamily="49" charset="0"/>
                  <a:ea typeface="新細明體" panose="02020500000000000000" pitchFamily="18" charset="-120"/>
                </a:rPr>
                <a:t>today</a:t>
              </a:r>
              <a:r>
                <a:rPr lang="en-US" altLang="zh-TW" sz="2400" dirty="0">
                  <a:solidFill>
                    <a:srgbClr val="FF0000"/>
                  </a:solidFill>
                  <a:latin typeface="Consolas" panose="020B0609020204030204" pitchFamily="49" charset="0"/>
                  <a:ea typeface="新細明體" panose="02020500000000000000" pitchFamily="18" charset="-120"/>
                </a:rPr>
                <a:t> = {3, 4, 2023} </a:t>
              </a:r>
              <a:r>
                <a:rPr lang="en-US" altLang="zh-TW" sz="24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anose="02020500000000000000" pitchFamily="18" charset="-120"/>
                </a:rPr>
                <a:t>;</a:t>
              </a:r>
            </a:p>
            <a:p>
              <a:pPr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4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anose="02020500000000000000" pitchFamily="18" charset="-120"/>
                </a:rPr>
                <a:t>   …</a:t>
              </a:r>
            </a:p>
            <a:p>
              <a:pPr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sz="24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anose="02020500000000000000" pitchFamily="18" charset="-120"/>
                </a:rPr>
                <a:t>}</a:t>
              </a:r>
            </a:p>
          </p:txBody>
        </p:sp>
        <p:sp>
          <p:nvSpPr>
            <p:cNvPr id="49156" name="Rectangle 4"/>
            <p:cNvSpPr>
              <a:spLocks noChangeArrowheads="1"/>
            </p:cNvSpPr>
            <p:nvPr/>
          </p:nvSpPr>
          <p:spPr bwMode="auto">
            <a:xfrm flipV="1">
              <a:off x="6306584" y="3124200"/>
              <a:ext cx="2138960" cy="381000"/>
            </a:xfrm>
            <a:prstGeom prst="rect">
              <a:avLst/>
            </a:prstGeom>
            <a:solidFill>
              <a:srgbClr val="3366FF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zh-TW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endParaRPr>
            </a:p>
          </p:txBody>
        </p:sp>
      </p:grp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1.5. Initializing Structures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F2F74DC-26D1-3C46-8D5C-A53EE1E66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3" name="组合 3">
            <a:extLst>
              <a:ext uri="{FF2B5EF4-FFF2-40B4-BE49-F238E27FC236}">
                <a16:creationId xmlns:a16="http://schemas.microsoft.com/office/drawing/2014/main" id="{3EA110BC-76DC-1BAF-5011-0C70B2B62E6E}"/>
              </a:ext>
            </a:extLst>
          </p:cNvPr>
          <p:cNvGrpSpPr/>
          <p:nvPr/>
        </p:nvGrpSpPr>
        <p:grpSpPr>
          <a:xfrm>
            <a:off x="9203366" y="1312388"/>
            <a:ext cx="2557445" cy="2154892"/>
            <a:chOff x="6065352" y="1410233"/>
            <a:chExt cx="2076266" cy="1651838"/>
          </a:xfrm>
        </p:grpSpPr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1FD2050B-E482-1C82-907B-F1AB7AB46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1588" y="1875038"/>
              <a:ext cx="1076325" cy="35389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sz="24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3</a:t>
              </a:r>
              <a:endParaRPr lang="zh-TW" altLang="en-US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8" name="Text Box 12">
              <a:extLst>
                <a:ext uri="{FF2B5EF4-FFF2-40B4-BE49-F238E27FC236}">
                  <a16:creationId xmlns:a16="http://schemas.microsoft.com/office/drawing/2014/main" id="{420188D3-5F29-074B-17EE-8BF99C84A8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57167" y="1884267"/>
              <a:ext cx="69442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sz="24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day</a:t>
              </a:r>
            </a:p>
          </p:txBody>
        </p:sp>
        <p:sp>
          <p:nvSpPr>
            <p:cNvPr id="9" name="Text Box 13">
              <a:extLst>
                <a:ext uri="{FF2B5EF4-FFF2-40B4-BE49-F238E27FC236}">
                  <a16:creationId xmlns:a16="http://schemas.microsoft.com/office/drawing/2014/main" id="{233E2D4B-6CBE-4C61-8CE0-9A760766FF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5352" y="2224986"/>
              <a:ext cx="103425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sz="24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month</a:t>
              </a:r>
            </a:p>
          </p:txBody>
        </p:sp>
        <p:sp>
          <p:nvSpPr>
            <p:cNvPr id="10" name="Text Box 14">
              <a:extLst>
                <a:ext uri="{FF2B5EF4-FFF2-40B4-BE49-F238E27FC236}">
                  <a16:creationId xmlns:a16="http://schemas.microsoft.com/office/drawing/2014/main" id="{E0348080-BCAC-3D9B-92C5-3D23212166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5270" y="2600406"/>
              <a:ext cx="86433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sz="24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year</a:t>
              </a:r>
            </a:p>
          </p:txBody>
        </p:sp>
        <p:sp>
          <p:nvSpPr>
            <p:cNvPr id="11" name="Text Box 15">
              <a:extLst>
                <a:ext uri="{FF2B5EF4-FFF2-40B4-BE49-F238E27FC236}">
                  <a16:creationId xmlns:a16="http://schemas.microsoft.com/office/drawing/2014/main" id="{00E07037-7F87-945F-6F04-9E9F34C9E0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1105" y="1410233"/>
              <a:ext cx="117051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sz="2800" b="0" dirty="0">
                  <a:solidFill>
                    <a:srgbClr val="01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today</a:t>
              </a:r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EFFDD589-2ED2-43B1-70B5-40616CE7B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1588" y="2574175"/>
              <a:ext cx="1076325" cy="35389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en-US" sz="24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2023</a:t>
              </a:r>
            </a:p>
          </p:txBody>
        </p:sp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id="{EA917649-FDB6-2434-65AF-F097603EF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1588" y="2220285"/>
              <a:ext cx="1076325" cy="35389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HK" altLang="zh-TW" sz="24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4</a:t>
              </a:r>
              <a:endParaRPr lang="zh-TW" altLang="en-US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</p:grpSp>
      <p:grpSp>
        <p:nvGrpSpPr>
          <p:cNvPr id="21" name="组合 3">
            <a:extLst>
              <a:ext uri="{FF2B5EF4-FFF2-40B4-BE49-F238E27FC236}">
                <a16:creationId xmlns:a16="http://schemas.microsoft.com/office/drawing/2014/main" id="{59EED780-CA69-FF11-A3CD-99D0AD8AD550}"/>
              </a:ext>
            </a:extLst>
          </p:cNvPr>
          <p:cNvGrpSpPr/>
          <p:nvPr/>
        </p:nvGrpSpPr>
        <p:grpSpPr>
          <a:xfrm>
            <a:off x="9027262" y="4650157"/>
            <a:ext cx="1930610" cy="1577493"/>
            <a:chOff x="6123795" y="1682804"/>
            <a:chExt cx="1904118" cy="1209231"/>
          </a:xfrm>
        </p:grpSpPr>
        <p:sp>
          <p:nvSpPr>
            <p:cNvPr id="22" name="Rectangle 8">
              <a:extLst>
                <a:ext uri="{FF2B5EF4-FFF2-40B4-BE49-F238E27FC236}">
                  <a16:creationId xmlns:a16="http://schemas.microsoft.com/office/drawing/2014/main" id="{E38F68B0-FE82-6FBA-F2C8-D9182FB89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1588" y="1939664"/>
              <a:ext cx="1076325" cy="306705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3</a:t>
              </a:r>
              <a:endParaRPr lang="zh-TW" altLang="en-US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23" name="Text Box 12">
              <a:extLst>
                <a:ext uri="{FF2B5EF4-FFF2-40B4-BE49-F238E27FC236}">
                  <a16:creationId xmlns:a16="http://schemas.microsoft.com/office/drawing/2014/main" id="{F0C2EFB1-B498-61DF-9EB2-7F1E7EA9E2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694" y="1970814"/>
              <a:ext cx="556831" cy="283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day</a:t>
              </a:r>
            </a:p>
          </p:txBody>
        </p:sp>
        <p:sp>
          <p:nvSpPr>
            <p:cNvPr id="24" name="Text Box 13">
              <a:extLst>
                <a:ext uri="{FF2B5EF4-FFF2-40B4-BE49-F238E27FC236}">
                  <a16:creationId xmlns:a16="http://schemas.microsoft.com/office/drawing/2014/main" id="{DF0AF2DA-B7AE-B27B-C8BC-D2E8AA74D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3795" y="2299759"/>
              <a:ext cx="806630" cy="283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month</a:t>
              </a:r>
            </a:p>
          </p:txBody>
        </p:sp>
        <p:sp>
          <p:nvSpPr>
            <p:cNvPr id="25" name="Text Box 14">
              <a:extLst>
                <a:ext uri="{FF2B5EF4-FFF2-40B4-BE49-F238E27FC236}">
                  <a16:creationId xmlns:a16="http://schemas.microsoft.com/office/drawing/2014/main" id="{3417C69A-2037-A84A-3E20-2A557971F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7533" y="2608923"/>
              <a:ext cx="681730" cy="283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year</a:t>
              </a:r>
            </a:p>
          </p:txBody>
        </p:sp>
        <p:sp>
          <p:nvSpPr>
            <p:cNvPr id="26" name="Text Box 15">
              <a:extLst>
                <a:ext uri="{FF2B5EF4-FFF2-40B4-BE49-F238E27FC236}">
                  <a16:creationId xmlns:a16="http://schemas.microsoft.com/office/drawing/2014/main" id="{152C8871-D660-BDC9-1AC5-846D9E501A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0864" y="1682804"/>
              <a:ext cx="877774" cy="306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sz="2000" b="0" dirty="0">
                  <a:solidFill>
                    <a:srgbClr val="01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today</a:t>
              </a: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7F260276-6106-1DE7-E140-CD4913A41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1588" y="2560648"/>
              <a:ext cx="1076325" cy="306705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US" altLang="en-US" sz="2000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8" name="Rectangle 8">
              <a:extLst>
                <a:ext uri="{FF2B5EF4-FFF2-40B4-BE49-F238E27FC236}">
                  <a16:creationId xmlns:a16="http://schemas.microsoft.com/office/drawing/2014/main" id="{D58C8713-2DB1-AC2F-D348-6795EFD4E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1588" y="2243877"/>
              <a:ext cx="1076325" cy="306705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HK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4</a:t>
              </a:r>
              <a:endParaRPr lang="zh-TW" altLang="en-US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6641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1.5. Initializing Structures</a:t>
            </a:r>
            <a:endParaRPr lang="zh-TW" altLang="en-US" dirty="0">
              <a:ea typeface="新細明體" panose="02020500000000000000" pitchFamily="18" charset="-120"/>
              <a:cs typeface="Calibri"/>
            </a:endParaRP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In some C compilers, the initializers can only be constant values or constant expressions.</a:t>
            </a:r>
          </a:p>
          <a:p>
            <a:pPr lvl="1"/>
            <a:r>
              <a:rPr lang="en-US" altLang="zh-TW" dirty="0"/>
              <a:t>No variables should be involved in the initializer expressions.</a:t>
            </a:r>
            <a:endParaRPr lang="en-US" altLang="zh-TW" dirty="0">
              <a:cs typeface="Calibri"/>
            </a:endParaRPr>
          </a:p>
          <a:p>
            <a:r>
              <a:rPr lang="en-US" altLang="zh-TW" dirty="0">
                <a:cs typeface="Calibri"/>
              </a:rPr>
              <a:t>However, this can be allowed some other C compilers.</a:t>
            </a:r>
            <a:endParaRPr lang="en-US" altLang="zh-TW" dirty="0">
              <a:ea typeface="新細明體" panose="02020500000000000000" pitchFamily="18" charset="-120"/>
              <a:cs typeface="Calibri"/>
            </a:endParaRPr>
          </a:p>
          <a:p>
            <a:pPr lvl="1"/>
            <a:endParaRPr lang="en-US" altLang="zh-TW" dirty="0">
              <a:ea typeface="新細明體" panose="02020500000000000000" pitchFamily="18" charset="-120"/>
              <a:cs typeface="Calibri"/>
            </a:endParaRPr>
          </a:p>
          <a:p>
            <a:endParaRPr lang="zh-TW" altLang="en-US" dirty="0">
              <a:ea typeface="新細明體" panose="02020500000000000000" pitchFamily="18" charset="-120"/>
              <a:cs typeface="Calibri"/>
            </a:endParaRPr>
          </a:p>
        </p:txBody>
      </p:sp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2145336" y="3014156"/>
            <a:ext cx="7684465" cy="325012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date {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int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day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,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month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,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year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 main() {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int </a:t>
            </a:r>
            <a:r>
              <a:rPr lang="en-US" altLang="zh-TW" sz="24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= 2023;</a:t>
            </a:r>
          </a:p>
          <a:p>
            <a:pPr lv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FF3300"/>
                </a:solidFill>
                <a:latin typeface="Consolas"/>
                <a:ea typeface="新細明體"/>
              </a:rPr>
              <a:t>   /* Var i allowed in some C compilers */</a:t>
            </a:r>
            <a:endParaRPr lang="en-US" altLang="zh-TW" sz="24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struct date </a:t>
            </a:r>
            <a:r>
              <a:rPr lang="en-US" altLang="zh-TW" sz="2400" dirty="0">
                <a:solidFill>
                  <a:srgbClr val="9933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today</a:t>
            </a:r>
            <a:r>
              <a:rPr lang="en-US" altLang="zh-TW" sz="2400" dirty="0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= { 3, 4, </a:t>
            </a:r>
            <a:r>
              <a:rPr lang="en-US" altLang="zh-TW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i</a:t>
            </a:r>
            <a:r>
              <a:rPr lang="en-US" altLang="zh-TW" sz="2400" dirty="0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}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  <a:endParaRPr lang="en-US" altLang="zh-TW" sz="2400" dirty="0">
              <a:solidFill>
                <a:srgbClr val="FF33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…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C7D73-7348-8B45-A6FC-BDA336B65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91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新細明體"/>
              </a:rPr>
              <a:t>1.5. Initializing Structures (More Examples)</a:t>
            </a:r>
            <a:endParaRPr lang="zh-TW" altLang="en-US" dirty="0">
              <a:ea typeface="新細明體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</a:t>
            </a:r>
            <a:r>
              <a:rPr lang="en-US" altLang="zh-TW" sz="28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employee</a:t>
            </a:r>
            <a:r>
              <a:rPr lang="en-US" altLang="zh-TW" sz="28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{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char    name[50];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rgbClr val="FF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double  salary[12];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rgbClr val="66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double  </a:t>
            </a:r>
            <a:r>
              <a:rPr lang="en-US" altLang="zh-TW" sz="2800" dirty="0" err="1">
                <a:solidFill>
                  <a:srgbClr val="66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MPF_contrib</a:t>
            </a:r>
            <a:r>
              <a:rPr lang="en-US" altLang="zh-TW" sz="2800" dirty="0">
                <a:solidFill>
                  <a:srgbClr val="66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z="2800" dirty="0">
              <a:solidFill>
                <a:srgbClr val="FF33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</a:t>
            </a:r>
            <a:r>
              <a:rPr lang="en-US" altLang="zh-TW" sz="28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employee</a:t>
            </a:r>
            <a:r>
              <a:rPr lang="en-US" altLang="zh-TW" sz="28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2800" dirty="0">
                <a:solidFill>
                  <a:schemeClr val="folHlink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peter</a:t>
            </a:r>
            <a:r>
              <a:rPr lang="en-US" altLang="zh-TW" sz="28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= </a:t>
            </a:r>
            <a:r>
              <a:rPr lang="en-US" altLang="zh-TW" sz="2800" dirty="0">
                <a:solidFill>
                  <a:srgbClr val="FF33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{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"Peter Pan",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rgbClr val="FF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2800" dirty="0">
                <a:solidFill>
                  <a:srgbClr val="FF00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{</a:t>
            </a:r>
            <a:r>
              <a:rPr lang="en-US" altLang="zh-TW" sz="2800" dirty="0">
                <a:solidFill>
                  <a:srgbClr val="FF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9500,  9500, 10000, 11000, 12000, 12050,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rgbClr val="FF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12100, 13000, 13000, 13000, 14000, 14000</a:t>
            </a:r>
            <a:r>
              <a:rPr lang="en-US" altLang="zh-TW" sz="2800" dirty="0">
                <a:solidFill>
                  <a:srgbClr val="FF00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}</a:t>
            </a:r>
            <a:r>
              <a:rPr lang="en-US" altLang="zh-TW" sz="2800" dirty="0">
                <a:solidFill>
                  <a:srgbClr val="FF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,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rgbClr val="66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0.05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rgbClr val="FF33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}</a:t>
            </a:r>
            <a:r>
              <a:rPr lang="en-US" altLang="zh-TW" sz="28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  <a:endParaRPr lang="zh-TW" altLang="en-US" sz="2800" dirty="0">
              <a:solidFill>
                <a:srgbClr val="FF33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FF58FD-2303-1A46-8ABF-0ED55BD19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02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1.6. Assignment of Structures</a:t>
            </a:r>
            <a:endParaRPr lang="en-US" dirty="0">
              <a:latin typeface="Consola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454" y="3976433"/>
            <a:ext cx="12098216" cy="2362199"/>
          </a:xfrm>
        </p:spPr>
        <p:txBody>
          <a:bodyPr>
            <a:normAutofit/>
          </a:bodyPr>
          <a:lstStyle/>
          <a:p>
            <a:r>
              <a:rPr lang="en-US" sz="3600" dirty="0"/>
              <a:t>A struct value can be </a:t>
            </a:r>
            <a:r>
              <a:rPr lang="en-US" sz="3600" b="1" u="sng" dirty="0"/>
              <a:t>copied</a:t>
            </a:r>
            <a:r>
              <a:rPr lang="en-US" sz="3600" dirty="0"/>
              <a:t> using the assignment operator.</a:t>
            </a:r>
          </a:p>
          <a:p>
            <a:endParaRPr lang="en-US" sz="1600" b="1" i="1" dirty="0"/>
          </a:p>
          <a:p>
            <a:r>
              <a:rPr lang="en-US" sz="3600" b="1" i="1" dirty="0"/>
              <a:t>Every member is copied, even for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85800" y="1142999"/>
            <a:ext cx="10896600" cy="283343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800" b="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</a:t>
            </a:r>
            <a:r>
              <a:rPr lang="en-US" altLang="zh-TW" sz="28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{ </a:t>
            </a:r>
            <a:r>
              <a:rPr lang="en-US" altLang="zh-TW" sz="2800" b="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int</a:t>
            </a:r>
            <a:r>
              <a:rPr lang="en-US" altLang="zh-TW" sz="28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day, month, year; };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endParaRPr lang="en-US" altLang="zh-TW" sz="2800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800" b="0" dirty="0">
              <a:solidFill>
                <a:srgbClr val="0000FF"/>
              </a:solidFill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>
              <a:lnSpc>
                <a:spcPct val="110000"/>
              </a:lnSpc>
            </a:pPr>
            <a:r>
              <a:rPr lang="en-US" altLang="zh-TW" sz="2800" b="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d1, d2 = { 1, 1, 2023 };</a:t>
            </a:r>
          </a:p>
          <a:p>
            <a:pPr>
              <a:lnSpc>
                <a:spcPct val="110000"/>
              </a:lnSpc>
            </a:pPr>
            <a:endParaRPr lang="en-US" altLang="zh-TW" sz="28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800" b="0" dirty="0"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 </a:t>
            </a:r>
            <a:r>
              <a:rPr lang="en-US" altLang="zh-TW" sz="3600" dirty="0">
                <a:solidFill>
                  <a:srgbClr val="C000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=</a:t>
            </a:r>
            <a:r>
              <a:rPr lang="en-US" altLang="zh-TW" sz="2800" b="0" dirty="0"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d2;</a:t>
            </a:r>
            <a:r>
              <a:rPr lang="en-US" altLang="zh-TW" sz="2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8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Copy d2 to d1 </a:t>
            </a:r>
            <a:r>
              <a:rPr lang="en-US" altLang="zh-TW" sz="28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(all data byte by byte)</a:t>
            </a:r>
          </a:p>
          <a:p>
            <a:pPr>
              <a:lnSpc>
                <a:spcPct val="110000"/>
              </a:lnSpc>
            </a:pPr>
            <a:endParaRPr lang="en-US" altLang="zh-TW" sz="28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776638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1.6. Assignment of Structures</a:t>
            </a:r>
            <a:endParaRPr lang="en-US" altLang="zh-TW" dirty="0">
              <a:ea typeface="新細明體" panose="02020500000000000000" pitchFamily="18" charset="-120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244611"/>
            <a:ext cx="10744200" cy="39893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3200" dirty="0">
                <a:ea typeface="新細明體" panose="02020500000000000000" pitchFamily="18" charset="-120"/>
              </a:rPr>
              <a:t>The assignment operator </a:t>
            </a:r>
            <a:r>
              <a:rPr lang="en-US" altLang="zh-TW" sz="3200" dirty="0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=</a:t>
            </a:r>
            <a:r>
              <a:rPr lang="en-US" altLang="zh-TW" sz="3200" dirty="0">
                <a:ea typeface="新細明體" panose="02020500000000000000" pitchFamily="18" charset="-120"/>
              </a:rPr>
              <a:t> can be applied to structure variables.</a:t>
            </a:r>
          </a:p>
          <a:p>
            <a:pPr lvl="4">
              <a:lnSpc>
                <a:spcPct val="90000"/>
              </a:lnSpc>
            </a:pPr>
            <a:endParaRPr lang="en-US" altLang="zh-TW" sz="2000" dirty="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3200" dirty="0">
                <a:ea typeface="新細明體" panose="02020500000000000000" pitchFamily="18" charset="-120"/>
              </a:rPr>
              <a:t>Individual member of the </a:t>
            </a:r>
            <a:r>
              <a:rPr lang="en-US" altLang="zh-TW" sz="3200" i="1" dirty="0">
                <a:ea typeface="新細明體" panose="02020500000000000000" pitchFamily="18" charset="-120"/>
              </a:rPr>
              <a:t>source structure </a:t>
            </a:r>
            <a:r>
              <a:rPr lang="en-US" altLang="zh-TW" sz="3200" dirty="0">
                <a:ea typeface="新細明體" panose="02020500000000000000" pitchFamily="18" charset="-120"/>
              </a:rPr>
              <a:t>is </a:t>
            </a:r>
            <a:r>
              <a:rPr lang="en-US" altLang="zh-TW" sz="3200" b="1" u="sng" dirty="0">
                <a:ea typeface="新細明體" panose="02020500000000000000" pitchFamily="18" charset="-120"/>
              </a:rPr>
              <a:t>copied</a:t>
            </a:r>
            <a:r>
              <a:rPr lang="en-US" altLang="zh-TW" sz="3200" dirty="0">
                <a:ea typeface="新細明體" panose="02020500000000000000" pitchFamily="18" charset="-120"/>
              </a:rPr>
              <a:t> to the corresponding member of the </a:t>
            </a:r>
            <a:r>
              <a:rPr lang="en-US" altLang="zh-TW" sz="3200" i="1" dirty="0">
                <a:ea typeface="新細明體" panose="02020500000000000000" pitchFamily="18" charset="-120"/>
              </a:rPr>
              <a:t>target structure</a:t>
            </a:r>
            <a:r>
              <a:rPr lang="en-US" altLang="zh-TW" sz="3200" dirty="0">
                <a:ea typeface="新細明體" panose="02020500000000000000" pitchFamily="18" charset="-120"/>
              </a:rPr>
              <a:t>.</a:t>
            </a:r>
          </a:p>
          <a:p>
            <a:pPr lvl="4">
              <a:lnSpc>
                <a:spcPct val="90000"/>
              </a:lnSpc>
            </a:pPr>
            <a:endParaRPr lang="en-US" altLang="zh-TW" sz="2000" dirty="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3200" dirty="0">
                <a:ea typeface="新細明體" panose="02020500000000000000" pitchFamily="18" charset="-120"/>
              </a:rPr>
              <a:t>This applies even to </a:t>
            </a:r>
            <a:r>
              <a:rPr lang="en-US" altLang="zh-TW" sz="3200" u="sng" dirty="0">
                <a:highlight>
                  <a:srgbClr val="FFFF00"/>
                </a:highlight>
                <a:ea typeface="新細明體" panose="02020500000000000000" pitchFamily="18" charset="-120"/>
              </a:rPr>
              <a:t>array members </a:t>
            </a:r>
            <a:r>
              <a:rPr lang="en-US" altLang="zh-TW" sz="3200" dirty="0">
                <a:ea typeface="新細明體" panose="02020500000000000000" pitchFamily="18" charset="-120"/>
              </a:rPr>
              <a:t>in the structure, i.e., it also makes a copy of the array member inside the structure.</a:t>
            </a:r>
            <a:endParaRPr lang="zh-TW" altLang="en-US" sz="3200" dirty="0">
              <a:ea typeface="新細明體" panose="02020500000000000000" pitchFamily="18" charset="-120"/>
            </a:endParaRPr>
          </a:p>
        </p:txBody>
      </p:sp>
      <p:sp>
        <p:nvSpPr>
          <p:cNvPr id="54276" name="AutoShape 4"/>
          <p:cNvSpPr>
            <a:spLocks noChangeArrowheads="1"/>
          </p:cNvSpPr>
          <p:nvPr/>
        </p:nvSpPr>
        <p:spPr bwMode="auto">
          <a:xfrm>
            <a:off x="2257107" y="5251720"/>
            <a:ext cx="8029575" cy="919401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>
                <a:lumMod val="20000"/>
                <a:lumOff val="80000"/>
              </a:schemeClr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i="1" dirty="0">
                <a:solidFill>
                  <a:srgbClr val="FF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Structure assignment (COPYING and PASSING) </a:t>
            </a:r>
            <a:br>
              <a:rPr lang="en-US" altLang="zh-TW" sz="2400" i="1" dirty="0">
                <a:solidFill>
                  <a:srgbClr val="FF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</a:br>
            <a:r>
              <a:rPr lang="en-US" altLang="zh-TW" sz="2400" i="1" dirty="0">
                <a:solidFill>
                  <a:srgbClr val="FF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consumes computing TIME, but it's CONVENIENT!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EE2FE-AA31-304E-A337-F47B869F3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13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C678F1C-E002-4249-8682-1428CBBEC80C}" type="slidenum">
              <a:rPr lang="zh-TW" altLang="en-US" sz="100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US" altLang="zh-TW" sz="1000" dirty="0">
              <a:solidFill>
                <a:srgbClr val="000000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5543" name="Rectangle 7"/>
          <p:cNvSpPr>
            <a:spLocks noChangeArrowheads="1"/>
          </p:cNvSpPr>
          <p:nvPr/>
        </p:nvSpPr>
        <p:spPr bwMode="auto">
          <a:xfrm>
            <a:off x="1981200" y="3933826"/>
            <a:ext cx="8382000" cy="360363"/>
          </a:xfrm>
          <a:prstGeom prst="rect">
            <a:avLst/>
          </a:prstGeom>
          <a:solidFill>
            <a:srgbClr val="3366FF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65544" name="Rectangle 8"/>
          <p:cNvSpPr>
            <a:spLocks noChangeArrowheads="1"/>
          </p:cNvSpPr>
          <p:nvPr/>
        </p:nvSpPr>
        <p:spPr bwMode="auto">
          <a:xfrm>
            <a:off x="1981200" y="1484314"/>
            <a:ext cx="8382000" cy="1163637"/>
          </a:xfrm>
          <a:prstGeom prst="rect">
            <a:avLst/>
          </a:prstGeom>
          <a:solidFill>
            <a:schemeClr val="folHlink">
              <a:alpha val="2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  <a:noFill/>
        </p:spPr>
        <p:txBody>
          <a:bodyPr anchor="t">
            <a:normAutofit/>
          </a:bodyPr>
          <a:lstStyle/>
          <a:p>
            <a:r>
              <a:rPr lang="en-US" sz="3600" dirty="0"/>
              <a:t>1.6. Assignment of Structures</a:t>
            </a:r>
            <a:endParaRPr lang="en-US" altLang="zh-TW" sz="3600" dirty="0">
              <a:ea typeface="新細明體"/>
            </a:endParaRPr>
          </a:p>
        </p:txBody>
      </p:sp>
      <p:sp>
        <p:nvSpPr>
          <p:cNvPr id="65539" name="Rectangle 3"/>
          <p:cNvSpPr>
            <a:spLocks noChangeArrowheads="1"/>
          </p:cNvSpPr>
          <p:nvPr/>
        </p:nvSpPr>
        <p:spPr bwMode="auto">
          <a:xfrm>
            <a:off x="609600" y="642938"/>
            <a:ext cx="11430000" cy="563231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#include &lt;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stdio.h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&gt;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#define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NAMEMAX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30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 student {</a:t>
            </a:r>
            <a:b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	name[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</a:rPr>
              <a:t>NAMEMAX+1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b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</a:rPr>
              <a:t>int		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birth[3];</a:t>
            </a:r>
            <a:b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main()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student stu1={"Peter", {2006,3,27}}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student stu2;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stu2 = stu1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          </a:t>
            </a: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/* Structure assignment */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"student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1: %s Birth date %d %d %d\n", stu1.name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,         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   stu1.birth [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0], 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stu1.birth [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], stu1.birth [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2]);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("student 2: %s Birth date %d %d %d\n", stu2.name,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												stu2.birth [0], stu2.birth [1], stu2.birth [2]);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0;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</a:t>
            </a:r>
          </a:p>
        </p:txBody>
      </p:sp>
      <p:sp>
        <p:nvSpPr>
          <p:cNvPr id="65540" name="Rectangle 4"/>
          <p:cNvSpPr>
            <a:spLocks noChangeArrowheads="1"/>
          </p:cNvSpPr>
          <p:nvPr/>
        </p:nvSpPr>
        <p:spPr bwMode="auto">
          <a:xfrm>
            <a:off x="147637" y="642938"/>
            <a:ext cx="461963" cy="55943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2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3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4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14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65545" name="Text Box 9"/>
          <p:cNvSpPr txBox="1">
            <a:spLocks noChangeArrowheads="1"/>
          </p:cNvSpPr>
          <p:nvPr/>
        </p:nvSpPr>
        <p:spPr bwMode="auto">
          <a:xfrm>
            <a:off x="1524000" y="6211889"/>
            <a:ext cx="9144000" cy="650875"/>
          </a:xfrm>
          <a:prstGeom prst="rect">
            <a:avLst/>
          </a:prstGeom>
          <a:solidFill>
            <a:srgbClr val="CCCE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student 1: Peter Birth date 2006 3 27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student 2: Peter Birth date 2006 3 27</a:t>
            </a:r>
            <a:endParaRPr lang="zh-TW" altLang="en-US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2" name="Bent Up Arrow 1">
            <a:extLst>
              <a:ext uri="{FF2B5EF4-FFF2-40B4-BE49-F238E27FC236}">
                <a16:creationId xmlns:a16="http://schemas.microsoft.com/office/drawing/2014/main" id="{94F27651-13A8-FB4B-98A6-89EE26FE3606}"/>
              </a:ext>
            </a:extLst>
          </p:cNvPr>
          <p:cNvSpPr/>
          <p:nvPr/>
        </p:nvSpPr>
        <p:spPr>
          <a:xfrm flipV="1">
            <a:off x="3025720" y="1040727"/>
            <a:ext cx="461963" cy="652303"/>
          </a:xfrm>
          <a:prstGeom prst="bent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1A318513-874C-BB42-BC75-327406C49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500" y="748978"/>
            <a:ext cx="5663605" cy="919401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t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dirty="0"/>
              <a:t>Define macro (</a:t>
            </a:r>
            <a:r>
              <a:rPr lang="zh-CN" altLang="en-US" sz="1400" dirty="0"/>
              <a:t>宏</a:t>
            </a:r>
            <a:r>
              <a:rPr lang="en-US" altLang="zh-CN" dirty="0"/>
              <a:t>) with constant value -&gt; used in project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ysClr val="windowText" lastClr="000000"/>
                </a:solidFill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This is a trick to have “changeable” array size!</a:t>
            </a:r>
          </a:p>
        </p:txBody>
      </p:sp>
      <p:sp>
        <p:nvSpPr>
          <p:cNvPr id="3" name="AutoShape 8">
            <a:extLst>
              <a:ext uri="{FF2B5EF4-FFF2-40B4-BE49-F238E27FC236}">
                <a16:creationId xmlns:a16="http://schemas.microsoft.com/office/drawing/2014/main" id="{6A3F1002-CFA8-70C6-51C9-840F4B8B2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039121"/>
            <a:ext cx="2563790" cy="1123712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t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TW" sz="24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Copy all members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TW" sz="24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Even for the array</a:t>
            </a:r>
          </a:p>
        </p:txBody>
      </p:sp>
    </p:spTree>
    <p:extLst>
      <p:ext uri="{BB962C8B-B14F-4D97-AF65-F5344CB8AC3E}">
        <p14:creationId xmlns:p14="http://schemas.microsoft.com/office/powerpoint/2010/main" val="236509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3" grpId="0" animBg="1"/>
      <p:bldP spid="65545" grpId="0" animBg="1"/>
      <p:bldP spid="11" grpId="0" animBg="1"/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1.7. Defining an alias to an existing 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11277599" cy="5029200"/>
          </a:xfrm>
        </p:spPr>
        <p:txBody>
          <a:bodyPr>
            <a:normAutofit/>
          </a:bodyPr>
          <a:lstStyle/>
          <a:p>
            <a:r>
              <a:rPr lang="en-US" sz="3200" dirty="0"/>
              <a:t>We can introduce an alias to an existing data type using </a:t>
            </a:r>
            <a:r>
              <a:rPr lang="en-US" sz="3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typedef</a:t>
            </a:r>
            <a:r>
              <a:rPr lang="en-US" altLang="zh-CN" sz="3200" dirty="0"/>
              <a:t>.</a:t>
            </a:r>
            <a:endParaRPr lang="en-US" sz="32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800" dirty="0"/>
          </a:p>
          <a:p>
            <a:r>
              <a:rPr lang="en-US" sz="3200" dirty="0"/>
              <a:t>Syntax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3200" dirty="0">
                <a:solidFill>
                  <a:srgbClr val="0070C0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typedef</a:t>
            </a:r>
            <a:r>
              <a:rPr lang="en-US" sz="3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existing_type_name</a:t>
            </a:r>
            <a:r>
              <a:rPr lang="en-US" sz="3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dirty="0"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alias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3200" dirty="0"/>
          </a:p>
          <a:p>
            <a:pPr marL="0" indent="0">
              <a:buNone/>
            </a:pPr>
            <a:r>
              <a:rPr lang="en-US" sz="1600" dirty="0"/>
              <a:t>  </a:t>
            </a:r>
            <a:endParaRPr lang="en-US" sz="3200" dirty="0"/>
          </a:p>
          <a:p>
            <a:r>
              <a:rPr lang="en-US" sz="3200" dirty="0"/>
              <a:t>After the declaration, both </a:t>
            </a:r>
            <a:r>
              <a:rPr lang="en-US" sz="3200" dirty="0"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alias</a:t>
            </a:r>
            <a:r>
              <a:rPr lang="en-US" sz="3200" dirty="0"/>
              <a:t> and</a:t>
            </a:r>
            <a:r>
              <a:rPr lang="en-US" sz="3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existing_type_name</a:t>
            </a:r>
            <a:r>
              <a:rPr lang="en-US" sz="3200" dirty="0">
                <a:highlight>
                  <a:srgbClr val="FFFF00"/>
                </a:highlight>
              </a:rPr>
              <a:t> </a:t>
            </a:r>
            <a:r>
              <a:rPr lang="en-US" sz="3200" dirty="0"/>
              <a:t>refer to the same data type.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0A06B9-7020-4637-57BC-A19907639BFB}"/>
              </a:ext>
            </a:extLst>
          </p:cNvPr>
          <p:cNvSpPr txBox="1"/>
          <p:nvPr/>
        </p:nvSpPr>
        <p:spPr>
          <a:xfrm>
            <a:off x="1981200" y="5356988"/>
            <a:ext cx="7162800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3200" b="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typedef</a:t>
            </a:r>
            <a:r>
              <a:rPr lang="en-US" altLang="zh-TW" sz="32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32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32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student</a:t>
            </a:r>
            <a:r>
              <a:rPr lang="en-US" altLang="zh-TW" sz="32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3200" b="0" dirty="0" err="1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Stu_t</a:t>
            </a:r>
            <a:r>
              <a:rPr lang="en-US" altLang="zh-TW" sz="32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04003454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1.7. Defining an alias to an existing data 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11340" y="1936162"/>
            <a:ext cx="3886200" cy="2590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day, month, year;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 date 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d1, d2;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...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781800" y="914400"/>
            <a:ext cx="4800600" cy="5257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day, month, year;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typedef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From this point onward,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"Date" becomes an alias of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"struct date"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Date</a:t>
            </a: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d1, d2;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d3;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The types of d1, d2, and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d3 are the same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...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3" name="AutoShape 8">
            <a:extLst>
              <a:ext uri="{FF2B5EF4-FFF2-40B4-BE49-F238E27FC236}">
                <a16:creationId xmlns:a16="http://schemas.microsoft.com/office/drawing/2014/main" id="{87D0C367-8C04-498F-AF3C-A2DD89EC4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2936" y="4614904"/>
            <a:ext cx="2054530" cy="1464231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ysClr val="windowText" lastClr="000000"/>
                </a:solidFill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Do </a:t>
            </a:r>
            <a:r>
              <a:rPr lang="en-US" altLang="zh-TW" sz="2000" u="sng" dirty="0">
                <a:solidFill>
                  <a:sysClr val="windowText" lastClr="000000"/>
                </a:solidFill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not</a:t>
            </a:r>
            <a:r>
              <a:rPr lang="en-US" altLang="zh-TW" sz="2000" dirty="0">
                <a:solidFill>
                  <a:sysClr val="windowText" lastClr="000000"/>
                </a:solidFill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 add the keyword </a:t>
            </a:r>
            <a:r>
              <a:rPr lang="en-US" altLang="zh-TW" sz="2000" dirty="0">
                <a:solidFill>
                  <a:sysClr val="windowText" lastClr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</a:t>
            </a:r>
            <a:r>
              <a:rPr lang="en-US" altLang="zh-TW" sz="2000" dirty="0">
                <a:solidFill>
                  <a:sysClr val="windowText" lastClr="000000"/>
                </a:solidFill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 in the front.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C1EF8F-F8FD-4119-8BD9-6A1E2FB9F1ED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6437466" y="4244623"/>
            <a:ext cx="917270" cy="1102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0831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1.7. Combining </a:t>
            </a:r>
            <a:r>
              <a:rPr lang="en-US" sz="3600" dirty="0">
                <a:latin typeface="Consolas"/>
                <a:cs typeface="Consolas" panose="020B0609020204030204" pitchFamily="49" charset="0"/>
              </a:rPr>
              <a:t>typedef</a:t>
            </a:r>
            <a:r>
              <a:rPr lang="en-US" sz="3600" dirty="0"/>
              <a:t> with structure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670513" y="1020751"/>
            <a:ext cx="6858000" cy="16618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Defining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 type named 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date</a:t>
            </a:r>
            <a:r>
              <a:rPr lang="en-US" dirty="0"/>
              <a:t>" and defining an alias to the struct type in </a:t>
            </a:r>
            <a:r>
              <a:rPr lang="en-US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two</a:t>
            </a:r>
            <a:r>
              <a:rPr lang="en-US" dirty="0"/>
              <a:t> separate declarations.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81000" y="1157514"/>
            <a:ext cx="4114800" cy="19666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day, month, year;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typedef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27A424F-C7EA-9E7B-089A-A54C39817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5264" y="4034912"/>
            <a:ext cx="3276600" cy="1371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Date</a:t>
            </a: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d1, d2;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d3;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7621372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1.7. Combining </a:t>
            </a:r>
            <a:r>
              <a:rPr lang="en-US" sz="3600" dirty="0">
                <a:latin typeface="Consolas"/>
                <a:cs typeface="Consolas" panose="020B0609020204030204" pitchFamily="49" charset="0"/>
              </a:rPr>
              <a:t>typedef</a:t>
            </a:r>
            <a:r>
              <a:rPr lang="en-US" sz="3600" dirty="0"/>
              <a:t> with structure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670513" y="1020751"/>
            <a:ext cx="6858000" cy="16618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Defining a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type named "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" and defining an alias to the struct type in </a:t>
            </a:r>
            <a:r>
              <a:rPr lang="en-US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two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separate declarations.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800600" y="2884714"/>
            <a:ext cx="6858000" cy="13171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Defining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 type named 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date</a:t>
            </a:r>
            <a:r>
              <a:rPr lang="en-US" dirty="0"/>
              <a:t>" and defining an alias to the struct type in </a:t>
            </a:r>
            <a:r>
              <a:rPr lang="en-US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one</a:t>
            </a:r>
            <a:r>
              <a:rPr lang="en-US" dirty="0"/>
              <a:t> declaration.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C14F98-9B60-2A50-BC76-3196A0E7A709}"/>
              </a:ext>
            </a:extLst>
          </p:cNvPr>
          <p:cNvGrpSpPr/>
          <p:nvPr/>
        </p:nvGrpSpPr>
        <p:grpSpPr>
          <a:xfrm>
            <a:off x="381000" y="1157514"/>
            <a:ext cx="4267200" cy="2971800"/>
            <a:chOff x="1676400" y="1143000"/>
            <a:chExt cx="4267200" cy="2971800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1676400" y="1143000"/>
              <a:ext cx="4114800" cy="14290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b="0" dirty="0">
                  <a:solidFill>
                    <a:srgbClr val="0000FF">
                      <a:alpha val="37000"/>
                    </a:srgbClr>
                  </a:solidFill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struct</a:t>
              </a:r>
              <a:r>
                <a:rPr lang="en-US" altLang="zh-TW" sz="2000" b="0" dirty="0">
                  <a:solidFill>
                    <a:srgbClr val="000000">
                      <a:alpha val="37000"/>
                    </a:srgbClr>
                  </a:solidFill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date</a:t>
              </a:r>
              <a:r>
                <a:rPr lang="en-US" altLang="zh-TW" sz="2000" b="0" dirty="0">
                  <a:solidFill>
                    <a:srgbClr val="000000">
                      <a:alpha val="37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{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b="0" dirty="0">
                  <a:solidFill>
                    <a:srgbClr val="000000">
                      <a:alpha val="37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sz="2000" b="0" dirty="0">
                  <a:solidFill>
                    <a:srgbClr val="0000FF">
                      <a:alpha val="37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int</a:t>
              </a:r>
              <a:r>
                <a:rPr lang="en-US" altLang="zh-TW" sz="2000" b="0" dirty="0">
                  <a:solidFill>
                    <a:srgbClr val="000000">
                      <a:alpha val="37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day, month, year;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b="0" dirty="0">
                  <a:solidFill>
                    <a:srgbClr val="000000">
                      <a:alpha val="37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};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b="0" dirty="0">
                  <a:solidFill>
                    <a:srgbClr val="0000FF">
                      <a:alpha val="37000"/>
                    </a:srgbClr>
                  </a:solidFill>
                  <a:highlight>
                    <a:srgbClr val="FF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typedef</a:t>
              </a:r>
              <a:r>
                <a:rPr lang="en-US" altLang="zh-TW" sz="2000" b="0" dirty="0">
                  <a:solidFill>
                    <a:srgbClr val="000000">
                      <a:alpha val="37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</a:t>
              </a:r>
              <a:r>
                <a:rPr lang="en-US" altLang="zh-TW" sz="2000" b="0" dirty="0">
                  <a:solidFill>
                    <a:srgbClr val="0000FF">
                      <a:alpha val="37000"/>
                    </a:srgbClr>
                  </a:solidFill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struct</a:t>
              </a:r>
              <a:r>
                <a:rPr lang="en-US" altLang="zh-TW" sz="2000" b="0" dirty="0">
                  <a:solidFill>
                    <a:srgbClr val="000000">
                      <a:alpha val="37000"/>
                    </a:srgbClr>
                  </a:solidFill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date</a:t>
              </a:r>
              <a:r>
                <a:rPr lang="en-US" altLang="zh-TW" sz="2000" b="0" dirty="0">
                  <a:solidFill>
                    <a:srgbClr val="000000">
                      <a:alpha val="37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</a:t>
              </a:r>
              <a:r>
                <a:rPr lang="en-US" altLang="zh-TW" sz="2000" b="0" dirty="0">
                  <a:solidFill>
                    <a:srgbClr val="000000">
                      <a:alpha val="37000"/>
                    </a:srgbClr>
                  </a:solidFill>
                  <a:highlight>
                    <a:srgbClr val="00FFFF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Date</a:t>
              </a:r>
              <a:r>
                <a:rPr lang="en-US" altLang="zh-TW" sz="2000" b="0" dirty="0">
                  <a:solidFill>
                    <a:srgbClr val="000000">
                      <a:alpha val="37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;</a:t>
              </a:r>
            </a:p>
          </p:txBody>
        </p:sp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1676400" y="3057360"/>
              <a:ext cx="4114800" cy="1057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dirty="0">
                  <a:solidFill>
                    <a:srgbClr val="0000FF"/>
                  </a:solidFill>
                  <a:highlight>
                    <a:srgbClr val="FF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typedef</a:t>
              </a: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</a:t>
              </a:r>
              <a:r>
                <a:rPr lang="en-US" altLang="zh-TW" sz="2000" dirty="0">
                  <a:solidFill>
                    <a:srgbClr val="0000FF"/>
                  </a:solidFill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struct</a:t>
              </a:r>
              <a:r>
                <a:rPr lang="en-US" altLang="zh-TW" sz="2000" dirty="0">
                  <a:solidFill>
                    <a:srgbClr val="000000"/>
                  </a:solidFill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date</a:t>
              </a: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{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sz="200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int</a:t>
              </a: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day, month, year;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} </a:t>
              </a:r>
              <a:r>
                <a:rPr lang="en-US" altLang="zh-TW" sz="2000" dirty="0">
                  <a:solidFill>
                    <a:srgbClr val="000000"/>
                  </a:solidFill>
                  <a:highlight>
                    <a:srgbClr val="00FFFF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Date</a:t>
              </a: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;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endPara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3" name="Curved Left Arrow 2">
              <a:extLst>
                <a:ext uri="{FF2B5EF4-FFF2-40B4-BE49-F238E27FC236}">
                  <a16:creationId xmlns:a16="http://schemas.microsoft.com/office/drawing/2014/main" id="{1C750EEF-6DF8-CF4E-ACB5-FF9581DCA8A6}"/>
                </a:ext>
              </a:extLst>
            </p:cNvPr>
            <p:cNvSpPr/>
            <p:nvPr/>
          </p:nvSpPr>
          <p:spPr>
            <a:xfrm>
              <a:off x="5334000" y="2514600"/>
              <a:ext cx="609600" cy="838200"/>
            </a:xfrm>
            <a:prstGeom prst="curvedLef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2E7754-0DE5-9E4E-9AF4-CD104ADF542B}"/>
                </a:ext>
              </a:extLst>
            </p:cNvPr>
            <p:cNvSpPr txBox="1"/>
            <p:nvPr/>
          </p:nvSpPr>
          <p:spPr>
            <a:xfrm>
              <a:off x="4574304" y="2752560"/>
              <a:ext cx="1293096" cy="338554"/>
            </a:xfrm>
            <a:prstGeom prst="rect">
              <a:avLst/>
            </a:prstGeom>
            <a:solidFill>
              <a:srgbClr val="F79646">
                <a:alpha val="50196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i="1" dirty="0"/>
                <a:t>equivalent to</a:t>
              </a:r>
            </a:p>
          </p:txBody>
        </p: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DA58516E-70C9-E030-336B-7E916998E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5264" y="4034912"/>
            <a:ext cx="3276600" cy="1371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Date</a:t>
            </a: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d1, d2;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d3;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0199179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1.7. Combining </a:t>
            </a:r>
            <a:r>
              <a:rPr lang="en-US" sz="3600" dirty="0">
                <a:latin typeface="Consolas"/>
                <a:cs typeface="Consolas" panose="020B0609020204030204" pitchFamily="49" charset="0"/>
              </a:rPr>
              <a:t>typedef</a:t>
            </a:r>
            <a:r>
              <a:rPr lang="en-US" sz="3600" dirty="0"/>
              <a:t> with structure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670513" y="1020751"/>
            <a:ext cx="6858000" cy="16618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alpha val="35000"/>
                  </a:schemeClr>
                </a:solidFill>
              </a:rPr>
              <a:t>Defining a </a:t>
            </a:r>
            <a:r>
              <a:rPr lang="en-US" dirty="0">
                <a:solidFill>
                  <a:schemeClr val="tx1">
                    <a:alpha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>
                <a:solidFill>
                  <a:schemeClr val="tx1">
                    <a:alpha val="35000"/>
                  </a:schemeClr>
                </a:solidFill>
              </a:rPr>
              <a:t> type named "</a:t>
            </a:r>
            <a:r>
              <a:rPr lang="en-US" dirty="0">
                <a:solidFill>
                  <a:schemeClr val="tx1">
                    <a:alpha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</a:t>
            </a:r>
            <a:r>
              <a:rPr lang="en-US" dirty="0">
                <a:solidFill>
                  <a:schemeClr val="tx1">
                    <a:alpha val="35000"/>
                  </a:schemeClr>
                </a:solidFill>
              </a:rPr>
              <a:t>" and defining an alias to the struct type in </a:t>
            </a:r>
            <a:r>
              <a:rPr lang="en-US" b="1" u="sng" dirty="0">
                <a:solidFill>
                  <a:schemeClr val="tx2">
                    <a:lumMod val="60000"/>
                    <a:lumOff val="40000"/>
                    <a:alpha val="35000"/>
                  </a:schemeClr>
                </a:solidFill>
              </a:rPr>
              <a:t>two</a:t>
            </a:r>
            <a:r>
              <a:rPr lang="en-US" dirty="0">
                <a:solidFill>
                  <a:schemeClr val="tx1">
                    <a:alpha val="35000"/>
                  </a:schemeClr>
                </a:solidFill>
              </a:rPr>
              <a:t> separate declarations.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800600" y="2884714"/>
            <a:ext cx="6858000" cy="13171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alpha val="35000"/>
                  </a:schemeClr>
                </a:solidFill>
              </a:rPr>
              <a:t>Defining a </a:t>
            </a:r>
            <a:r>
              <a:rPr lang="en-US" dirty="0">
                <a:solidFill>
                  <a:schemeClr val="tx1">
                    <a:alpha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>
                <a:solidFill>
                  <a:schemeClr val="tx1">
                    <a:alpha val="35000"/>
                  </a:schemeClr>
                </a:solidFill>
              </a:rPr>
              <a:t> type named "</a:t>
            </a:r>
            <a:r>
              <a:rPr lang="en-US" dirty="0">
                <a:solidFill>
                  <a:schemeClr val="tx1">
                    <a:alpha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</a:t>
            </a:r>
            <a:r>
              <a:rPr lang="en-US" dirty="0">
                <a:solidFill>
                  <a:schemeClr val="tx1">
                    <a:alpha val="35000"/>
                  </a:schemeClr>
                </a:solidFill>
              </a:rPr>
              <a:t>" and defining an alias to the struct type in </a:t>
            </a:r>
            <a:r>
              <a:rPr lang="en-US" b="1" u="sng" dirty="0">
                <a:solidFill>
                  <a:schemeClr val="tx2">
                    <a:lumMod val="60000"/>
                    <a:lumOff val="40000"/>
                    <a:alpha val="35000"/>
                  </a:schemeClr>
                </a:solidFill>
              </a:rPr>
              <a:t>one</a:t>
            </a:r>
            <a:r>
              <a:rPr lang="en-US" dirty="0">
                <a:solidFill>
                  <a:schemeClr val="tx1">
                    <a:alpha val="35000"/>
                  </a:schemeClr>
                </a:solidFill>
              </a:rPr>
              <a:t> declaration.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775200" y="4256314"/>
            <a:ext cx="6858000" cy="131717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Defining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 type with </a:t>
            </a:r>
            <a:r>
              <a:rPr lang="en-US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no name</a:t>
            </a:r>
            <a:r>
              <a:rPr lang="en-US" dirty="0"/>
              <a:t> and defining an alias to the struct type in </a:t>
            </a:r>
            <a:r>
              <a:rPr lang="en-US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one</a:t>
            </a:r>
            <a:r>
              <a:rPr lang="en-US" dirty="0"/>
              <a:t> declaration. </a:t>
            </a:r>
          </a:p>
        </p:txBody>
      </p:sp>
      <p:sp>
        <p:nvSpPr>
          <p:cNvPr id="6" name="Rectangle 5"/>
          <p:cNvSpPr/>
          <p:nvPr/>
        </p:nvSpPr>
        <p:spPr>
          <a:xfrm>
            <a:off x="1698172" y="5538874"/>
            <a:ext cx="8969828" cy="636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dirty="0"/>
              <a:t>With the first two approaches, the type can be referred to in the program as 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date</a:t>
            </a:r>
            <a:r>
              <a:rPr lang="en-US" dirty="0"/>
              <a:t>" and 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Date</a:t>
            </a:r>
            <a:r>
              <a:rPr lang="en-US" dirty="0"/>
              <a:t>". With the 3</a:t>
            </a:r>
            <a:r>
              <a:rPr lang="en-US" baseline="30000" dirty="0"/>
              <a:t>rd</a:t>
            </a:r>
            <a:r>
              <a:rPr lang="en-US" dirty="0"/>
              <a:t> approach, the type can only be referred to in the program as 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Date</a:t>
            </a:r>
            <a:r>
              <a:rPr lang="en-US" dirty="0"/>
              <a:t>".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C14F98-9B60-2A50-BC76-3196A0E7A709}"/>
              </a:ext>
            </a:extLst>
          </p:cNvPr>
          <p:cNvGrpSpPr/>
          <p:nvPr/>
        </p:nvGrpSpPr>
        <p:grpSpPr>
          <a:xfrm>
            <a:off x="381000" y="1157514"/>
            <a:ext cx="4267200" cy="4343400"/>
            <a:chOff x="1676400" y="1143000"/>
            <a:chExt cx="4267200" cy="4343400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1676400" y="1143000"/>
              <a:ext cx="4114800" cy="14290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b="0" dirty="0">
                  <a:solidFill>
                    <a:srgbClr val="0000FF">
                      <a:alpha val="35000"/>
                    </a:srgbClr>
                  </a:solidFill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struct</a:t>
              </a:r>
              <a:r>
                <a:rPr lang="en-US" altLang="zh-TW" sz="2000" b="0" dirty="0">
                  <a:solidFill>
                    <a:srgbClr val="000000">
                      <a:alpha val="35000"/>
                    </a:srgbClr>
                  </a:solidFill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date</a:t>
              </a:r>
              <a:r>
                <a:rPr lang="en-US" altLang="zh-TW" sz="2000" b="0" dirty="0">
                  <a:solidFill>
                    <a:srgbClr val="000000">
                      <a:alpha val="35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{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b="0" dirty="0">
                  <a:solidFill>
                    <a:srgbClr val="000000">
                      <a:alpha val="35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sz="2000" b="0" dirty="0">
                  <a:solidFill>
                    <a:srgbClr val="0000FF">
                      <a:alpha val="35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int</a:t>
              </a:r>
              <a:r>
                <a:rPr lang="en-US" altLang="zh-TW" sz="2000" b="0" dirty="0">
                  <a:solidFill>
                    <a:srgbClr val="000000">
                      <a:alpha val="35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day, month, year;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b="0" dirty="0">
                  <a:solidFill>
                    <a:srgbClr val="000000">
                      <a:alpha val="35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};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b="0" dirty="0">
                  <a:solidFill>
                    <a:srgbClr val="0000FF">
                      <a:alpha val="35000"/>
                    </a:srgbClr>
                  </a:solidFill>
                  <a:highlight>
                    <a:srgbClr val="FF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typedef</a:t>
              </a:r>
              <a:r>
                <a:rPr lang="en-US" altLang="zh-TW" sz="2000" b="0" dirty="0">
                  <a:solidFill>
                    <a:srgbClr val="000000">
                      <a:alpha val="35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</a:t>
              </a:r>
              <a:r>
                <a:rPr lang="en-US" altLang="zh-TW" sz="2000" b="0" dirty="0">
                  <a:solidFill>
                    <a:srgbClr val="0000FF">
                      <a:alpha val="35000"/>
                    </a:srgbClr>
                  </a:solidFill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struct</a:t>
              </a:r>
              <a:r>
                <a:rPr lang="en-US" altLang="zh-TW" sz="2000" b="0" dirty="0">
                  <a:solidFill>
                    <a:srgbClr val="000000">
                      <a:alpha val="35000"/>
                    </a:srgbClr>
                  </a:solidFill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date</a:t>
              </a:r>
              <a:r>
                <a:rPr lang="en-US" altLang="zh-TW" sz="2000" b="0" dirty="0">
                  <a:solidFill>
                    <a:srgbClr val="000000">
                      <a:alpha val="35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</a:t>
              </a:r>
              <a:r>
                <a:rPr lang="en-US" altLang="zh-TW" sz="2000" b="0" dirty="0">
                  <a:solidFill>
                    <a:srgbClr val="000000">
                      <a:alpha val="35000"/>
                    </a:srgbClr>
                  </a:solidFill>
                  <a:highlight>
                    <a:srgbClr val="00FFFF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Date</a:t>
              </a:r>
              <a:r>
                <a:rPr lang="en-US" altLang="zh-TW" sz="2000" b="0" dirty="0">
                  <a:solidFill>
                    <a:srgbClr val="000000">
                      <a:alpha val="35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;</a:t>
              </a:r>
            </a:p>
          </p:txBody>
        </p:sp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1676400" y="3057360"/>
              <a:ext cx="4114800" cy="1057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b="0" dirty="0">
                  <a:solidFill>
                    <a:srgbClr val="0000FF">
                      <a:alpha val="35000"/>
                    </a:srgbClr>
                  </a:solidFill>
                  <a:highlight>
                    <a:srgbClr val="FF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typedef</a:t>
              </a:r>
              <a:r>
                <a:rPr lang="en-US" altLang="zh-TW" sz="2000" b="0" dirty="0">
                  <a:solidFill>
                    <a:srgbClr val="000000">
                      <a:alpha val="35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</a:t>
              </a:r>
              <a:r>
                <a:rPr lang="en-US" altLang="zh-TW" sz="2000" b="0" dirty="0">
                  <a:solidFill>
                    <a:srgbClr val="0000FF">
                      <a:alpha val="35000"/>
                    </a:srgbClr>
                  </a:solidFill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struct</a:t>
              </a:r>
              <a:r>
                <a:rPr lang="en-US" altLang="zh-TW" sz="2000" b="0" dirty="0">
                  <a:solidFill>
                    <a:srgbClr val="000000">
                      <a:alpha val="35000"/>
                    </a:srgbClr>
                  </a:solidFill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date</a:t>
              </a:r>
              <a:r>
                <a:rPr lang="en-US" altLang="zh-TW" sz="2000" b="0" dirty="0">
                  <a:solidFill>
                    <a:srgbClr val="000000">
                      <a:alpha val="35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{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b="0" dirty="0">
                  <a:solidFill>
                    <a:srgbClr val="000000">
                      <a:alpha val="35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sz="2000" b="0" dirty="0">
                  <a:solidFill>
                    <a:srgbClr val="0000FF">
                      <a:alpha val="35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int</a:t>
              </a:r>
              <a:r>
                <a:rPr lang="en-US" altLang="zh-TW" sz="2000" b="0" dirty="0">
                  <a:solidFill>
                    <a:srgbClr val="000000">
                      <a:alpha val="35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day, month, year;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b="0" dirty="0">
                  <a:solidFill>
                    <a:srgbClr val="000000">
                      <a:alpha val="35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} </a:t>
              </a:r>
              <a:r>
                <a:rPr lang="en-US" altLang="zh-TW" sz="2000" b="0" dirty="0">
                  <a:solidFill>
                    <a:srgbClr val="000000">
                      <a:alpha val="35000"/>
                    </a:srgbClr>
                  </a:solidFill>
                  <a:highlight>
                    <a:srgbClr val="00FFFF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Date</a:t>
              </a:r>
              <a:r>
                <a:rPr lang="en-US" altLang="zh-TW" sz="2000" b="0" dirty="0">
                  <a:solidFill>
                    <a:srgbClr val="000000">
                      <a:alpha val="35000"/>
                    </a:srgbClr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;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endParaRPr lang="en-US" altLang="zh-TW" sz="2000" b="0" dirty="0">
                <a:solidFill>
                  <a:srgbClr val="000000">
                    <a:alpha val="35000"/>
                  </a:srgb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12" name="Rectangle 3"/>
            <p:cNvSpPr>
              <a:spLocks noChangeArrowheads="1"/>
            </p:cNvSpPr>
            <p:nvPr/>
          </p:nvSpPr>
          <p:spPr bwMode="auto">
            <a:xfrm>
              <a:off x="1687286" y="4343400"/>
              <a:ext cx="4114800" cy="1143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dirty="0">
                  <a:solidFill>
                    <a:srgbClr val="0000FF"/>
                  </a:solidFill>
                  <a:highlight>
                    <a:srgbClr val="FF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typedef</a:t>
              </a: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</a:t>
              </a:r>
              <a:r>
                <a:rPr lang="en-US" altLang="zh-TW" sz="2000" dirty="0">
                  <a:solidFill>
                    <a:srgbClr val="0000FF"/>
                  </a:solidFill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struct</a:t>
              </a: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{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sz="200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int</a:t>
              </a: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day, month, year;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} </a:t>
              </a:r>
              <a:r>
                <a:rPr lang="en-US" altLang="zh-TW" sz="2000" dirty="0">
                  <a:solidFill>
                    <a:srgbClr val="000000"/>
                  </a:solidFill>
                  <a:highlight>
                    <a:srgbClr val="00FFFF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Date</a:t>
              </a:r>
              <a:r>
                <a:rPr lang="en-US" altLang="zh-TW" sz="200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;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endPara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3" name="Curved Left Arrow 2">
              <a:extLst>
                <a:ext uri="{FF2B5EF4-FFF2-40B4-BE49-F238E27FC236}">
                  <a16:creationId xmlns:a16="http://schemas.microsoft.com/office/drawing/2014/main" id="{1C750EEF-6DF8-CF4E-ACB5-FF9581DCA8A6}"/>
                </a:ext>
              </a:extLst>
            </p:cNvPr>
            <p:cNvSpPr/>
            <p:nvPr/>
          </p:nvSpPr>
          <p:spPr>
            <a:xfrm>
              <a:off x="5334000" y="2514600"/>
              <a:ext cx="609600" cy="838200"/>
            </a:xfrm>
            <a:prstGeom prst="curvedLef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alpha val="35000"/>
                  </a:schemeClr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2E7754-0DE5-9E4E-9AF4-CD104ADF542B}"/>
                </a:ext>
              </a:extLst>
            </p:cNvPr>
            <p:cNvSpPr txBox="1"/>
            <p:nvPr/>
          </p:nvSpPr>
          <p:spPr>
            <a:xfrm>
              <a:off x="4574304" y="2752560"/>
              <a:ext cx="1293096" cy="338554"/>
            </a:xfrm>
            <a:prstGeom prst="rect">
              <a:avLst/>
            </a:prstGeom>
            <a:solidFill>
              <a:srgbClr val="F79646">
                <a:alpha val="50196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chemeClr val="tx1">
                      <a:alpha val="35000"/>
                    </a:schemeClr>
                  </a:solidFill>
                </a:rPr>
                <a:t>equivalent to</a:t>
              </a:r>
            </a:p>
          </p:txBody>
        </p:sp>
        <p:sp>
          <p:nvSpPr>
            <p:cNvPr id="13" name="Curved Left Arrow 12">
              <a:extLst>
                <a:ext uri="{FF2B5EF4-FFF2-40B4-BE49-F238E27FC236}">
                  <a16:creationId xmlns:a16="http://schemas.microsoft.com/office/drawing/2014/main" id="{822F59C0-92D7-D345-A129-DA18F3F5BBCB}"/>
                </a:ext>
              </a:extLst>
            </p:cNvPr>
            <p:cNvSpPr/>
            <p:nvPr/>
          </p:nvSpPr>
          <p:spPr>
            <a:xfrm>
              <a:off x="5334000" y="3821430"/>
              <a:ext cx="609600" cy="838200"/>
            </a:xfrm>
            <a:prstGeom prst="curvedLef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alpha val="3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937C430-761F-B94B-84CE-DDBCE27F228D}"/>
                </a:ext>
              </a:extLst>
            </p:cNvPr>
            <p:cNvSpPr txBox="1"/>
            <p:nvPr/>
          </p:nvSpPr>
          <p:spPr>
            <a:xfrm>
              <a:off x="3962400" y="4059390"/>
              <a:ext cx="1905000" cy="338554"/>
            </a:xfrm>
            <a:prstGeom prst="rect">
              <a:avLst/>
            </a:prstGeom>
            <a:solidFill>
              <a:srgbClr val="F79646">
                <a:alpha val="50196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i="1" dirty="0"/>
                <a:t>almost equivalent to</a:t>
              </a:r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9ADE6AE-B80F-C93C-DE65-C0C59FAA71CE}"/>
              </a:ext>
            </a:extLst>
          </p:cNvPr>
          <p:cNvSpPr/>
          <p:nvPr/>
        </p:nvSpPr>
        <p:spPr>
          <a:xfrm>
            <a:off x="2514600" y="3018720"/>
            <a:ext cx="678361" cy="475237"/>
          </a:xfrm>
          <a:prstGeom prst="roundRect">
            <a:avLst/>
          </a:prstGeom>
          <a:noFill/>
          <a:ln w="635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6185406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1.7. Combining </a:t>
            </a:r>
            <a:r>
              <a:rPr lang="en-US" sz="3600" dirty="0">
                <a:latin typeface="Consolas"/>
                <a:cs typeface="Consolas" panose="020B0609020204030204" pitchFamily="49" charset="0"/>
              </a:rPr>
              <a:t>typedef</a:t>
            </a:r>
            <a:r>
              <a:rPr lang="en-US" sz="3600" dirty="0"/>
              <a:t> with structure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334000" y="5466446"/>
            <a:ext cx="6756400" cy="636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400" dirty="0"/>
              <a:t>With the 3</a:t>
            </a:r>
            <a:r>
              <a:rPr lang="en-US" sz="2400" baseline="30000" dirty="0"/>
              <a:t>rd</a:t>
            </a:r>
            <a:r>
              <a:rPr lang="en-US" sz="2400" dirty="0"/>
              <a:t> approach, the type can </a:t>
            </a:r>
            <a:r>
              <a:rPr lang="en-US" sz="2400" b="1" dirty="0"/>
              <a:t>only</a:t>
            </a:r>
            <a:r>
              <a:rPr lang="en-US" sz="2400" dirty="0"/>
              <a:t> be referred to in the program as </a:t>
            </a:r>
            <a:r>
              <a:rPr lang="en-US" sz="2400" b="1" dirty="0"/>
              <a:t>"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Date</a:t>
            </a:r>
            <a:r>
              <a:rPr lang="en-US" sz="2400" b="1" dirty="0"/>
              <a:t>".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81000" y="1157514"/>
            <a:ext cx="4114800" cy="14290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 date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int day, month, year;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typedef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 date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81000" y="3071874"/>
            <a:ext cx="4114800" cy="10574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typedef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 date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int day, month, year;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 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391886" y="4357914"/>
            <a:ext cx="411480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typedef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int day, month, year;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 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3" name="Curved Left Arrow 2">
            <a:extLst>
              <a:ext uri="{FF2B5EF4-FFF2-40B4-BE49-F238E27FC236}">
                <a16:creationId xmlns:a16="http://schemas.microsoft.com/office/drawing/2014/main" id="{1C750EEF-6DF8-CF4E-ACB5-FF9581DCA8A6}"/>
              </a:ext>
            </a:extLst>
          </p:cNvPr>
          <p:cNvSpPr/>
          <p:nvPr/>
        </p:nvSpPr>
        <p:spPr>
          <a:xfrm>
            <a:off x="4038600" y="2529114"/>
            <a:ext cx="609600" cy="838200"/>
          </a:xfrm>
          <a:prstGeom prst="curved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2E7754-0DE5-9E4E-9AF4-CD104ADF542B}"/>
              </a:ext>
            </a:extLst>
          </p:cNvPr>
          <p:cNvSpPr txBox="1"/>
          <p:nvPr/>
        </p:nvSpPr>
        <p:spPr>
          <a:xfrm>
            <a:off x="3278904" y="2767074"/>
            <a:ext cx="1293096" cy="338554"/>
          </a:xfrm>
          <a:prstGeom prst="rect">
            <a:avLst/>
          </a:prstGeom>
          <a:solidFill>
            <a:srgbClr val="F79646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600" i="1" dirty="0"/>
              <a:t>equivalent to</a:t>
            </a:r>
          </a:p>
        </p:txBody>
      </p:sp>
      <p:sp>
        <p:nvSpPr>
          <p:cNvPr id="13" name="Curved Left Arrow 12">
            <a:extLst>
              <a:ext uri="{FF2B5EF4-FFF2-40B4-BE49-F238E27FC236}">
                <a16:creationId xmlns:a16="http://schemas.microsoft.com/office/drawing/2014/main" id="{822F59C0-92D7-D345-A129-DA18F3F5BBCB}"/>
              </a:ext>
            </a:extLst>
          </p:cNvPr>
          <p:cNvSpPr/>
          <p:nvPr/>
        </p:nvSpPr>
        <p:spPr>
          <a:xfrm>
            <a:off x="4038600" y="3835944"/>
            <a:ext cx="609600" cy="838200"/>
          </a:xfrm>
          <a:prstGeom prst="curved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37C430-761F-B94B-84CE-DDBCE27F228D}"/>
              </a:ext>
            </a:extLst>
          </p:cNvPr>
          <p:cNvSpPr txBox="1"/>
          <p:nvPr/>
        </p:nvSpPr>
        <p:spPr>
          <a:xfrm>
            <a:off x="2667000" y="4073904"/>
            <a:ext cx="1905000" cy="338554"/>
          </a:xfrm>
          <a:prstGeom prst="rect">
            <a:avLst/>
          </a:prstGeom>
          <a:solidFill>
            <a:srgbClr val="F79646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600" i="1" dirty="0"/>
              <a:t>almost equivalent to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9ADE6AE-B80F-C93C-DE65-C0C59FAA71CE}"/>
              </a:ext>
            </a:extLst>
          </p:cNvPr>
          <p:cNvSpPr/>
          <p:nvPr/>
        </p:nvSpPr>
        <p:spPr>
          <a:xfrm>
            <a:off x="2514600" y="3018720"/>
            <a:ext cx="678361" cy="475237"/>
          </a:xfrm>
          <a:prstGeom prst="roundRect">
            <a:avLst/>
          </a:prstGeom>
          <a:noFill/>
          <a:ln w="635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F2320962-23A7-F174-48C2-D6E2C2B1C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931998"/>
            <a:ext cx="3276600" cy="1371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Date</a:t>
            </a: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d1, d2;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d3;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72F82313-607A-D0FF-B711-7FC0AD04E408}"/>
              </a:ext>
            </a:extLst>
          </p:cNvPr>
          <p:cNvSpPr/>
          <p:nvPr/>
        </p:nvSpPr>
        <p:spPr>
          <a:xfrm rot="1007545">
            <a:off x="4703196" y="1823717"/>
            <a:ext cx="1438057" cy="3737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A07A0FF7-FA1B-7AEE-AB72-BD5399C8B31E}"/>
              </a:ext>
            </a:extLst>
          </p:cNvPr>
          <p:cNvSpPr/>
          <p:nvPr/>
        </p:nvSpPr>
        <p:spPr>
          <a:xfrm rot="20344820">
            <a:off x="4699197" y="2641640"/>
            <a:ext cx="1438057" cy="3737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E6AAF099-0852-3994-A3E0-C9A3E6ACA6A5}"/>
              </a:ext>
            </a:extLst>
          </p:cNvPr>
          <p:cNvSpPr/>
          <p:nvPr/>
        </p:nvSpPr>
        <p:spPr>
          <a:xfrm>
            <a:off x="4728189" y="4568783"/>
            <a:ext cx="1438057" cy="3737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E7D8CB9-C30E-B462-C46F-000F894091B2}"/>
              </a:ext>
            </a:extLst>
          </p:cNvPr>
          <p:cNvGrpSpPr/>
          <p:nvPr/>
        </p:nvGrpSpPr>
        <p:grpSpPr>
          <a:xfrm>
            <a:off x="6418061" y="4129314"/>
            <a:ext cx="3276600" cy="1371600"/>
            <a:chOff x="6418061" y="4129314"/>
            <a:chExt cx="3276600" cy="1371600"/>
          </a:xfrm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87D894C9-5172-0331-CC23-D4506B180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8061" y="4129314"/>
              <a:ext cx="3276600" cy="1371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b="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int</a:t>
              </a:r>
              <a:r>
                <a:rPr lang="en-US" altLang="zh-TW" sz="2000" b="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main(</a:t>
              </a:r>
              <a:r>
                <a:rPr lang="en-US" altLang="zh-TW" sz="2000" b="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void</a:t>
              </a:r>
              <a:r>
                <a:rPr lang="en-US" altLang="zh-TW" sz="2000" b="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) {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b="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sz="2000" b="0" dirty="0">
                  <a:highlight>
                    <a:srgbClr val="00FFFF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Date</a:t>
              </a:r>
              <a:r>
                <a:rPr lang="en-US" altLang="zh-TW" sz="2000" b="0" dirty="0">
                  <a:solidFill>
                    <a:srgbClr val="C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</a:t>
              </a:r>
              <a:r>
                <a:rPr lang="en-US" altLang="zh-TW" sz="2000" b="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d1, d2;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b="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sz="2000" b="0" dirty="0">
                  <a:solidFill>
                    <a:srgbClr val="0000FF"/>
                  </a:solidFill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struct</a:t>
              </a:r>
              <a:r>
                <a:rPr lang="en-US" altLang="zh-TW" sz="2000" b="0" dirty="0">
                  <a:solidFill>
                    <a:srgbClr val="000000"/>
                  </a:solidFill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date </a:t>
              </a:r>
              <a:r>
                <a:rPr lang="en-US" altLang="zh-TW" sz="2000" b="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d3;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tabLst/>
              </a:pPr>
              <a:r>
                <a:rPr lang="en-US" altLang="zh-TW" sz="2000" b="0" dirty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}</a:t>
              </a:r>
              <a:r>
                <a:rPr lang="en-US" altLang="zh-TW" sz="20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93E12B2-E363-B4AF-5F42-BF514EC8BAFF}"/>
                </a:ext>
              </a:extLst>
            </p:cNvPr>
            <p:cNvSpPr/>
            <p:nvPr/>
          </p:nvSpPr>
          <p:spPr>
            <a:xfrm>
              <a:off x="6989561" y="4870026"/>
              <a:ext cx="2133600" cy="10536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3443AD5-A2D1-2C95-21D1-27057A810D66}"/>
              </a:ext>
            </a:extLst>
          </p:cNvPr>
          <p:cNvSpPr txBox="1"/>
          <p:nvPr/>
        </p:nvSpPr>
        <p:spPr>
          <a:xfrm>
            <a:off x="4940494" y="955503"/>
            <a:ext cx="70828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With the first two approaches, the type can be referred to in the program as </a:t>
            </a:r>
            <a:r>
              <a:rPr lang="en-US" altLang="zh-CN" sz="2400" b="1" dirty="0"/>
              <a:t>"</a:t>
            </a:r>
            <a:r>
              <a:rPr lang="en-US" altLang="zh-CN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struct date</a:t>
            </a:r>
            <a:r>
              <a:rPr lang="en-US" altLang="zh-CN" sz="2400" b="1" dirty="0"/>
              <a:t>" and "</a:t>
            </a:r>
            <a:r>
              <a:rPr lang="en-US" altLang="zh-CN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Date</a:t>
            </a:r>
            <a:r>
              <a:rPr lang="en-US" altLang="zh-CN" sz="2400" b="1" dirty="0"/>
              <a:t>". 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573378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2" grpId="0" animBg="1"/>
      <p:bldP spid="3" grpId="0" animBg="1"/>
      <p:bldP spid="5" grpId="0" animBg="1"/>
      <p:bldP spid="13" grpId="0" animBg="1"/>
      <p:bldP spid="17" grpId="0" animBg="1"/>
      <p:bldP spid="10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1.7. More </a:t>
            </a:r>
            <a:r>
              <a:rPr lang="en-US" altLang="zh-TW" dirty="0">
                <a:latin typeface="Consolas"/>
                <a:ea typeface="新細明體"/>
                <a:cs typeface="Consolas" panose="020B0609020204030204" pitchFamily="49" charset="0"/>
              </a:rPr>
              <a:t>typedef</a:t>
            </a:r>
            <a:r>
              <a:rPr lang="en-US" altLang="zh-TW" dirty="0">
                <a:ea typeface="新細明體"/>
              </a:rPr>
              <a:t> examples </a:t>
            </a:r>
            <a:endParaRPr lang="en-US" altLang="zh-TW" dirty="0"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student</a:t>
            </a:r>
            <a:r>
              <a:rPr lang="en-US" altLang="zh-TW" sz="2000" dirty="0">
                <a:latin typeface="Consolas" panose="020B0609020204030204" pitchFamily="49" charset="0"/>
                <a:ea typeface="新細明體" panose="02020500000000000000" pitchFamily="18" charset="-120"/>
              </a:rPr>
              <a:t> {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  <a:ea typeface="新細明體" panose="02020500000000000000" pitchFamily="18" charset="-120"/>
              </a:rPr>
              <a:t>  char    id[11];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  <a:ea typeface="新細明體" panose="02020500000000000000" pitchFamily="18" charset="-120"/>
              </a:rPr>
              <a:t>  char    name[40];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  <a:ea typeface="新細明體" panose="02020500000000000000" pitchFamily="18" charset="-120"/>
              </a:rPr>
              <a:t>  double  </a:t>
            </a:r>
            <a:r>
              <a:rPr lang="en-US" altLang="zh-TW" sz="2000" dirty="0" err="1">
                <a:latin typeface="Consolas" panose="020B0609020204030204" pitchFamily="49" charset="0"/>
                <a:ea typeface="新細明體" panose="02020500000000000000" pitchFamily="18" charset="-120"/>
              </a:rPr>
              <a:t>gpa</a:t>
            </a:r>
            <a:r>
              <a:rPr lang="en-US" altLang="zh-TW" sz="2000" dirty="0"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  <a:ea typeface="新細明體" panose="02020500000000000000" pitchFamily="18" charset="-120"/>
              </a:rPr>
              <a:t>};   </a:t>
            </a:r>
            <a:r>
              <a:rPr lang="en-US" altLang="zh-TW" sz="20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/* A structure declaration */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z="2000" dirty="0">
              <a:solidFill>
                <a:srgbClr val="0099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typedef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 student</a:t>
            </a:r>
            <a:r>
              <a:rPr lang="en-US" altLang="zh-TW" sz="2000" dirty="0">
                <a:solidFill>
                  <a:srgbClr val="0099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dirty="0" err="1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STUDENT_t</a:t>
            </a:r>
            <a:r>
              <a:rPr lang="en-US" altLang="zh-TW" sz="2000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;  </a:t>
            </a:r>
            <a:r>
              <a:rPr lang="en-US" altLang="zh-TW" sz="2000" dirty="0">
                <a:solidFill>
                  <a:srgbClr val="0099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/* An alias */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  <a:ea typeface="新細明體" panose="02020500000000000000" pitchFamily="18" charset="-120"/>
              </a:rPr>
              <a:t>...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dirty="0" err="1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STUDENT_t</a:t>
            </a:r>
            <a:r>
              <a:rPr lang="en-US" altLang="zh-TW" sz="2000" dirty="0">
                <a:latin typeface="Consolas" panose="020B0609020204030204" pitchFamily="49" charset="0"/>
                <a:ea typeface="新細明體" panose="02020500000000000000" pitchFamily="18" charset="-120"/>
              </a:rPr>
              <a:t>  peter;	</a:t>
            </a:r>
            <a:r>
              <a:rPr lang="en-US" altLang="zh-TW" sz="20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/* Declare variable peter */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z="2000" dirty="0">
              <a:solidFill>
                <a:schemeClr val="bg2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Define </a:t>
            </a:r>
            <a:r>
              <a:rPr lang="en-US" altLang="zh-TW" sz="2400" dirty="0" err="1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STUDENT_t</a:t>
            </a:r>
            <a:r>
              <a:rPr lang="en-US" altLang="zh-TW" sz="2400" dirty="0">
                <a:ea typeface="新細明體" panose="02020500000000000000" pitchFamily="18" charset="-120"/>
              </a:rPr>
              <a:t> as an </a:t>
            </a:r>
            <a:r>
              <a:rPr lang="en-US" altLang="zh-TW" sz="2400" i="1" dirty="0">
                <a:ea typeface="新細明體" panose="02020500000000000000" pitchFamily="18" charset="-120"/>
              </a:rPr>
              <a:t>alias</a:t>
            </a:r>
            <a:r>
              <a:rPr lang="en-US" altLang="zh-TW" sz="2400" dirty="0">
                <a:ea typeface="新細明體" panose="02020500000000000000" pitchFamily="18" charset="-120"/>
              </a:rPr>
              <a:t> to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student</a:t>
            </a:r>
            <a:r>
              <a:rPr lang="en-US" altLang="zh-TW" sz="2400" dirty="0">
                <a:ea typeface="新細明體" panose="02020500000000000000" pitchFamily="18" charset="-120"/>
              </a:rPr>
              <a:t>. This allows shorter type names.</a:t>
            </a:r>
          </a:p>
          <a:p>
            <a:pPr>
              <a:lnSpc>
                <a:spcPct val="90000"/>
              </a:lnSpc>
            </a:pPr>
            <a:endParaRPr lang="en-US" altLang="zh-TW" sz="2400" dirty="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400" dirty="0" err="1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STUDENT_t</a:t>
            </a:r>
            <a:r>
              <a:rPr lang="en-US" altLang="zh-TW" sz="2400" dirty="0">
                <a:ea typeface="新細明體"/>
              </a:rPr>
              <a:t> is also called a </a:t>
            </a:r>
            <a:r>
              <a:rPr lang="en-US" altLang="zh-TW" sz="2400" i="1" u="sng" dirty="0">
                <a:ea typeface="新細明體"/>
              </a:rPr>
              <a:t>Type-Defined Structure</a:t>
            </a:r>
            <a:r>
              <a:rPr lang="en-US" altLang="zh-TW" sz="2400" dirty="0">
                <a:ea typeface="新細明體"/>
              </a:rPr>
              <a:t>.</a:t>
            </a:r>
            <a:endParaRPr lang="en-US" altLang="zh-TW" sz="2400" dirty="0">
              <a:ea typeface="新細明體"/>
              <a:cs typeface="Calibri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3215AB-4E96-3742-AB84-2E95524E5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098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64CE95-86CE-ECBE-0767-427EDDF41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Basic</a:t>
            </a:r>
            <a:endParaRPr lang="LID4096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00A481-1985-C6E8-FF9E-78912D4AA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85" y="1066800"/>
            <a:ext cx="5316415" cy="5105400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ea typeface="新細明體"/>
              </a:rPr>
              <a:t>Defining</a:t>
            </a:r>
          </a:p>
          <a:p>
            <a:r>
              <a:rPr lang="en-US" altLang="zh-TW" sz="3200" dirty="0">
                <a:ea typeface="新細明體"/>
              </a:rPr>
              <a:t>Initializing</a:t>
            </a:r>
          </a:p>
          <a:p>
            <a:r>
              <a:rPr lang="en-US" sz="3200" dirty="0">
                <a:ea typeface="新細明體"/>
              </a:rPr>
              <a:t>Accessing </a:t>
            </a:r>
            <a:r>
              <a:rPr lang="en-US" sz="3200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</a:t>
            </a:r>
            <a:r>
              <a:rPr lang="en-US" sz="3200" dirty="0">
                <a:ea typeface="新細明體"/>
              </a:rPr>
              <a:t> Members</a:t>
            </a:r>
          </a:p>
          <a:p>
            <a:r>
              <a:rPr lang="en-US" sz="3200" dirty="0"/>
              <a:t>Assignment of Structures</a:t>
            </a:r>
          </a:p>
          <a:p>
            <a:r>
              <a:rPr lang="en-US" sz="3200" dirty="0">
                <a:latin typeface="Consolas"/>
                <a:cs typeface="Consolas" panose="020B0609020204030204" pitchFamily="49" charset="0"/>
              </a:rPr>
              <a:t>typedef</a:t>
            </a:r>
            <a:endParaRPr lang="LID4096" sz="3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9A41BE-97B5-5CDF-2FD9-99C4361F9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28FF3FB-5106-4BF7-2437-8D0870B75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1266885"/>
            <a:ext cx="6518031" cy="50783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#include &lt;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stdio.h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&gt;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typedef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	name[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</a:rPr>
              <a:t>40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b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</a:rPr>
              <a:t>int		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birth[3];</a:t>
            </a:r>
            <a:b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zh-TW" dirty="0">
                <a:solidFill>
                  <a:srgbClr val="000000"/>
                </a:solidFill>
                <a:highlight>
                  <a:srgbClr val="CCCEFF"/>
                </a:highlight>
                <a:latin typeface="Consolas" panose="020B0609020204030204" pitchFamily="49" charset="0"/>
              </a:rPr>
              <a:t>student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main()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TW" dirty="0">
                <a:solidFill>
                  <a:srgbClr val="000000"/>
                </a:solidFill>
                <a:highlight>
                  <a:srgbClr val="CCCEFF"/>
                </a:highlight>
                <a:latin typeface="Consolas" panose="020B0609020204030204" pitchFamily="49" charset="0"/>
              </a:rPr>
              <a:t>student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 stu1={"Peter", {2006,3}}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en-US" altLang="zh-TW" dirty="0">
                <a:solidFill>
                  <a:srgbClr val="000000"/>
                </a:solidFill>
                <a:highlight>
                  <a:srgbClr val="CCCEFF"/>
                </a:highlight>
                <a:latin typeface="Consolas" panose="020B0609020204030204" pitchFamily="49" charset="0"/>
              </a:rPr>
              <a:t>student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 stu2;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"student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1: %s date %d\n",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                 stu1.name, stu1.birth[2]);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TW" dirty="0">
                <a:solidFill>
                  <a:srgbClr val="FF3300"/>
                </a:solidFill>
                <a:latin typeface="Consolas" panose="020B0609020204030204" pitchFamily="49" charset="0"/>
              </a:rPr>
              <a:t>stu2 = stu1;</a:t>
            </a:r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0;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722815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2. Structures and Functions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3200" dirty="0">
                <a:ea typeface="新細明體" panose="02020500000000000000" pitchFamily="18" charset="-120"/>
              </a:rPr>
              <a:t>2.1. Structures as Function </a:t>
            </a:r>
            <a:r>
              <a:rPr lang="en-US" altLang="zh-TW" sz="3200" b="1" u="sng" dirty="0">
                <a:ea typeface="新細明體" panose="02020500000000000000" pitchFamily="18" charset="-120"/>
              </a:rPr>
              <a:t>Parameters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32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		</a:t>
            </a:r>
            <a:r>
              <a:rPr lang="en-US" altLang="zh-TW" sz="1600" dirty="0">
                <a:ea typeface="新細明體" panose="02020500000000000000" pitchFamily="18" charset="-120"/>
              </a:rPr>
              <a:t>				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3200" dirty="0">
                <a:ea typeface="新細明體" panose="02020500000000000000" pitchFamily="18" charset="-120"/>
              </a:rPr>
              <a:t>2.2. Structures as Function </a:t>
            </a:r>
            <a:r>
              <a:rPr lang="en-US" altLang="zh-TW" sz="3200" b="1" u="sng" dirty="0">
                <a:ea typeface="新細明體" panose="02020500000000000000" pitchFamily="18" charset="-120"/>
              </a:rPr>
              <a:t>Return</a:t>
            </a:r>
            <a:r>
              <a:rPr lang="en-US" altLang="zh-TW" sz="3200" dirty="0">
                <a:ea typeface="新細明體" panose="02020500000000000000" pitchFamily="18" charset="-120"/>
              </a:rPr>
              <a:t> Values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32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		</a:t>
            </a:r>
            <a:endParaRPr lang="en-US" altLang="zh-TW" sz="2400" dirty="0">
              <a:solidFill>
                <a:srgbClr val="CC66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ea typeface="新細明體" panose="02020500000000000000" pitchFamily="18" charset="-120"/>
              </a:rPr>
              <a:t>	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3200" dirty="0">
                <a:ea typeface="新細明體" panose="02020500000000000000" pitchFamily="18" charset="-120"/>
              </a:rPr>
              <a:t>2.3. Structures as </a:t>
            </a:r>
            <a:r>
              <a:rPr lang="en-US" altLang="zh-TW" sz="3200" b="1" u="sng" dirty="0">
                <a:ea typeface="新細明體" panose="02020500000000000000" pitchFamily="18" charset="-120"/>
              </a:rPr>
              <a:t>BOTH</a:t>
            </a:r>
            <a:r>
              <a:rPr lang="en-US" altLang="zh-TW" sz="3200" dirty="0">
                <a:ea typeface="新細明體" panose="02020500000000000000" pitchFamily="18" charset="-120"/>
              </a:rPr>
              <a:t> Function Parameters and Function Return Values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4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		</a:t>
            </a:r>
            <a:endParaRPr lang="en-US" altLang="zh-TW" sz="3200" dirty="0">
              <a:ea typeface="新細明體" panose="02020500000000000000" pitchFamily="18" charset="-12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C8F1EEA-E13C-2146-BC81-2A9018634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DBE797E4-070E-E4E0-5538-40AC5BE97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572000"/>
            <a:ext cx="7378943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/* define a NEW type for storing rational number */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0000FF"/>
                </a:solidFill>
                <a:highlight>
                  <a:srgbClr val="CCCE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sz="2000" dirty="0">
                <a:solidFill>
                  <a:srgbClr val="000000"/>
                </a:solidFill>
                <a:highlight>
                  <a:srgbClr val="CCCE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 rational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{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num; </a:t>
            </a:r>
            <a:r>
              <a:rPr lang="en-US" altLang="zh-TW" sz="20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// numerator 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den; </a:t>
            </a:r>
            <a:r>
              <a:rPr lang="en-US" altLang="zh-TW" sz="20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// denominator 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  <a:endParaRPr lang="zh-TW" altLang="en-US" sz="20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2331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9468" y="-98391"/>
            <a:ext cx="8229600" cy="1143000"/>
          </a:xfrm>
        </p:spPr>
        <p:txBody>
          <a:bodyPr/>
          <a:lstStyle/>
          <a:p>
            <a:r>
              <a:rPr lang="en-US" altLang="zh-TW" sz="3400" dirty="0">
                <a:ea typeface="新細明體" panose="02020500000000000000" pitchFamily="18" charset="-120"/>
              </a:rPr>
              <a:t>2.1. Structures as Function Parameters</a:t>
            </a:r>
            <a:endParaRPr lang="zh-TW" altLang="en-US" sz="3400" dirty="0"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46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304800" y="1227172"/>
                <a:ext cx="11887200" cy="494502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TW" sz="3200" dirty="0">
                    <a:ea typeface="新細明體" panose="02020500000000000000" pitchFamily="18" charset="-120"/>
                  </a:rPr>
                  <a:t>Rational (Fractional) Number</a:t>
                </a:r>
              </a:p>
              <a:p>
                <a:pPr lvl="1">
                  <a:lnSpc>
                    <a:spcPct val="90000"/>
                  </a:lnSpc>
                  <a:spcBef>
                    <a:spcPts val="0"/>
                  </a:spcBef>
                </a:pPr>
                <a:r>
                  <a:rPr lang="en-US" altLang="zh-TW" dirty="0">
                    <a:ea typeface="新細明體" panose="02020500000000000000" pitchFamily="18" charset="-120"/>
                  </a:rPr>
                  <a:t>Form of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numerator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denominator</m:t>
                        </m:r>
                      </m:den>
                    </m:f>
                  </m:oMath>
                </a14:m>
                <a:r>
                  <a:rPr lang="en-US" altLang="zh-TW" dirty="0">
                    <a:ea typeface="新細明體" panose="02020500000000000000" pitchFamily="18" charset="-120"/>
                  </a:rPr>
                  <a:t> , or </a:t>
                </a:r>
              </a:p>
              <a:p>
                <a:pPr marL="457200" lvl="1" indent="0">
                  <a:lnSpc>
                    <a:spcPct val="160000"/>
                  </a:lnSpc>
                  <a:spcBef>
                    <a:spcPts val="0"/>
                  </a:spcBef>
                  <a:buNone/>
                </a:pPr>
                <a:r>
                  <a:rPr lang="en-US" altLang="zh-TW" dirty="0">
                    <a:ea typeface="新細明體" panose="02020500000000000000" pitchFamily="18" charset="-120"/>
                  </a:rPr>
                  <a:t>	simply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num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den</m:t>
                        </m:r>
                      </m:den>
                    </m:f>
                  </m:oMath>
                </a14:m>
                <a:r>
                  <a:rPr lang="en-US" altLang="zh-TW" dirty="0">
                    <a:ea typeface="新細明體" panose="02020500000000000000" pitchFamily="18" charset="-120"/>
                  </a:rPr>
                  <a:t> , where </a:t>
                </a:r>
                <a:r>
                  <a:rPr lang="en-US" altLang="zh-TW" i="1" dirty="0">
                    <a:ea typeface="新細明體" panose="02020500000000000000" pitchFamily="18" charset="-120"/>
                  </a:rPr>
                  <a:t>num</a:t>
                </a:r>
                <a:r>
                  <a:rPr lang="en-US" altLang="zh-TW" dirty="0">
                    <a:ea typeface="新細明體" panose="02020500000000000000" pitchFamily="18" charset="-120"/>
                  </a:rPr>
                  <a:t> and </a:t>
                </a:r>
                <a:r>
                  <a:rPr lang="en-US" altLang="zh-TW" i="1" dirty="0">
                    <a:ea typeface="新細明體" panose="02020500000000000000" pitchFamily="18" charset="-120"/>
                  </a:rPr>
                  <a:t>den</a:t>
                </a:r>
                <a:r>
                  <a:rPr lang="en-US" altLang="zh-TW" dirty="0">
                    <a:ea typeface="新細明體" panose="02020500000000000000" pitchFamily="18" charset="-120"/>
                  </a:rPr>
                  <a:t> are integers. </a:t>
                </a:r>
              </a:p>
              <a:p>
                <a:pPr lvl="8">
                  <a:lnSpc>
                    <a:spcPct val="90000"/>
                  </a:lnSpc>
                  <a:spcBef>
                    <a:spcPts val="0"/>
                  </a:spcBef>
                </a:pPr>
                <a:endParaRPr lang="en-US" altLang="zh-TW" sz="1800" dirty="0">
                  <a:ea typeface="新細明體" panose="02020500000000000000" pitchFamily="18" charset="-120"/>
                </a:endParaRPr>
              </a:p>
              <a:p>
                <a:pPr lvl="1">
                  <a:lnSpc>
                    <a:spcPct val="90000"/>
                  </a:lnSpc>
                  <a:spcBef>
                    <a:spcPts val="0"/>
                  </a:spcBef>
                </a:pPr>
                <a:r>
                  <a:rPr lang="en-US" altLang="zh-TW" dirty="0">
                    <a:ea typeface="新細明體" panose="02020500000000000000" pitchFamily="18" charset="-120"/>
                  </a:rPr>
                  <a:t>To simplify the example, we assume both </a:t>
                </a:r>
                <a:r>
                  <a:rPr lang="en-US" altLang="zh-TW" i="1" dirty="0">
                    <a:ea typeface="新細明體" panose="02020500000000000000" pitchFamily="18" charset="-120"/>
                  </a:rPr>
                  <a:t>num</a:t>
                </a:r>
                <a:r>
                  <a:rPr lang="en-US" altLang="zh-TW" dirty="0">
                    <a:ea typeface="新細明體" panose="02020500000000000000" pitchFamily="18" charset="-120"/>
                  </a:rPr>
                  <a:t> and </a:t>
                </a:r>
                <a:r>
                  <a:rPr lang="en-US" altLang="zh-TW" i="1" dirty="0">
                    <a:ea typeface="新細明體" panose="02020500000000000000" pitchFamily="18" charset="-120"/>
                  </a:rPr>
                  <a:t>den</a:t>
                </a:r>
                <a:r>
                  <a:rPr lang="en-US" altLang="zh-TW" dirty="0">
                    <a:ea typeface="新細明體" panose="02020500000000000000" pitchFamily="18" charset="-120"/>
                  </a:rPr>
                  <a:t> are positive integers.</a:t>
                </a:r>
              </a:p>
            </p:txBody>
          </p:sp>
        </mc:Choice>
        <mc:Fallback>
          <p:sp>
            <p:nvSpPr>
              <p:cNvPr id="6246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304800" y="1227172"/>
                <a:ext cx="11887200" cy="4945029"/>
              </a:xfrm>
              <a:blipFill>
                <a:blip r:embed="rId3"/>
                <a:stretch>
                  <a:fillRect l="-1179" t="-2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0F904-5635-004A-88A6-835C6625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Rectangle 25">
            <a:extLst>
              <a:ext uri="{FF2B5EF4-FFF2-40B4-BE49-F238E27FC236}">
                <a16:creationId xmlns:a16="http://schemas.microsoft.com/office/drawing/2014/main" id="{0F329874-AF72-1F65-FCC3-469EF850B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0805" y="1427984"/>
            <a:ext cx="1076325" cy="3794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" name="Rectangle 26">
            <a:extLst>
              <a:ext uri="{FF2B5EF4-FFF2-40B4-BE49-F238E27FC236}">
                <a16:creationId xmlns:a16="http://schemas.microsoft.com/office/drawing/2014/main" id="{4A44F6B6-F7A7-11FB-65BD-A304FF665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0805" y="1791521"/>
            <a:ext cx="1076325" cy="376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7" name="Text Box 28">
            <a:extLst>
              <a:ext uri="{FF2B5EF4-FFF2-40B4-BE49-F238E27FC236}">
                <a16:creationId xmlns:a16="http://schemas.microsoft.com/office/drawing/2014/main" id="{EA5F6F32-AC18-69A1-3339-C46CDC2BB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1440684"/>
            <a:ext cx="11762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 num</a:t>
            </a:r>
          </a:p>
        </p:txBody>
      </p:sp>
      <p:sp>
        <p:nvSpPr>
          <p:cNvPr id="9" name="Text Box 30">
            <a:extLst>
              <a:ext uri="{FF2B5EF4-FFF2-40B4-BE49-F238E27FC236}">
                <a16:creationId xmlns:a16="http://schemas.microsoft.com/office/drawing/2014/main" id="{657F2218-DAA5-2408-E3DA-23BBA98FD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7352" y="1794974"/>
            <a:ext cx="11762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 den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53A3E05-ECFF-6F66-D5C7-CFEF602F722D}"/>
              </a:ext>
            </a:extLst>
          </p:cNvPr>
          <p:cNvSpPr/>
          <p:nvPr/>
        </p:nvSpPr>
        <p:spPr>
          <a:xfrm>
            <a:off x="7788729" y="1194513"/>
            <a:ext cx="2620132" cy="114300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27BC851-9196-284D-8491-DEC1B18E358B}"/>
              </a:ext>
            </a:extLst>
          </p:cNvPr>
          <p:cNvSpPr txBox="1"/>
          <p:nvPr/>
        </p:nvSpPr>
        <p:spPr>
          <a:xfrm>
            <a:off x="7850263" y="966576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 rational</a:t>
            </a:r>
            <a:r>
              <a:rPr lang="en-US" altLang="zh-TW" dirty="0"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endParaRPr lang="en-HK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C20AA4-6191-09C1-E857-9BC810212F02}"/>
              </a:ext>
            </a:extLst>
          </p:cNvPr>
          <p:cNvSpPr txBox="1"/>
          <p:nvPr/>
        </p:nvSpPr>
        <p:spPr>
          <a:xfrm>
            <a:off x="1219200" y="3994856"/>
            <a:ext cx="10058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800" b="1" dirty="0"/>
              <a:t> a=0.3;    </a:t>
            </a:r>
          </a:p>
          <a:p>
            <a:r>
              <a:rPr lang="en-US" sz="2800" b="1" dirty="0" err="1"/>
              <a:t>printf</a:t>
            </a:r>
            <a:r>
              <a:rPr lang="en-US" sz="2800" b="1" dirty="0"/>
              <a:t>("%.20f",a);                  0.29999999999999998890</a:t>
            </a:r>
          </a:p>
          <a:p>
            <a:endParaRPr lang="en-US" sz="2800" b="1" dirty="0"/>
          </a:p>
          <a:p>
            <a:endParaRPr lang="LID4096" sz="2800" b="1" dirty="0"/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B744208A-A656-8AA7-A9B0-31D1D7DB0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204334"/>
            <a:ext cx="5452134" cy="14219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FF"/>
                </a:solidFill>
                <a:highlight>
                  <a:srgbClr val="CCCE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sz="2400" dirty="0">
                <a:solidFill>
                  <a:srgbClr val="000000"/>
                </a:solidFill>
                <a:highlight>
                  <a:srgbClr val="CCCE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 rational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{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num; </a:t>
            </a: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// numerator </a:t>
            </a:r>
            <a:endParaRPr lang="en-US" altLang="zh-TW" sz="24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den; </a:t>
            </a: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// denominator </a:t>
            </a:r>
            <a:endParaRPr lang="en-US" altLang="zh-TW" sz="24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  <a:endParaRPr lang="zh-TW" altLang="en-US" sz="24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C62931-3157-4FFF-9572-B756D3DFDCEC}"/>
                  </a:ext>
                </a:extLst>
              </p:cNvPr>
              <p:cNvSpPr txBox="1"/>
              <p:nvPr/>
            </p:nvSpPr>
            <p:spPr>
              <a:xfrm>
                <a:off x="10576973" y="1167641"/>
                <a:ext cx="1446914" cy="1169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4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sz="4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 sz="4400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altLang="zh-TW" sz="4400" dirty="0"/>
                  <a:t> </a:t>
                </a:r>
                <a:endParaRPr lang="zh-CN" altLang="en-US" sz="4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C62931-3157-4FFF-9572-B756D3DFD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6973" y="1167641"/>
                <a:ext cx="1446914" cy="11698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572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2. Structures and Functions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3200" dirty="0">
                <a:ea typeface="新細明體" panose="02020500000000000000" pitchFamily="18" charset="-120"/>
              </a:rPr>
              <a:t>2.1. Structures as Function </a:t>
            </a:r>
            <a:r>
              <a:rPr lang="en-US" altLang="zh-TW" sz="3200" b="1" u="sng" dirty="0">
                <a:ea typeface="新細明體" panose="02020500000000000000" pitchFamily="18" charset="-120"/>
              </a:rPr>
              <a:t>Parameters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32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		</a:t>
            </a:r>
            <a:r>
              <a:rPr lang="en-US" altLang="zh-TW" sz="24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void </a:t>
            </a:r>
            <a:r>
              <a:rPr lang="en-US" altLang="zh-TW" sz="2400" dirty="0" err="1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func</a:t>
            </a:r>
            <a:r>
              <a:rPr lang="en-US" altLang="zh-TW" sz="24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</a:t>
            </a:r>
            <a:r>
              <a:rPr lang="en-US" altLang="zh-TW" sz="2400" dirty="0">
                <a:solidFill>
                  <a:srgbClr val="0100FF"/>
                </a:solidFill>
                <a:highlight>
                  <a:srgbClr val="CCCE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sz="2400" dirty="0">
                <a:solidFill>
                  <a:srgbClr val="FF3300"/>
                </a:solidFill>
                <a:highlight>
                  <a:srgbClr val="CCCE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sz="2400" dirty="0">
                <a:highlight>
                  <a:srgbClr val="CCCE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rational</a:t>
            </a: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rat</a:t>
            </a:r>
            <a:r>
              <a:rPr lang="en-US" altLang="zh-TW" sz="24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600" dirty="0">
                <a:ea typeface="新細明體" panose="02020500000000000000" pitchFamily="18" charset="-120"/>
              </a:rPr>
              <a:t>				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3200" dirty="0">
                <a:ea typeface="新細明體" panose="02020500000000000000" pitchFamily="18" charset="-120"/>
              </a:rPr>
              <a:t>2.2. Structures as Function </a:t>
            </a:r>
            <a:r>
              <a:rPr lang="en-US" altLang="zh-TW" sz="3200" b="1" u="sng" dirty="0">
                <a:ea typeface="新細明體" panose="02020500000000000000" pitchFamily="18" charset="-120"/>
              </a:rPr>
              <a:t>Return</a:t>
            </a:r>
            <a:r>
              <a:rPr lang="en-US" altLang="zh-TW" sz="3200" dirty="0">
                <a:ea typeface="新細明體" panose="02020500000000000000" pitchFamily="18" charset="-120"/>
              </a:rPr>
              <a:t> Values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32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		</a:t>
            </a:r>
            <a:r>
              <a:rPr lang="en-US" altLang="zh-TW" sz="2400" dirty="0">
                <a:solidFill>
                  <a:srgbClr val="0100FF"/>
                </a:solidFill>
                <a:highlight>
                  <a:srgbClr val="CCCE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sz="2400" dirty="0">
                <a:solidFill>
                  <a:srgbClr val="FF3300"/>
                </a:solidFill>
                <a:highlight>
                  <a:srgbClr val="CCCE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sz="2400" dirty="0">
                <a:highlight>
                  <a:srgbClr val="CCCE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rational</a:t>
            </a:r>
            <a:r>
              <a:rPr lang="en-US" altLang="zh-TW" sz="24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2400" dirty="0" err="1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func</a:t>
            </a:r>
            <a:r>
              <a:rPr lang="en-US" altLang="zh-TW" sz="24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ea typeface="新細明體" panose="02020500000000000000" pitchFamily="18" charset="-120"/>
              </a:rPr>
              <a:t>	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3200" dirty="0">
                <a:ea typeface="新細明體" panose="02020500000000000000" pitchFamily="18" charset="-120"/>
              </a:rPr>
              <a:t>2.3. Structures as BOTH Function Parameters and Function Return Values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4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		</a:t>
            </a:r>
            <a:r>
              <a:rPr lang="en-US" altLang="zh-TW" sz="2400" dirty="0">
                <a:solidFill>
                  <a:srgbClr val="0100FF"/>
                </a:solidFill>
                <a:highlight>
                  <a:srgbClr val="CCCE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sz="2400" dirty="0">
                <a:solidFill>
                  <a:srgbClr val="FF3300"/>
                </a:solidFill>
                <a:highlight>
                  <a:srgbClr val="CCCE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sz="2400" dirty="0">
                <a:highlight>
                  <a:srgbClr val="CCCE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rational</a:t>
            </a:r>
            <a:r>
              <a:rPr lang="en-US" altLang="zh-TW" sz="24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2400" dirty="0" err="1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func</a:t>
            </a:r>
            <a:r>
              <a:rPr lang="en-US" altLang="zh-TW" sz="24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</a:t>
            </a:r>
            <a:r>
              <a:rPr lang="en-US" altLang="zh-TW" sz="2400" dirty="0">
                <a:solidFill>
                  <a:srgbClr val="0100FF"/>
                </a:solidFill>
                <a:highlight>
                  <a:srgbClr val="CCCE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sz="2400" dirty="0">
                <a:solidFill>
                  <a:srgbClr val="FF3300"/>
                </a:solidFill>
                <a:highlight>
                  <a:srgbClr val="CCCE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sz="2400" dirty="0">
                <a:highlight>
                  <a:srgbClr val="CCCE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rational</a:t>
            </a:r>
            <a:r>
              <a:rPr lang="en-US" altLang="zh-TW" sz="24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rat</a:t>
            </a:r>
            <a:r>
              <a:rPr lang="en-US" altLang="zh-TW" sz="24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3200" dirty="0">
              <a:ea typeface="新細明體" panose="02020500000000000000" pitchFamily="18" charset="-12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C8F1EEA-E13C-2146-BC81-2A9018634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DBE797E4-070E-E4E0-5538-40AC5BE97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0494" y="5088714"/>
            <a:ext cx="7378943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/* define a NEW type for storing rational number */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0000FF"/>
                </a:solidFill>
                <a:highlight>
                  <a:srgbClr val="CCCE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sz="2000" dirty="0">
                <a:solidFill>
                  <a:srgbClr val="000000"/>
                </a:solidFill>
                <a:highlight>
                  <a:srgbClr val="CCCE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 rational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{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num; </a:t>
            </a:r>
            <a:r>
              <a:rPr lang="en-US" altLang="zh-TW" sz="20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// numerator 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den; </a:t>
            </a:r>
            <a:r>
              <a:rPr lang="en-US" altLang="zh-TW" sz="20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// denominator 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  <a:endParaRPr lang="zh-TW" altLang="en-US" sz="20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14B15F3B-A897-815A-0B2C-FC5A15786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0805" y="1427984"/>
            <a:ext cx="1076325" cy="3794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4" name="Rectangle 26">
            <a:extLst>
              <a:ext uri="{FF2B5EF4-FFF2-40B4-BE49-F238E27FC236}">
                <a16:creationId xmlns:a16="http://schemas.microsoft.com/office/drawing/2014/main" id="{C5D8FDB8-5010-908F-8BEC-151FD3D0F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0805" y="1791521"/>
            <a:ext cx="1076325" cy="376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5" name="Text Box 28">
            <a:extLst>
              <a:ext uri="{FF2B5EF4-FFF2-40B4-BE49-F238E27FC236}">
                <a16:creationId xmlns:a16="http://schemas.microsoft.com/office/drawing/2014/main" id="{EEB51195-EAEC-60BA-E4D8-AD206843E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6441" y="1440684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</a:p>
        </p:txBody>
      </p:sp>
      <p:sp>
        <p:nvSpPr>
          <p:cNvPr id="26" name="Text Box 30">
            <a:extLst>
              <a:ext uri="{FF2B5EF4-FFF2-40B4-BE49-F238E27FC236}">
                <a16:creationId xmlns:a16="http://schemas.microsoft.com/office/drawing/2014/main" id="{AE0DAD4E-D000-D7AB-E26A-019794205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8993" y="1794974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den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63508BC0-DD03-C3A1-A0DC-F0C9C3C86497}"/>
              </a:ext>
            </a:extLst>
          </p:cNvPr>
          <p:cNvSpPr/>
          <p:nvPr/>
        </p:nvSpPr>
        <p:spPr>
          <a:xfrm>
            <a:off x="7788729" y="1194513"/>
            <a:ext cx="2620132" cy="114300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40F9C7CD-21C1-F30A-9401-066ED97A75F4}"/>
              </a:ext>
            </a:extLst>
          </p:cNvPr>
          <p:cNvSpPr txBox="1"/>
          <p:nvPr/>
        </p:nvSpPr>
        <p:spPr>
          <a:xfrm>
            <a:off x="7850263" y="966576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ighlight>
                  <a:srgbClr val="CCCE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 rational </a:t>
            </a:r>
            <a:endParaRPr lang="en-HK" dirty="0">
              <a:highlight>
                <a:srgbClr val="CCCE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264759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1B4D020-B8ED-4FC4-8916-31BD8AEC6BE3}" type="slidenum">
              <a:rPr lang="zh-TW" altLang="en-US" sz="100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US" altLang="zh-TW" sz="1000" dirty="0">
              <a:solidFill>
                <a:srgbClr val="000000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  <a:noFill/>
        </p:spPr>
        <p:txBody>
          <a:bodyPr vert="horz" lIns="91440" tIns="0" rIns="91440" bIns="45720" rtlCol="0" anchor="t">
            <a:normAutofit/>
          </a:bodyPr>
          <a:lstStyle/>
          <a:p>
            <a:r>
              <a:rPr lang="en-US" altLang="zh-TW" sz="3000" dirty="0">
                <a:ea typeface="新細明體" panose="02020500000000000000" pitchFamily="18" charset="-120"/>
              </a:rPr>
              <a:t>2.1. Structures as Function Parameters</a:t>
            </a:r>
          </a:p>
        </p:txBody>
      </p:sp>
      <p:sp>
        <p:nvSpPr>
          <p:cNvPr id="71691" name="Text Box 11"/>
          <p:cNvSpPr txBox="1">
            <a:spLocks noChangeArrowheads="1"/>
          </p:cNvSpPr>
          <p:nvPr/>
        </p:nvSpPr>
        <p:spPr bwMode="auto">
          <a:xfrm>
            <a:off x="2000250" y="436564"/>
            <a:ext cx="8658225" cy="607550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#include &lt;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stdio.h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&gt;</a:t>
            </a: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</a:rPr>
              <a:t>/* Define the structure "rational" */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rational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{        </a:t>
            </a:r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num, den;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</a:rPr>
              <a:t>// A function for printing rational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r_Print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rational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rat ) {  </a:t>
            </a:r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  printf("%d / %d", </a:t>
            </a:r>
            <a:r>
              <a:rPr lang="en-US" altLang="zh-TW" dirty="0" err="1">
                <a:solidFill>
                  <a:srgbClr val="000000"/>
                </a:solidFill>
                <a:latin typeface="Consolas"/>
                <a:ea typeface="新細明體"/>
              </a:rPr>
              <a:t>rat.num</a:t>
            </a: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latin typeface="Consolas"/>
                <a:ea typeface="新細明體"/>
              </a:rPr>
              <a:t>rat.den</a:t>
            </a: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); </a:t>
            </a:r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main() {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rational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three_over_four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= {3, 4};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endParaRPr lang="en-US" altLang="zh-TW" dirty="0">
              <a:solidFill>
                <a:srgbClr val="0000FF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r_Print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three_over_four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);       </a:t>
            </a: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// Function call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0;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71692" name="Text Box 12"/>
          <p:cNvSpPr txBox="1">
            <a:spLocks noChangeArrowheads="1"/>
          </p:cNvSpPr>
          <p:nvPr/>
        </p:nvSpPr>
        <p:spPr bwMode="auto">
          <a:xfrm>
            <a:off x="1484603" y="436564"/>
            <a:ext cx="515646" cy="607550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3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4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5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6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7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8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9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10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11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12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13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14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15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16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17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18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19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20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21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22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23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24</a:t>
            </a:r>
          </a:p>
        </p:txBody>
      </p:sp>
      <p:sp>
        <p:nvSpPr>
          <p:cNvPr id="71697" name="Text Box 17"/>
          <p:cNvSpPr txBox="1">
            <a:spLocks noChangeArrowheads="1"/>
          </p:cNvSpPr>
          <p:nvPr/>
        </p:nvSpPr>
        <p:spPr bwMode="auto">
          <a:xfrm>
            <a:off x="57472" y="2743200"/>
            <a:ext cx="1219849" cy="36933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chemeClr val="bg1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3 / 4</a:t>
            </a: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F2DE6362-3EA2-5C13-80E9-0E23430ED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4476" y="838200"/>
            <a:ext cx="1076325" cy="3794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3" name="Rectangle 26">
            <a:extLst>
              <a:ext uri="{FF2B5EF4-FFF2-40B4-BE49-F238E27FC236}">
                <a16:creationId xmlns:a16="http://schemas.microsoft.com/office/drawing/2014/main" id="{0288B8DE-3BFB-50D7-ACEF-40E987E7C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4476" y="1201737"/>
            <a:ext cx="1076325" cy="376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4" name="Text Box 28">
            <a:extLst>
              <a:ext uri="{FF2B5EF4-FFF2-40B4-BE49-F238E27FC236}">
                <a16:creationId xmlns:a16="http://schemas.microsoft.com/office/drawing/2014/main" id="{44D153FA-0C7D-F1F4-CF38-A0DDBDC46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0112" y="850900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</a:p>
        </p:txBody>
      </p:sp>
      <p:sp>
        <p:nvSpPr>
          <p:cNvPr id="5" name="Text Box 30">
            <a:extLst>
              <a:ext uri="{FF2B5EF4-FFF2-40B4-BE49-F238E27FC236}">
                <a16:creationId xmlns:a16="http://schemas.microsoft.com/office/drawing/2014/main" id="{F553CEE3-8755-E573-FE57-1E01B967B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2664" y="1205190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den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A006BC1-FC57-AF33-6FF2-171E9CC9849D}"/>
              </a:ext>
            </a:extLst>
          </p:cNvPr>
          <p:cNvSpPr/>
          <p:nvPr/>
        </p:nvSpPr>
        <p:spPr>
          <a:xfrm>
            <a:off x="7772400" y="761338"/>
            <a:ext cx="2620132" cy="942049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A8B0DFF-FAAD-2C1C-B96F-31A6368347F8}"/>
              </a:ext>
            </a:extLst>
          </p:cNvPr>
          <p:cNvSpPr txBox="1"/>
          <p:nvPr/>
        </p:nvSpPr>
        <p:spPr>
          <a:xfrm>
            <a:off x="7833934" y="53340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 rational</a:t>
            </a:r>
            <a:r>
              <a:rPr lang="en-US" altLang="zh-TW" dirty="0"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endParaRPr lang="en-HK" dirty="0"/>
          </a:p>
        </p:txBody>
      </p:sp>
      <p:sp>
        <p:nvSpPr>
          <p:cNvPr id="8" name="Rectangle 25">
            <a:extLst>
              <a:ext uri="{FF2B5EF4-FFF2-40B4-BE49-F238E27FC236}">
                <a16:creationId xmlns:a16="http://schemas.microsoft.com/office/drawing/2014/main" id="{11D9C660-8333-2036-E651-91437D822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6541" y="4208463"/>
            <a:ext cx="1076325" cy="3794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HK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9" name="Rectangle 26">
            <a:extLst>
              <a:ext uri="{FF2B5EF4-FFF2-40B4-BE49-F238E27FC236}">
                <a16:creationId xmlns:a16="http://schemas.microsoft.com/office/drawing/2014/main" id="{8A1B81DA-0DD1-F91C-4844-B48B568DB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6541" y="4572000"/>
            <a:ext cx="1076325" cy="376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HK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1" name="Text Box 28">
            <a:extLst>
              <a:ext uri="{FF2B5EF4-FFF2-40B4-BE49-F238E27FC236}">
                <a16:creationId xmlns:a16="http://schemas.microsoft.com/office/drawing/2014/main" id="{3DE3528A-8105-DF11-5233-3574BC790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2177" y="4221163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</a:p>
        </p:txBody>
      </p:sp>
      <p:sp>
        <p:nvSpPr>
          <p:cNvPr id="12" name="Text Box 30">
            <a:extLst>
              <a:ext uri="{FF2B5EF4-FFF2-40B4-BE49-F238E27FC236}">
                <a16:creationId xmlns:a16="http://schemas.microsoft.com/office/drawing/2014/main" id="{CF41E7AC-9D0B-1A56-07F8-4BB2AAED9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4729" y="4575453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den</a:t>
            </a:r>
          </a:p>
        </p:txBody>
      </p:sp>
      <p:sp>
        <p:nvSpPr>
          <p:cNvPr id="13" name="Text Box 31">
            <a:extLst>
              <a:ext uri="{FF2B5EF4-FFF2-40B4-BE49-F238E27FC236}">
                <a16:creationId xmlns:a16="http://schemas.microsoft.com/office/drawing/2014/main" id="{7333E136-F8F0-AEDF-373D-F429110A4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0435" y="3783686"/>
            <a:ext cx="23006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 err="1">
                <a:solidFill>
                  <a:srgbClr val="01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three_over_four</a:t>
            </a:r>
            <a:endParaRPr lang="en-US" altLang="zh-TW" sz="2000" b="0" dirty="0">
              <a:solidFill>
                <a:srgbClr val="01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74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7" grpId="0" animBg="1"/>
      <p:bldP spid="8" grpId="0" animBg="1"/>
      <p:bldP spid="9" grpId="0" animBg="1"/>
      <p:bldP spid="11" grpId="0"/>
      <p:bldP spid="12" grpId="0"/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1B4D020-B8ED-4FC4-8916-31BD8AEC6BE3}" type="slidenum">
              <a:rPr lang="zh-TW" altLang="en-US" sz="100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US" altLang="zh-TW" sz="1000" dirty="0">
              <a:solidFill>
                <a:srgbClr val="000000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  <a:noFill/>
        </p:spPr>
        <p:txBody>
          <a:bodyPr vert="horz" lIns="91440" tIns="0" rIns="91440" bIns="45720" rtlCol="0" anchor="t">
            <a:normAutofit/>
          </a:bodyPr>
          <a:lstStyle/>
          <a:p>
            <a:r>
              <a:rPr lang="en-US" altLang="zh-TW" sz="3000" dirty="0">
                <a:ea typeface="新細明體" panose="02020500000000000000" pitchFamily="18" charset="-120"/>
              </a:rPr>
              <a:t>2.1. Structures as Function Parameters</a:t>
            </a:r>
          </a:p>
        </p:txBody>
      </p:sp>
      <p:sp>
        <p:nvSpPr>
          <p:cNvPr id="71691" name="Text Box 11"/>
          <p:cNvSpPr txBox="1">
            <a:spLocks noChangeArrowheads="1"/>
          </p:cNvSpPr>
          <p:nvPr/>
        </p:nvSpPr>
        <p:spPr bwMode="auto">
          <a:xfrm>
            <a:off x="2000250" y="436564"/>
            <a:ext cx="8658225" cy="607550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#include &lt;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stdio.h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&gt;</a:t>
            </a: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</a:rPr>
              <a:t>/* Define the structure "rational" */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rational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{        </a:t>
            </a:r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num, den;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9900">
                    <a:alpha val="29000"/>
                  </a:srgbClr>
                </a:solidFill>
                <a:latin typeface="Consolas" panose="020B0609020204030204" pitchFamily="49" charset="0"/>
              </a:rPr>
              <a:t>// A function for printing rational</a:t>
            </a:r>
            <a:endParaRPr lang="en-US" altLang="zh-TW" dirty="0">
              <a:solidFill>
                <a:srgbClr val="009900">
                  <a:alpha val="29000"/>
                </a:srgbClr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FF">
                    <a:alpha val="29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void</a:t>
            </a:r>
            <a:r>
              <a:rPr lang="en-US" altLang="zh-TW" dirty="0">
                <a:solidFill>
                  <a:srgbClr val="000000">
                    <a:alpha val="29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dirty="0" err="1">
                <a:solidFill>
                  <a:srgbClr val="FF0000">
                    <a:alpha val="29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r_Print</a:t>
            </a:r>
            <a:r>
              <a:rPr lang="en-US" altLang="zh-TW" dirty="0">
                <a:solidFill>
                  <a:srgbClr val="000000">
                    <a:alpha val="29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</a:t>
            </a:r>
            <a:r>
              <a:rPr lang="en-US" altLang="zh-TW" dirty="0">
                <a:solidFill>
                  <a:srgbClr val="0000FF">
                    <a:alpha val="29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rational</a:t>
            </a:r>
            <a:r>
              <a:rPr lang="en-US" altLang="zh-TW" dirty="0">
                <a:solidFill>
                  <a:srgbClr val="000000">
                    <a:alpha val="29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rat ) {  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>
                    <a:alpha val="29000"/>
                  </a:srgbClr>
                </a:solidFill>
                <a:latin typeface="Consolas"/>
                <a:ea typeface="新細明體"/>
              </a:rPr>
              <a:t>   printf("%d / %d", </a:t>
            </a:r>
            <a:r>
              <a:rPr lang="en-US" altLang="zh-TW" dirty="0" err="1">
                <a:solidFill>
                  <a:srgbClr val="000000">
                    <a:alpha val="29000"/>
                  </a:srgbClr>
                </a:solidFill>
                <a:latin typeface="Consolas"/>
                <a:ea typeface="新細明體"/>
              </a:rPr>
              <a:t>rat.num</a:t>
            </a:r>
            <a:r>
              <a:rPr lang="en-US" altLang="zh-TW" dirty="0">
                <a:solidFill>
                  <a:srgbClr val="000000">
                    <a:alpha val="29000"/>
                  </a:srgbClr>
                </a:solidFill>
                <a:latin typeface="Consolas"/>
                <a:ea typeface="新細明體"/>
              </a:rPr>
              <a:t>, </a:t>
            </a:r>
            <a:r>
              <a:rPr lang="en-US" altLang="zh-TW" dirty="0" err="1">
                <a:solidFill>
                  <a:srgbClr val="000000">
                    <a:alpha val="29000"/>
                  </a:srgbClr>
                </a:solidFill>
                <a:latin typeface="Consolas"/>
                <a:ea typeface="新細明體"/>
              </a:rPr>
              <a:t>rat.den</a:t>
            </a:r>
            <a:r>
              <a:rPr lang="en-US" altLang="zh-TW" dirty="0">
                <a:solidFill>
                  <a:srgbClr val="000000">
                    <a:alpha val="29000"/>
                  </a:srgbClr>
                </a:solidFill>
                <a:latin typeface="Consolas"/>
                <a:ea typeface="新細明體"/>
              </a:rPr>
              <a:t>); </a:t>
            </a:r>
            <a:endParaRPr lang="en-US" altLang="zh-TW" dirty="0">
              <a:solidFill>
                <a:srgbClr val="000000">
                  <a:alpha val="29000"/>
                </a:srgbClr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>
                    <a:alpha val="29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</a:rPr>
              <a:t>// A function for obtaining real number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r_Real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rational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rat ) { </a:t>
            </a:r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(double)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rat.num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/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rat.den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    </a:t>
            </a:r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FF">
                    <a:alpha val="35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lang="en-US" altLang="zh-TW" dirty="0">
                <a:solidFill>
                  <a:srgbClr val="000000">
                    <a:alpha val="35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main() {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>
                    <a:alpha val="35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>
                <a:solidFill>
                  <a:srgbClr val="0000FF">
                    <a:alpha val="35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rational</a:t>
            </a:r>
            <a:r>
              <a:rPr lang="en-US" altLang="zh-TW" dirty="0">
                <a:solidFill>
                  <a:srgbClr val="000000">
                    <a:alpha val="35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dirty="0" err="1">
                <a:solidFill>
                  <a:srgbClr val="000000">
                    <a:alpha val="35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three_over_four</a:t>
            </a:r>
            <a:r>
              <a:rPr lang="en-US" altLang="zh-TW" dirty="0">
                <a:solidFill>
                  <a:srgbClr val="000000">
                    <a:alpha val="35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= {3, 4};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>
                    <a:alpha val="35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>
                <a:solidFill>
                  <a:srgbClr val="0000FF">
                    <a:alpha val="35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double</a:t>
            </a:r>
            <a:r>
              <a:rPr lang="en-US" altLang="zh-TW" dirty="0">
                <a:solidFill>
                  <a:srgbClr val="000000">
                    <a:alpha val="35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dirty="0" err="1">
                <a:solidFill>
                  <a:srgbClr val="000000">
                    <a:alpha val="35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real_num</a:t>
            </a:r>
            <a:r>
              <a:rPr lang="en-US" altLang="zh-TW" dirty="0">
                <a:solidFill>
                  <a:srgbClr val="000000">
                    <a:alpha val="35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 err="1">
                <a:solidFill>
                  <a:srgbClr val="FF0000">
                    <a:alpha val="50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r_Print</a:t>
            </a:r>
            <a:r>
              <a:rPr lang="en-US" altLang="zh-TW" dirty="0">
                <a:solidFill>
                  <a:srgbClr val="000000">
                    <a:alpha val="50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</a:t>
            </a:r>
            <a:r>
              <a:rPr lang="en-US" altLang="zh-TW" dirty="0" err="1">
                <a:solidFill>
                  <a:srgbClr val="000000">
                    <a:alpha val="50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three_over_four</a:t>
            </a:r>
            <a:r>
              <a:rPr lang="en-US" altLang="zh-TW" dirty="0">
                <a:solidFill>
                  <a:srgbClr val="000000">
                    <a:alpha val="50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);       </a:t>
            </a:r>
            <a:r>
              <a:rPr lang="en-US" altLang="zh-TW" dirty="0">
                <a:solidFill>
                  <a:srgbClr val="009900">
                    <a:alpha val="50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// Function call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real_num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= </a:t>
            </a:r>
            <a:r>
              <a:rPr lang="en-US" altLang="zh-TW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r_Real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three_over_four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);   </a:t>
            </a: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// Function call 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printf(" = %f\n",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real_num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);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>
                <a:solidFill>
                  <a:srgbClr val="0000FF">
                    <a:alpha val="40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</a:t>
            </a:r>
            <a:r>
              <a:rPr lang="en-US" altLang="zh-TW" dirty="0">
                <a:solidFill>
                  <a:srgbClr val="000000">
                    <a:alpha val="40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0;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>
                    <a:alpha val="40000"/>
                  </a:srgb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</a:t>
            </a:r>
            <a:endParaRPr lang="zh-TW" altLang="en-US" dirty="0">
              <a:solidFill>
                <a:srgbClr val="000000">
                  <a:alpha val="40000"/>
                </a:srgbClr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71692" name="Text Box 12"/>
          <p:cNvSpPr txBox="1">
            <a:spLocks noChangeArrowheads="1"/>
          </p:cNvSpPr>
          <p:nvPr/>
        </p:nvSpPr>
        <p:spPr bwMode="auto">
          <a:xfrm>
            <a:off x="1484603" y="436564"/>
            <a:ext cx="515646" cy="607550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3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4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5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6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7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8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9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10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11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12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13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14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15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16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17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18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19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20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21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22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23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24</a:t>
            </a:r>
          </a:p>
        </p:txBody>
      </p:sp>
      <p:sp>
        <p:nvSpPr>
          <p:cNvPr id="71695" name="Text Box 15"/>
          <p:cNvSpPr txBox="1">
            <a:spLocks noChangeArrowheads="1"/>
          </p:cNvSpPr>
          <p:nvPr/>
        </p:nvSpPr>
        <p:spPr bwMode="auto">
          <a:xfrm>
            <a:off x="1533525" y="6481764"/>
            <a:ext cx="8851900" cy="376237"/>
          </a:xfrm>
          <a:prstGeom prst="rect">
            <a:avLst/>
          </a:prstGeom>
          <a:solidFill>
            <a:srgbClr val="CCCE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TW" altLang="en-US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F2DE6362-3EA2-5C13-80E9-0E23430ED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4476" y="838200"/>
            <a:ext cx="1076325" cy="3794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3" name="Rectangle 26">
            <a:extLst>
              <a:ext uri="{FF2B5EF4-FFF2-40B4-BE49-F238E27FC236}">
                <a16:creationId xmlns:a16="http://schemas.microsoft.com/office/drawing/2014/main" id="{0288B8DE-3BFB-50D7-ACEF-40E987E7C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4476" y="1201737"/>
            <a:ext cx="1076325" cy="376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4" name="Text Box 28">
            <a:extLst>
              <a:ext uri="{FF2B5EF4-FFF2-40B4-BE49-F238E27FC236}">
                <a16:creationId xmlns:a16="http://schemas.microsoft.com/office/drawing/2014/main" id="{44D153FA-0C7D-F1F4-CF38-A0DDBDC46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0112" y="850900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</a:p>
        </p:txBody>
      </p:sp>
      <p:sp>
        <p:nvSpPr>
          <p:cNvPr id="5" name="Text Box 30">
            <a:extLst>
              <a:ext uri="{FF2B5EF4-FFF2-40B4-BE49-F238E27FC236}">
                <a16:creationId xmlns:a16="http://schemas.microsoft.com/office/drawing/2014/main" id="{F553CEE3-8755-E573-FE57-1E01B967B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2664" y="1205190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den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A006BC1-FC57-AF33-6FF2-171E9CC9849D}"/>
              </a:ext>
            </a:extLst>
          </p:cNvPr>
          <p:cNvSpPr/>
          <p:nvPr/>
        </p:nvSpPr>
        <p:spPr>
          <a:xfrm>
            <a:off x="7772400" y="761338"/>
            <a:ext cx="2620132" cy="942049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A8B0DFF-FAAD-2C1C-B96F-31A6368347F8}"/>
              </a:ext>
            </a:extLst>
          </p:cNvPr>
          <p:cNvSpPr txBox="1"/>
          <p:nvPr/>
        </p:nvSpPr>
        <p:spPr>
          <a:xfrm>
            <a:off x="7833934" y="53340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 rational</a:t>
            </a:r>
            <a:r>
              <a:rPr lang="en-US" altLang="zh-TW" dirty="0"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endParaRPr lang="en-HK" dirty="0"/>
          </a:p>
        </p:txBody>
      </p:sp>
      <p:sp>
        <p:nvSpPr>
          <p:cNvPr id="8" name="Rectangle 25">
            <a:extLst>
              <a:ext uri="{FF2B5EF4-FFF2-40B4-BE49-F238E27FC236}">
                <a16:creationId xmlns:a16="http://schemas.microsoft.com/office/drawing/2014/main" id="{11D9C660-8333-2036-E651-91437D822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6541" y="4208463"/>
            <a:ext cx="1076325" cy="3794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HK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9" name="Rectangle 26">
            <a:extLst>
              <a:ext uri="{FF2B5EF4-FFF2-40B4-BE49-F238E27FC236}">
                <a16:creationId xmlns:a16="http://schemas.microsoft.com/office/drawing/2014/main" id="{8A1B81DA-0DD1-F91C-4844-B48B568DB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6541" y="4572000"/>
            <a:ext cx="1076325" cy="376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HK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1" name="Text Box 28">
            <a:extLst>
              <a:ext uri="{FF2B5EF4-FFF2-40B4-BE49-F238E27FC236}">
                <a16:creationId xmlns:a16="http://schemas.microsoft.com/office/drawing/2014/main" id="{3DE3528A-8105-DF11-5233-3574BC790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2177" y="4221163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</a:p>
        </p:txBody>
      </p:sp>
      <p:sp>
        <p:nvSpPr>
          <p:cNvPr id="12" name="Text Box 30">
            <a:extLst>
              <a:ext uri="{FF2B5EF4-FFF2-40B4-BE49-F238E27FC236}">
                <a16:creationId xmlns:a16="http://schemas.microsoft.com/office/drawing/2014/main" id="{CF41E7AC-9D0B-1A56-07F8-4BB2AAED9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4729" y="4575453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den</a:t>
            </a:r>
          </a:p>
        </p:txBody>
      </p:sp>
      <p:sp>
        <p:nvSpPr>
          <p:cNvPr id="13" name="Text Box 31">
            <a:extLst>
              <a:ext uri="{FF2B5EF4-FFF2-40B4-BE49-F238E27FC236}">
                <a16:creationId xmlns:a16="http://schemas.microsoft.com/office/drawing/2014/main" id="{7333E136-F8F0-AEDF-373D-F429110A4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0435" y="3783686"/>
            <a:ext cx="23006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 err="1">
                <a:solidFill>
                  <a:srgbClr val="01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three_over_four</a:t>
            </a:r>
            <a:endParaRPr lang="en-US" altLang="zh-TW" sz="2000" b="0" dirty="0">
              <a:solidFill>
                <a:srgbClr val="01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4" name="Text Box 17">
            <a:extLst>
              <a:ext uri="{FF2B5EF4-FFF2-40B4-BE49-F238E27FC236}">
                <a16:creationId xmlns:a16="http://schemas.microsoft.com/office/drawing/2014/main" id="{11D140AD-2D8D-F9B8-AB5F-E4EC8BB36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72" y="2743200"/>
            <a:ext cx="1219849" cy="36933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chemeClr val="bg1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3 / 4</a:t>
            </a:r>
          </a:p>
        </p:txBody>
      </p:sp>
      <p:sp>
        <p:nvSpPr>
          <p:cNvPr id="71698" name="Text Box 18"/>
          <p:cNvSpPr txBox="1">
            <a:spLocks noChangeArrowheads="1"/>
          </p:cNvSpPr>
          <p:nvPr/>
        </p:nvSpPr>
        <p:spPr bwMode="auto">
          <a:xfrm>
            <a:off x="808006" y="2743200"/>
            <a:ext cx="1451038" cy="36933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chemeClr val="bg1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= 0.750000</a:t>
            </a:r>
          </a:p>
        </p:txBody>
      </p:sp>
    </p:spTree>
    <p:extLst>
      <p:ext uri="{BB962C8B-B14F-4D97-AF65-F5344CB8AC3E}">
        <p14:creationId xmlns:p14="http://schemas.microsoft.com/office/powerpoint/2010/main" val="167137702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9468" y="-98391"/>
            <a:ext cx="8229600" cy="1143000"/>
          </a:xfrm>
        </p:spPr>
        <p:txBody>
          <a:bodyPr/>
          <a:lstStyle/>
          <a:p>
            <a:r>
              <a:rPr lang="en-US" altLang="zh-TW" sz="3400" dirty="0">
                <a:ea typeface="新細明體" panose="02020500000000000000" pitchFamily="18" charset="-120"/>
              </a:rPr>
              <a:t>2.1. Structures as Function Parameters</a:t>
            </a:r>
            <a:endParaRPr lang="zh-TW" altLang="en-US" sz="3400" dirty="0"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46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304800" y="1227172"/>
                <a:ext cx="11887200" cy="494502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TW" sz="3200" dirty="0">
                    <a:ea typeface="新細明體" panose="02020500000000000000" pitchFamily="18" charset="-120"/>
                  </a:rPr>
                  <a:t>Simplify Rational (Fractional) Number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zh-TW" sz="4000" dirty="0">
                    <a:ea typeface="新細明體" panose="02020500000000000000" pitchFamily="18" charset="-120"/>
                  </a:rPr>
                  <a:t>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4000" i="1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sz="4000" b="0" i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6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 sz="4000" b="0" i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altLang="zh-TW" sz="4000" dirty="0">
                    <a:ea typeface="新細明體" panose="02020500000000000000" pitchFamily="18" charset="-120"/>
                  </a:rPr>
                  <a:t>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sz="4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 sz="40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TW" sz="4000" dirty="0"/>
                  <a:t> </a:t>
                </a:r>
              </a:p>
              <a:p>
                <a:pPr lvl="8">
                  <a:lnSpc>
                    <a:spcPct val="90000"/>
                  </a:lnSpc>
                </a:pPr>
                <a:endParaRPr lang="en-US" altLang="zh-TW" sz="3600" dirty="0"/>
              </a:p>
              <a:p>
                <a:pPr lvl="1">
                  <a:lnSpc>
                    <a:spcPct val="90000"/>
                  </a:lnSpc>
                </a:pPr>
                <a:r>
                  <a:rPr lang="en-US" altLang="zh-TW" sz="2800" dirty="0">
                    <a:ea typeface="新細明體" panose="02020500000000000000" pitchFamily="18" charset="-120"/>
                  </a:rPr>
                  <a:t>The Greatest Common Divisor (GCD) is usually used to simplify a rational number.</a:t>
                </a:r>
              </a:p>
              <a:p>
                <a:pPr lvl="8">
                  <a:lnSpc>
                    <a:spcPct val="90000"/>
                  </a:lnSpc>
                </a:pPr>
                <a:endParaRPr lang="en-US" altLang="zh-TW" dirty="0">
                  <a:ea typeface="新細明體" panose="02020500000000000000" pitchFamily="18" charset="-120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zh-TW" sz="2800" dirty="0">
                    <a:ea typeface="新細明體" panose="02020500000000000000" pitchFamily="18" charset="-120"/>
                  </a:rPr>
                  <a:t>Assume that we have already had a function </a:t>
                </a:r>
                <a:r>
                  <a:rPr lang="en-US" altLang="zh-TW" sz="3200" b="1" u="sng" dirty="0" err="1">
                    <a:latin typeface="Consolas" panose="020B0609020204030204" pitchFamily="49" charset="0"/>
                    <a:ea typeface="新細明體" panose="02020500000000000000" pitchFamily="18" charset="-120"/>
                  </a:rPr>
                  <a:t>gcd</a:t>
                </a:r>
                <a:r>
                  <a:rPr lang="en-US" altLang="zh-TW" sz="3200" b="1" u="sng" dirty="0">
                    <a:latin typeface="Consolas" panose="020B0609020204030204" pitchFamily="49" charset="0"/>
                    <a:ea typeface="新細明體" panose="02020500000000000000" pitchFamily="18" charset="-120"/>
                  </a:rPr>
                  <a:t>(…)</a:t>
                </a:r>
                <a:r>
                  <a:rPr lang="en-US" altLang="zh-TW" sz="3200" b="1" u="sng" dirty="0">
                    <a:ea typeface="新細明體" panose="02020500000000000000" pitchFamily="18" charset="-120"/>
                  </a:rPr>
                  <a:t> </a:t>
                </a:r>
                <a:r>
                  <a:rPr lang="en-US" altLang="zh-TW" sz="2800" dirty="0">
                    <a:ea typeface="新細明體" panose="02020500000000000000" pitchFamily="18" charset="-120"/>
                  </a:rPr>
                  <a:t>for finding the GCD of 2 integers</a:t>
                </a:r>
                <a:r>
                  <a:rPr lang="en-US" altLang="zh-TW" sz="4500" dirty="0">
                    <a:ea typeface="新細明體" panose="02020500000000000000" pitchFamily="18" charset="-120"/>
                  </a:rPr>
                  <a:t>.</a:t>
                </a:r>
              </a:p>
            </p:txBody>
          </p:sp>
        </mc:Choice>
        <mc:Fallback xmlns="">
          <p:sp>
            <p:nvSpPr>
              <p:cNvPr id="6246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304800" y="1227172"/>
                <a:ext cx="11887200" cy="4945029"/>
              </a:xfrm>
              <a:blipFill>
                <a:blip r:embed="rId3"/>
                <a:stretch>
                  <a:fillRect l="-1179" t="-258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0F904-5635-004A-88A6-835C6625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Rectangle 25">
            <a:extLst>
              <a:ext uri="{FF2B5EF4-FFF2-40B4-BE49-F238E27FC236}">
                <a16:creationId xmlns:a16="http://schemas.microsoft.com/office/drawing/2014/main" id="{0F329874-AF72-1F65-FCC3-469EF850B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0805" y="1427984"/>
            <a:ext cx="1076325" cy="3794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" name="Rectangle 26">
            <a:extLst>
              <a:ext uri="{FF2B5EF4-FFF2-40B4-BE49-F238E27FC236}">
                <a16:creationId xmlns:a16="http://schemas.microsoft.com/office/drawing/2014/main" id="{4A44F6B6-F7A7-11FB-65BD-A304FF665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0805" y="1791521"/>
            <a:ext cx="1076325" cy="376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7" name="Text Box 28">
            <a:extLst>
              <a:ext uri="{FF2B5EF4-FFF2-40B4-BE49-F238E27FC236}">
                <a16:creationId xmlns:a16="http://schemas.microsoft.com/office/drawing/2014/main" id="{EA5F6F32-AC18-69A1-3339-C46CDC2BB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6441" y="1440684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</a:p>
        </p:txBody>
      </p:sp>
      <p:sp>
        <p:nvSpPr>
          <p:cNvPr id="9" name="Text Box 30">
            <a:extLst>
              <a:ext uri="{FF2B5EF4-FFF2-40B4-BE49-F238E27FC236}">
                <a16:creationId xmlns:a16="http://schemas.microsoft.com/office/drawing/2014/main" id="{657F2218-DAA5-2408-E3DA-23BBA98FD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8993" y="1794974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den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53A3E05-ECFF-6F66-D5C7-CFEF602F722D}"/>
              </a:ext>
            </a:extLst>
          </p:cNvPr>
          <p:cNvSpPr/>
          <p:nvPr/>
        </p:nvSpPr>
        <p:spPr>
          <a:xfrm>
            <a:off x="7788729" y="1194513"/>
            <a:ext cx="2620132" cy="114300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27BC851-9196-284D-8491-DEC1B18E358B}"/>
              </a:ext>
            </a:extLst>
          </p:cNvPr>
          <p:cNvSpPr txBox="1"/>
          <p:nvPr/>
        </p:nvSpPr>
        <p:spPr>
          <a:xfrm>
            <a:off x="7850263" y="966576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 rational</a:t>
            </a:r>
            <a:r>
              <a:rPr lang="en-US" altLang="zh-TW" dirty="0"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endParaRPr lang="en-HK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054183C-4AA4-B0D6-3455-F75AA2510AB1}"/>
              </a:ext>
            </a:extLst>
          </p:cNvPr>
          <p:cNvCxnSpPr/>
          <p:nvPr/>
        </p:nvCxnSpPr>
        <p:spPr>
          <a:xfrm>
            <a:off x="3124200" y="2362200"/>
            <a:ext cx="838200" cy="0"/>
          </a:xfrm>
          <a:prstGeom prst="straightConnector1">
            <a:avLst/>
          </a:prstGeom>
          <a:ln w="539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36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641E647-FCAE-4D4C-B555-7DC6193B5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15888"/>
            <a:ext cx="8229600" cy="1143000"/>
          </a:xfrm>
          <a:noFill/>
        </p:spPr>
        <p:txBody>
          <a:bodyPr anchor="t"/>
          <a:lstStyle/>
          <a:p>
            <a:r>
              <a:rPr lang="en-US" altLang="zh-TW" sz="3400" dirty="0">
                <a:ea typeface="新細明體" panose="02020500000000000000" pitchFamily="18" charset="-120"/>
              </a:rPr>
              <a:t>2.2. Structures as Function Return Values</a:t>
            </a:r>
          </a:p>
        </p:txBody>
      </p:sp>
      <p:sp>
        <p:nvSpPr>
          <p:cNvPr id="72713" name="Text Box 9"/>
          <p:cNvSpPr txBox="1">
            <a:spLocks noChangeArrowheads="1"/>
          </p:cNvSpPr>
          <p:nvPr/>
        </p:nvSpPr>
        <p:spPr bwMode="auto">
          <a:xfrm>
            <a:off x="1981201" y="715963"/>
            <a:ext cx="9898501" cy="58262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…… </a:t>
            </a: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/* struct definition and </a:t>
            </a:r>
            <a:r>
              <a:rPr lang="en-US" altLang="zh-TW" dirty="0" err="1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r_Print</a:t>
            </a: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same as before */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FF"/>
                </a:solidFill>
                <a:latin typeface="Consolas"/>
                <a:ea typeface="新細明體"/>
              </a:rPr>
              <a:t>struct rational</a:t>
            </a: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 </a:t>
            </a:r>
            <a:r>
              <a:rPr lang="en-US" altLang="zh-TW" dirty="0" err="1">
                <a:solidFill>
                  <a:srgbClr val="FF0000"/>
                </a:solidFill>
                <a:latin typeface="Consolas"/>
                <a:ea typeface="新細明體"/>
              </a:rPr>
              <a:t>r_Create</a:t>
            </a: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Consolas"/>
                <a:ea typeface="新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n, </a:t>
            </a:r>
            <a:r>
              <a:rPr lang="en-US" altLang="zh-TW" dirty="0">
                <a:solidFill>
                  <a:srgbClr val="0000FF"/>
                </a:solidFill>
                <a:latin typeface="Consolas"/>
                <a:ea typeface="新細明體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d ) {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rational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rat;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             g;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g =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gcd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(n, d);   </a:t>
            </a: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/* Assume existence of </a:t>
            </a:r>
            <a:r>
              <a:rPr lang="en-US" altLang="zh-TW" dirty="0" err="1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gcd</a:t>
            </a: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() */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rat.num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= n / g;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rat.den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= d / g;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rat;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main() {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rational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dirty="0" err="1">
                <a:solidFill>
                  <a:srgbClr val="9933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rat_num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= {6, 8};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r_Print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</a:t>
            </a:r>
            <a:r>
              <a:rPr lang="en-US" altLang="zh-TW" dirty="0" err="1">
                <a:solidFill>
                  <a:srgbClr val="9933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rat_num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);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printf(" --&gt; ");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 err="1">
                <a:solidFill>
                  <a:srgbClr val="9933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rat_num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= </a:t>
            </a:r>
            <a:r>
              <a:rPr lang="en-US" altLang="zh-TW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r_Create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</a:t>
            </a:r>
            <a:r>
              <a:rPr lang="en-US" altLang="zh-TW" dirty="0" err="1">
                <a:solidFill>
                  <a:srgbClr val="9933FF"/>
                </a:solidFill>
                <a:latin typeface="Consolas" panose="020B0609020204030204" pitchFamily="49" charset="0"/>
              </a:rPr>
              <a:t>rat_num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</a:rPr>
              <a:t>.num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, </a:t>
            </a:r>
            <a:r>
              <a:rPr lang="en-US" altLang="zh-TW" dirty="0" err="1">
                <a:solidFill>
                  <a:srgbClr val="9933FF"/>
                </a:solidFill>
                <a:latin typeface="Consolas" panose="020B0609020204030204" pitchFamily="49" charset="0"/>
              </a:rPr>
              <a:t>rat_num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</a:rPr>
              <a:t>.den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);  </a:t>
            </a: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/* </a:t>
            </a:r>
            <a:r>
              <a:rPr lang="en-US" altLang="zh-TW" dirty="0" err="1">
                <a:solidFill>
                  <a:srgbClr val="9933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rat_num</a:t>
            </a: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is updated */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r_Print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</a:t>
            </a:r>
            <a:r>
              <a:rPr lang="en-US" altLang="zh-TW" dirty="0" err="1">
                <a:solidFill>
                  <a:srgbClr val="9933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rat_num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);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0;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72714" name="Text Box 10"/>
          <p:cNvSpPr txBox="1">
            <a:spLocks noChangeArrowheads="1"/>
          </p:cNvSpPr>
          <p:nvPr/>
        </p:nvSpPr>
        <p:spPr bwMode="auto">
          <a:xfrm>
            <a:off x="1968500" y="6513513"/>
            <a:ext cx="8305800" cy="34925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TW" altLang="en-US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72715" name="Text Box 11"/>
          <p:cNvSpPr txBox="1">
            <a:spLocks noChangeArrowheads="1"/>
          </p:cNvSpPr>
          <p:nvPr/>
        </p:nvSpPr>
        <p:spPr bwMode="auto">
          <a:xfrm>
            <a:off x="1511302" y="715963"/>
            <a:ext cx="477942" cy="58262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3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4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5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6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7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8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9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10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11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12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13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14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15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16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17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18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19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20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21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22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23</a:t>
            </a:r>
          </a:p>
        </p:txBody>
      </p:sp>
      <p:sp>
        <p:nvSpPr>
          <p:cNvPr id="72720" name="Text Box 16"/>
          <p:cNvSpPr txBox="1">
            <a:spLocks noChangeArrowheads="1"/>
          </p:cNvSpPr>
          <p:nvPr/>
        </p:nvSpPr>
        <p:spPr bwMode="auto">
          <a:xfrm>
            <a:off x="1968501" y="6491288"/>
            <a:ext cx="8178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chemeClr val="bg1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6 / 8</a:t>
            </a:r>
          </a:p>
        </p:txBody>
      </p:sp>
      <p:sp>
        <p:nvSpPr>
          <p:cNvPr id="72721" name="Text Box 17"/>
          <p:cNvSpPr txBox="1">
            <a:spLocks noChangeArrowheads="1"/>
          </p:cNvSpPr>
          <p:nvPr/>
        </p:nvSpPr>
        <p:spPr bwMode="auto">
          <a:xfrm>
            <a:off x="2765425" y="6491288"/>
            <a:ext cx="5645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chemeClr val="bg1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--&gt;</a:t>
            </a:r>
          </a:p>
        </p:txBody>
      </p:sp>
      <p:sp>
        <p:nvSpPr>
          <p:cNvPr id="72722" name="Text Box 18"/>
          <p:cNvSpPr txBox="1">
            <a:spLocks noChangeArrowheads="1"/>
          </p:cNvSpPr>
          <p:nvPr/>
        </p:nvSpPr>
        <p:spPr bwMode="auto">
          <a:xfrm>
            <a:off x="3324226" y="6491288"/>
            <a:ext cx="8178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chemeClr val="bg1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3 / 4</a:t>
            </a: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699EF113-7C83-BDEC-2270-2584DF5C3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3364" y="4050784"/>
            <a:ext cx="855407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HK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3" name="Rectangle 26">
            <a:extLst>
              <a:ext uri="{FF2B5EF4-FFF2-40B4-BE49-F238E27FC236}">
                <a16:creationId xmlns:a16="http://schemas.microsoft.com/office/drawing/2014/main" id="{76066BCA-1E16-9333-E01E-7E3F285BD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3364" y="4412860"/>
            <a:ext cx="855407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HK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4" name="Text Box 28">
            <a:extLst>
              <a:ext uri="{FF2B5EF4-FFF2-40B4-BE49-F238E27FC236}">
                <a16:creationId xmlns:a16="http://schemas.microsoft.com/office/drawing/2014/main" id="{A025697D-9C94-2206-DFA7-405007B1D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4073525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</a:p>
        </p:txBody>
      </p:sp>
      <p:sp>
        <p:nvSpPr>
          <p:cNvPr id="5" name="Text Box 30">
            <a:extLst>
              <a:ext uri="{FF2B5EF4-FFF2-40B4-BE49-F238E27FC236}">
                <a16:creationId xmlns:a16="http://schemas.microsoft.com/office/drawing/2014/main" id="{D0B23740-D1BF-32BF-5E43-3204F6993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1552" y="4427815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den</a:t>
            </a:r>
          </a:p>
        </p:txBody>
      </p:sp>
      <p:sp>
        <p:nvSpPr>
          <p:cNvPr id="6" name="Text Box 31">
            <a:extLst>
              <a:ext uri="{FF2B5EF4-FFF2-40B4-BE49-F238E27FC236}">
                <a16:creationId xmlns:a16="http://schemas.microsoft.com/office/drawing/2014/main" id="{1B1FC2ED-1CCA-74A9-88E2-DF16911D2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07" y="3681466"/>
            <a:ext cx="11721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 err="1">
                <a:solidFill>
                  <a:srgbClr val="01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rat_num</a:t>
            </a:r>
            <a:endParaRPr lang="en-US" altLang="zh-TW" sz="2000" b="0" dirty="0">
              <a:solidFill>
                <a:srgbClr val="01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5" name="箭號: 迴轉箭號 14">
            <a:extLst>
              <a:ext uri="{FF2B5EF4-FFF2-40B4-BE49-F238E27FC236}">
                <a16:creationId xmlns:a16="http://schemas.microsoft.com/office/drawing/2014/main" id="{DBCC6146-0538-5989-A272-EFDBBF4ADA7A}"/>
              </a:ext>
            </a:extLst>
          </p:cNvPr>
          <p:cNvSpPr/>
          <p:nvPr/>
        </p:nvSpPr>
        <p:spPr>
          <a:xfrm rot="5121611">
            <a:off x="5340338" y="3517542"/>
            <a:ext cx="2075071" cy="1421202"/>
          </a:xfrm>
          <a:prstGeom prst="uturnArrow">
            <a:avLst>
              <a:gd name="adj1" fmla="val 11013"/>
              <a:gd name="adj2" fmla="val 16035"/>
              <a:gd name="adj3" fmla="val 22891"/>
              <a:gd name="adj4" fmla="val 42695"/>
              <a:gd name="adj5" fmla="val 100000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5770A2-8D90-0F3F-8168-541434C0B13E}"/>
              </a:ext>
            </a:extLst>
          </p:cNvPr>
          <p:cNvSpPr/>
          <p:nvPr/>
        </p:nvSpPr>
        <p:spPr>
          <a:xfrm>
            <a:off x="3854396" y="3278869"/>
            <a:ext cx="1731278" cy="1501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145F1F1-05F5-EB18-657F-7F6FEE143507}"/>
              </a:ext>
            </a:extLst>
          </p:cNvPr>
          <p:cNvGrpSpPr/>
          <p:nvPr/>
        </p:nvGrpSpPr>
        <p:grpSpPr>
          <a:xfrm>
            <a:off x="9222734" y="1313701"/>
            <a:ext cx="1690689" cy="1119134"/>
            <a:chOff x="4340277" y="2759062"/>
            <a:chExt cx="1690689" cy="1119134"/>
          </a:xfrm>
        </p:grpSpPr>
        <p:sp>
          <p:nvSpPr>
            <p:cNvPr id="7" name="Rectangle 25">
              <a:extLst>
                <a:ext uri="{FF2B5EF4-FFF2-40B4-BE49-F238E27FC236}">
                  <a16:creationId xmlns:a16="http://schemas.microsoft.com/office/drawing/2014/main" id="{2B46B751-9FD0-EB9B-3E4F-CAD8E9D10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4641" y="3138421"/>
              <a:ext cx="1076325" cy="37941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HK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6/2</a:t>
              </a:r>
              <a:endParaRPr lang="zh-TW" altLang="en-US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8" name="Rectangle 26">
              <a:extLst>
                <a:ext uri="{FF2B5EF4-FFF2-40B4-BE49-F238E27FC236}">
                  <a16:creationId xmlns:a16="http://schemas.microsoft.com/office/drawing/2014/main" id="{B78D8283-129C-3421-0BA0-1D644E3B0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4641" y="3501958"/>
              <a:ext cx="1076325" cy="376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HK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8/2</a:t>
              </a:r>
              <a:endParaRPr lang="zh-TW" altLang="en-US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12" name="Text Box 31">
              <a:extLst>
                <a:ext uri="{FF2B5EF4-FFF2-40B4-BE49-F238E27FC236}">
                  <a16:creationId xmlns:a16="http://schemas.microsoft.com/office/drawing/2014/main" id="{C6CA0305-2DFD-E4B7-03EA-72CF8EFE1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9348" y="2759062"/>
              <a:ext cx="60785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sz="2000" b="0" dirty="0">
                  <a:solidFill>
                    <a:srgbClr val="01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rat</a:t>
              </a:r>
            </a:p>
          </p:txBody>
        </p:sp>
        <p:sp>
          <p:nvSpPr>
            <p:cNvPr id="9" name="Text Box 28">
              <a:extLst>
                <a:ext uri="{FF2B5EF4-FFF2-40B4-BE49-F238E27FC236}">
                  <a16:creationId xmlns:a16="http://schemas.microsoft.com/office/drawing/2014/main" id="{CC9E830A-8B22-56A4-7B6A-3C79B6C67E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0277" y="3151121"/>
              <a:ext cx="5645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num</a:t>
              </a:r>
            </a:p>
          </p:txBody>
        </p:sp>
        <p:sp>
          <p:nvSpPr>
            <p:cNvPr id="10" name="Text Box 30">
              <a:extLst>
                <a:ext uri="{FF2B5EF4-FFF2-40B4-BE49-F238E27FC236}">
                  <a16:creationId xmlns:a16="http://schemas.microsoft.com/office/drawing/2014/main" id="{4AA856D9-24A4-9B26-3298-7E6CC8AAAC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2829" y="3505411"/>
              <a:ext cx="5645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den</a:t>
              </a:r>
            </a:p>
          </p:txBody>
        </p:sp>
      </p:grpSp>
      <p:sp>
        <p:nvSpPr>
          <p:cNvPr id="21" name="Rectangle 25">
            <a:extLst>
              <a:ext uri="{FF2B5EF4-FFF2-40B4-BE49-F238E27FC236}">
                <a16:creationId xmlns:a16="http://schemas.microsoft.com/office/drawing/2014/main" id="{64A3B83F-93B0-DC4A-C975-5F61B6325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112" y="4026089"/>
            <a:ext cx="855407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HK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2" name="Rectangle 26">
            <a:extLst>
              <a:ext uri="{FF2B5EF4-FFF2-40B4-BE49-F238E27FC236}">
                <a16:creationId xmlns:a16="http://schemas.microsoft.com/office/drawing/2014/main" id="{94A384DB-E911-FEBE-832A-B58BB3F50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112" y="4387913"/>
            <a:ext cx="855407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HK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A4273D92-40E5-C6B4-5D29-DAEEE5DEF359}"/>
              </a:ext>
            </a:extLst>
          </p:cNvPr>
          <p:cNvSpPr/>
          <p:nvPr/>
        </p:nvSpPr>
        <p:spPr>
          <a:xfrm>
            <a:off x="8637087" y="4205519"/>
            <a:ext cx="855407" cy="371759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03936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27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27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27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7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27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27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27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27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27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27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22" grpId="0"/>
      <p:bldP spid="15" grpId="0" animBg="1"/>
      <p:bldP spid="16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951EF15-19FF-44B4-BB4A-4C5D02C44E68}" type="slidenum">
              <a:rPr lang="zh-TW" altLang="en-US" sz="100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en-US" altLang="zh-TW" sz="1000" dirty="0">
              <a:solidFill>
                <a:srgbClr val="000000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1" y="115889"/>
            <a:ext cx="7509813" cy="492443"/>
          </a:xfrm>
          <a:noFill/>
        </p:spPr>
        <p:txBody>
          <a:bodyPr wrap="none" anchor="t">
            <a:spAutoFit/>
          </a:bodyPr>
          <a:lstStyle/>
          <a:p>
            <a:r>
              <a:rPr lang="en-US" altLang="zh-TW" sz="2600" dirty="0">
                <a:ea typeface="新細明體" panose="02020500000000000000" pitchFamily="18" charset="-120"/>
              </a:rPr>
              <a:t>2.3. Structures as BOTH Parameters and Return Values</a:t>
            </a:r>
          </a:p>
        </p:txBody>
      </p:sp>
      <p:sp>
        <p:nvSpPr>
          <p:cNvPr id="74760" name="Text Box 8"/>
          <p:cNvSpPr txBox="1">
            <a:spLocks noChangeArrowheads="1"/>
          </p:cNvSpPr>
          <p:nvPr/>
        </p:nvSpPr>
        <p:spPr bwMode="auto">
          <a:xfrm>
            <a:off x="1989138" y="688975"/>
            <a:ext cx="8678862" cy="58262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… </a:t>
            </a: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/* struct definition and other functions same as before */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typedef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rational  Rational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   </a:t>
            </a: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/* alias */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Rational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r_Add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Rational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rat1,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Rational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rat2 ) {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num, den;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num = rat1.num * rat2.den + rat2.num * rat1.den;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den = rat1.den * rat2.den;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r_Create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num, den );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main() {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Rational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six_over_eight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one_over_two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six_over_eight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= </a:t>
            </a:r>
            <a:r>
              <a:rPr lang="en-US" altLang="zh-TW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r_Create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( 6, 8 );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r_Print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six_over_eight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);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printf(" + ");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one_over_two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= </a:t>
            </a:r>
            <a:r>
              <a:rPr lang="en-US" altLang="zh-TW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r_Create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( 1, 2 );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r_Print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one_over_two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);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printf(" = ");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r_Print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</a:t>
            </a:r>
            <a:r>
              <a:rPr lang="en-US" altLang="zh-TW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r_Add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six_over_eight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one_over_two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) );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0;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74761" name="Text Box 9"/>
          <p:cNvSpPr txBox="1">
            <a:spLocks noChangeArrowheads="1"/>
          </p:cNvSpPr>
          <p:nvPr/>
        </p:nvSpPr>
        <p:spPr bwMode="auto">
          <a:xfrm>
            <a:off x="1703389" y="6481762"/>
            <a:ext cx="8713787" cy="3762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TW" altLang="en-US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74762" name="Text Box 10"/>
          <p:cNvSpPr txBox="1">
            <a:spLocks noChangeArrowheads="1"/>
          </p:cNvSpPr>
          <p:nvPr/>
        </p:nvSpPr>
        <p:spPr bwMode="auto">
          <a:xfrm>
            <a:off x="1516062" y="688975"/>
            <a:ext cx="473076" cy="58262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3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4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5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6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7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8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9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10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11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12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13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14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15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16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17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18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19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20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21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22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23</a:t>
            </a:r>
          </a:p>
        </p:txBody>
      </p:sp>
      <p:grpSp>
        <p:nvGrpSpPr>
          <p:cNvPr id="74767" name="Group 15"/>
          <p:cNvGrpSpPr>
            <a:grpSpLocks/>
          </p:cNvGrpSpPr>
          <p:nvPr/>
        </p:nvGrpSpPr>
        <p:grpSpPr bwMode="auto">
          <a:xfrm>
            <a:off x="7862888" y="2359025"/>
            <a:ext cx="2692400" cy="863600"/>
            <a:chOff x="2880" y="2704"/>
            <a:chExt cx="1696" cy="544"/>
          </a:xfrm>
          <a:solidFill>
            <a:srgbClr val="CCFFCC"/>
          </a:solidFill>
        </p:grpSpPr>
        <p:sp>
          <p:nvSpPr>
            <p:cNvPr id="74766" name="AutoShape 14"/>
            <p:cNvSpPr>
              <a:spLocks noChangeArrowheads="1"/>
            </p:cNvSpPr>
            <p:nvPr/>
          </p:nvSpPr>
          <p:spPr bwMode="auto">
            <a:xfrm>
              <a:off x="2880" y="2704"/>
              <a:ext cx="1696" cy="544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graphicFrame>
          <p:nvGraphicFramePr>
            <p:cNvPr id="74764" name="Object 12"/>
            <p:cNvGraphicFramePr>
              <a:graphicFrameLocks noChangeAspect="1"/>
            </p:cNvGraphicFramePr>
            <p:nvPr/>
          </p:nvGraphicFramePr>
          <p:xfrm>
            <a:off x="2880" y="2704"/>
            <a:ext cx="1696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346040" imgH="431640" progId="Equation.3">
                    <p:embed/>
                  </p:oleObj>
                </mc:Choice>
                <mc:Fallback>
                  <p:oleObj name="Equation" r:id="rId3" imgW="1346040" imgH="431640" progId="Equation.3">
                    <p:embed/>
                    <p:pic>
                      <p:nvPicPr>
                        <p:cNvPr id="74764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2704"/>
                          <a:ext cx="1696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4768" name="Text Box 16"/>
          <p:cNvSpPr txBox="1">
            <a:spLocks noChangeArrowheads="1"/>
          </p:cNvSpPr>
          <p:nvPr/>
        </p:nvSpPr>
        <p:spPr bwMode="auto">
          <a:xfrm>
            <a:off x="1812926" y="6491288"/>
            <a:ext cx="6331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chemeClr val="bg1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3 / 4</a:t>
            </a:r>
          </a:p>
        </p:txBody>
      </p:sp>
      <p:sp>
        <p:nvSpPr>
          <p:cNvPr id="74769" name="Text Box 17"/>
          <p:cNvSpPr txBox="1">
            <a:spLocks noChangeArrowheads="1"/>
          </p:cNvSpPr>
          <p:nvPr/>
        </p:nvSpPr>
        <p:spPr bwMode="auto">
          <a:xfrm>
            <a:off x="2495550" y="6486525"/>
            <a:ext cx="3799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chemeClr val="bg1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+ </a:t>
            </a:r>
          </a:p>
        </p:txBody>
      </p:sp>
      <p:sp>
        <p:nvSpPr>
          <p:cNvPr id="74770" name="Text Box 18"/>
          <p:cNvSpPr txBox="1">
            <a:spLocks noChangeArrowheads="1"/>
          </p:cNvSpPr>
          <p:nvPr/>
        </p:nvSpPr>
        <p:spPr bwMode="auto">
          <a:xfrm>
            <a:off x="2905126" y="6486525"/>
            <a:ext cx="6331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chemeClr val="bg1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1 / 2</a:t>
            </a:r>
          </a:p>
        </p:txBody>
      </p:sp>
      <p:sp>
        <p:nvSpPr>
          <p:cNvPr id="74771" name="Text Box 19"/>
          <p:cNvSpPr txBox="1">
            <a:spLocks noChangeArrowheads="1"/>
          </p:cNvSpPr>
          <p:nvPr/>
        </p:nvSpPr>
        <p:spPr bwMode="auto">
          <a:xfrm>
            <a:off x="3729038" y="6491288"/>
            <a:ext cx="1266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chemeClr val="bg1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=</a:t>
            </a:r>
          </a:p>
        </p:txBody>
      </p:sp>
      <p:sp>
        <p:nvSpPr>
          <p:cNvPr id="74772" name="Text Box 20"/>
          <p:cNvSpPr txBox="1">
            <a:spLocks noChangeArrowheads="1"/>
          </p:cNvSpPr>
          <p:nvPr/>
        </p:nvSpPr>
        <p:spPr bwMode="auto">
          <a:xfrm>
            <a:off x="4017964" y="6496050"/>
            <a:ext cx="6331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chemeClr val="bg1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5 / 4</a:t>
            </a: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6F392FA7-7ACD-B95E-8835-A88CC88BA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1116" y="4254560"/>
            <a:ext cx="842964" cy="338554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zh-TW" altLang="en-US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3" name="Rectangle 26">
            <a:extLst>
              <a:ext uri="{FF2B5EF4-FFF2-40B4-BE49-F238E27FC236}">
                <a16:creationId xmlns:a16="http://schemas.microsoft.com/office/drawing/2014/main" id="{AC52E0AA-8FBA-2E30-7761-C04DB7EBB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1116" y="4600181"/>
            <a:ext cx="842964" cy="338554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zh-TW" altLang="en-US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4" name="Text Box 28">
            <a:extLst>
              <a:ext uri="{FF2B5EF4-FFF2-40B4-BE49-F238E27FC236}">
                <a16:creationId xmlns:a16="http://schemas.microsoft.com/office/drawing/2014/main" id="{0A031803-1D7B-700E-AC6F-248958A2F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1" y="4264648"/>
            <a:ext cx="5212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16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</a:p>
        </p:txBody>
      </p:sp>
      <p:sp>
        <p:nvSpPr>
          <p:cNvPr id="5" name="Text Box 30">
            <a:extLst>
              <a:ext uri="{FF2B5EF4-FFF2-40B4-BE49-F238E27FC236}">
                <a16:creationId xmlns:a16="http://schemas.microsoft.com/office/drawing/2014/main" id="{1F5243C8-A017-F4E0-2CA5-F3AFE83FA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953" y="4618938"/>
            <a:ext cx="5212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16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den</a:t>
            </a:r>
          </a:p>
        </p:txBody>
      </p:sp>
      <p:sp>
        <p:nvSpPr>
          <p:cNvPr id="6" name="Text Box 31">
            <a:extLst>
              <a:ext uri="{FF2B5EF4-FFF2-40B4-BE49-F238E27FC236}">
                <a16:creationId xmlns:a16="http://schemas.microsoft.com/office/drawing/2014/main" id="{1324B4AB-2203-D070-5D72-6E7223C9F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8225" y="3916550"/>
            <a:ext cx="157607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1400" b="0" dirty="0" err="1">
                <a:solidFill>
                  <a:srgbClr val="01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six_over_eight</a:t>
            </a:r>
            <a:endParaRPr lang="en-US" altLang="zh-TW" sz="1400" b="0" dirty="0">
              <a:solidFill>
                <a:srgbClr val="01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7" name="Rectangle 25">
            <a:extLst>
              <a:ext uri="{FF2B5EF4-FFF2-40B4-BE49-F238E27FC236}">
                <a16:creationId xmlns:a16="http://schemas.microsoft.com/office/drawing/2014/main" id="{272BBE93-EB88-A454-FA79-59FEEFF10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7614" y="4268261"/>
            <a:ext cx="694187" cy="338554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zh-TW" altLang="en-US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09380CA1-C4F5-21C2-AA6A-2AC249122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7614" y="4597553"/>
            <a:ext cx="694187" cy="338554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zh-TW" altLang="en-US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9" name="Text Box 28">
            <a:extLst>
              <a:ext uri="{FF2B5EF4-FFF2-40B4-BE49-F238E27FC236}">
                <a16:creationId xmlns:a16="http://schemas.microsoft.com/office/drawing/2014/main" id="{E6161631-53CA-D76D-48EF-7EFE6F55C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9450" y="4241692"/>
            <a:ext cx="5212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16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</a:p>
        </p:txBody>
      </p:sp>
      <p:sp>
        <p:nvSpPr>
          <p:cNvPr id="10" name="Text Box 30">
            <a:extLst>
              <a:ext uri="{FF2B5EF4-FFF2-40B4-BE49-F238E27FC236}">
                <a16:creationId xmlns:a16="http://schemas.microsoft.com/office/drawing/2014/main" id="{29A5FC6C-2F26-5FF2-3982-6C33171A9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2002" y="4595982"/>
            <a:ext cx="5212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16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den</a:t>
            </a:r>
          </a:p>
        </p:txBody>
      </p:sp>
      <p:sp>
        <p:nvSpPr>
          <p:cNvPr id="11" name="Text Box 31">
            <a:extLst>
              <a:ext uri="{FF2B5EF4-FFF2-40B4-BE49-F238E27FC236}">
                <a16:creationId xmlns:a16="http://schemas.microsoft.com/office/drawing/2014/main" id="{0DD713DC-282A-F0C8-085A-9FE54B1C2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9147" y="3881512"/>
            <a:ext cx="13773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1400" b="0" dirty="0" err="1">
                <a:solidFill>
                  <a:srgbClr val="01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one_over_two</a:t>
            </a:r>
            <a:endParaRPr lang="en-US" altLang="zh-TW" sz="1400" b="0" dirty="0">
              <a:solidFill>
                <a:srgbClr val="01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7E6953F-2D20-C4ED-281C-33656D0B67D1}"/>
              </a:ext>
            </a:extLst>
          </p:cNvPr>
          <p:cNvSpPr txBox="1"/>
          <p:nvPr/>
        </p:nvSpPr>
        <p:spPr>
          <a:xfrm>
            <a:off x="8899092" y="4219625"/>
            <a:ext cx="8778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+</a:t>
            </a:r>
            <a:endParaRPr lang="en-HK" sz="3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88E62E-0E74-7813-D201-386F2C5B1FC2}"/>
              </a:ext>
            </a:extLst>
          </p:cNvPr>
          <p:cNvSpPr txBox="1"/>
          <p:nvPr/>
        </p:nvSpPr>
        <p:spPr>
          <a:xfrm>
            <a:off x="8012756" y="4275723"/>
            <a:ext cx="608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HK" altLang="zh-TW" sz="1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  <a:endParaRPr lang="zh-TW" altLang="en-US" sz="18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A3CE23-94C6-D795-C7B3-361E5308ED7F}"/>
              </a:ext>
            </a:extLst>
          </p:cNvPr>
          <p:cNvSpPr txBox="1"/>
          <p:nvPr/>
        </p:nvSpPr>
        <p:spPr>
          <a:xfrm>
            <a:off x="8038874" y="4621503"/>
            <a:ext cx="608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HK" altLang="zh-TW" sz="1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  <a:endParaRPr lang="zh-TW" altLang="en-US" sz="18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3BA11C-D83E-8C6E-CDB8-A84C542A4F31}"/>
              </a:ext>
            </a:extLst>
          </p:cNvPr>
          <p:cNvSpPr txBox="1"/>
          <p:nvPr/>
        </p:nvSpPr>
        <p:spPr>
          <a:xfrm>
            <a:off x="9963003" y="4266501"/>
            <a:ext cx="608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HK" altLang="zh-TW" sz="1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endParaRPr lang="zh-TW" altLang="en-US" sz="18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463BB9-7650-7253-2897-782299B12EBF}"/>
              </a:ext>
            </a:extLst>
          </p:cNvPr>
          <p:cNvSpPr txBox="1"/>
          <p:nvPr/>
        </p:nvSpPr>
        <p:spPr>
          <a:xfrm>
            <a:off x="9955534" y="4621503"/>
            <a:ext cx="608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HK" altLang="zh-TW" sz="18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zh-TW" altLang="en-US" sz="18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36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7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7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47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47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47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7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47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47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476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4760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747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7476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7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7476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7476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7476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7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7476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7476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7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8" grpId="0"/>
      <p:bldP spid="74769" grpId="0"/>
      <p:bldP spid="74770" grpId="0"/>
      <p:bldP spid="74771" grpId="0"/>
      <p:bldP spid="74772" grpId="0"/>
      <p:bldP spid="2" grpId="0" animBg="1"/>
      <p:bldP spid="3" grpId="0" animBg="1"/>
      <p:bldP spid="4" grpId="0"/>
      <p:bldP spid="5" grpId="0"/>
      <p:bldP spid="6" grpId="0"/>
      <p:bldP spid="7" grpId="0" animBg="1"/>
      <p:bldP spid="8" grpId="0" animBg="1"/>
      <p:bldP spid="9" grpId="0"/>
      <p:bldP spid="10" grpId="0"/>
      <p:bldP spid="11" grpId="0"/>
      <p:bldP spid="13" grpId="0"/>
      <p:bldP spid="14" grpId="0"/>
      <p:bldP spid="15" grpId="0"/>
      <p:bldP spid="17" grpId="0"/>
      <p:bldP spid="1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3. More Structures</a:t>
            </a:r>
            <a:endParaRPr lang="zh-TW" altLang="en-US" dirty="0">
              <a:ea typeface="新細明體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zh-TW" sz="3600" dirty="0">
                <a:ea typeface="新細明體"/>
                <a:cs typeface="Calibri"/>
              </a:rPr>
              <a:t>3.1. Array in Structures</a:t>
            </a:r>
          </a:p>
          <a:p>
            <a:pPr marL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TW" sz="3600" dirty="0">
                <a:ea typeface="新細明體"/>
                <a:cs typeface="Calibri"/>
              </a:rPr>
              <a:t>	</a:t>
            </a:r>
            <a:r>
              <a:rPr lang="en-US" altLang="zh-TW" sz="26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student {</a:t>
            </a:r>
            <a:b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TW" sz="2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	name[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NAMEMAX+1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b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TW" sz="2600" dirty="0">
                <a:solidFill>
                  <a:srgbClr val="0000FF"/>
                </a:solidFill>
                <a:latin typeface="Consolas" panose="020B0609020204030204" pitchFamily="49" charset="0"/>
              </a:rPr>
              <a:t>int		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birth[3];</a:t>
            </a:r>
            <a:b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  };</a:t>
            </a:r>
            <a:endParaRPr lang="en-US" altLang="zh-TW" sz="2600" dirty="0">
              <a:ea typeface="新細明體"/>
            </a:endParaRPr>
          </a:p>
          <a:p>
            <a:pPr>
              <a:lnSpc>
                <a:spcPct val="80000"/>
              </a:lnSpc>
              <a:buFont typeface="Arial" pitchFamily="34" charset="0"/>
              <a:buNone/>
            </a:pPr>
            <a:endParaRPr lang="en-US" altLang="zh-TW" sz="3600" dirty="0">
              <a:ea typeface="新細明體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3600" dirty="0">
                <a:ea typeface="新細明體"/>
              </a:rPr>
              <a:t>3.2. Array of Structures</a:t>
            </a:r>
            <a:endParaRPr lang="en-US" sz="4000" dirty="0">
              <a:ea typeface="新細明體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TW" sz="3600" dirty="0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		</a:t>
            </a:r>
            <a:r>
              <a:rPr lang="en-US" altLang="zh-TW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 student  </a:t>
            </a:r>
            <a:r>
              <a:rPr lang="en-US" altLang="zh-TW" dirty="0" err="1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student_list</a:t>
            </a:r>
            <a:r>
              <a:rPr lang="en-US" altLang="zh-TW" dirty="0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[100];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3600" dirty="0">
              <a:ea typeface="新細明體" panose="02020500000000000000" pitchFamily="18" charset="-12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TW" sz="3600" dirty="0">
                <a:ea typeface="新細明體"/>
              </a:rPr>
              <a:t>3.3. Nested Structures</a:t>
            </a:r>
            <a:endParaRPr lang="en-US" altLang="zh-TW" sz="3600" dirty="0">
              <a:ea typeface="新細明體"/>
              <a:cs typeface="Calibri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3600" dirty="0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		</a:t>
            </a:r>
            <a:r>
              <a:rPr lang="en-US" altLang="zh-TW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 student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		  char          name[30];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		  struct date   dob;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		</a:t>
            </a:r>
            <a:r>
              <a:rPr lang="en-US" altLang="zh-TW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8848766-186B-7941-8803-61F64AB9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4E39DB-1733-93D8-44CC-D755C0CAE19F}"/>
              </a:ext>
            </a:extLst>
          </p:cNvPr>
          <p:cNvSpPr txBox="1"/>
          <p:nvPr/>
        </p:nvSpPr>
        <p:spPr>
          <a:xfrm>
            <a:off x="7422664" y="4724400"/>
            <a:ext cx="45817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date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int day, month, year;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2727586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94E2F42-6396-49A4-A5C7-7FC29CAB9E6C}" type="slidenum">
              <a:rPr lang="zh-TW" altLang="en-US" sz="100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42</a:t>
            </a:fld>
            <a:endParaRPr lang="en-US" altLang="zh-TW" sz="1000" dirty="0">
              <a:solidFill>
                <a:srgbClr val="000000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7351" name="Rectangle 7"/>
          <p:cNvSpPr>
            <a:spLocks noChangeArrowheads="1"/>
          </p:cNvSpPr>
          <p:nvPr/>
        </p:nvSpPr>
        <p:spPr bwMode="auto">
          <a:xfrm>
            <a:off x="1981200" y="1625600"/>
            <a:ext cx="8382000" cy="1371600"/>
          </a:xfrm>
          <a:prstGeom prst="rect">
            <a:avLst/>
          </a:prstGeom>
          <a:solidFill>
            <a:srgbClr val="3366FF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/* Define the type </a:t>
            </a:r>
            <a:r>
              <a:rPr lang="en-US" altLang="zh-TW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dirty="0">
                <a:solidFill>
                  <a:srgbClr val="9933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person</a:t>
            </a:r>
            <a:r>
              <a:rPr lang="en-US" altLang="zh-TW" dirty="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 */</a:t>
            </a:r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675125" y="1"/>
            <a:ext cx="8229600" cy="714375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ea typeface="新細明體"/>
              </a:rPr>
              <a:t>3.1. Array Members in Structures</a:t>
            </a:r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1981200" y="714376"/>
            <a:ext cx="8686800" cy="50783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#include &lt;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stdio.h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&gt;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#define NAMEMAX 100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 student {</a:t>
            </a:r>
            <a:b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	name[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</a:rPr>
              <a:t>NAMEMAX+1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b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</a:rPr>
              <a:t>int		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birth[3];</a:t>
            </a:r>
            <a:b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main()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student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stu1 = {"Peter", {2006,3,27}};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student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stu2;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printf("Your name? ");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Consolas"/>
                <a:ea typeface="新細明體"/>
              </a:rPr>
              <a:t>scanf</a:t>
            </a: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("%s", 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stu2</a:t>
            </a: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.name);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printf("Your birth year? ");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nsolas"/>
                <a:ea typeface="新細明體" panose="02020500000000000000" pitchFamily="18" charset="-120"/>
              </a:rPr>
              <a:t>scanf</a:t>
            </a:r>
            <a:r>
              <a:rPr lang="en-US" dirty="0">
                <a:solidFill>
                  <a:srgbClr val="000000"/>
                </a:solidFill>
                <a:latin typeface="Consolas"/>
                <a:ea typeface="新細明體" panose="02020500000000000000" pitchFamily="18" charset="-120"/>
              </a:rPr>
              <a:t>("%d", &amp;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stu2</a:t>
            </a:r>
            <a:r>
              <a:rPr lang="en-US" dirty="0">
                <a:solidFill>
                  <a:srgbClr val="000000"/>
                </a:solidFill>
                <a:latin typeface="Consolas"/>
                <a:ea typeface="新細明體" panose="02020500000000000000" pitchFamily="18" charset="-120"/>
              </a:rPr>
              <a:t>.</a:t>
            </a: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birth[0]);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	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0;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</a:t>
            </a:r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1524001" y="714376"/>
            <a:ext cx="461963" cy="61436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2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3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4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14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8455555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92" name="Text Box 72"/>
          <p:cNvSpPr txBox="1">
            <a:spLocks noChangeArrowheads="1"/>
          </p:cNvSpPr>
          <p:nvPr/>
        </p:nvSpPr>
        <p:spPr bwMode="auto">
          <a:xfrm>
            <a:off x="-1134" y="1413903"/>
            <a:ext cx="3932827" cy="14465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TW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student {</a:t>
            </a:r>
            <a:br>
              <a:rPr lang="en-US" altLang="zh-TW" sz="2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TW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name[</a:t>
            </a:r>
            <a:r>
              <a:rPr lang="en-US" altLang="zh-TW" sz="2200" b="1" dirty="0">
                <a:solidFill>
                  <a:srgbClr val="FF0000"/>
                </a:solidFill>
                <a:latin typeface="Consolas" panose="020B0609020204030204" pitchFamily="49" charset="0"/>
              </a:rPr>
              <a:t>NAMEMAX+1</a:t>
            </a:r>
            <a:r>
              <a:rPr lang="en-US" altLang="zh-TW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br>
              <a:rPr lang="en-US" altLang="zh-TW" sz="2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int  </a:t>
            </a:r>
            <a:r>
              <a:rPr lang="en-US" altLang="zh-TW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birth[3];</a:t>
            </a:r>
            <a:br>
              <a:rPr lang="en-US" altLang="zh-TW" sz="2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13384" y="2040"/>
            <a:ext cx="8229600" cy="1143000"/>
          </a:xfrm>
        </p:spPr>
        <p:txBody>
          <a:bodyPr/>
          <a:lstStyle/>
          <a:p>
            <a:r>
              <a:rPr lang="en-US" altLang="zh-TW" dirty="0">
                <a:ea typeface="新細明體"/>
              </a:rPr>
              <a:t>3.1. Array Members in Structures</a:t>
            </a:r>
          </a:p>
        </p:txBody>
      </p:sp>
      <p:graphicFrame>
        <p:nvGraphicFramePr>
          <p:cNvPr id="56391" name="Group 7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2403601"/>
              </p:ext>
            </p:extLst>
          </p:nvPr>
        </p:nvGraphicFramePr>
        <p:xfrm>
          <a:off x="4043329" y="1429852"/>
          <a:ext cx="8088392" cy="5143500"/>
        </p:xfrm>
        <a:graphic>
          <a:graphicData uri="http://schemas.openxmlformats.org/drawingml/2006/table">
            <a:tbl>
              <a:tblPr/>
              <a:tblGrid>
                <a:gridCol w="2306158">
                  <a:extLst>
                    <a:ext uri="{9D8B030D-6E8A-4147-A177-3AD203B41FA5}">
                      <a16:colId xmlns:a16="http://schemas.microsoft.com/office/drawing/2014/main" val="3886508136"/>
                    </a:ext>
                  </a:extLst>
                </a:gridCol>
                <a:gridCol w="3603421">
                  <a:extLst>
                    <a:ext uri="{9D8B030D-6E8A-4147-A177-3AD203B41FA5}">
                      <a16:colId xmlns:a16="http://schemas.microsoft.com/office/drawing/2014/main" val="2881749529"/>
                    </a:ext>
                  </a:extLst>
                </a:gridCol>
                <a:gridCol w="2178813">
                  <a:extLst>
                    <a:ext uri="{9D8B030D-6E8A-4147-A177-3AD203B41FA5}">
                      <a16:colId xmlns:a16="http://schemas.microsoft.com/office/drawing/2014/main" val="362433107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Entities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Meaning/ 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Type/ 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298750"/>
                  </a:ext>
                </a:extLst>
              </a:tr>
              <a:tr h="850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TW" sz="200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</a:rPr>
                        <a:t>stu1</a:t>
                      </a: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The whole structure</a:t>
                      </a:r>
                      <a:endParaRPr kumimoji="0" lang="zh-TW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struct </a:t>
                      </a:r>
                      <a:r>
                        <a:rPr lang="en-US" altLang="zh-TW" sz="200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student</a:t>
                      </a:r>
                      <a:endParaRPr kumimoji="0" lang="zh-TW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402787"/>
                  </a:ext>
                </a:extLst>
              </a:tr>
              <a:tr h="850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TW" sz="200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</a:rPr>
                        <a:t>stu1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.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CC"/>
                          </a:highlight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The whole string member 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char []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    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CC"/>
                          </a:highlight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“Peter"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789529"/>
                  </a:ext>
                </a:extLst>
              </a:tr>
              <a:tr h="850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TW" sz="200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</a:rPr>
                        <a:t>stu1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.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CC"/>
                          </a:highlight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name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[0]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The 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0" lang="en-US" altLang="zh-TW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st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character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of string </a:t>
                      </a:r>
                      <a:r>
                        <a:rPr lang="en-US" altLang="zh-TW" sz="200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</a:rPr>
                        <a:t>stu1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.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CC"/>
                          </a:highlight>
                          <a:latin typeface="Consolas" panose="020B0609020204030204" pitchFamily="49" charset="0"/>
                          <a:ea typeface="+mn-ea"/>
                        </a:rPr>
                        <a:t>name</a:t>
                      </a: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anose="02020500000000000000" pitchFamily="18" charset="-12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char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    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‘P'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919471"/>
                  </a:ext>
                </a:extLst>
              </a:tr>
              <a:tr h="850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TW" sz="200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</a:rPr>
                        <a:t>stu1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.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CCFFCC"/>
                          </a:highlight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birth</a:t>
                      </a: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00FF00"/>
                        </a:highlight>
                        <a:latin typeface="Consolas" panose="020B0609020204030204" pitchFamily="49" charset="0"/>
                        <a:ea typeface="新細明體" panose="02020500000000000000" pitchFamily="18" charset="-12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</a:rPr>
                        <a:t>The whole integer array member</a:t>
                      </a: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int []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    </a:t>
                      </a: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00FF00"/>
                        </a:highlight>
                        <a:latin typeface="Consolas" panose="020B0609020204030204" pitchFamily="49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111150"/>
                  </a:ext>
                </a:extLst>
              </a:tr>
              <a:tr h="850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TW" sz="200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</a:rPr>
                        <a:t>stu1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.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CCFFCC"/>
                          </a:highlight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birth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The 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0" lang="en-US" altLang="zh-TW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nd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integer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in </a:t>
                      </a:r>
                      <a:r>
                        <a:rPr lang="en-US" altLang="zh-TW" sz="200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+mn-ea"/>
                        </a:rPr>
                        <a:t>stu1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.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CCFFCC"/>
                          </a:highlight>
                          <a:latin typeface="Consolas" panose="020B0609020204030204" pitchFamily="49" charset="0"/>
                          <a:ea typeface="+mn-ea"/>
                        </a:rPr>
                        <a:t>birth</a:t>
                      </a:r>
                      <a:endParaRPr kumimoji="0" lang="en-US" altLang="zh-TW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int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    </a:t>
                      </a: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411637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9C91B-79A9-9A4F-B234-1CF4EECE2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567193F-7C33-05C5-08CD-550398698D88}"/>
              </a:ext>
            </a:extLst>
          </p:cNvPr>
          <p:cNvSpPr txBox="1"/>
          <p:nvPr/>
        </p:nvSpPr>
        <p:spPr>
          <a:xfrm>
            <a:off x="60279" y="3597438"/>
            <a:ext cx="3810000" cy="8002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300" b="1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lang="en-US" altLang="zh-TW" sz="2300" b="1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student</a:t>
            </a:r>
            <a:r>
              <a:rPr lang="en-US" altLang="zh-TW" sz="2300" b="1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stu1 = {"Peter", {2006,3,27}};</a:t>
            </a:r>
            <a:endParaRPr lang="en-HK" sz="2300" b="1" dirty="0"/>
          </a:p>
        </p:txBody>
      </p:sp>
    </p:spTree>
    <p:extLst>
      <p:ext uri="{BB962C8B-B14F-4D97-AF65-F5344CB8AC3E}">
        <p14:creationId xmlns:p14="http://schemas.microsoft.com/office/powerpoint/2010/main" val="11699901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26E2C-9234-52EF-7276-8856C3F43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86D719E0-BE6C-A279-B71C-CD233BECC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3. More Structures</a:t>
            </a:r>
            <a:endParaRPr lang="zh-TW" altLang="en-US" dirty="0">
              <a:ea typeface="新細明體"/>
            </a:endParaRP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80D97E43-E60D-0B37-33EE-73F5F64A1D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zh-TW" sz="2200" dirty="0">
                <a:ea typeface="新細明體"/>
                <a:cs typeface="Calibri"/>
              </a:rPr>
              <a:t>3.1. Array in Structures</a:t>
            </a:r>
          </a:p>
          <a:p>
            <a:pPr marL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TW" sz="2200" dirty="0">
                <a:ea typeface="新細明體"/>
                <a:cs typeface="Calibri"/>
              </a:rPr>
              <a:t>	</a:t>
            </a:r>
            <a:r>
              <a:rPr lang="en-US" altLang="zh-TW" sz="17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TW" sz="1700" dirty="0">
                <a:solidFill>
                  <a:srgbClr val="000000"/>
                </a:solidFill>
                <a:latin typeface="Consolas" panose="020B0609020204030204" pitchFamily="49" charset="0"/>
              </a:rPr>
              <a:t> student {</a:t>
            </a:r>
            <a:br>
              <a:rPr lang="en-US" altLang="zh-TW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sz="17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TW" sz="17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TW" sz="1700" dirty="0">
                <a:solidFill>
                  <a:srgbClr val="000000"/>
                </a:solidFill>
                <a:latin typeface="Consolas" panose="020B0609020204030204" pitchFamily="49" charset="0"/>
              </a:rPr>
              <a:t>	name[</a:t>
            </a:r>
            <a:r>
              <a:rPr lang="en-US" altLang="zh-TW" sz="1700" dirty="0">
                <a:solidFill>
                  <a:srgbClr val="FF0000"/>
                </a:solidFill>
                <a:latin typeface="Consolas" panose="020B0609020204030204" pitchFamily="49" charset="0"/>
              </a:rPr>
              <a:t>NAMEMAX+1</a:t>
            </a:r>
            <a:r>
              <a:rPr lang="en-US" altLang="zh-TW" sz="17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br>
              <a:rPr lang="en-US" altLang="zh-TW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sz="17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TW" sz="1700" dirty="0">
                <a:solidFill>
                  <a:srgbClr val="0000FF"/>
                </a:solidFill>
                <a:latin typeface="Consolas" panose="020B0609020204030204" pitchFamily="49" charset="0"/>
              </a:rPr>
              <a:t>int		</a:t>
            </a:r>
            <a:r>
              <a:rPr lang="en-US" altLang="zh-TW" sz="1700" dirty="0">
                <a:solidFill>
                  <a:srgbClr val="000000"/>
                </a:solidFill>
                <a:latin typeface="Consolas" panose="020B0609020204030204" pitchFamily="49" charset="0"/>
              </a:rPr>
              <a:t>birth[3];</a:t>
            </a:r>
            <a:br>
              <a:rPr lang="en-US" altLang="zh-TW" sz="17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sz="1700" dirty="0">
                <a:solidFill>
                  <a:srgbClr val="000000"/>
                </a:solidFill>
                <a:latin typeface="Consolas" panose="020B0609020204030204" pitchFamily="49" charset="0"/>
              </a:rPr>
              <a:t>       };</a:t>
            </a:r>
            <a:endParaRPr lang="en-US" altLang="zh-TW" sz="1700" dirty="0">
              <a:ea typeface="新細明體"/>
            </a:endParaRPr>
          </a:p>
          <a:p>
            <a:pPr>
              <a:lnSpc>
                <a:spcPct val="80000"/>
              </a:lnSpc>
              <a:buFont typeface="Arial" pitchFamily="34" charset="0"/>
              <a:buNone/>
            </a:pPr>
            <a:endParaRPr lang="en-US" altLang="zh-TW" sz="3600" dirty="0">
              <a:ea typeface="新細明體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3600" b="1" dirty="0">
                <a:ea typeface="新細明體"/>
              </a:rPr>
              <a:t>3.2. Array of Structures</a:t>
            </a:r>
            <a:endParaRPr lang="en-US" sz="4000" b="1" dirty="0">
              <a:ea typeface="新細明體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TW" sz="3600" b="1" dirty="0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		</a:t>
            </a:r>
            <a:r>
              <a:rPr lang="en-US" altLang="zh-TW" b="1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 student  </a:t>
            </a:r>
            <a:r>
              <a:rPr lang="en-US" altLang="zh-TW" b="1" dirty="0" err="1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student_list</a:t>
            </a:r>
            <a:r>
              <a:rPr lang="en-US" altLang="zh-TW" b="1" dirty="0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[100];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3000" dirty="0">
              <a:ea typeface="新細明體" panose="02020500000000000000" pitchFamily="18" charset="-12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TW" sz="3000" dirty="0">
                <a:ea typeface="新細明體"/>
              </a:rPr>
              <a:t>3.3. Nested Structures</a:t>
            </a:r>
            <a:endParaRPr lang="en-US" altLang="zh-TW" sz="3000" dirty="0">
              <a:ea typeface="新細明體"/>
              <a:cs typeface="Calibri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3000" dirty="0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		</a:t>
            </a:r>
            <a:r>
              <a:rPr lang="en-US" altLang="zh-TW" sz="2200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 student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2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		  char          name[30];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2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		  struct date   dob;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200" dirty="0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		</a:t>
            </a:r>
            <a:r>
              <a:rPr lang="en-US" altLang="zh-TW" sz="2200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32E7EF5-AF20-2D86-EFD9-A0CDAA262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67901F-7CA6-340C-9C91-F5CBD2BE1C8E}"/>
              </a:ext>
            </a:extLst>
          </p:cNvPr>
          <p:cNvSpPr txBox="1"/>
          <p:nvPr/>
        </p:nvSpPr>
        <p:spPr>
          <a:xfrm>
            <a:off x="7422664" y="4724400"/>
            <a:ext cx="45817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date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int day, month, year;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0796584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AEC1D4B0-C3F3-4826-3136-8E83ECBE7691}"/>
              </a:ext>
            </a:extLst>
          </p:cNvPr>
          <p:cNvSpPr/>
          <p:nvPr/>
        </p:nvSpPr>
        <p:spPr>
          <a:xfrm>
            <a:off x="1985964" y="1932675"/>
            <a:ext cx="8682036" cy="43027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3.2. Array of Structures</a:t>
            </a:r>
            <a:endParaRPr lang="zh-TW" altLang="en-US" dirty="0">
              <a:ea typeface="新細明體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94339" y="1099458"/>
            <a:ext cx="8932985" cy="51054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Structures may occur as an array.</a:t>
            </a:r>
          </a:p>
          <a:p>
            <a:pPr>
              <a:lnSpc>
                <a:spcPct val="8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Example:</a:t>
            </a:r>
          </a:p>
          <a:p>
            <a:pPr lvl="4">
              <a:lnSpc>
                <a:spcPct val="80000"/>
              </a:lnSpc>
            </a:pPr>
            <a:endParaRPr lang="en-US" altLang="zh-TW" sz="1600" dirty="0"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TW" sz="1800" dirty="0">
                <a:solidFill>
                  <a:srgbClr val="000000"/>
                </a:solidFill>
                <a:latin typeface="Consolas" panose="020B0609020204030204" pitchFamily="49" charset="0"/>
              </a:rPr>
              <a:t> student {</a:t>
            </a:r>
            <a:br>
              <a:rPr lang="en-US" altLang="zh-TW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TW" sz="1800" dirty="0">
                <a:solidFill>
                  <a:srgbClr val="000000"/>
                </a:solidFill>
                <a:latin typeface="Consolas" panose="020B0609020204030204" pitchFamily="49" charset="0"/>
              </a:rPr>
              <a:t> name[</a:t>
            </a:r>
            <a:r>
              <a:rPr lang="en-US" altLang="zh-TW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NAMEMAX+1</a:t>
            </a:r>
            <a:r>
              <a:rPr lang="en-US" altLang="zh-TW" sz="18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br>
              <a:rPr lang="en-US" altLang="zh-TW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</a:rPr>
              <a:t>int  </a:t>
            </a:r>
            <a:r>
              <a:rPr lang="en-US" altLang="zh-TW" sz="1800" dirty="0">
                <a:solidFill>
                  <a:srgbClr val="000000"/>
                </a:solidFill>
                <a:latin typeface="Consolas" panose="020B0609020204030204" pitchFamily="49" charset="0"/>
              </a:rPr>
              <a:t>birth[3];   </a:t>
            </a:r>
            <a:r>
              <a:rPr lang="en-US" altLang="zh-TW" sz="1800" dirty="0">
                <a:solidFill>
                  <a:srgbClr val="00B05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// {year, month, date}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1800" dirty="0">
                <a:solidFill>
                  <a:srgbClr val="000000"/>
                </a:solidFill>
                <a:latin typeface="Consolas" panose="020B0609020204030204" pitchFamily="49" charset="0"/>
              </a:rPr>
              <a:t>  mark;</a:t>
            </a:r>
            <a:br>
              <a:rPr lang="en-US" altLang="zh-TW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sz="18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18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main(void) {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800" b="1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lang="en-US" altLang="zh-TW" sz="1800" b="1" dirty="0">
                <a:latin typeface="Consolas" panose="020B0609020204030204" pitchFamily="49" charset="0"/>
                <a:ea typeface="新細明體" panose="02020500000000000000" pitchFamily="18" charset="-120"/>
              </a:rPr>
              <a:t> student   </a:t>
            </a:r>
            <a:r>
              <a:rPr lang="en-US" altLang="zh-TW" sz="1800" b="1" dirty="0" err="1">
                <a:latin typeface="Consolas" panose="020B0609020204030204" pitchFamily="49" charset="0"/>
                <a:ea typeface="新細明體" panose="02020500000000000000" pitchFamily="18" charset="-120"/>
              </a:rPr>
              <a:t>student_list</a:t>
            </a:r>
            <a:r>
              <a:rPr lang="en-US" altLang="zh-TW" sz="1800" b="1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[100]</a:t>
            </a:r>
            <a:r>
              <a:rPr lang="en-US" altLang="zh-TW" sz="1800" b="1" dirty="0"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18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800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student_list</a:t>
            </a:r>
            <a:r>
              <a:rPr lang="en-US" altLang="zh-TW" sz="1800" u="sng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[0]</a:t>
            </a:r>
            <a:r>
              <a:rPr lang="en-US" altLang="zh-TW" sz="1800" dirty="0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</a:t>
            </a:r>
            <a:r>
              <a:rPr lang="en-US" altLang="zh-TW" sz="1800" dirty="0">
                <a:solidFill>
                  <a:srgbClr val="0070C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mark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= 98;  </a:t>
            </a:r>
            <a:r>
              <a:rPr lang="en-US" altLang="zh-TW" sz="1800" dirty="0">
                <a:solidFill>
                  <a:srgbClr val="00B05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// mark of the </a:t>
            </a:r>
            <a:r>
              <a:rPr lang="en-US" altLang="zh-TW" sz="1800" u="sng" dirty="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1</a:t>
            </a:r>
            <a:r>
              <a:rPr lang="en-US" altLang="zh-TW" sz="1800" u="sng" baseline="30000" dirty="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</a:t>
            </a:r>
            <a:r>
              <a:rPr lang="en-US" altLang="zh-TW" sz="1800" dirty="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 student</a:t>
            </a:r>
            <a:r>
              <a:rPr lang="en-US" altLang="zh-TW" sz="1800" dirty="0">
                <a:solidFill>
                  <a:srgbClr val="00B05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sz="1800" dirty="0">
                <a:solidFill>
                  <a:srgbClr val="00B050"/>
                </a:solidFill>
                <a:latin typeface="Consolas" panose="020B0609020204030204" pitchFamily="49" charset="0"/>
                <a:ea typeface="新細明體" panose="02020500000000000000" pitchFamily="18" charset="-120"/>
                <a:sym typeface="Wingdings" panose="05000000000000000000" pitchFamily="2" charset="2"/>
              </a:rPr>
              <a:t> 98</a:t>
            </a:r>
            <a:endParaRPr lang="en-US" altLang="zh-TW" sz="1800" dirty="0">
              <a:solidFill>
                <a:srgbClr val="00B05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18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solidFill>
                  <a:srgbClr val="00B05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// check the </a:t>
            </a:r>
            <a:r>
              <a:rPr lang="en-US" altLang="zh-TW" sz="1800" dirty="0">
                <a:solidFill>
                  <a:srgbClr val="FF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second integer(month) of birth</a:t>
            </a:r>
            <a:r>
              <a:rPr lang="en-US" altLang="zh-TW" sz="1800" dirty="0">
                <a:solidFill>
                  <a:srgbClr val="00B05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of the </a:t>
            </a:r>
            <a:r>
              <a:rPr lang="en-US" altLang="zh-TW" sz="1800" u="sng" dirty="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11</a:t>
            </a:r>
            <a:r>
              <a:rPr lang="en-US" altLang="zh-TW" sz="1800" u="sng" baseline="30000" dirty="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th</a:t>
            </a:r>
            <a:r>
              <a:rPr lang="en-US" altLang="zh-TW" sz="1800" dirty="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 student</a:t>
            </a:r>
            <a:endParaRPr lang="en-US" altLang="zh-TW" sz="1800" dirty="0">
              <a:highlight>
                <a:srgbClr val="FFFF00"/>
              </a:highlight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if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( </a:t>
            </a:r>
            <a:r>
              <a:rPr lang="en-US" altLang="zh-TW" sz="1800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student_list</a:t>
            </a:r>
            <a:r>
              <a:rPr lang="en-US" altLang="zh-TW" sz="1800" u="sng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[10]</a:t>
            </a:r>
            <a:r>
              <a:rPr lang="en-US" altLang="zh-TW" sz="1800" dirty="0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</a:t>
            </a:r>
            <a:r>
              <a:rPr lang="en-US" altLang="zh-TW" sz="1800" dirty="0">
                <a:solidFill>
                  <a:srgbClr val="FF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 birth[1]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== </a:t>
            </a:r>
            <a:r>
              <a:rPr lang="en-US" altLang="zh-TW" sz="1800" dirty="0">
                <a:latin typeface="Consolas" panose="020B0609020204030204" pitchFamily="49" charset="0"/>
              </a:rPr>
              <a:t>'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11' )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     </a:t>
            </a:r>
            <a:r>
              <a:rPr lang="en-US" altLang="zh-TW" sz="1800" dirty="0" err="1">
                <a:latin typeface="Consolas" panose="020B0609020204030204" pitchFamily="49" charset="0"/>
                <a:ea typeface="新細明體" panose="02020500000000000000" pitchFamily="18" charset="-120"/>
              </a:rPr>
              <a:t>printf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(“Happy Birthday");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18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return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0;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}</a:t>
            </a:r>
            <a:endParaRPr lang="zh-TW" altLang="en-US" sz="18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5A9D17-C7A8-5D4D-9CB0-355D4B0A0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443B2FD-C687-1D78-61A1-A154D4D11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932675"/>
            <a:ext cx="461963" cy="430271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1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2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3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4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5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6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7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8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9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10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11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12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13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14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15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190289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4073B6F-849A-4C42-B529-C02F39402EE8}" type="slidenum">
              <a:rPr lang="zh-TW" altLang="en-US" sz="100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46</a:t>
            </a:fld>
            <a:endParaRPr lang="en-US" altLang="zh-TW" sz="1000" dirty="0">
              <a:solidFill>
                <a:srgbClr val="000000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68631" name="Group 23"/>
          <p:cNvGrpSpPr>
            <a:grpSpLocks/>
          </p:cNvGrpSpPr>
          <p:nvPr/>
        </p:nvGrpSpPr>
        <p:grpSpPr bwMode="auto">
          <a:xfrm>
            <a:off x="2057400" y="1219200"/>
            <a:ext cx="8001000" cy="2209800"/>
            <a:chOff x="336" y="1632"/>
            <a:chExt cx="5040" cy="1728"/>
          </a:xfrm>
        </p:grpSpPr>
        <p:sp>
          <p:nvSpPr>
            <p:cNvPr id="68629" name="Rectangle 21"/>
            <p:cNvSpPr>
              <a:spLocks noChangeArrowheads="1"/>
            </p:cNvSpPr>
            <p:nvPr/>
          </p:nvSpPr>
          <p:spPr bwMode="auto">
            <a:xfrm>
              <a:off x="336" y="1632"/>
              <a:ext cx="5040" cy="172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dirty="0">
                  <a:solidFill>
                    <a:srgbClr val="000000"/>
                  </a:solidFill>
                  <a:latin typeface="Calibri" panose="020F0502020204030204" pitchFamily="34" charset="0"/>
                  <a:ea typeface="新細明體" panose="02020500000000000000" pitchFamily="18" charset="-120"/>
                </a:rPr>
                <a:t>array variable </a:t>
              </a:r>
              <a:r>
                <a:rPr lang="en-US" altLang="zh-TW" dirty="0" err="1">
                  <a:solidFill>
                    <a:srgbClr val="FF3300"/>
                  </a:solidFill>
                  <a:latin typeface="Consolas" panose="020B0609020204030204" pitchFamily="49" charset="0"/>
                  <a:ea typeface="新細明體" panose="02020500000000000000" pitchFamily="18" charset="-120"/>
                </a:rPr>
                <a:t>student_list</a:t>
              </a:r>
              <a:endParaRPr lang="en-US" altLang="zh-TW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endParaRPr>
            </a:p>
          </p:txBody>
        </p:sp>
        <p:grpSp>
          <p:nvGrpSpPr>
            <p:cNvPr id="68617" name="Group 9"/>
            <p:cNvGrpSpPr>
              <a:grpSpLocks/>
            </p:cNvGrpSpPr>
            <p:nvPr/>
          </p:nvGrpSpPr>
          <p:grpSpPr bwMode="auto">
            <a:xfrm>
              <a:off x="432" y="2016"/>
              <a:ext cx="1392" cy="1248"/>
              <a:chOff x="432" y="1536"/>
              <a:chExt cx="1392" cy="1248"/>
            </a:xfrm>
          </p:grpSpPr>
          <p:sp>
            <p:nvSpPr>
              <p:cNvPr id="68612" name="Rectangle 4"/>
              <p:cNvSpPr>
                <a:spLocks noChangeArrowheads="1"/>
              </p:cNvSpPr>
              <p:nvPr/>
            </p:nvSpPr>
            <p:spPr bwMode="auto">
              <a:xfrm>
                <a:off x="432" y="1536"/>
                <a:ext cx="1392" cy="1248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dirty="0" err="1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</a:rPr>
                  <a:t>student_list</a:t>
                </a:r>
                <a:r>
                  <a:rPr lang="en-US" altLang="zh-TW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</a:rPr>
                  <a:t>[0]</a:t>
                </a:r>
              </a:p>
            </p:txBody>
          </p:sp>
          <p:sp>
            <p:nvSpPr>
              <p:cNvPr id="68613" name="Rectangle 5"/>
              <p:cNvSpPr>
                <a:spLocks noChangeArrowheads="1"/>
              </p:cNvSpPr>
              <p:nvPr/>
            </p:nvSpPr>
            <p:spPr bwMode="auto">
              <a:xfrm>
                <a:off x="792" y="1824"/>
                <a:ext cx="672" cy="24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</a:rPr>
                  <a:t>name[]</a:t>
                </a:r>
              </a:p>
            </p:txBody>
          </p:sp>
          <p:sp>
            <p:nvSpPr>
              <p:cNvPr id="68614" name="Rectangle 6"/>
              <p:cNvSpPr>
                <a:spLocks noChangeArrowheads="1"/>
              </p:cNvSpPr>
              <p:nvPr/>
            </p:nvSpPr>
            <p:spPr bwMode="auto">
              <a:xfrm>
                <a:off x="792" y="2160"/>
                <a:ext cx="672" cy="240"/>
              </a:xfrm>
              <a:prstGeom prst="rect">
                <a:avLst/>
              </a:prstGeom>
              <a:solidFill>
                <a:schemeClr val="accent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</a:rPr>
                  <a:t>birth[]</a:t>
                </a:r>
              </a:p>
            </p:txBody>
          </p:sp>
          <p:sp>
            <p:nvSpPr>
              <p:cNvPr id="68616" name="Rectangle 8"/>
              <p:cNvSpPr>
                <a:spLocks noChangeArrowheads="1"/>
              </p:cNvSpPr>
              <p:nvPr/>
            </p:nvSpPr>
            <p:spPr bwMode="auto">
              <a:xfrm>
                <a:off x="792" y="2496"/>
                <a:ext cx="672" cy="24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</a:rPr>
                  <a:t>mark</a:t>
                </a:r>
              </a:p>
            </p:txBody>
          </p:sp>
        </p:grpSp>
        <p:grpSp>
          <p:nvGrpSpPr>
            <p:cNvPr id="68618" name="Group 10"/>
            <p:cNvGrpSpPr>
              <a:grpSpLocks/>
            </p:cNvGrpSpPr>
            <p:nvPr/>
          </p:nvGrpSpPr>
          <p:grpSpPr bwMode="auto">
            <a:xfrm>
              <a:off x="1824" y="2016"/>
              <a:ext cx="1392" cy="1248"/>
              <a:chOff x="432" y="1536"/>
              <a:chExt cx="1392" cy="1248"/>
            </a:xfrm>
          </p:grpSpPr>
          <p:sp>
            <p:nvSpPr>
              <p:cNvPr id="68619" name="Rectangle 11"/>
              <p:cNvSpPr>
                <a:spLocks noChangeArrowheads="1"/>
              </p:cNvSpPr>
              <p:nvPr/>
            </p:nvSpPr>
            <p:spPr bwMode="auto">
              <a:xfrm>
                <a:off x="432" y="1536"/>
                <a:ext cx="1392" cy="124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dirty="0" err="1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</a:rPr>
                  <a:t>student_list</a:t>
                </a:r>
                <a:r>
                  <a:rPr lang="en-US" altLang="zh-TW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</a:rPr>
                  <a:t>[1]</a:t>
                </a:r>
              </a:p>
            </p:txBody>
          </p:sp>
          <p:sp>
            <p:nvSpPr>
              <p:cNvPr id="68620" name="Rectangle 12"/>
              <p:cNvSpPr>
                <a:spLocks noChangeArrowheads="1"/>
              </p:cNvSpPr>
              <p:nvPr/>
            </p:nvSpPr>
            <p:spPr bwMode="auto">
              <a:xfrm>
                <a:off x="792" y="1824"/>
                <a:ext cx="672" cy="24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</a:rPr>
                  <a:t>name[]</a:t>
                </a:r>
              </a:p>
            </p:txBody>
          </p:sp>
          <p:sp>
            <p:nvSpPr>
              <p:cNvPr id="68621" name="Rectangle 13"/>
              <p:cNvSpPr>
                <a:spLocks noChangeArrowheads="1"/>
              </p:cNvSpPr>
              <p:nvPr/>
            </p:nvSpPr>
            <p:spPr bwMode="auto">
              <a:xfrm>
                <a:off x="792" y="2160"/>
                <a:ext cx="672" cy="240"/>
              </a:xfrm>
              <a:prstGeom prst="rect">
                <a:avLst/>
              </a:prstGeom>
              <a:solidFill>
                <a:schemeClr val="accent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</a:rPr>
                  <a:t>birth[]</a:t>
                </a:r>
              </a:p>
            </p:txBody>
          </p:sp>
          <p:sp>
            <p:nvSpPr>
              <p:cNvPr id="68622" name="Rectangle 14"/>
              <p:cNvSpPr>
                <a:spLocks noChangeArrowheads="1"/>
              </p:cNvSpPr>
              <p:nvPr/>
            </p:nvSpPr>
            <p:spPr bwMode="auto">
              <a:xfrm>
                <a:off x="792" y="2496"/>
                <a:ext cx="672" cy="24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</a:rPr>
                  <a:t>mark</a:t>
                </a:r>
              </a:p>
            </p:txBody>
          </p:sp>
        </p:grpSp>
        <p:grpSp>
          <p:nvGrpSpPr>
            <p:cNvPr id="68623" name="Group 15"/>
            <p:cNvGrpSpPr>
              <a:grpSpLocks/>
            </p:cNvGrpSpPr>
            <p:nvPr/>
          </p:nvGrpSpPr>
          <p:grpSpPr bwMode="auto">
            <a:xfrm>
              <a:off x="3840" y="2016"/>
              <a:ext cx="1392" cy="1248"/>
              <a:chOff x="432" y="1536"/>
              <a:chExt cx="1392" cy="1248"/>
            </a:xfrm>
          </p:grpSpPr>
          <p:sp>
            <p:nvSpPr>
              <p:cNvPr id="68624" name="Rectangle 16"/>
              <p:cNvSpPr>
                <a:spLocks noChangeArrowheads="1"/>
              </p:cNvSpPr>
              <p:nvPr/>
            </p:nvSpPr>
            <p:spPr bwMode="auto">
              <a:xfrm>
                <a:off x="432" y="1536"/>
                <a:ext cx="1392" cy="124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dirty="0" err="1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</a:rPr>
                  <a:t>student_list</a:t>
                </a:r>
                <a:r>
                  <a:rPr lang="en-US" altLang="zh-TW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</a:rPr>
                  <a:t>[99]</a:t>
                </a:r>
              </a:p>
            </p:txBody>
          </p:sp>
          <p:sp>
            <p:nvSpPr>
              <p:cNvPr id="68625" name="Rectangle 17"/>
              <p:cNvSpPr>
                <a:spLocks noChangeArrowheads="1"/>
              </p:cNvSpPr>
              <p:nvPr/>
            </p:nvSpPr>
            <p:spPr bwMode="auto">
              <a:xfrm>
                <a:off x="792" y="1824"/>
                <a:ext cx="672" cy="24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</a:rPr>
                  <a:t>name[]</a:t>
                </a:r>
              </a:p>
            </p:txBody>
          </p:sp>
          <p:sp>
            <p:nvSpPr>
              <p:cNvPr id="68626" name="Rectangle 18"/>
              <p:cNvSpPr>
                <a:spLocks noChangeArrowheads="1"/>
              </p:cNvSpPr>
              <p:nvPr/>
            </p:nvSpPr>
            <p:spPr bwMode="auto">
              <a:xfrm>
                <a:off x="792" y="2160"/>
                <a:ext cx="672" cy="240"/>
              </a:xfrm>
              <a:prstGeom prst="rect">
                <a:avLst/>
              </a:prstGeom>
              <a:solidFill>
                <a:schemeClr val="accent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</a:rPr>
                  <a:t>birth[]</a:t>
                </a:r>
              </a:p>
            </p:txBody>
          </p:sp>
          <p:sp>
            <p:nvSpPr>
              <p:cNvPr id="68627" name="Rectangle 19"/>
              <p:cNvSpPr>
                <a:spLocks noChangeArrowheads="1"/>
              </p:cNvSpPr>
              <p:nvPr/>
            </p:nvSpPr>
            <p:spPr bwMode="auto">
              <a:xfrm>
                <a:off x="792" y="2496"/>
                <a:ext cx="672" cy="24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TW" dirty="0">
                    <a:solidFill>
                      <a:srgbClr val="000000"/>
                    </a:solidFill>
                    <a:latin typeface="Consolas" panose="020B0609020204030204" pitchFamily="49" charset="0"/>
                    <a:ea typeface="新細明體" panose="02020500000000000000" pitchFamily="18" charset="-120"/>
                  </a:rPr>
                  <a:t>mark</a:t>
                </a:r>
              </a:p>
            </p:txBody>
          </p:sp>
        </p:grpSp>
        <p:sp>
          <p:nvSpPr>
            <p:cNvPr id="68628" name="Text Box 20"/>
            <p:cNvSpPr txBox="1">
              <a:spLocks noChangeArrowheads="1"/>
            </p:cNvSpPr>
            <p:nvPr/>
          </p:nvSpPr>
          <p:spPr bwMode="auto">
            <a:xfrm>
              <a:off x="3388" y="2471"/>
              <a:ext cx="216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 dirty="0">
                  <a:solidFill>
                    <a:srgbClr val="000000"/>
                  </a:solidFill>
                  <a:latin typeface="Calibri" panose="020F0502020204030204" pitchFamily="34" charset="0"/>
                  <a:ea typeface="新細明體" panose="02020500000000000000" pitchFamily="18" charset="-120"/>
                </a:rPr>
                <a:t>…</a:t>
              </a:r>
            </a:p>
          </p:txBody>
        </p:sp>
      </p:grpSp>
      <p:graphicFrame>
        <p:nvGraphicFramePr>
          <p:cNvPr id="68689" name="Group 8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73724"/>
              </p:ext>
            </p:extLst>
          </p:nvPr>
        </p:nvGraphicFramePr>
        <p:xfrm>
          <a:off x="1600201" y="3505200"/>
          <a:ext cx="8991599" cy="3200400"/>
        </p:xfrm>
        <a:graphic>
          <a:graphicData uri="http://schemas.openxmlformats.org/drawingml/2006/table">
            <a:tbl>
              <a:tblPr/>
              <a:tblGrid>
                <a:gridCol w="3768552">
                  <a:extLst>
                    <a:ext uri="{9D8B030D-6E8A-4147-A177-3AD203B41FA5}">
                      <a16:colId xmlns:a16="http://schemas.microsoft.com/office/drawing/2014/main" val="1668499845"/>
                    </a:ext>
                  </a:extLst>
                </a:gridCol>
                <a:gridCol w="5223047">
                  <a:extLst>
                    <a:ext uri="{9D8B030D-6E8A-4147-A177-3AD203B41FA5}">
                      <a16:colId xmlns:a16="http://schemas.microsoft.com/office/drawing/2014/main" val="3856715146"/>
                    </a:ext>
                  </a:extLst>
                </a:gridCol>
              </a:tblGrid>
              <a:tr h="479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Entities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Meaning/ 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100393"/>
                  </a:ext>
                </a:extLst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student_list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An array of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struct student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437008"/>
                  </a:ext>
                </a:extLst>
              </a:tr>
              <a:tr h="754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student_list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  <a:ea typeface="新細明體"/>
                        </a:rPr>
                        <a:t>[2]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00FFFF"/>
                        </a:highlight>
                        <a:latin typeface="Consolas" panose="020B0609020204030204" pitchFamily="49" charset="0"/>
                        <a:ea typeface="新細明體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The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3</a:t>
                      </a:r>
                      <a:r>
                        <a:rPr kumimoji="0" lang="en-US" altLang="zh-TW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rd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 student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element of the array,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a variable of type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struct student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252796"/>
                  </a:ext>
                </a:extLst>
              </a:tr>
              <a:tr h="746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student_list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  <a:ea typeface="新細明體"/>
                        </a:rPr>
                        <a:t>[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  <a:ea typeface="新細明體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  <a:ea typeface="新細明體"/>
                        </a:rPr>
                        <a:t>]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.name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The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name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 of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the (i+1)</a:t>
                      </a:r>
                      <a:r>
                        <a:rPr kumimoji="0" lang="en-US" altLang="zh-TW" sz="2000" b="0" i="0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th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 student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in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the array, a string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88441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student_list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  <a:ea typeface="新細明體"/>
                        </a:rPr>
                        <a:t>[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  <a:ea typeface="新細明體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  <a:ea typeface="新細明體"/>
                        </a:rPr>
                        <a:t>]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.name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Consolas" panose="020B0609020204030204" pitchFamily="49" charset="0"/>
                          <a:ea typeface="新細明體"/>
                        </a:rPr>
                        <a:t>[j]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00FF00"/>
                        </a:highlight>
                        <a:latin typeface="Consolas" panose="020B0609020204030204" pitchFamily="49" charset="0"/>
                        <a:ea typeface="新細明體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The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(j+1)</a:t>
                      </a:r>
                      <a:r>
                        <a:rPr kumimoji="0" lang="en-US" altLang="zh-TW" sz="2000" b="0" i="0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th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 character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 of the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name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 of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the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(i+1)</a:t>
                      </a:r>
                      <a:r>
                        <a:rPr kumimoji="0" lang="en-US" altLang="zh-TW" sz="2000" b="0" i="0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th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 student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in the array, a single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char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327822"/>
                  </a:ext>
                </a:extLst>
              </a:tr>
            </a:tbl>
          </a:graphicData>
        </a:graphic>
      </p:graphicFrame>
      <p:sp>
        <p:nvSpPr>
          <p:cNvPr id="68692" name="Rectangle 84"/>
          <p:cNvSpPr>
            <a:spLocks noChangeArrowheads="1"/>
          </p:cNvSpPr>
          <p:nvPr/>
        </p:nvSpPr>
        <p:spPr bwMode="auto">
          <a:xfrm>
            <a:off x="6629400" y="1693410"/>
            <a:ext cx="990600" cy="15970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D2D1AABE-2EF7-374E-8DEC-EE8CC24A9E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97462" cy="838200"/>
          </a:xfrm>
        </p:spPr>
        <p:txBody>
          <a:bodyPr/>
          <a:lstStyle/>
          <a:p>
            <a:r>
              <a:rPr lang="en-US" altLang="zh-TW" dirty="0">
                <a:ea typeface="新細明體"/>
              </a:rPr>
              <a:t>3.2. Array of Structures</a:t>
            </a:r>
            <a:endParaRPr lang="zh-TW" altLang="en-US" dirty="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149304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A43DE-339D-34E7-989B-E7B2D8F9D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66083728-800B-9DEC-CA05-57D582CAE0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3. More Structures</a:t>
            </a:r>
            <a:endParaRPr lang="zh-TW" altLang="en-US" dirty="0">
              <a:ea typeface="新細明體"/>
            </a:endParaRP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207E6897-A09B-DEF9-E534-9AFABDACB6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zh-TW" sz="2600" dirty="0">
                <a:ea typeface="新細明體"/>
                <a:cs typeface="Calibri"/>
              </a:rPr>
              <a:t>3.1. Array in Structures</a:t>
            </a:r>
          </a:p>
          <a:p>
            <a:pPr marL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TW" sz="2600" dirty="0">
                <a:ea typeface="新細明體"/>
                <a:cs typeface="Calibri"/>
              </a:rPr>
              <a:t>	</a:t>
            </a:r>
            <a:r>
              <a:rPr lang="en-US" altLang="zh-TW" sz="19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TW" sz="1900" dirty="0">
                <a:solidFill>
                  <a:srgbClr val="000000"/>
                </a:solidFill>
                <a:latin typeface="Consolas" panose="020B0609020204030204" pitchFamily="49" charset="0"/>
              </a:rPr>
              <a:t> student {</a:t>
            </a:r>
            <a:br>
              <a:rPr lang="en-US" altLang="zh-TW" sz="1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sz="19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TW" sz="19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TW" sz="1900" dirty="0">
                <a:solidFill>
                  <a:srgbClr val="000000"/>
                </a:solidFill>
                <a:latin typeface="Consolas" panose="020B0609020204030204" pitchFamily="49" charset="0"/>
              </a:rPr>
              <a:t>	name[</a:t>
            </a:r>
            <a:r>
              <a:rPr lang="en-US" altLang="zh-TW" sz="1900" dirty="0">
                <a:solidFill>
                  <a:srgbClr val="FF0000"/>
                </a:solidFill>
                <a:latin typeface="Consolas" panose="020B0609020204030204" pitchFamily="49" charset="0"/>
              </a:rPr>
              <a:t>NAMEMAX+1</a:t>
            </a:r>
            <a:r>
              <a:rPr lang="en-US" altLang="zh-TW" sz="19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br>
              <a:rPr lang="en-US" altLang="zh-TW" sz="1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sz="19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TW" sz="1900" dirty="0">
                <a:solidFill>
                  <a:srgbClr val="0000FF"/>
                </a:solidFill>
                <a:latin typeface="Consolas" panose="020B0609020204030204" pitchFamily="49" charset="0"/>
              </a:rPr>
              <a:t>int		</a:t>
            </a:r>
            <a:r>
              <a:rPr lang="en-US" altLang="zh-TW" sz="1900" dirty="0">
                <a:solidFill>
                  <a:srgbClr val="000000"/>
                </a:solidFill>
                <a:latin typeface="Consolas" panose="020B0609020204030204" pitchFamily="49" charset="0"/>
              </a:rPr>
              <a:t>birth[3];</a:t>
            </a:r>
            <a:br>
              <a:rPr lang="en-US" altLang="zh-TW" sz="1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sz="1900" dirty="0">
                <a:solidFill>
                  <a:srgbClr val="000000"/>
                </a:solidFill>
                <a:latin typeface="Consolas" panose="020B0609020204030204" pitchFamily="49" charset="0"/>
              </a:rPr>
              <a:t>       };</a:t>
            </a:r>
            <a:endParaRPr lang="en-US" altLang="zh-TW" sz="1900" dirty="0">
              <a:ea typeface="新細明體"/>
            </a:endParaRPr>
          </a:p>
          <a:p>
            <a:pPr>
              <a:lnSpc>
                <a:spcPct val="80000"/>
              </a:lnSpc>
              <a:buFont typeface="Arial" pitchFamily="34" charset="0"/>
              <a:buNone/>
            </a:pPr>
            <a:endParaRPr lang="en-US" altLang="zh-TW" sz="2600" dirty="0">
              <a:ea typeface="新細明體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600" dirty="0">
                <a:ea typeface="新細明體"/>
              </a:rPr>
              <a:t>3.2. Array of Structures</a:t>
            </a:r>
            <a:endParaRPr lang="en-US" sz="3000" dirty="0">
              <a:ea typeface="新細明體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TW" sz="2600" dirty="0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		</a:t>
            </a:r>
            <a:r>
              <a:rPr lang="en-US" altLang="zh-TW" sz="1900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 student  </a:t>
            </a:r>
            <a:r>
              <a:rPr lang="en-US" altLang="zh-TW" sz="1900" dirty="0" err="1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student_list</a:t>
            </a:r>
            <a:r>
              <a:rPr lang="en-US" altLang="zh-TW" sz="1900" dirty="0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[100];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3600" dirty="0">
              <a:ea typeface="新細明體" panose="02020500000000000000" pitchFamily="18" charset="-12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TW" sz="3600" b="1" dirty="0">
                <a:ea typeface="新細明體"/>
              </a:rPr>
              <a:t>3.3. Nested Structures</a:t>
            </a:r>
            <a:endParaRPr lang="en-US" altLang="zh-TW" sz="3600" b="1" dirty="0">
              <a:ea typeface="新細明體"/>
              <a:cs typeface="Calibri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3600" b="1" dirty="0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		</a:t>
            </a:r>
            <a:r>
              <a:rPr lang="en-US" altLang="zh-TW" b="1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 student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b="1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		  char          name[30];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		  struct date   dob;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b="1" dirty="0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		</a:t>
            </a:r>
            <a:r>
              <a:rPr lang="en-US" altLang="zh-TW" b="1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E6EDC36-8401-64E0-3DD5-A36F7791D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0037B0-9A8F-9E52-F0FE-5D4FD2765CB2}"/>
              </a:ext>
            </a:extLst>
          </p:cNvPr>
          <p:cNvSpPr txBox="1"/>
          <p:nvPr/>
        </p:nvSpPr>
        <p:spPr>
          <a:xfrm>
            <a:off x="6482862" y="4724400"/>
            <a:ext cx="55274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date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int day, month, year;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334106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22608-CEE3-B1BA-14F3-B21655EDF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CDAFB2-340A-DF2C-269D-C76E1A2AA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94E2F42-6396-49A4-A5C7-7FC29CAB9E6C}" type="slidenum">
              <a:rPr lang="zh-TW" altLang="en-US" sz="100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48</a:t>
            </a:fld>
            <a:endParaRPr lang="en-US" altLang="zh-TW" sz="1000" dirty="0">
              <a:solidFill>
                <a:srgbClr val="000000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7351" name="Rectangle 7">
            <a:extLst>
              <a:ext uri="{FF2B5EF4-FFF2-40B4-BE49-F238E27FC236}">
                <a16:creationId xmlns:a16="http://schemas.microsoft.com/office/drawing/2014/main" id="{C5825003-3CC3-4DE5-6032-388A04991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625600"/>
            <a:ext cx="8382000" cy="1371600"/>
          </a:xfrm>
          <a:prstGeom prst="rect">
            <a:avLst/>
          </a:prstGeom>
          <a:solidFill>
            <a:srgbClr val="3366FF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/* Define the type </a:t>
            </a:r>
            <a:r>
              <a:rPr lang="en-US" altLang="zh-TW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dirty="0">
                <a:solidFill>
                  <a:srgbClr val="9933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person</a:t>
            </a:r>
            <a:r>
              <a:rPr lang="en-US" altLang="zh-TW" dirty="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 */</a:t>
            </a: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4A32DC19-0792-6CA4-D3DB-8B16FA3CB1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5125" y="1"/>
            <a:ext cx="8229600" cy="714375"/>
          </a:xfrm>
        </p:spPr>
        <p:txBody>
          <a:bodyPr>
            <a:normAutofit fontScale="90000"/>
          </a:bodyPr>
          <a:lstStyle/>
          <a:p>
            <a:r>
              <a:rPr lang="en-US" altLang="zh-TW" sz="4400" dirty="0">
                <a:ea typeface="新細明體" panose="02020500000000000000" pitchFamily="18" charset="-120"/>
              </a:rPr>
              <a:t>3.3. Nested Structures</a:t>
            </a:r>
            <a:endParaRPr lang="en-US" altLang="zh-TW" dirty="0">
              <a:ea typeface="新細明體"/>
            </a:endParaRP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CC1CEE9-675C-E346-AA6F-65DC36949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714376"/>
            <a:ext cx="8686800" cy="563231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#include &lt;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stdio.h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&gt;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#define NAMEMAX 100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</a:rPr>
              <a:t>struct 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date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day, month, year;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 student {</a:t>
            </a:r>
            <a:b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	name[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</a:rPr>
              <a:t>NAMEMAX+1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b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TW" b="1" dirty="0">
                <a:solidFill>
                  <a:srgbClr val="0000FF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struct date  </a:t>
            </a:r>
            <a:r>
              <a:rPr lang="en-US" altLang="zh-TW" b="1" dirty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 dob;</a:t>
            </a:r>
            <a:br>
              <a:rPr lang="en-US" altLang="zh-TW" b="1" dirty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</a:b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main()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student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stu1 = {"Peter", {27,3,2006}};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</a:rPr>
              <a:t>student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stu2;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	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printf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("Your birth year? ");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nsolas"/>
                <a:ea typeface="新細明體" panose="02020500000000000000" pitchFamily="18" charset="-120"/>
              </a:rPr>
              <a:t>scanf</a:t>
            </a:r>
            <a:r>
              <a:rPr lang="en-US" dirty="0">
                <a:solidFill>
                  <a:srgbClr val="000000"/>
                </a:solidFill>
                <a:latin typeface="Consolas"/>
                <a:ea typeface="新細明體" panose="02020500000000000000" pitchFamily="18" charset="-120"/>
              </a:rPr>
              <a:t>("%d", &amp;</a:t>
            </a:r>
            <a:r>
              <a:rPr lang="en-US" altLang="zh-TW" b="1" dirty="0">
                <a:solidFill>
                  <a:srgbClr val="000000"/>
                </a:solidFill>
                <a:highlight>
                  <a:srgbClr val="CCCE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stu2</a:t>
            </a:r>
            <a:r>
              <a:rPr lang="en-US" b="1" dirty="0">
                <a:solidFill>
                  <a:srgbClr val="000000"/>
                </a:solidFill>
                <a:highlight>
                  <a:srgbClr val="CCCEFF"/>
                </a:highlight>
                <a:latin typeface="Consolas"/>
                <a:ea typeface="新細明體" panose="02020500000000000000" pitchFamily="18" charset="-120"/>
              </a:rPr>
              <a:t>.</a:t>
            </a:r>
            <a:r>
              <a:rPr lang="en-US" altLang="zh-TW" b="1" dirty="0">
                <a:solidFill>
                  <a:srgbClr val="000000"/>
                </a:solidFill>
                <a:highlight>
                  <a:srgbClr val="CCCEFF"/>
                </a:highlight>
                <a:latin typeface="Consolas" panose="020B0609020204030204" pitchFamily="49" charset="0"/>
              </a:rPr>
              <a:t>dob</a:t>
            </a:r>
            <a:r>
              <a:rPr lang="en-US" altLang="zh-TW" b="1" dirty="0">
                <a:solidFill>
                  <a:srgbClr val="000000"/>
                </a:solidFill>
                <a:highlight>
                  <a:srgbClr val="CCCEFF"/>
                </a:highlight>
                <a:latin typeface="Consolas"/>
                <a:ea typeface="新細明體"/>
              </a:rPr>
              <a:t>.year</a:t>
            </a: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	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0;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</a:t>
            </a:r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4489A5B6-E064-5EAC-5E8F-A9A4BEA01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714376"/>
            <a:ext cx="461963" cy="563231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2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3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4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14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3333752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BF100A9-3ADE-4C1E-BEDF-F35E7A8B6E99}" type="slidenum">
              <a:rPr lang="zh-TW" altLang="en-US" sz="100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49</a:t>
            </a:fld>
            <a:endParaRPr lang="en-US" altLang="zh-TW" sz="1000" dirty="0">
              <a:solidFill>
                <a:srgbClr val="000000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76806" name="Rectangle 6"/>
          <p:cNvSpPr>
            <a:spLocks noChangeArrowheads="1"/>
          </p:cNvSpPr>
          <p:nvPr/>
        </p:nvSpPr>
        <p:spPr bwMode="auto">
          <a:xfrm>
            <a:off x="1981200" y="2174875"/>
            <a:ext cx="8686800" cy="1219200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76809" name="Rectangle 9"/>
          <p:cNvSpPr>
            <a:spLocks noChangeArrowheads="1"/>
          </p:cNvSpPr>
          <p:nvPr/>
        </p:nvSpPr>
        <p:spPr bwMode="auto">
          <a:xfrm>
            <a:off x="1985963" y="1412875"/>
            <a:ext cx="8686800" cy="76200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617736" y="-76519"/>
            <a:ext cx="8229600" cy="981075"/>
          </a:xfrm>
        </p:spPr>
        <p:txBody>
          <a:bodyPr/>
          <a:lstStyle/>
          <a:p>
            <a:r>
              <a:rPr lang="en-US" altLang="zh-TW" sz="3400" dirty="0">
                <a:ea typeface="新細明體" panose="02020500000000000000" pitchFamily="18" charset="-120"/>
              </a:rPr>
              <a:t>3.4. Nested Structures (Another Example)</a:t>
            </a:r>
          </a:p>
        </p:txBody>
      </p:sp>
      <p:sp>
        <p:nvSpPr>
          <p:cNvPr id="76803" name="Rectangle 3"/>
          <p:cNvSpPr>
            <a:spLocks noChangeArrowheads="1"/>
          </p:cNvSpPr>
          <p:nvPr/>
        </p:nvSpPr>
        <p:spPr bwMode="auto">
          <a:xfrm>
            <a:off x="1981200" y="730250"/>
            <a:ext cx="8686800" cy="383489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#include &lt;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stdio.h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&gt;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#include &lt;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string.h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&gt;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date {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day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,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month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,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year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book {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char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     author[30];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char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     title[50]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char         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publisher[30];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      edition;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6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date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1600" dirty="0" err="1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date_of_pub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1524001" y="730250"/>
            <a:ext cx="461963" cy="383489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1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2</a:t>
            </a: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3</a:t>
            </a: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4</a:t>
            </a: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5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6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7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8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9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10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11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12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13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14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15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79A04542-55E9-1CF0-F9F9-1EDF054D2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981" y="1436916"/>
            <a:ext cx="2859368" cy="338554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sz="1600" b="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Al Kelley, Ira Pohl</a:t>
            </a:r>
            <a:endParaRPr lang="zh-TW" altLang="en-US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3" name="Rectangle 26">
            <a:extLst>
              <a:ext uri="{FF2B5EF4-FFF2-40B4-BE49-F238E27FC236}">
                <a16:creationId xmlns:a16="http://schemas.microsoft.com/office/drawing/2014/main" id="{9577DB7E-394E-A491-F558-15F367E28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981" y="1778717"/>
            <a:ext cx="2859368" cy="338554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sz="1600" b="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C By Dissection</a:t>
            </a:r>
            <a:endParaRPr lang="zh-TW" altLang="en-US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4" name="Text Box 28">
            <a:extLst>
              <a:ext uri="{FF2B5EF4-FFF2-40B4-BE49-F238E27FC236}">
                <a16:creationId xmlns:a16="http://schemas.microsoft.com/office/drawing/2014/main" id="{5E40D695-623B-667A-5B4C-C4696E11A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3911" y="1427826"/>
            <a:ext cx="9444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author</a:t>
            </a:r>
          </a:p>
        </p:txBody>
      </p:sp>
      <p:sp>
        <p:nvSpPr>
          <p:cNvPr id="5" name="Text Box 30">
            <a:extLst>
              <a:ext uri="{FF2B5EF4-FFF2-40B4-BE49-F238E27FC236}">
                <a16:creationId xmlns:a16="http://schemas.microsoft.com/office/drawing/2014/main" id="{871A995C-5E8C-CB21-2F1F-A16A266C4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7228" y="1764500"/>
            <a:ext cx="817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title</a:t>
            </a:r>
          </a:p>
        </p:txBody>
      </p:sp>
      <p:sp>
        <p:nvSpPr>
          <p:cNvPr id="6" name="Text Box 31">
            <a:extLst>
              <a:ext uri="{FF2B5EF4-FFF2-40B4-BE49-F238E27FC236}">
                <a16:creationId xmlns:a16="http://schemas.microsoft.com/office/drawing/2014/main" id="{B37BD34A-591A-5806-9F56-DEA6CCF27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081" y="1002915"/>
            <a:ext cx="17363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booklist[0]</a:t>
            </a:r>
          </a:p>
        </p:txBody>
      </p:sp>
      <p:sp>
        <p:nvSpPr>
          <p:cNvPr id="7" name="Rectangle 26">
            <a:extLst>
              <a:ext uri="{FF2B5EF4-FFF2-40B4-BE49-F238E27FC236}">
                <a16:creationId xmlns:a16="http://schemas.microsoft.com/office/drawing/2014/main" id="{A4D48D28-2572-148A-9CDD-A75C10CBF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1206" y="2116175"/>
            <a:ext cx="2859368" cy="338554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sz="1600" b="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Pearson</a:t>
            </a:r>
            <a:endParaRPr lang="zh-TW" altLang="en-US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Text Box 30">
            <a:extLst>
              <a:ext uri="{FF2B5EF4-FFF2-40B4-BE49-F238E27FC236}">
                <a16:creationId xmlns:a16="http://schemas.microsoft.com/office/drawing/2014/main" id="{F6C2DE33-FA5C-8C99-3E02-20F15B072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5088" y="2114599"/>
            <a:ext cx="13244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publisher</a:t>
            </a:r>
          </a:p>
        </p:txBody>
      </p:sp>
      <p:sp>
        <p:nvSpPr>
          <p:cNvPr id="9" name="Rectangle 26">
            <a:extLst>
              <a:ext uri="{FF2B5EF4-FFF2-40B4-BE49-F238E27FC236}">
                <a16:creationId xmlns:a16="http://schemas.microsoft.com/office/drawing/2014/main" id="{0BF7F27A-D4DF-1CE9-7DA4-66D6B388B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3217" y="2454729"/>
            <a:ext cx="2859368" cy="338554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sz="1600" b="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4</a:t>
            </a:r>
            <a:endParaRPr lang="zh-TW" altLang="en-US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8D9DA2CB-1155-BF47-5180-F9B51767D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7276" y="2471839"/>
            <a:ext cx="10711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edition</a:t>
            </a:r>
          </a:p>
        </p:txBody>
      </p:sp>
      <p:sp>
        <p:nvSpPr>
          <p:cNvPr id="12" name="Rectangle 26">
            <a:extLst>
              <a:ext uri="{FF2B5EF4-FFF2-40B4-BE49-F238E27FC236}">
                <a16:creationId xmlns:a16="http://schemas.microsoft.com/office/drawing/2014/main" id="{5477E6B0-79E1-FB27-8039-D3D937C79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5329" y="2796401"/>
            <a:ext cx="2859368" cy="135421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en-HK" altLang="zh-TW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algn="ctr"/>
            <a:endParaRPr lang="en-HK" altLang="zh-TW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algn="ctr"/>
            <a:endParaRPr lang="en-HK" altLang="zh-TW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algn="ctr"/>
            <a:endParaRPr lang="en-HK" altLang="zh-TW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algn="ctr"/>
            <a:endParaRPr lang="zh-TW" altLang="en-US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3" name="Text Box 30">
            <a:extLst>
              <a:ext uri="{FF2B5EF4-FFF2-40B4-BE49-F238E27FC236}">
                <a16:creationId xmlns:a16="http://schemas.microsoft.com/office/drawing/2014/main" id="{49DC79D6-AD33-6F85-B33F-8C816F0FC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890811"/>
            <a:ext cx="15776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 err="1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date_of_pub</a:t>
            </a:r>
            <a:endParaRPr lang="en-US" altLang="zh-TW" b="0" dirty="0">
              <a:solidFill>
                <a:srgbClr val="FF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985BCEEE-93F8-2525-CE56-92A31A753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255" y="2967379"/>
            <a:ext cx="2073275" cy="1015663"/>
          </a:xfrm>
          <a:prstGeom prst="rect">
            <a:avLst/>
          </a:prstGeom>
          <a:solidFill>
            <a:srgbClr val="FFF8D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en-US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en-US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F05A485D-E854-5459-49F4-0DB95E39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3980" y="3295894"/>
            <a:ext cx="1076325" cy="37623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9510DB85-587D-E891-821F-CFC487E14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3980" y="3643833"/>
            <a:ext cx="1076325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2000</a:t>
            </a:r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52DCA94C-C9EB-A858-F0ED-48148E48C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9616" y="2945055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solidFill>
                  <a:srgbClr val="01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</a:p>
        </p:txBody>
      </p:sp>
      <p:sp>
        <p:nvSpPr>
          <p:cNvPr id="19" name="Text Box 13">
            <a:extLst>
              <a:ext uri="{FF2B5EF4-FFF2-40B4-BE49-F238E27FC236}">
                <a16:creationId xmlns:a16="http://schemas.microsoft.com/office/drawing/2014/main" id="{CEF21B9B-EA3A-5049-C811-B9D29B031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1330" y="3311768"/>
            <a:ext cx="817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solidFill>
                  <a:srgbClr val="01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month</a:t>
            </a:r>
          </a:p>
        </p:txBody>
      </p:sp>
      <p:sp>
        <p:nvSpPr>
          <p:cNvPr id="20" name="Text Box 14">
            <a:extLst>
              <a:ext uri="{FF2B5EF4-FFF2-40B4-BE49-F238E27FC236}">
                <a16:creationId xmlns:a16="http://schemas.microsoft.com/office/drawing/2014/main" id="{B6136642-75F6-0397-9EB5-EB5D1ECEA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317" y="3657843"/>
            <a:ext cx="6912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solidFill>
                  <a:srgbClr val="01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year</a:t>
            </a: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EFDDDB7C-4F6D-14AD-391C-43FE28F31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0858" y="2909807"/>
            <a:ext cx="1076325" cy="37623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30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ED3CE02-C840-4B92-9100-EB593FCD06BF}"/>
              </a:ext>
            </a:extLst>
          </p:cNvPr>
          <p:cNvSpPr/>
          <p:nvPr/>
        </p:nvSpPr>
        <p:spPr>
          <a:xfrm>
            <a:off x="2346890" y="3792510"/>
            <a:ext cx="3124200" cy="397700"/>
          </a:xfrm>
          <a:prstGeom prst="roundRect">
            <a:avLst/>
          </a:pr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A862493-E938-C8F6-6E54-0759B4A346B5}"/>
              </a:ext>
            </a:extLst>
          </p:cNvPr>
          <p:cNvSpPr/>
          <p:nvPr/>
        </p:nvSpPr>
        <p:spPr>
          <a:xfrm>
            <a:off x="1976437" y="1371601"/>
            <a:ext cx="3124200" cy="1037300"/>
          </a:xfrm>
          <a:prstGeom prst="roundRect">
            <a:avLst/>
          </a:pr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886214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BF100A9-3ADE-4C1E-BEDF-F35E7A8B6E99}" type="slidenum">
              <a:rPr lang="zh-TW" altLang="en-US" sz="100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50</a:t>
            </a:fld>
            <a:endParaRPr lang="en-US" altLang="zh-TW" sz="1000" dirty="0">
              <a:solidFill>
                <a:srgbClr val="000000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sp>
        <p:nvSpPr>
          <p:cNvPr id="76806" name="Rectangle 6"/>
          <p:cNvSpPr>
            <a:spLocks noChangeArrowheads="1"/>
          </p:cNvSpPr>
          <p:nvPr/>
        </p:nvSpPr>
        <p:spPr bwMode="auto">
          <a:xfrm>
            <a:off x="1981200" y="2174875"/>
            <a:ext cx="8686800" cy="1219200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76809" name="Rectangle 9"/>
          <p:cNvSpPr>
            <a:spLocks noChangeArrowheads="1"/>
          </p:cNvSpPr>
          <p:nvPr/>
        </p:nvSpPr>
        <p:spPr bwMode="auto">
          <a:xfrm>
            <a:off x="1985963" y="1412875"/>
            <a:ext cx="8686800" cy="76200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617736" y="-76519"/>
            <a:ext cx="10498064" cy="981075"/>
          </a:xfrm>
        </p:spPr>
        <p:txBody>
          <a:bodyPr>
            <a:normAutofit/>
          </a:bodyPr>
          <a:lstStyle/>
          <a:p>
            <a:r>
              <a:rPr lang="en-US" altLang="zh-TW" sz="3400" dirty="0">
                <a:ea typeface="新細明體" panose="02020500000000000000" pitchFamily="18" charset="-120"/>
              </a:rPr>
              <a:t>3.4. Nested Structures Array(Another Example)</a:t>
            </a:r>
          </a:p>
        </p:txBody>
      </p:sp>
      <p:sp>
        <p:nvSpPr>
          <p:cNvPr id="76803" name="Rectangle 3"/>
          <p:cNvSpPr>
            <a:spLocks noChangeArrowheads="1"/>
          </p:cNvSpPr>
          <p:nvPr/>
        </p:nvSpPr>
        <p:spPr bwMode="auto">
          <a:xfrm>
            <a:off x="1981200" y="730250"/>
            <a:ext cx="8686800" cy="57061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date {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day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,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month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,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year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book {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char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     author[30];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char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     title[50]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char         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publisher[30];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       edition;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6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date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1600" dirty="0" err="1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date_of_pub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main(void) {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book  booklist[100];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600" dirty="0" err="1">
                <a:solidFill>
                  <a:srgbClr val="9933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strcpy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booklist[0].author,    "Al Kelley, Ira Pohl" );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600" dirty="0" err="1">
                <a:solidFill>
                  <a:srgbClr val="9933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strcpy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booklist[0].title,     "C By Dissection" );</a:t>
            </a:r>
          </a:p>
          <a:p>
            <a:pPr lv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600" dirty="0" err="1">
                <a:solidFill>
                  <a:srgbClr val="9933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strcpy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booklist[0].publisher, "Pearson" );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booklist[0].edition = 4;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booklist[0]</a:t>
            </a:r>
            <a:r>
              <a:rPr lang="en-US" altLang="zh-TW" sz="16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</a:t>
            </a:r>
            <a:r>
              <a:rPr lang="en-US" altLang="zh-TW" sz="1600" dirty="0" err="1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date_of_pub</a:t>
            </a:r>
            <a:r>
              <a:rPr lang="en-US" altLang="zh-TW" sz="1600" dirty="0" err="1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</a:t>
            </a:r>
            <a:r>
              <a:rPr lang="en-US" altLang="zh-TW" sz="16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day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= 30;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booklist[0]</a:t>
            </a:r>
            <a:r>
              <a:rPr lang="en-US" altLang="zh-TW" sz="16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</a:t>
            </a:r>
            <a:r>
              <a:rPr lang="en-US" altLang="zh-TW" sz="1600" dirty="0" err="1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date_of_pub</a:t>
            </a:r>
            <a:r>
              <a:rPr lang="en-US" altLang="zh-TW" sz="1600" dirty="0" err="1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</a:t>
            </a:r>
            <a:r>
              <a:rPr lang="en-US" altLang="zh-TW" sz="16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month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= 10;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booklist[0]</a:t>
            </a:r>
            <a:r>
              <a:rPr lang="en-US" altLang="zh-TW" sz="16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</a:t>
            </a:r>
            <a:r>
              <a:rPr lang="en-US" altLang="zh-TW" sz="1600" dirty="0" err="1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date_of_pub</a:t>
            </a:r>
            <a:r>
              <a:rPr lang="en-US" altLang="zh-TW" sz="1600" dirty="0" err="1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</a:t>
            </a:r>
            <a:r>
              <a:rPr lang="en-US" altLang="zh-TW" sz="16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year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= 2000;   </a:t>
            </a:r>
          </a:p>
          <a:p>
            <a:pPr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...</a:t>
            </a:r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1524001" y="730250"/>
            <a:ext cx="461963" cy="6127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1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2</a:t>
            </a: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3</a:t>
            </a: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4</a:t>
            </a: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5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6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7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8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9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10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11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12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13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14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15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16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17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18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19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20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21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22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23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24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25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5F5F5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26</a:t>
            </a:r>
          </a:p>
        </p:txBody>
      </p:sp>
      <p:sp>
        <p:nvSpPr>
          <p:cNvPr id="76808" name="AutoShape 8"/>
          <p:cNvSpPr>
            <a:spLocks noChangeArrowheads="1"/>
          </p:cNvSpPr>
          <p:nvPr/>
        </p:nvSpPr>
        <p:spPr bwMode="auto">
          <a:xfrm>
            <a:off x="7298156" y="5199747"/>
            <a:ext cx="2605535" cy="442674"/>
          </a:xfrm>
          <a:prstGeom prst="wedgeRoundRectCallout">
            <a:avLst>
              <a:gd name="adj1" fmla="val -188074"/>
              <a:gd name="adj2" fmla="val -2111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Multiple levels of dots!</a:t>
            </a: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79A04542-55E9-1CF0-F9F9-1EDF054D2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1767" y="1341261"/>
            <a:ext cx="2859368" cy="338554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sz="1600" b="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Al Kelley, Ira Pohl</a:t>
            </a:r>
            <a:endParaRPr lang="zh-TW" altLang="en-US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3" name="Rectangle 26">
            <a:extLst>
              <a:ext uri="{FF2B5EF4-FFF2-40B4-BE49-F238E27FC236}">
                <a16:creationId xmlns:a16="http://schemas.microsoft.com/office/drawing/2014/main" id="{9577DB7E-394E-A491-F558-15F367E28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1767" y="1683062"/>
            <a:ext cx="2859368" cy="338554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sz="1600" b="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C By Dissection</a:t>
            </a:r>
            <a:endParaRPr lang="zh-TW" altLang="en-US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4" name="Text Box 28">
            <a:extLst>
              <a:ext uri="{FF2B5EF4-FFF2-40B4-BE49-F238E27FC236}">
                <a16:creationId xmlns:a16="http://schemas.microsoft.com/office/drawing/2014/main" id="{5E40D695-623B-667A-5B4C-C4696E11A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7697" y="1332171"/>
            <a:ext cx="9444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author</a:t>
            </a:r>
          </a:p>
        </p:txBody>
      </p:sp>
      <p:sp>
        <p:nvSpPr>
          <p:cNvPr id="5" name="Text Box 30">
            <a:extLst>
              <a:ext uri="{FF2B5EF4-FFF2-40B4-BE49-F238E27FC236}">
                <a16:creationId xmlns:a16="http://schemas.microsoft.com/office/drawing/2014/main" id="{871A995C-5E8C-CB21-2F1F-A16A266C4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1014" y="1668845"/>
            <a:ext cx="817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title</a:t>
            </a:r>
          </a:p>
        </p:txBody>
      </p:sp>
      <p:sp>
        <p:nvSpPr>
          <p:cNvPr id="6" name="Text Box 31">
            <a:extLst>
              <a:ext uri="{FF2B5EF4-FFF2-40B4-BE49-F238E27FC236}">
                <a16:creationId xmlns:a16="http://schemas.microsoft.com/office/drawing/2014/main" id="{B37BD34A-591A-5806-9F56-DEA6CCF27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8867" y="907260"/>
            <a:ext cx="17363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booklist[0]</a:t>
            </a:r>
          </a:p>
        </p:txBody>
      </p:sp>
      <p:sp>
        <p:nvSpPr>
          <p:cNvPr id="7" name="Rectangle 26">
            <a:extLst>
              <a:ext uri="{FF2B5EF4-FFF2-40B4-BE49-F238E27FC236}">
                <a16:creationId xmlns:a16="http://schemas.microsoft.com/office/drawing/2014/main" id="{A4D48D28-2572-148A-9CDD-A75C10CBF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4992" y="2020520"/>
            <a:ext cx="2859368" cy="338554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sz="1600" b="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Pearson</a:t>
            </a:r>
            <a:endParaRPr lang="zh-TW" altLang="en-US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Text Box 30">
            <a:extLst>
              <a:ext uri="{FF2B5EF4-FFF2-40B4-BE49-F238E27FC236}">
                <a16:creationId xmlns:a16="http://schemas.microsoft.com/office/drawing/2014/main" id="{F6C2DE33-FA5C-8C99-3E02-20F15B072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8874" y="2018944"/>
            <a:ext cx="13244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publisher</a:t>
            </a:r>
          </a:p>
        </p:txBody>
      </p:sp>
      <p:sp>
        <p:nvSpPr>
          <p:cNvPr id="9" name="Rectangle 26">
            <a:extLst>
              <a:ext uri="{FF2B5EF4-FFF2-40B4-BE49-F238E27FC236}">
                <a16:creationId xmlns:a16="http://schemas.microsoft.com/office/drawing/2014/main" id="{0BF7F27A-D4DF-1CE9-7DA4-66D6B388B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003" y="2359074"/>
            <a:ext cx="2859368" cy="338554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sz="1600" b="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4</a:t>
            </a:r>
            <a:endParaRPr lang="zh-TW" altLang="en-US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8D9DA2CB-1155-BF47-5180-F9B51767D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1062" y="2376184"/>
            <a:ext cx="10711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edition</a:t>
            </a:r>
          </a:p>
        </p:txBody>
      </p:sp>
      <p:sp>
        <p:nvSpPr>
          <p:cNvPr id="12" name="Rectangle 26">
            <a:extLst>
              <a:ext uri="{FF2B5EF4-FFF2-40B4-BE49-F238E27FC236}">
                <a16:creationId xmlns:a16="http://schemas.microsoft.com/office/drawing/2014/main" id="{5477E6B0-79E1-FB27-8039-D3D937C79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115" y="2700746"/>
            <a:ext cx="2859368" cy="135421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en-HK" altLang="zh-TW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algn="ctr"/>
            <a:endParaRPr lang="en-HK" altLang="zh-TW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algn="ctr"/>
            <a:endParaRPr lang="en-HK" altLang="zh-TW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algn="ctr"/>
            <a:endParaRPr lang="en-HK" altLang="zh-TW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algn="ctr"/>
            <a:endParaRPr lang="zh-TW" altLang="en-US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3" name="Text Box 30">
            <a:extLst>
              <a:ext uri="{FF2B5EF4-FFF2-40B4-BE49-F238E27FC236}">
                <a16:creationId xmlns:a16="http://schemas.microsoft.com/office/drawing/2014/main" id="{49DC79D6-AD33-6F85-B33F-8C816F0FC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9786" y="2795156"/>
            <a:ext cx="15776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 err="1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date_of_pub</a:t>
            </a:r>
            <a:endParaRPr lang="en-US" altLang="zh-TW" b="0" dirty="0">
              <a:solidFill>
                <a:srgbClr val="FF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985BCEEE-93F8-2525-CE56-92A31A753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0041" y="2871724"/>
            <a:ext cx="2073275" cy="1015663"/>
          </a:xfrm>
          <a:prstGeom prst="rect">
            <a:avLst/>
          </a:prstGeom>
          <a:solidFill>
            <a:srgbClr val="FFF8D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en-US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en-US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F05A485D-E854-5459-49F4-0DB95E39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766" y="3200239"/>
            <a:ext cx="1076325" cy="37623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9510DB85-587D-E891-821F-CFC487E14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766" y="3548178"/>
            <a:ext cx="1076325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2000</a:t>
            </a:r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52DCA94C-C9EB-A858-F0ED-48148E48C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3402" y="2849400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solidFill>
                  <a:srgbClr val="01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</a:p>
        </p:txBody>
      </p:sp>
      <p:sp>
        <p:nvSpPr>
          <p:cNvPr id="19" name="Text Box 13">
            <a:extLst>
              <a:ext uri="{FF2B5EF4-FFF2-40B4-BE49-F238E27FC236}">
                <a16:creationId xmlns:a16="http://schemas.microsoft.com/office/drawing/2014/main" id="{CEF21B9B-EA3A-5049-C811-B9D29B031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5116" y="3216113"/>
            <a:ext cx="817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solidFill>
                  <a:srgbClr val="01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month</a:t>
            </a:r>
          </a:p>
        </p:txBody>
      </p:sp>
      <p:sp>
        <p:nvSpPr>
          <p:cNvPr id="20" name="Text Box 14">
            <a:extLst>
              <a:ext uri="{FF2B5EF4-FFF2-40B4-BE49-F238E27FC236}">
                <a16:creationId xmlns:a16="http://schemas.microsoft.com/office/drawing/2014/main" id="{B6136642-75F6-0397-9EB5-EB5D1ECEA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9103" y="3562188"/>
            <a:ext cx="6912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solidFill>
                  <a:srgbClr val="01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year</a:t>
            </a: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EFDDDB7C-4F6D-14AD-391C-43FE28F31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4644" y="2814152"/>
            <a:ext cx="1076325" cy="37623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30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3" name="AutoShape 8">
            <a:extLst>
              <a:ext uri="{FF2B5EF4-FFF2-40B4-BE49-F238E27FC236}">
                <a16:creationId xmlns:a16="http://schemas.microsoft.com/office/drawing/2014/main" id="{159A2CB6-0FC0-0A47-707F-9100EEEC3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9924" y="5207010"/>
            <a:ext cx="2605535" cy="442674"/>
          </a:xfrm>
          <a:prstGeom prst="wedgeRoundRectCallout">
            <a:avLst>
              <a:gd name="adj1" fmla="val -136155"/>
              <a:gd name="adj2" fmla="val 111932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Multiple levels of dots!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1D3E3F5-F067-42E6-9021-A5E491C3CF00}"/>
              </a:ext>
            </a:extLst>
          </p:cNvPr>
          <p:cNvSpPr/>
          <p:nvPr/>
        </p:nvSpPr>
        <p:spPr>
          <a:xfrm>
            <a:off x="2245219" y="5230340"/>
            <a:ext cx="4535937" cy="1330966"/>
          </a:xfrm>
          <a:prstGeom prst="roundRect">
            <a:avLst/>
          </a:pr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073234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Summary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numCol="1" rtlCol="0" anchor="t"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A structure is a means for a programmer to group related variables into one "container".</a:t>
            </a:r>
          </a:p>
          <a:p>
            <a:pPr>
              <a:lnSpc>
                <a:spcPct val="110000"/>
              </a:lnSpc>
            </a:pPr>
            <a:r>
              <a:rPr lang="en-US" dirty="0"/>
              <a:t>Each member of a structure is like a regular variable. Their main difference is in the syntax.</a:t>
            </a:r>
          </a:p>
          <a:p>
            <a:pPr>
              <a:lnSpc>
                <a:spcPct val="110000"/>
              </a:lnSpc>
            </a:pPr>
            <a:r>
              <a:rPr lang="en-US" dirty="0"/>
              <a:t>Syntax which you should remember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Defining a structure (with and without </a:t>
            </a:r>
            <a:r>
              <a:rPr lang="en-US" dirty="0">
                <a:latin typeface="Consolas"/>
                <a:cs typeface="Consolas" panose="020B0609020204030204" pitchFamily="49" charset="0"/>
              </a:rPr>
              <a:t>typedef</a:t>
            </a:r>
            <a:r>
              <a:rPr lang="en-US" dirty="0"/>
              <a:t>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Using structure and accessing members of a structure </a:t>
            </a:r>
            <a:r>
              <a:rPr lang="en-US" altLang="zh-TW" dirty="0">
                <a:ea typeface="新細明體"/>
              </a:rPr>
              <a:t>by the member operator “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.</a:t>
            </a:r>
            <a:r>
              <a:rPr lang="en-US" altLang="zh-TW" dirty="0">
                <a:ea typeface="新細明體"/>
              </a:rPr>
              <a:t>”.</a:t>
            </a:r>
            <a:endParaRPr lang="en-US" altLang="zh-TW" sz="1000" dirty="0">
              <a:ea typeface="新細明體" panose="02020500000000000000" pitchFamily="18" charset="-120"/>
            </a:endParaRPr>
          </a:p>
          <a:p>
            <a:pPr>
              <a:lnSpc>
                <a:spcPct val="110000"/>
              </a:lnSpc>
            </a:pPr>
            <a:r>
              <a:rPr lang="en-US" altLang="zh-TW" dirty="0">
                <a:ea typeface="新細明體"/>
              </a:rPr>
              <a:t>Structure assignment can potentially be expensive.</a:t>
            </a:r>
            <a:endParaRPr lang="en-US" altLang="zh-TW" dirty="0">
              <a:ea typeface="新細明體" panose="02020500000000000000" pitchFamily="18" charset="-120"/>
            </a:endParaRPr>
          </a:p>
          <a:p>
            <a:pPr>
              <a:lnSpc>
                <a:spcPct val="110000"/>
              </a:lnSpc>
            </a:pPr>
            <a:r>
              <a:rPr lang="en-US" altLang="zh-TW" dirty="0">
                <a:ea typeface="新細明體"/>
              </a:rPr>
              <a:t>Structure values can be passed as function parameters and also returned from functions.</a:t>
            </a:r>
          </a:p>
          <a:p>
            <a:pPr>
              <a:lnSpc>
                <a:spcPct val="110000"/>
              </a:lnSpc>
            </a:pPr>
            <a:r>
              <a:rPr lang="en-US" altLang="zh-TW" dirty="0"/>
              <a:t>Structures can be members of other structures. (Nested structures)</a:t>
            </a:r>
            <a:endParaRPr lang="en-US" altLang="zh-TW" dirty="0">
              <a:ea typeface="新細明體" panose="02020500000000000000" pitchFamily="18" charset="-120"/>
            </a:endParaRPr>
          </a:p>
          <a:p>
            <a:pPr>
              <a:lnSpc>
                <a:spcPct val="110000"/>
              </a:lnSpc>
            </a:pPr>
            <a:endParaRPr lang="en-US" altLang="zh-TW" dirty="0">
              <a:ea typeface="新細明體"/>
              <a:cs typeface="Calibri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85FC73F-B530-CE4A-85F9-A8A642B4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6036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ed,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10 C Structures</a:t>
            </a:r>
          </a:p>
          <a:p>
            <a:pPr lvl="1"/>
            <a:r>
              <a:rPr lang="en-US" dirty="0"/>
              <a:t>Sections 10.1 – 10.4: Structure Basics</a:t>
            </a:r>
          </a:p>
          <a:p>
            <a:pPr lvl="1"/>
            <a:r>
              <a:rPr lang="en-US" dirty="0"/>
              <a:t>Section 10.5: Using Structures with Functions</a:t>
            </a:r>
          </a:p>
          <a:p>
            <a:pPr lvl="1"/>
            <a:r>
              <a:rPr lang="en-US" dirty="0"/>
              <a:t>Section 10.6: typedef</a:t>
            </a:r>
          </a:p>
          <a:p>
            <a:pPr lvl="1"/>
            <a:r>
              <a:rPr lang="en-US" dirty="0"/>
              <a:t>Section 10.7: A Practical Example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069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6715</TotalTime>
  <Words>5799</Words>
  <Application>Microsoft Office PowerPoint</Application>
  <PresentationFormat>Widescreen</PresentationFormat>
  <Paragraphs>1468</Paragraphs>
  <Slides>52</Slides>
  <Notes>43</Notes>
  <HiddenSlides>7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1" baseType="lpstr">
      <vt:lpstr>Google Sans</vt:lpstr>
      <vt:lpstr>Arial</vt:lpstr>
      <vt:lpstr>Calibri</vt:lpstr>
      <vt:lpstr>Cambria Math</vt:lpstr>
      <vt:lpstr>Consolas</vt:lpstr>
      <vt:lpstr>PMingLiU</vt:lpstr>
      <vt:lpstr>Wingdings</vt:lpstr>
      <vt:lpstr>Office Theme</vt:lpstr>
      <vt:lpstr>Equation</vt:lpstr>
      <vt:lpstr>Review: String</vt:lpstr>
      <vt:lpstr>Structures</vt:lpstr>
      <vt:lpstr>Outline</vt:lpstr>
      <vt:lpstr>1. Introduction</vt:lpstr>
      <vt:lpstr>1.1. Defining a Structure Type (Syntax)</vt:lpstr>
      <vt:lpstr>1.1. Defining a Structure Type</vt:lpstr>
      <vt:lpstr>1.1. Defining a Structure Type</vt:lpstr>
      <vt:lpstr>1.1. Defining a Structure variables</vt:lpstr>
      <vt:lpstr>1.1. Altogether: Global Structure Type</vt:lpstr>
      <vt:lpstr>1.2. More Structure Examples</vt:lpstr>
      <vt:lpstr>1.3. Accessing struct Members</vt:lpstr>
      <vt:lpstr>1.3. Accessing struct Members</vt:lpstr>
      <vt:lpstr>1.4. Another Example</vt:lpstr>
      <vt:lpstr>1.4. Another Example</vt:lpstr>
      <vt:lpstr>1.4. Another Example</vt:lpstr>
      <vt:lpstr>1.4. Another Example</vt:lpstr>
      <vt:lpstr>1.4. Accessing struct Members  (Another Example)</vt:lpstr>
      <vt:lpstr>Ureply:</vt:lpstr>
      <vt:lpstr>1.5. Initializing Structures</vt:lpstr>
      <vt:lpstr>1.5. Initializing Structures</vt:lpstr>
      <vt:lpstr>1.5. Initializing Structures (More Examples)</vt:lpstr>
      <vt:lpstr>1.6. Assignment of Structures</vt:lpstr>
      <vt:lpstr>1.6. Assignment of Structures</vt:lpstr>
      <vt:lpstr>1.6. Assignment of Structures</vt:lpstr>
      <vt:lpstr>1.7. Defining an alias to an existing data type</vt:lpstr>
      <vt:lpstr>1.7. Defining an alias to an existing data type</vt:lpstr>
      <vt:lpstr>1.7. Combining typedef with structure definition</vt:lpstr>
      <vt:lpstr>1.7. Combining typedef with structure definition</vt:lpstr>
      <vt:lpstr>1.7. Combining typedef with structure definition</vt:lpstr>
      <vt:lpstr>1.7. Combining typedef with structure definition</vt:lpstr>
      <vt:lpstr>1.7. More typedef examples </vt:lpstr>
      <vt:lpstr>Structure Basic</vt:lpstr>
      <vt:lpstr>2. Structures and Functions</vt:lpstr>
      <vt:lpstr>2.1. Structures as Function Parameters</vt:lpstr>
      <vt:lpstr>2. Structures and Functions</vt:lpstr>
      <vt:lpstr>2.1. Structures as Function Parameters</vt:lpstr>
      <vt:lpstr>2.1. Structures as Function Parameters</vt:lpstr>
      <vt:lpstr>2.1. Structures as Function Parameters</vt:lpstr>
      <vt:lpstr>2.2. Structures as Function Return Values</vt:lpstr>
      <vt:lpstr>2.3. Structures as BOTH Parameters and Return Values</vt:lpstr>
      <vt:lpstr>3. More Structures</vt:lpstr>
      <vt:lpstr>3.1. Array Members in Structures</vt:lpstr>
      <vt:lpstr>3.1. Array Members in Structures</vt:lpstr>
      <vt:lpstr>3. More Structures</vt:lpstr>
      <vt:lpstr>3.2. Array of Structures</vt:lpstr>
      <vt:lpstr>3.2. Array of Structures</vt:lpstr>
      <vt:lpstr>3. More Structures</vt:lpstr>
      <vt:lpstr>3.3. Nested Structures</vt:lpstr>
      <vt:lpstr>3.4. Nested Structures (Another Example)</vt:lpstr>
      <vt:lpstr>3.4. Nested Structures Array(Another Example)</vt:lpstr>
      <vt:lpstr>Summary</vt:lpstr>
      <vt:lpstr>Reading Assignment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Structures</dc:title>
  <dc:subject/>
  <cp:keywords/>
  <dc:description/>
  <cp:lastModifiedBy>Yuli Jiang (CSD)</cp:lastModifiedBy>
  <cp:revision>4</cp:revision>
  <dcterms:created xsi:type="dcterms:W3CDTF">2011-07-19T12:51:33Z</dcterms:created>
  <dcterms:modified xsi:type="dcterms:W3CDTF">2025-11-09T18:55:23Z</dcterms:modified>
  <cp:category/>
</cp:coreProperties>
</file>