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9" r:id="rId3"/>
    <p:sldId id="260" r:id="rId4"/>
    <p:sldId id="309" r:id="rId5"/>
    <p:sldId id="319" r:id="rId6"/>
    <p:sldId id="320" r:id="rId7"/>
    <p:sldId id="347" r:id="rId8"/>
    <p:sldId id="321" r:id="rId9"/>
    <p:sldId id="326" r:id="rId10"/>
    <p:sldId id="325" r:id="rId11"/>
    <p:sldId id="343" r:id="rId12"/>
    <p:sldId id="342" r:id="rId13"/>
    <p:sldId id="607" r:id="rId14"/>
    <p:sldId id="474" r:id="rId15"/>
    <p:sldId id="476" r:id="rId16"/>
    <p:sldId id="338" r:id="rId17"/>
    <p:sldId id="328" r:id="rId18"/>
    <p:sldId id="339" r:id="rId19"/>
    <p:sldId id="340" r:id="rId20"/>
    <p:sldId id="354" r:id="rId21"/>
    <p:sldId id="273" r:id="rId22"/>
    <p:sldId id="344" r:id="rId23"/>
    <p:sldId id="272" r:id="rId24"/>
    <p:sldId id="345" r:id="rId25"/>
    <p:sldId id="611" r:id="rId26"/>
    <p:sldId id="275" r:id="rId27"/>
    <p:sldId id="334" r:id="rId28"/>
    <p:sldId id="335" r:id="rId29"/>
    <p:sldId id="277" r:id="rId30"/>
    <p:sldId id="279" r:id="rId31"/>
    <p:sldId id="368" r:id="rId32"/>
    <p:sldId id="367" r:id="rId33"/>
    <p:sldId id="366" r:id="rId34"/>
    <p:sldId id="365" r:id="rId35"/>
    <p:sldId id="364" r:id="rId36"/>
    <p:sldId id="363" r:id="rId37"/>
    <p:sldId id="610" r:id="rId38"/>
    <p:sldId id="362" r:id="rId39"/>
    <p:sldId id="361" r:id="rId40"/>
    <p:sldId id="360" r:id="rId41"/>
    <p:sldId id="359" r:id="rId42"/>
    <p:sldId id="358" r:id="rId43"/>
    <p:sldId id="357" r:id="rId44"/>
    <p:sldId id="356" r:id="rId45"/>
    <p:sldId id="369" r:id="rId46"/>
    <p:sldId id="370" r:id="rId47"/>
    <p:sldId id="371" r:id="rId48"/>
    <p:sldId id="372" r:id="rId49"/>
  </p:sldIdLst>
  <p:sldSz cx="12192000" cy="6858000"/>
  <p:notesSz cx="6858000" cy="9144000"/>
  <p:embeddedFontLst>
    <p:embeddedFont>
      <p:font typeface="Cambria Math" panose="02040503050406030204" pitchFamily="18" charset="0"/>
      <p:regular r:id="rId52"/>
    </p:embeddedFont>
    <p:embeddedFont>
      <p:font typeface="Consolas" panose="020B0609020204030204" pitchFamily="49" charset="0"/>
      <p:regular r:id="rId53"/>
      <p:bold r:id="rId54"/>
      <p:italic r:id="rId55"/>
      <p:boldItalic r:id="rId56"/>
    </p:embeddedFont>
    <p:embeddedFont>
      <p:font typeface="PMingLiU" panose="02020500000000000000" pitchFamily="18" charset="-120"/>
      <p:regular r:id="rId57"/>
    </p:embeddedFont>
    <p:embeddedFont>
      <p:font typeface="Segoe UI Emoji" panose="020B0502040204020203" pitchFamily="34" charset="0"/>
      <p:regular r:id="rId58"/>
    </p:embeddedFont>
  </p:embeddedFontLst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CCFFCC"/>
    <a:srgbClr val="FF99FF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B1D06-34EB-484B-882D-E18B5C0D0DEA}" v="9" dt="2025-10-20T02:52:55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36" autoAdjust="0"/>
    <p:restoredTop sz="63073" autoAdjust="0"/>
  </p:normalViewPr>
  <p:slideViewPr>
    <p:cSldViewPr>
      <p:cViewPr varScale="1">
        <p:scale>
          <a:sx n="93" d="100"/>
          <a:sy n="93" d="100"/>
        </p:scale>
        <p:origin x="240" y="72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10742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F Fung (CSD)" userId="f1fbcc7d-b65c-4009-a6fb-0bd17f4bf7ea" providerId="ADAL" clId="{AEF52775-E4B0-4E81-95C6-E82F79E8B81C}"/>
    <pc:docChg chg="modSld">
      <pc:chgData name="Michael PF Fung (CSD)" userId="f1fbcc7d-b65c-4009-a6fb-0bd17f4bf7ea" providerId="ADAL" clId="{AEF52775-E4B0-4E81-95C6-E82F79E8B81C}" dt="2023-10-26T09:48:32.824" v="2" actId="20577"/>
      <pc:docMkLst>
        <pc:docMk/>
      </pc:docMkLst>
      <pc:sldChg chg="modSp mod">
        <pc:chgData name="Michael PF Fung (CSD)" userId="f1fbcc7d-b65c-4009-a6fb-0bd17f4bf7ea" providerId="ADAL" clId="{AEF52775-E4B0-4E81-95C6-E82F79E8B81C}" dt="2023-10-26T09:48:32.824" v="2" actId="20577"/>
        <pc:sldMkLst>
          <pc:docMk/>
          <pc:sldMk cId="826756287" sldId="476"/>
        </pc:sldMkLst>
      </pc:sldChg>
    </pc:docChg>
  </pc:docChgLst>
  <pc:docChgLst>
    <pc:chgData name="Yuli Jiang (CSD)" userId="7c291cd4-aa97-4867-8d2d-ebf5c1c3b419" providerId="ADAL" clId="{AF3898A1-06A2-4BDE-9FA1-83EC25DB73EE}"/>
    <pc:docChg chg="undo custSel addSld delSld modSld sldOrd">
      <pc:chgData name="Yuli Jiang (CSD)" userId="7c291cd4-aa97-4867-8d2d-ebf5c1c3b419" providerId="ADAL" clId="{AF3898A1-06A2-4BDE-9FA1-83EC25DB73EE}" dt="2024-10-21T03:52:16.928" v="588" actId="1076"/>
      <pc:docMkLst>
        <pc:docMk/>
      </pc:docMkLst>
      <pc:sldChg chg="modSp mod">
        <pc:chgData name="Yuli Jiang (CSD)" userId="7c291cd4-aa97-4867-8d2d-ebf5c1c3b419" providerId="ADAL" clId="{AF3898A1-06A2-4BDE-9FA1-83EC25DB73EE}" dt="2024-10-21T03:07:51.517" v="184" actId="115"/>
        <pc:sldMkLst>
          <pc:docMk/>
          <pc:sldMk cId="2772304277" sldId="259"/>
        </pc:sldMkLst>
      </pc:sldChg>
      <pc:sldChg chg="modSp mod">
        <pc:chgData name="Yuli Jiang (CSD)" userId="7c291cd4-aa97-4867-8d2d-ebf5c1c3b419" providerId="ADAL" clId="{AF3898A1-06A2-4BDE-9FA1-83EC25DB73EE}" dt="2024-10-21T03:52:16.928" v="588" actId="1076"/>
        <pc:sldMkLst>
          <pc:docMk/>
          <pc:sldMk cId="3980385623" sldId="273"/>
        </pc:sldMkLst>
      </pc:sldChg>
      <pc:sldChg chg="modSp mod">
        <pc:chgData name="Yuli Jiang (CSD)" userId="7c291cd4-aa97-4867-8d2d-ebf5c1c3b419" providerId="ADAL" clId="{AF3898A1-06A2-4BDE-9FA1-83EC25DB73EE}" dt="2024-10-21T02:56:42.384" v="104" actId="115"/>
        <pc:sldMkLst>
          <pc:docMk/>
          <pc:sldMk cId="3856598676" sldId="339"/>
        </pc:sldMkLst>
      </pc:sldChg>
      <pc:sldChg chg="modSp mod">
        <pc:chgData name="Yuli Jiang (CSD)" userId="7c291cd4-aa97-4867-8d2d-ebf5c1c3b419" providerId="ADAL" clId="{AF3898A1-06A2-4BDE-9FA1-83EC25DB73EE}" dt="2024-10-21T02:59:09.268" v="170" actId="20577"/>
        <pc:sldMkLst>
          <pc:docMk/>
          <pc:sldMk cId="2245772910" sldId="340"/>
        </pc:sldMkLst>
      </pc:sldChg>
      <pc:sldChg chg="modSp mod">
        <pc:chgData name="Yuli Jiang (CSD)" userId="7c291cd4-aa97-4867-8d2d-ebf5c1c3b419" providerId="ADAL" clId="{AF3898A1-06A2-4BDE-9FA1-83EC25DB73EE}" dt="2024-10-21T02:43:42.044" v="82" actId="113"/>
        <pc:sldMkLst>
          <pc:docMk/>
          <pc:sldMk cId="3257371761" sldId="342"/>
        </pc:sldMkLst>
      </pc:sldChg>
      <pc:sldChg chg="addSp modSp mod modAnim">
        <pc:chgData name="Yuli Jiang (CSD)" userId="7c291cd4-aa97-4867-8d2d-ebf5c1c3b419" providerId="ADAL" clId="{AF3898A1-06A2-4BDE-9FA1-83EC25DB73EE}" dt="2024-10-21T02:43:22.841" v="79" actId="1076"/>
        <pc:sldMkLst>
          <pc:docMk/>
          <pc:sldMk cId="2790837754" sldId="343"/>
        </pc:sldMkLst>
      </pc:sldChg>
      <pc:sldChg chg="modSp mod">
        <pc:chgData name="Yuli Jiang (CSD)" userId="7c291cd4-aa97-4867-8d2d-ebf5c1c3b419" providerId="ADAL" clId="{AF3898A1-06A2-4BDE-9FA1-83EC25DB73EE}" dt="2024-10-21T02:38:49.920" v="3" actId="1076"/>
        <pc:sldMkLst>
          <pc:docMk/>
          <pc:sldMk cId="48609987" sldId="347"/>
        </pc:sldMkLst>
      </pc:sldChg>
      <pc:sldChg chg="modSp mod ord">
        <pc:chgData name="Yuli Jiang (CSD)" userId="7c291cd4-aa97-4867-8d2d-ebf5c1c3b419" providerId="ADAL" clId="{AF3898A1-06A2-4BDE-9FA1-83EC25DB73EE}" dt="2024-10-21T03:02:56.404" v="178"/>
        <pc:sldMkLst>
          <pc:docMk/>
          <pc:sldMk cId="1322589783" sldId="354"/>
        </pc:sldMkLst>
      </pc:sldChg>
      <pc:sldChg chg="modSp mod">
        <pc:chgData name="Yuli Jiang (CSD)" userId="7c291cd4-aa97-4867-8d2d-ebf5c1c3b419" providerId="ADAL" clId="{AF3898A1-06A2-4BDE-9FA1-83EC25DB73EE}" dt="2024-10-21T03:07:10.583" v="182" actId="403"/>
        <pc:sldMkLst>
          <pc:docMk/>
          <pc:sldMk cId="319461034" sldId="363"/>
        </pc:sldMkLst>
      </pc:sldChg>
      <pc:sldChg chg="modSp mod">
        <pc:chgData name="Yuli Jiang (CSD)" userId="7c291cd4-aa97-4867-8d2d-ebf5c1c3b419" providerId="ADAL" clId="{AF3898A1-06A2-4BDE-9FA1-83EC25DB73EE}" dt="2024-10-21T03:19:33.927" v="573" actId="115"/>
        <pc:sldMkLst>
          <pc:docMk/>
          <pc:sldMk cId="65684310" sldId="371"/>
        </pc:sldMkLst>
      </pc:sldChg>
      <pc:sldChg chg="ord">
        <pc:chgData name="Yuli Jiang (CSD)" userId="7c291cd4-aa97-4867-8d2d-ebf5c1c3b419" providerId="ADAL" clId="{AF3898A1-06A2-4BDE-9FA1-83EC25DB73EE}" dt="2024-10-21T02:45:14.877" v="84"/>
        <pc:sldMkLst>
          <pc:docMk/>
          <pc:sldMk cId="3100109789" sldId="474"/>
        </pc:sldMkLst>
      </pc:sldChg>
      <pc:sldChg chg="modSp mod ord">
        <pc:chgData name="Yuli Jiang (CSD)" userId="7c291cd4-aa97-4867-8d2d-ebf5c1c3b419" providerId="ADAL" clId="{AF3898A1-06A2-4BDE-9FA1-83EC25DB73EE}" dt="2024-10-21T02:51:56.036" v="102" actId="115"/>
        <pc:sldMkLst>
          <pc:docMk/>
          <pc:sldMk cId="826756287" sldId="476"/>
        </pc:sldMkLst>
      </pc:sldChg>
      <pc:sldChg chg="mod ord modShow">
        <pc:chgData name="Yuli Jiang (CSD)" userId="7c291cd4-aa97-4867-8d2d-ebf5c1c3b419" providerId="ADAL" clId="{AF3898A1-06A2-4BDE-9FA1-83EC25DB73EE}" dt="2024-10-21T02:51:33.887" v="91" actId="729"/>
        <pc:sldMkLst>
          <pc:docMk/>
          <pc:sldMk cId="1832277239" sldId="607"/>
        </pc:sldMkLst>
      </pc:sldChg>
      <pc:sldChg chg="add del mod ord modShow">
        <pc:chgData name="Yuli Jiang (CSD)" userId="7c291cd4-aa97-4867-8d2d-ebf5c1c3b419" providerId="ADAL" clId="{AF3898A1-06A2-4BDE-9FA1-83EC25DB73EE}" dt="2024-10-21T03:20:16.016" v="578" actId="47"/>
        <pc:sldMkLst>
          <pc:docMk/>
          <pc:sldMk cId="221845529" sldId="608"/>
        </pc:sldMkLst>
      </pc:sldChg>
      <pc:sldChg chg="add del">
        <pc:chgData name="Yuli Jiang (CSD)" userId="7c291cd4-aa97-4867-8d2d-ebf5c1c3b419" providerId="ADAL" clId="{AF3898A1-06A2-4BDE-9FA1-83EC25DB73EE}" dt="2024-10-21T03:20:35.900" v="581" actId="47"/>
        <pc:sldMkLst>
          <pc:docMk/>
          <pc:sldMk cId="4131180261" sldId="609"/>
        </pc:sldMkLst>
      </pc:sldChg>
      <pc:sldChg chg="modSp add mod">
        <pc:chgData name="Yuli Jiang (CSD)" userId="7c291cd4-aa97-4867-8d2d-ebf5c1c3b419" providerId="ADAL" clId="{AF3898A1-06A2-4BDE-9FA1-83EC25DB73EE}" dt="2024-10-21T03:18:44.637" v="559" actId="20577"/>
        <pc:sldMkLst>
          <pc:docMk/>
          <pc:sldMk cId="3828701829" sldId="610"/>
        </pc:sldMkLst>
      </pc:sldChg>
      <pc:sldChg chg="add del mod modShow">
        <pc:chgData name="Yuli Jiang (CSD)" userId="7c291cd4-aa97-4867-8d2d-ebf5c1c3b419" providerId="ADAL" clId="{AF3898A1-06A2-4BDE-9FA1-83EC25DB73EE}" dt="2024-10-21T03:19:58.247" v="576" actId="47"/>
        <pc:sldMkLst>
          <pc:docMk/>
          <pc:sldMk cId="244106093" sldId="611"/>
        </pc:sldMkLst>
      </pc:sldChg>
      <pc:sldChg chg="add del">
        <pc:chgData name="Yuli Jiang (CSD)" userId="7c291cd4-aa97-4867-8d2d-ebf5c1c3b419" providerId="ADAL" clId="{AF3898A1-06A2-4BDE-9FA1-83EC25DB73EE}" dt="2024-10-21T03:20:25.836" v="579" actId="47"/>
        <pc:sldMkLst>
          <pc:docMk/>
          <pc:sldMk cId="781864805" sldId="611"/>
        </pc:sldMkLst>
      </pc:sldChg>
      <pc:sldChg chg="modSp add mod">
        <pc:chgData name="Yuli Jiang (CSD)" userId="7c291cd4-aa97-4867-8d2d-ebf5c1c3b419" providerId="ADAL" clId="{AF3898A1-06A2-4BDE-9FA1-83EC25DB73EE}" dt="2024-10-21T03:49:51.627" v="585" actId="113"/>
        <pc:sldMkLst>
          <pc:docMk/>
          <pc:sldMk cId="1527141142" sldId="611"/>
        </pc:sldMkLst>
      </pc:sldChg>
    </pc:docChg>
  </pc:docChgLst>
  <pc:docChgLst>
    <pc:chgData name="Yuli Jiang (CSD)" userId="7c291cd4-aa97-4867-8d2d-ebf5c1c3b419" providerId="ADAL" clId="{E45E1392-C447-4B5C-A721-B61AE56CF76F}"/>
    <pc:docChg chg="undo redo custSel modSld sldOrd modMainMaster modNotesMaster">
      <pc:chgData name="Yuli Jiang (CSD)" userId="7c291cd4-aa97-4867-8d2d-ebf5c1c3b419" providerId="ADAL" clId="{E45E1392-C447-4B5C-A721-B61AE56CF76F}" dt="2024-03-10T17:27:20.815" v="543" actId="20577"/>
      <pc:docMkLst>
        <pc:docMk/>
      </pc:docMkLst>
      <pc:sldChg chg="addSp modSp mod modNotes">
        <pc:chgData name="Yuli Jiang (CSD)" userId="7c291cd4-aa97-4867-8d2d-ebf5c1c3b419" providerId="ADAL" clId="{E45E1392-C447-4B5C-A721-B61AE56CF76F}" dt="2024-03-10T17:27:20.815" v="543" actId="20577"/>
        <pc:sldMkLst>
          <pc:docMk/>
          <pc:sldMk cId="0" sldId="256"/>
        </pc:sldMkLst>
      </pc:sldChg>
      <pc:sldChg chg="mod modShow modNotes">
        <pc:chgData name="Yuli Jiang (CSD)" userId="7c291cd4-aa97-4867-8d2d-ebf5c1c3b419" providerId="ADAL" clId="{E45E1392-C447-4B5C-A721-B61AE56CF76F}" dt="2024-03-10T16:12:07.843" v="304" actId="729"/>
        <pc:sldMkLst>
          <pc:docMk/>
          <pc:sldMk cId="2772304277" sldId="259"/>
        </pc:sldMkLst>
      </pc:sldChg>
      <pc:sldChg chg="modSp mod modShow">
        <pc:chgData name="Yuli Jiang (CSD)" userId="7c291cd4-aa97-4867-8d2d-ebf5c1c3b419" providerId="ADAL" clId="{E45E1392-C447-4B5C-A721-B61AE56CF76F}" dt="2024-03-10T16:12:14.628" v="305" actId="729"/>
        <pc:sldMkLst>
          <pc:docMk/>
          <pc:sldMk cId="3702859340" sldId="260"/>
        </pc:sldMkLst>
      </pc:sldChg>
      <pc:sldChg chg="modSp mod modNotes">
        <pc:chgData name="Yuli Jiang (CSD)" userId="7c291cd4-aa97-4867-8d2d-ebf5c1c3b419" providerId="ADAL" clId="{E45E1392-C447-4B5C-A721-B61AE56CF76F}" dt="2024-03-10T16:35:37.047" v="409" actId="20577"/>
        <pc:sldMkLst>
          <pc:docMk/>
          <pc:sldMk cId="3616428142" sldId="272"/>
        </pc:sldMkLst>
      </pc:sldChg>
      <pc:sldChg chg="modSp mod ord modAnim modNotes">
        <pc:chgData name="Yuli Jiang (CSD)" userId="7c291cd4-aa97-4867-8d2d-ebf5c1c3b419" providerId="ADAL" clId="{E45E1392-C447-4B5C-A721-B61AE56CF76F}" dt="2024-03-10T16:35:33.140" v="407" actId="20577"/>
        <pc:sldMkLst>
          <pc:docMk/>
          <pc:sldMk cId="3980385623" sldId="273"/>
        </pc:sldMkLst>
      </pc:sldChg>
      <pc:sldChg chg="addSp delSp modSp mod">
        <pc:chgData name="Yuli Jiang (CSD)" userId="7c291cd4-aa97-4867-8d2d-ebf5c1c3b419" providerId="ADAL" clId="{E45E1392-C447-4B5C-A721-B61AE56CF76F}" dt="2024-03-10T16:37:48.358" v="440" actId="14100"/>
        <pc:sldMkLst>
          <pc:docMk/>
          <pc:sldMk cId="3130647963" sldId="275"/>
        </pc:sldMkLst>
      </pc:sldChg>
      <pc:sldChg chg="modSp">
        <pc:chgData name="Yuli Jiang (CSD)" userId="7c291cd4-aa97-4867-8d2d-ebf5c1c3b419" providerId="ADAL" clId="{E45E1392-C447-4B5C-A721-B61AE56CF76F}" dt="2024-03-10T15:06:08.693" v="0"/>
        <pc:sldMkLst>
          <pc:docMk/>
          <pc:sldMk cId="372380221" sldId="277"/>
        </pc:sldMkLst>
      </pc:sldChg>
      <pc:sldChg chg="modSp mod modShow modNotes">
        <pc:chgData name="Yuli Jiang (CSD)" userId="7c291cd4-aa97-4867-8d2d-ebf5c1c3b419" providerId="ADAL" clId="{E45E1392-C447-4B5C-A721-B61AE56CF76F}" dt="2024-03-10T15:49:33.368" v="272" actId="729"/>
        <pc:sldMkLst>
          <pc:docMk/>
          <pc:sldMk cId="3912213360" sldId="279"/>
        </pc:sldMkLst>
      </pc:sldChg>
      <pc:sldChg chg="addSp modSp mod">
        <pc:chgData name="Yuli Jiang (CSD)" userId="7c291cd4-aa97-4867-8d2d-ebf5c1c3b419" providerId="ADAL" clId="{E45E1392-C447-4B5C-A721-B61AE56CF76F}" dt="2024-03-10T17:11:42.717" v="455" actId="1582"/>
        <pc:sldMkLst>
          <pc:docMk/>
          <pc:sldMk cId="3576963820" sldId="309"/>
        </pc:sldMkLst>
      </pc:sldChg>
      <pc:sldChg chg="addSp modSp mod modNotes">
        <pc:chgData name="Yuli Jiang (CSD)" userId="7c291cd4-aa97-4867-8d2d-ebf5c1c3b419" providerId="ADAL" clId="{E45E1392-C447-4B5C-A721-B61AE56CF76F}" dt="2024-03-10T16:22:24.716" v="370" actId="1076"/>
        <pc:sldMkLst>
          <pc:docMk/>
          <pc:sldMk cId="2043866265" sldId="319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2332834607" sldId="320"/>
        </pc:sldMkLst>
      </pc:sldChg>
      <pc:sldChg chg="modSp">
        <pc:chgData name="Yuli Jiang (CSD)" userId="7c291cd4-aa97-4867-8d2d-ebf5c1c3b419" providerId="ADAL" clId="{E45E1392-C447-4B5C-A721-B61AE56CF76F}" dt="2024-03-10T15:06:08.693" v="0"/>
        <pc:sldMkLst>
          <pc:docMk/>
          <pc:sldMk cId="1311589714" sldId="321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4220761814" sldId="325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3978237956" sldId="326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3634846614" sldId="328"/>
        </pc:sldMkLst>
      </pc:sldChg>
      <pc:sldChg chg="modSp">
        <pc:chgData name="Yuli Jiang (CSD)" userId="7c291cd4-aa97-4867-8d2d-ebf5c1c3b419" providerId="ADAL" clId="{E45E1392-C447-4B5C-A721-B61AE56CF76F}" dt="2024-03-10T15:46:04.921" v="266" actId="14100"/>
        <pc:sldMkLst>
          <pc:docMk/>
          <pc:sldMk cId="411898246" sldId="334"/>
        </pc:sldMkLst>
      </pc:sldChg>
      <pc:sldChg chg="modSp mod modNotes">
        <pc:chgData name="Yuli Jiang (CSD)" userId="7c291cd4-aa97-4867-8d2d-ebf5c1c3b419" providerId="ADAL" clId="{E45E1392-C447-4B5C-A721-B61AE56CF76F}" dt="2024-03-10T15:47:40.138" v="271" actId="114"/>
        <pc:sldMkLst>
          <pc:docMk/>
          <pc:sldMk cId="1512446493" sldId="335"/>
        </pc:sldMkLst>
      </pc:sldChg>
      <pc:sldChg chg="addSp modSp mod modAnim modNotes">
        <pc:chgData name="Yuli Jiang (CSD)" userId="7c291cd4-aa97-4867-8d2d-ebf5c1c3b419" providerId="ADAL" clId="{E45E1392-C447-4B5C-A721-B61AE56CF76F}" dt="2024-03-10T17:16:56.664" v="525"/>
        <pc:sldMkLst>
          <pc:docMk/>
          <pc:sldMk cId="2716593060" sldId="338"/>
        </pc:sldMkLst>
      </pc:sldChg>
      <pc:sldChg chg="modSp modNotes">
        <pc:chgData name="Yuli Jiang (CSD)" userId="7c291cd4-aa97-4867-8d2d-ebf5c1c3b419" providerId="ADAL" clId="{E45E1392-C447-4B5C-A721-B61AE56CF76F}" dt="2024-03-10T15:30:37.923" v="103" actId="1076"/>
        <pc:sldMkLst>
          <pc:docMk/>
          <pc:sldMk cId="3856598676" sldId="339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2245772910" sldId="340"/>
        </pc:sldMkLst>
      </pc:sldChg>
      <pc:sldChg chg="modSp">
        <pc:chgData name="Yuli Jiang (CSD)" userId="7c291cd4-aa97-4867-8d2d-ebf5c1c3b419" providerId="ADAL" clId="{E45E1392-C447-4B5C-A721-B61AE56CF76F}" dt="2024-03-10T15:06:08.693" v="0"/>
        <pc:sldMkLst>
          <pc:docMk/>
          <pc:sldMk cId="3257371761" sldId="342"/>
        </pc:sldMkLst>
      </pc:sldChg>
      <pc:sldChg chg="modSp ord modNotes">
        <pc:chgData name="Yuli Jiang (CSD)" userId="7c291cd4-aa97-4867-8d2d-ebf5c1c3b419" providerId="ADAL" clId="{E45E1392-C447-4B5C-A721-B61AE56CF76F}" dt="2024-03-10T15:16:38.936" v="11"/>
        <pc:sldMkLst>
          <pc:docMk/>
          <pc:sldMk cId="2790837754" sldId="343"/>
        </pc:sldMkLst>
      </pc:sldChg>
      <pc:sldChg chg="addSp delSp modSp mod modAnim modNotes">
        <pc:chgData name="Yuli Jiang (CSD)" userId="7c291cd4-aa97-4867-8d2d-ebf5c1c3b419" providerId="ADAL" clId="{E45E1392-C447-4B5C-A721-B61AE56CF76F}" dt="2024-03-10T16:35:34.999" v="408" actId="20577"/>
        <pc:sldMkLst>
          <pc:docMk/>
          <pc:sldMk cId="1809219727" sldId="344"/>
        </pc:sldMkLst>
      </pc:sldChg>
      <pc:sldChg chg="modSp mod modNotes">
        <pc:chgData name="Yuli Jiang (CSD)" userId="7c291cd4-aa97-4867-8d2d-ebf5c1c3b419" providerId="ADAL" clId="{E45E1392-C447-4B5C-A721-B61AE56CF76F}" dt="2024-03-10T16:35:40.377" v="410" actId="20577"/>
        <pc:sldMkLst>
          <pc:docMk/>
          <pc:sldMk cId="1188601895" sldId="345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48609987" sldId="347"/>
        </pc:sldMkLst>
      </pc:sldChg>
      <pc:sldChg chg="modSp mod ord">
        <pc:chgData name="Yuli Jiang (CSD)" userId="7c291cd4-aa97-4867-8d2d-ebf5c1c3b419" providerId="ADAL" clId="{E45E1392-C447-4B5C-A721-B61AE56CF76F}" dt="2024-03-10T15:39:44.849" v="227" actId="115"/>
        <pc:sldMkLst>
          <pc:docMk/>
          <pc:sldMk cId="1322589783" sldId="354"/>
        </pc:sldMkLst>
      </pc:sldChg>
      <pc:sldChg chg="modNotes">
        <pc:chgData name="Yuli Jiang (CSD)" userId="7c291cd4-aa97-4867-8d2d-ebf5c1c3b419" providerId="ADAL" clId="{E45E1392-C447-4B5C-A721-B61AE56CF76F}" dt="2024-03-10T15:06:08.693" v="0"/>
        <pc:sldMkLst>
          <pc:docMk/>
          <pc:sldMk cId="157756885" sldId="356"/>
        </pc:sldMkLst>
      </pc:sldChg>
      <pc:sldChg chg="modSp mod modNotes">
        <pc:chgData name="Yuli Jiang (CSD)" userId="7c291cd4-aa97-4867-8d2d-ebf5c1c3b419" providerId="ADAL" clId="{E45E1392-C447-4B5C-A721-B61AE56CF76F}" dt="2024-03-10T17:25:38.623" v="535" actId="113"/>
        <pc:sldMkLst>
          <pc:docMk/>
          <pc:sldMk cId="1918843179" sldId="357"/>
        </pc:sldMkLst>
      </pc:sldChg>
      <pc:sldChg chg="modSp mod modShow modNotes">
        <pc:chgData name="Yuli Jiang (CSD)" userId="7c291cd4-aa97-4867-8d2d-ebf5c1c3b419" providerId="ADAL" clId="{E45E1392-C447-4B5C-A721-B61AE56CF76F}" dt="2024-03-10T17:25:28.728" v="533" actId="729"/>
        <pc:sldMkLst>
          <pc:docMk/>
          <pc:sldMk cId="3035676651" sldId="358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1278960254" sldId="359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3814559374" sldId="360"/>
        </pc:sldMkLst>
      </pc:sldChg>
      <pc:sldChg chg="addSp modSp mod modNotes">
        <pc:chgData name="Yuli Jiang (CSD)" userId="7c291cd4-aa97-4867-8d2d-ebf5c1c3b419" providerId="ADAL" clId="{E45E1392-C447-4B5C-A721-B61AE56CF76F}" dt="2024-03-10T15:57:34.741" v="303" actId="1076"/>
        <pc:sldMkLst>
          <pc:docMk/>
          <pc:sldMk cId="2379707453" sldId="361"/>
        </pc:sldMkLst>
      </pc:sldChg>
      <pc:sldChg chg="modSp mod">
        <pc:chgData name="Yuli Jiang (CSD)" userId="7c291cd4-aa97-4867-8d2d-ebf5c1c3b419" providerId="ADAL" clId="{E45E1392-C447-4B5C-A721-B61AE56CF76F}" dt="2024-03-10T15:56:57.386" v="298"/>
        <pc:sldMkLst>
          <pc:docMk/>
          <pc:sldMk cId="1633527069" sldId="362"/>
        </pc:sldMkLst>
      </pc:sldChg>
      <pc:sldChg chg="addSp delSp modSp mod modNotes">
        <pc:chgData name="Yuli Jiang (CSD)" userId="7c291cd4-aa97-4867-8d2d-ebf5c1c3b419" providerId="ADAL" clId="{E45E1392-C447-4B5C-A721-B61AE56CF76F}" dt="2024-03-10T15:56:55.916" v="296" actId="13926"/>
        <pc:sldMkLst>
          <pc:docMk/>
          <pc:sldMk cId="319461034" sldId="363"/>
        </pc:sldMkLst>
      </pc:sldChg>
      <pc:sldChg chg="modSp mod modNotes">
        <pc:chgData name="Yuli Jiang (CSD)" userId="7c291cd4-aa97-4867-8d2d-ebf5c1c3b419" providerId="ADAL" clId="{E45E1392-C447-4B5C-A721-B61AE56CF76F}" dt="2024-03-10T15:51:07.884" v="276" actId="13926"/>
        <pc:sldMkLst>
          <pc:docMk/>
          <pc:sldMk cId="595352971" sldId="364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4091099128" sldId="365"/>
        </pc:sldMkLst>
      </pc:sldChg>
      <pc:sldChg chg="modSp">
        <pc:chgData name="Yuli Jiang (CSD)" userId="7c291cd4-aa97-4867-8d2d-ebf5c1c3b419" providerId="ADAL" clId="{E45E1392-C447-4B5C-A721-B61AE56CF76F}" dt="2024-03-10T15:06:08.693" v="0"/>
        <pc:sldMkLst>
          <pc:docMk/>
          <pc:sldMk cId="3846178019" sldId="366"/>
        </pc:sldMkLst>
      </pc:sldChg>
      <pc:sldChg chg="modSp mod">
        <pc:chgData name="Yuli Jiang (CSD)" userId="7c291cd4-aa97-4867-8d2d-ebf5c1c3b419" providerId="ADAL" clId="{E45E1392-C447-4B5C-A721-B61AE56CF76F}" dt="2024-03-10T15:50:03.801" v="275" actId="403"/>
        <pc:sldMkLst>
          <pc:docMk/>
          <pc:sldMk cId="672588298" sldId="367"/>
        </pc:sldMkLst>
      </pc:sldChg>
      <pc:sldChg chg="modSp mod modNotes">
        <pc:chgData name="Yuli Jiang (CSD)" userId="7c291cd4-aa97-4867-8d2d-ebf5c1c3b419" providerId="ADAL" clId="{E45E1392-C447-4B5C-A721-B61AE56CF76F}" dt="2024-03-10T17:24:16.990" v="532" actId="115"/>
        <pc:sldMkLst>
          <pc:docMk/>
          <pc:sldMk cId="2377141081" sldId="368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2790681142" sldId="369"/>
        </pc:sldMkLst>
      </pc:sldChg>
      <pc:sldChg chg="modSp modNotes">
        <pc:chgData name="Yuli Jiang (CSD)" userId="7c291cd4-aa97-4867-8d2d-ebf5c1c3b419" providerId="ADAL" clId="{E45E1392-C447-4B5C-A721-B61AE56CF76F}" dt="2024-03-10T15:06:08.693" v="0"/>
        <pc:sldMkLst>
          <pc:docMk/>
          <pc:sldMk cId="3742505517" sldId="370"/>
        </pc:sldMkLst>
      </pc:sldChg>
      <pc:sldChg chg="modSp mod">
        <pc:chgData name="Yuli Jiang (CSD)" userId="7c291cd4-aa97-4867-8d2d-ebf5c1c3b419" providerId="ADAL" clId="{E45E1392-C447-4B5C-A721-B61AE56CF76F}" dt="2024-03-10T15:06:09.084" v="2" actId="27636"/>
        <pc:sldMkLst>
          <pc:docMk/>
          <pc:sldMk cId="65684310" sldId="371"/>
        </pc:sldMkLst>
      </pc:sldChg>
      <pc:sldChg chg="addSp modSp mod ord modAnim modShow">
        <pc:chgData name="Yuli Jiang (CSD)" userId="7c291cd4-aa97-4867-8d2d-ebf5c1c3b419" providerId="ADAL" clId="{E45E1392-C447-4B5C-A721-B61AE56CF76F}" dt="2024-03-10T17:17:10.138" v="527"/>
        <pc:sldMkLst>
          <pc:docMk/>
          <pc:sldMk cId="3100109789" sldId="474"/>
        </pc:sldMkLst>
      </pc:sldChg>
      <pc:sldChg chg="addSp modSp mod ord modAnim modShow">
        <pc:chgData name="Yuli Jiang (CSD)" userId="7c291cd4-aa97-4867-8d2d-ebf5c1c3b419" providerId="ADAL" clId="{E45E1392-C447-4B5C-A721-B61AE56CF76F}" dt="2024-03-10T17:18:15.028" v="528"/>
        <pc:sldMkLst>
          <pc:docMk/>
          <pc:sldMk cId="826756287" sldId="476"/>
        </pc:sldMkLst>
      </pc:sldChg>
      <pc:sldChg chg="modSp mod ord">
        <pc:chgData name="Yuli Jiang (CSD)" userId="7c291cd4-aa97-4867-8d2d-ebf5c1c3b419" providerId="ADAL" clId="{E45E1392-C447-4B5C-A721-B61AE56CF76F}" dt="2024-03-10T17:17:10.138" v="527"/>
        <pc:sldMkLst>
          <pc:docMk/>
          <pc:sldMk cId="1832277239" sldId="607"/>
        </pc:sldMkLst>
      </pc:sldChg>
      <pc:sldMasterChg chg="modSp modSldLayout">
        <pc:chgData name="Yuli Jiang (CSD)" userId="7c291cd4-aa97-4867-8d2d-ebf5c1c3b419" providerId="ADAL" clId="{E45E1392-C447-4B5C-A721-B61AE56CF76F}" dt="2024-03-10T15:06:08.693" v="0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E45E1392-C447-4B5C-A721-B61AE56CF76F}" dt="2024-03-10T15:06:08.693" v="0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E45E1392-C447-4B5C-A721-B61AE56CF76F}" dt="2024-03-10T15:06:08.693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E45E1392-C447-4B5C-A721-B61AE56CF76F}" dt="2024-03-10T15:06:08.693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Yuli Jiang (CSD)" userId="7c291cd4-aa97-4867-8d2d-ebf5c1c3b419" providerId="ADAL" clId="{E45E1392-C447-4B5C-A721-B61AE56CF76F}" dt="2024-03-10T15:06:08.693" v="0"/>
          <pc:sldLayoutMkLst>
            <pc:docMk/>
            <pc:sldMasterMk cId="0" sldId="2147483648"/>
            <pc:sldLayoutMk cId="2239528044" sldId="2147483654"/>
          </pc:sldLayoutMkLst>
        </pc:sldLayoutChg>
      </pc:sldMasterChg>
    </pc:docChg>
  </pc:docChgLst>
  <pc:docChgLst>
    <pc:chgData name="Yuli Jiang (CSD)" userId="7c291cd4-aa97-4867-8d2d-ebf5c1c3b419" providerId="ADAL" clId="{8FBD0129-C0BB-4F8A-B9D2-D31C5DC212F7}"/>
    <pc:docChg chg="undo custSel modSld">
      <pc:chgData name="Yuli Jiang (CSD)" userId="7c291cd4-aa97-4867-8d2d-ebf5c1c3b419" providerId="ADAL" clId="{8FBD0129-C0BB-4F8A-B9D2-D31C5DC212F7}" dt="2025-10-20T02:53:26.089" v="39" actId="13926"/>
      <pc:docMkLst>
        <pc:docMk/>
      </pc:docMkLst>
      <pc:sldChg chg="modSp mod">
        <pc:chgData name="Yuli Jiang (CSD)" userId="7c291cd4-aa97-4867-8d2d-ebf5c1c3b419" providerId="ADAL" clId="{8FBD0129-C0BB-4F8A-B9D2-D31C5DC212F7}" dt="2025-10-20T02:51:34.864" v="22" actId="14100"/>
        <pc:sldMkLst>
          <pc:docMk/>
          <pc:sldMk cId="2043866265" sldId="319"/>
        </pc:sldMkLst>
        <pc:spChg chg="mod">
          <ac:chgData name="Yuli Jiang (CSD)" userId="7c291cd4-aa97-4867-8d2d-ebf5c1c3b419" providerId="ADAL" clId="{8FBD0129-C0BB-4F8A-B9D2-D31C5DC212F7}" dt="2025-10-20T02:51:34.864" v="22" actId="14100"/>
          <ac:spMkLst>
            <pc:docMk/>
            <pc:sldMk cId="2043866265" sldId="319"/>
            <ac:spMk id="9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20T02:53:26.089" v="39" actId="13926"/>
        <pc:sldMkLst>
          <pc:docMk/>
          <pc:sldMk cId="3257371761" sldId="342"/>
        </pc:sldMkLst>
        <pc:spChg chg="mod">
          <ac:chgData name="Yuli Jiang (CSD)" userId="7c291cd4-aa97-4867-8d2d-ebf5c1c3b419" providerId="ADAL" clId="{8FBD0129-C0BB-4F8A-B9D2-D31C5DC212F7}" dt="2025-10-20T02:53:26.089" v="39" actId="13926"/>
          <ac:spMkLst>
            <pc:docMk/>
            <pc:sldMk cId="3257371761" sldId="342"/>
            <ac:spMk id="67586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20T02:53:16.064" v="38" actId="207"/>
        <pc:sldMkLst>
          <pc:docMk/>
          <pc:sldMk cId="2790837754" sldId="343"/>
        </pc:sldMkLst>
        <pc:spChg chg="mod">
          <ac:chgData name="Yuli Jiang (CSD)" userId="7c291cd4-aa97-4867-8d2d-ebf5c1c3b419" providerId="ADAL" clId="{8FBD0129-C0BB-4F8A-B9D2-D31C5DC212F7}" dt="2025-10-20T02:53:16.064" v="38" actId="207"/>
          <ac:spMkLst>
            <pc:docMk/>
            <pc:sldMk cId="2790837754" sldId="343"/>
            <ac:spMk id="3" creationId="{CA4D4853-5512-C47C-088F-FDF282F47EB3}"/>
          </ac:spMkLst>
        </pc:spChg>
        <pc:spChg chg="mod">
          <ac:chgData name="Yuli Jiang (CSD)" userId="7c291cd4-aa97-4867-8d2d-ebf5c1c3b419" providerId="ADAL" clId="{8FBD0129-C0BB-4F8A-B9D2-D31C5DC212F7}" dt="2025-10-20T02:52:55.944" v="30" actId="1076"/>
          <ac:spMkLst>
            <pc:docMk/>
            <pc:sldMk cId="2790837754" sldId="343"/>
            <ac:spMk id="68611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0T02:52:55.944" v="30" actId="1076"/>
          <ac:spMkLst>
            <pc:docMk/>
            <pc:sldMk cId="2790837754" sldId="343"/>
            <ac:spMk id="6861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20T02:52:45.310" v="28" actId="14100"/>
          <ac:spMkLst>
            <pc:docMk/>
            <pc:sldMk cId="2790837754" sldId="343"/>
            <ac:spMk id="68613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21C673D4-4BB5-4208-B51A-66DF9D02E379}"/>
    <pc:docChg chg="undo custSel modSld">
      <pc:chgData name="Yim Pan Chui, Dr. (CSD)" userId="06f431c5-cc1a-4439-a61b-5f3af947c103" providerId="ADAL" clId="{21C673D4-4BB5-4208-B51A-66DF9D02E379}" dt="2024-03-02T06:39:27.391" v="280" actId="20577"/>
      <pc:docMkLst>
        <pc:docMk/>
      </pc:docMkLst>
      <pc:sldChg chg="addSp delSp modSp mod">
        <pc:chgData name="Yim Pan Chui, Dr. (CSD)" userId="06f431c5-cc1a-4439-a61b-5f3af947c103" providerId="ADAL" clId="{21C673D4-4BB5-4208-B51A-66DF9D02E379}" dt="2024-03-02T06:34:23.422" v="226" actId="14100"/>
        <pc:sldMkLst>
          <pc:docMk/>
          <pc:sldMk cId="3616428142" sldId="272"/>
        </pc:sldMkLst>
      </pc:sldChg>
      <pc:sldChg chg="modSp mod">
        <pc:chgData name="Yim Pan Chui, Dr. (CSD)" userId="06f431c5-cc1a-4439-a61b-5f3af947c103" providerId="ADAL" clId="{21C673D4-4BB5-4208-B51A-66DF9D02E379}" dt="2024-03-02T06:32:12.261" v="200" actId="13926"/>
        <pc:sldMkLst>
          <pc:docMk/>
          <pc:sldMk cId="3980385623" sldId="273"/>
        </pc:sldMkLst>
      </pc:sldChg>
      <pc:sldChg chg="modSp mod">
        <pc:chgData name="Yim Pan Chui, Dr. (CSD)" userId="06f431c5-cc1a-4439-a61b-5f3af947c103" providerId="ADAL" clId="{21C673D4-4BB5-4208-B51A-66DF9D02E379}" dt="2024-03-02T06:05:23.308" v="157" actId="13926"/>
        <pc:sldMkLst>
          <pc:docMk/>
          <pc:sldMk cId="3912213360" sldId="279"/>
        </pc:sldMkLst>
      </pc:sldChg>
      <pc:sldChg chg="modSp mod">
        <pc:chgData name="Yim Pan Chui, Dr. (CSD)" userId="06f431c5-cc1a-4439-a61b-5f3af947c103" providerId="ADAL" clId="{21C673D4-4BB5-4208-B51A-66DF9D02E379}" dt="2024-03-02T06:00:32.972" v="66" actId="20577"/>
        <pc:sldMkLst>
          <pc:docMk/>
          <pc:sldMk cId="2043866265" sldId="319"/>
        </pc:sldMkLst>
      </pc:sldChg>
      <pc:sldChg chg="modSp mod">
        <pc:chgData name="Yim Pan Chui, Dr. (CSD)" userId="06f431c5-cc1a-4439-a61b-5f3af947c103" providerId="ADAL" clId="{21C673D4-4BB5-4208-B51A-66DF9D02E379}" dt="2024-03-02T05:58:53.197" v="49" actId="13926"/>
        <pc:sldMkLst>
          <pc:docMk/>
          <pc:sldMk cId="2332834607" sldId="320"/>
        </pc:sldMkLst>
      </pc:sldChg>
      <pc:sldChg chg="modSp mod">
        <pc:chgData name="Yim Pan Chui, Dr. (CSD)" userId="06f431c5-cc1a-4439-a61b-5f3af947c103" providerId="ADAL" clId="{21C673D4-4BB5-4208-B51A-66DF9D02E379}" dt="2024-03-02T05:59:34.662" v="54" actId="13926"/>
        <pc:sldMkLst>
          <pc:docMk/>
          <pc:sldMk cId="1311589714" sldId="321"/>
        </pc:sldMkLst>
      </pc:sldChg>
      <pc:sldChg chg="modSp mod">
        <pc:chgData name="Yim Pan Chui, Dr. (CSD)" userId="06f431c5-cc1a-4439-a61b-5f3af947c103" providerId="ADAL" clId="{21C673D4-4BB5-4208-B51A-66DF9D02E379}" dt="2024-03-02T06:00:00.646" v="57" actId="13926"/>
        <pc:sldMkLst>
          <pc:docMk/>
          <pc:sldMk cId="4220761814" sldId="325"/>
        </pc:sldMkLst>
      </pc:sldChg>
      <pc:sldChg chg="modSp mod">
        <pc:chgData name="Yim Pan Chui, Dr. (CSD)" userId="06f431c5-cc1a-4439-a61b-5f3af947c103" providerId="ADAL" clId="{21C673D4-4BB5-4208-B51A-66DF9D02E379}" dt="2024-03-02T05:59:50.411" v="56" actId="13926"/>
        <pc:sldMkLst>
          <pc:docMk/>
          <pc:sldMk cId="3978237956" sldId="326"/>
        </pc:sldMkLst>
      </pc:sldChg>
      <pc:sldChg chg="modSp mod">
        <pc:chgData name="Yim Pan Chui, Dr. (CSD)" userId="06f431c5-cc1a-4439-a61b-5f3af947c103" providerId="ADAL" clId="{21C673D4-4BB5-4208-B51A-66DF9D02E379}" dt="2024-03-02T06:28:01.506" v="196" actId="13926"/>
        <pc:sldMkLst>
          <pc:docMk/>
          <pc:sldMk cId="1512446493" sldId="335"/>
        </pc:sldMkLst>
      </pc:sldChg>
      <pc:sldChg chg="modSp mod">
        <pc:chgData name="Yim Pan Chui, Dr. (CSD)" userId="06f431c5-cc1a-4439-a61b-5f3af947c103" providerId="ADAL" clId="{21C673D4-4BB5-4208-B51A-66DF9D02E379}" dt="2024-03-02T06:36:13.950" v="236" actId="113"/>
        <pc:sldMkLst>
          <pc:docMk/>
          <pc:sldMk cId="3856598676" sldId="339"/>
        </pc:sldMkLst>
      </pc:sldChg>
      <pc:sldChg chg="addSp modSp mod">
        <pc:chgData name="Yim Pan Chui, Dr. (CSD)" userId="06f431c5-cc1a-4439-a61b-5f3af947c103" providerId="ADAL" clId="{21C673D4-4BB5-4208-B51A-66DF9D02E379}" dt="2024-03-02T06:34:38.335" v="231" actId="1037"/>
        <pc:sldMkLst>
          <pc:docMk/>
          <pc:sldMk cId="1188601895" sldId="345"/>
        </pc:sldMkLst>
      </pc:sldChg>
      <pc:sldChg chg="addSp delSp modSp mod">
        <pc:chgData name="Yim Pan Chui, Dr. (CSD)" userId="06f431c5-cc1a-4439-a61b-5f3af947c103" providerId="ADAL" clId="{21C673D4-4BB5-4208-B51A-66DF9D02E379}" dt="2024-03-02T05:59:41.038" v="55" actId="13926"/>
        <pc:sldMkLst>
          <pc:docMk/>
          <pc:sldMk cId="48609987" sldId="347"/>
        </pc:sldMkLst>
      </pc:sldChg>
      <pc:sldChg chg="addSp delSp modSp mod">
        <pc:chgData name="Yim Pan Chui, Dr. (CSD)" userId="06f431c5-cc1a-4439-a61b-5f3af947c103" providerId="ADAL" clId="{21C673D4-4BB5-4208-B51A-66DF9D02E379}" dt="2024-03-02T06:04:25.337" v="151" actId="14100"/>
        <pc:sldMkLst>
          <pc:docMk/>
          <pc:sldMk cId="1918843179" sldId="357"/>
        </pc:sldMkLst>
      </pc:sldChg>
      <pc:sldChg chg="modSp mod">
        <pc:chgData name="Yim Pan Chui, Dr. (CSD)" userId="06f431c5-cc1a-4439-a61b-5f3af947c103" providerId="ADAL" clId="{21C673D4-4BB5-4208-B51A-66DF9D02E379}" dt="2024-03-02T06:09:55.682" v="179" actId="13926"/>
        <pc:sldMkLst>
          <pc:docMk/>
          <pc:sldMk cId="3035676651" sldId="358"/>
        </pc:sldMkLst>
      </pc:sldChg>
      <pc:sldChg chg="modSp mod">
        <pc:chgData name="Yim Pan Chui, Dr. (CSD)" userId="06f431c5-cc1a-4439-a61b-5f3af947c103" providerId="ADAL" clId="{21C673D4-4BB5-4208-B51A-66DF9D02E379}" dt="2024-03-02T06:39:27.391" v="280" actId="20577"/>
        <pc:sldMkLst>
          <pc:docMk/>
          <pc:sldMk cId="1278960254" sldId="359"/>
        </pc:sldMkLst>
      </pc:sldChg>
      <pc:sldChg chg="modSp mod">
        <pc:chgData name="Yim Pan Chui, Dr. (CSD)" userId="06f431c5-cc1a-4439-a61b-5f3af947c103" providerId="ADAL" clId="{21C673D4-4BB5-4208-B51A-66DF9D02E379}" dt="2024-03-02T06:39:09.102" v="272" actId="20577"/>
        <pc:sldMkLst>
          <pc:docMk/>
          <pc:sldMk cId="3814559374" sldId="360"/>
        </pc:sldMkLst>
      </pc:sldChg>
      <pc:sldChg chg="modSp mod">
        <pc:chgData name="Yim Pan Chui, Dr. (CSD)" userId="06f431c5-cc1a-4439-a61b-5f3af947c103" providerId="ADAL" clId="{21C673D4-4BB5-4208-B51A-66DF9D02E379}" dt="2024-03-02T06:38:37.903" v="256" actId="20577"/>
        <pc:sldMkLst>
          <pc:docMk/>
          <pc:sldMk cId="2379707453" sldId="361"/>
        </pc:sldMkLst>
      </pc:sldChg>
      <pc:sldChg chg="modSp mod">
        <pc:chgData name="Yim Pan Chui, Dr. (CSD)" userId="06f431c5-cc1a-4439-a61b-5f3af947c103" providerId="ADAL" clId="{21C673D4-4BB5-4208-B51A-66DF9D02E379}" dt="2024-03-02T06:11:19.464" v="183" actId="14100"/>
        <pc:sldMkLst>
          <pc:docMk/>
          <pc:sldMk cId="595352971" sldId="364"/>
        </pc:sldMkLst>
      </pc:sldChg>
      <pc:sldChg chg="modSp mod">
        <pc:chgData name="Yim Pan Chui, Dr. (CSD)" userId="06f431c5-cc1a-4439-a61b-5f3af947c103" providerId="ADAL" clId="{21C673D4-4BB5-4208-B51A-66DF9D02E379}" dt="2024-03-02T06:12:13.864" v="194" actId="13926"/>
        <pc:sldMkLst>
          <pc:docMk/>
          <pc:sldMk cId="4091099128" sldId="365"/>
        </pc:sldMkLst>
      </pc:sldChg>
      <pc:sldChg chg="modSp mod">
        <pc:chgData name="Yim Pan Chui, Dr. (CSD)" userId="06f431c5-cc1a-4439-a61b-5f3af947c103" providerId="ADAL" clId="{21C673D4-4BB5-4208-B51A-66DF9D02E379}" dt="2024-03-02T06:12:00.926" v="193" actId="13926"/>
        <pc:sldMkLst>
          <pc:docMk/>
          <pc:sldMk cId="3846178019" sldId="366"/>
        </pc:sldMkLst>
      </pc:sldChg>
      <pc:sldChg chg="modSp">
        <pc:chgData name="Yim Pan Chui, Dr. (CSD)" userId="06f431c5-cc1a-4439-a61b-5f3af947c103" providerId="ADAL" clId="{21C673D4-4BB5-4208-B51A-66DF9D02E379}" dt="2024-03-02T06:05:50.988" v="160" actId="113"/>
        <pc:sldMkLst>
          <pc:docMk/>
          <pc:sldMk cId="2377141081" sldId="368"/>
        </pc:sldMkLst>
      </pc:sldChg>
      <pc:sldChg chg="addSp delSp modSp mod delAnim">
        <pc:chgData name="Yim Pan Chui, Dr. (CSD)" userId="06f431c5-cc1a-4439-a61b-5f3af947c103" providerId="ADAL" clId="{21C673D4-4BB5-4208-B51A-66DF9D02E379}" dt="2024-03-02T05:58:16.141" v="48" actId="1035"/>
        <pc:sldMkLst>
          <pc:docMk/>
          <pc:sldMk cId="826756287" sldId="476"/>
        </pc:sldMkLst>
      </pc:sldChg>
    </pc:docChg>
  </pc:docChgLst>
  <pc:docChgLst>
    <pc:chgData name="Yim Pan Chui, Dr. (CSD)" userId="06f431c5-cc1a-4439-a61b-5f3af947c103" providerId="ADAL" clId="{EB684FE0-E20D-44E9-B2AB-93AC61C2FE9B}"/>
    <pc:docChg chg="undo custSel addSld modSld">
      <pc:chgData name="Yim Pan Chui, Dr. (CSD)" userId="06f431c5-cc1a-4439-a61b-5f3af947c103" providerId="ADAL" clId="{EB684FE0-E20D-44E9-B2AB-93AC61C2FE9B}" dt="2023-07-10T06:00:50.472" v="496" actId="114"/>
      <pc:docMkLst>
        <pc:docMk/>
      </pc:docMkLst>
      <pc:sldChg chg="addSp delSp modSp">
        <pc:chgData name="Yim Pan Chui, Dr. (CSD)" userId="06f431c5-cc1a-4439-a61b-5f3af947c103" providerId="ADAL" clId="{EB684FE0-E20D-44E9-B2AB-93AC61C2FE9B}" dt="2023-07-10T05:58:09.890" v="467" actId="6549"/>
        <pc:sldMkLst>
          <pc:docMk/>
          <pc:sldMk cId="3576963820" sldId="309"/>
        </pc:sldMkLst>
      </pc:sldChg>
      <pc:sldChg chg="modSp">
        <pc:chgData name="Yim Pan Chui, Dr. (CSD)" userId="06f431c5-cc1a-4439-a61b-5f3af947c103" providerId="ADAL" clId="{EB684FE0-E20D-44E9-B2AB-93AC61C2FE9B}" dt="2023-07-10T04:46:49.974" v="293" actId="207"/>
        <pc:sldMkLst>
          <pc:docMk/>
          <pc:sldMk cId="2043866265" sldId="319"/>
        </pc:sldMkLst>
      </pc:sldChg>
      <pc:sldChg chg="addSp delSp modSp addAnim delAnim modAnim">
        <pc:chgData name="Yim Pan Chui, Dr. (CSD)" userId="06f431c5-cc1a-4439-a61b-5f3af947c103" providerId="ADAL" clId="{EB684FE0-E20D-44E9-B2AB-93AC61C2FE9B}" dt="2023-07-10T04:28:49.635" v="127" actId="478"/>
        <pc:sldMkLst>
          <pc:docMk/>
          <pc:sldMk cId="2332834607" sldId="320"/>
        </pc:sldMkLst>
      </pc:sldChg>
      <pc:sldChg chg="addSp modSp modAnim">
        <pc:chgData name="Yim Pan Chui, Dr. (CSD)" userId="06f431c5-cc1a-4439-a61b-5f3af947c103" providerId="ADAL" clId="{EB684FE0-E20D-44E9-B2AB-93AC61C2FE9B}" dt="2023-07-10T04:45:39.709" v="285" actId="207"/>
        <pc:sldMkLst>
          <pc:docMk/>
          <pc:sldMk cId="1311589714" sldId="321"/>
        </pc:sldMkLst>
      </pc:sldChg>
      <pc:sldChg chg="addSp modSp modAnim">
        <pc:chgData name="Yim Pan Chui, Dr. (CSD)" userId="06f431c5-cc1a-4439-a61b-5f3af947c103" providerId="ADAL" clId="{EB684FE0-E20D-44E9-B2AB-93AC61C2FE9B}" dt="2023-07-10T04:45:13.430" v="281" actId="207"/>
        <pc:sldMkLst>
          <pc:docMk/>
          <pc:sldMk cId="4220761814" sldId="325"/>
        </pc:sldMkLst>
      </pc:sldChg>
      <pc:sldChg chg="addSp modSp modAnim">
        <pc:chgData name="Yim Pan Chui, Dr. (CSD)" userId="06f431c5-cc1a-4439-a61b-5f3af947c103" providerId="ADAL" clId="{EB684FE0-E20D-44E9-B2AB-93AC61C2FE9B}" dt="2023-07-10T04:45:19.998" v="282" actId="207"/>
        <pc:sldMkLst>
          <pc:docMk/>
          <pc:sldMk cId="3978237956" sldId="326"/>
        </pc:sldMkLst>
      </pc:sldChg>
      <pc:sldChg chg="addSp modSp modAnim">
        <pc:chgData name="Yim Pan Chui, Dr. (CSD)" userId="06f431c5-cc1a-4439-a61b-5f3af947c103" providerId="ADAL" clId="{EB684FE0-E20D-44E9-B2AB-93AC61C2FE9B}" dt="2023-07-10T04:46:06.814" v="289" actId="207"/>
        <pc:sldMkLst>
          <pc:docMk/>
          <pc:sldMk cId="48609987" sldId="347"/>
        </pc:sldMkLst>
      </pc:sldChg>
      <pc:sldChg chg="modSp add modTransition">
        <pc:chgData name="Yim Pan Chui, Dr. (CSD)" userId="06f431c5-cc1a-4439-a61b-5f3af947c103" providerId="ADAL" clId="{EB684FE0-E20D-44E9-B2AB-93AC61C2FE9B}" dt="2023-07-10T06:00:50.472" v="496" actId="114"/>
        <pc:sldMkLst>
          <pc:docMk/>
          <pc:sldMk cId="3100109789" sldId="474"/>
        </pc:sldMkLst>
      </pc:sldChg>
      <pc:sldChg chg="addSp modSp add modTransition modAnim">
        <pc:chgData name="Yim Pan Chui, Dr. (CSD)" userId="06f431c5-cc1a-4439-a61b-5f3af947c103" providerId="ADAL" clId="{EB684FE0-E20D-44E9-B2AB-93AC61C2FE9B}" dt="2023-07-10T05:58:42.321" v="473" actId="20577"/>
        <pc:sldMkLst>
          <pc:docMk/>
          <pc:sldMk cId="826756287" sldId="4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43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8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38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35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42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89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25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5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92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92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41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36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53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5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84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1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A878-599E-343E-4500-C3F4C99C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32ED2-30F1-7B37-E95F-5CAF53F00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4B881-CC51-7CD2-406C-5412AE6AD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EDA3E-02D3-0082-7A79-3613507D3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290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93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020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92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42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73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18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4FF5-308B-0370-943A-E0E4CE99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4DD67-0B04-C418-F313-E64342D97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90D71-2C40-552E-BEFB-92D2EBCC1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4487E-0525-E1AB-6D58-38EB94E82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7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4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79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595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50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83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712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890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2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B658C-C1A7-450C-89D2-DFF02B4821E9}" type="datetime1">
              <a:rPr lang="zh-TW" altLang="en-US"/>
              <a:pPr/>
              <a:t>2025/10/23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228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EDBD54-8A0A-4E93-832C-A2BD3803A94D}" type="datetime1">
              <a:rPr lang="zh-TW" altLang="en-US"/>
              <a:pPr/>
              <a:t>2025/10/23</a:t>
            </a:fld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D4766-0F25-4965-9E83-DF187F4E9D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734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84EEDF-0B5B-4EDD-B01B-DE01452FA9B9}" type="datetime1">
              <a:rPr lang="zh-TW" altLang="en-US"/>
              <a:pPr/>
              <a:t>2025/10/23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44F87E-1E6B-4571-B3DE-B5F3995A3E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952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142339"/>
            <a:ext cx="8534400" cy="1335344"/>
          </a:xfrm>
        </p:spPr>
        <p:txBody>
          <a:bodyPr>
            <a:normAutofit/>
          </a:bodyPr>
          <a:lstStyle/>
          <a:p>
            <a:r>
              <a:rPr lang="en-US" altLang="zh-TW" sz="5400" b="1">
                <a:ea typeface="新細明體" pitchFamily="18" charset="-120"/>
              </a:rPr>
              <a:t>Functions (Basic)</a:t>
            </a:r>
            <a:endParaRPr lang="en-US" altLang="zh-TW" sz="5400" b="1" dirty="0">
              <a:ea typeface="新細明體" pitchFamily="18" charset="-12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303CB4-68C2-5152-D4F1-D15F90E14C23}"/>
              </a:ext>
            </a:extLst>
          </p:cNvPr>
          <p:cNvSpPr txBox="1">
            <a:spLocks noChangeArrowheads="1"/>
          </p:cNvSpPr>
          <p:nvPr/>
        </p:nvSpPr>
        <p:spPr>
          <a:xfrm>
            <a:off x="458002" y="4062820"/>
            <a:ext cx="8229600" cy="16557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>
                <a:solidFill>
                  <a:srgbClr val="0000FF"/>
                </a:solidFill>
                <a:latin typeface="Consolas" panose="020B0609020204030204" pitchFamily="49" charset="0"/>
              </a:rPr>
              <a:t>return_type</a:t>
            </a:r>
            <a:r>
              <a:rPr lang="en-US" altLang="zh-TW" sz="2400">
                <a:latin typeface="Consolas" panose="020B0609020204030204" pitchFamily="49" charset="0"/>
              </a:rPr>
              <a:t> function_name( </a:t>
            </a:r>
            <a:r>
              <a:rPr lang="en-US" altLang="zh-TW" sz="2500">
                <a:latin typeface="Consolas" panose="020B0609020204030204" pitchFamily="49" charset="0"/>
              </a:rPr>
              <a:t>parameter_list </a:t>
            </a:r>
            <a:r>
              <a:rPr lang="en-US" altLang="zh-TW" sz="2400">
                <a:latin typeface="Consolas" panose="020B0609020204030204" pitchFamily="49" charset="0"/>
              </a:rPr>
              <a:t>) {</a:t>
            </a:r>
            <a:br>
              <a:rPr lang="en-US" altLang="zh-TW" sz="2400">
                <a:latin typeface="Consolas" panose="020B0609020204030204" pitchFamily="49" charset="0"/>
              </a:rPr>
            </a:br>
            <a:r>
              <a:rPr lang="en-US" altLang="zh-TW" sz="2400">
                <a:latin typeface="Consolas" panose="020B0609020204030204" pitchFamily="49" charset="0"/>
              </a:rPr>
              <a:t>  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>
                <a:latin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>
                <a:latin typeface="Consolas" panose="020B0609020204030204" pitchFamily="49" charset="0"/>
              </a:rPr>
              <a:t> </a:t>
            </a:r>
            <a:r>
              <a:rPr lang="en-US" altLang="zh-TW" sz="240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r>
              <a:rPr lang="en-US" altLang="zh-TW" sz="240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>
                <a:latin typeface="Consolas" panose="020B0609020204030204" pitchFamily="49" charset="0"/>
              </a:rPr>
              <a:t>}</a:t>
            </a:r>
            <a:endParaRPr lang="en-US" altLang="zh-TW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456FE-C27D-5619-9F9C-0A23AE6D4E77}"/>
              </a:ext>
            </a:extLst>
          </p:cNvPr>
          <p:cNvSpPr txBox="1"/>
          <p:nvPr/>
        </p:nvSpPr>
        <p:spPr>
          <a:xfrm>
            <a:off x="458002" y="2333515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main(),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endParaRPr lang="zh-CN" altLang="en-US" sz="2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Basic Concepts</a:t>
            </a:r>
          </a:p>
          <a:p>
            <a:pPr marL="838200" lvl="1" indent="-381000"/>
            <a:r>
              <a:rPr lang="en-US" altLang="zh-TW" sz="2600" dirty="0"/>
              <a:t>Understanding what a function is</a:t>
            </a:r>
          </a:p>
          <a:p>
            <a:pPr marL="838200" lvl="1" indent="-381000"/>
            <a:r>
              <a:rPr lang="en-US" altLang="zh-TW" sz="2600" dirty="0"/>
              <a:t>Calling a function and </a:t>
            </a:r>
            <a:r>
              <a:rPr lang="en-US" altLang="zh-TW" sz="2600" b="1" u="sng" dirty="0"/>
              <a:t>tracing</a:t>
            </a:r>
            <a:r>
              <a:rPr lang="en-US" altLang="zh-TW" sz="2600" dirty="0"/>
              <a:t> a function call</a:t>
            </a:r>
          </a:p>
          <a:p>
            <a:pPr marL="838200" lvl="1" indent="-381000"/>
            <a:r>
              <a:rPr lang="en-US" altLang="zh-TW" sz="2600" dirty="0"/>
              <a:t>Characteristics of the variables declared inside a function</a:t>
            </a:r>
          </a:p>
          <a:p>
            <a:pPr marL="838200" lvl="1" indent="-381000"/>
            <a:endParaRPr lang="en-US" altLang="zh-TW" sz="2500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Parameters</a:t>
            </a:r>
          </a:p>
          <a:p>
            <a:pPr marL="838200" lvl="1" indent="-381000"/>
            <a:r>
              <a:rPr lang="en-US" altLang="zh-TW" sz="2600" dirty="0"/>
              <a:t>Defining a function with parameters</a:t>
            </a:r>
          </a:p>
          <a:p>
            <a:pPr marL="838200" lvl="1" indent="-381000"/>
            <a:endParaRPr lang="en-US" altLang="zh-TW" sz="2500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Returned value</a:t>
            </a:r>
          </a:p>
          <a:p>
            <a:pPr marL="838200" lvl="1" indent="-381000"/>
            <a:r>
              <a:rPr lang="en-US" altLang="zh-TW" sz="2600" dirty="0"/>
              <a:t>Defining a function with a return value</a:t>
            </a:r>
          </a:p>
          <a:p>
            <a:pPr marL="838200" lvl="1" indent="-381000"/>
            <a:r>
              <a:rPr lang="en-US" altLang="zh-TW" sz="2600" dirty="0"/>
              <a:t>The </a:t>
            </a:r>
            <a:r>
              <a:rPr lang="en-US" altLang="zh-TW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600" dirty="0"/>
              <a:t> keyword</a:t>
            </a:r>
          </a:p>
          <a:p>
            <a:pPr marL="838200" lvl="1" indent="-381000"/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277230427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3BBF1-FE94-4C42-A1D6-62CD5419803F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1.1. What is a Function?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11201400" cy="5715000"/>
          </a:xfrm>
        </p:spPr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i="1" dirty="0">
                <a:solidFill>
                  <a:srgbClr val="0070C0"/>
                </a:solidFill>
              </a:rPr>
              <a:t>function</a:t>
            </a:r>
            <a:r>
              <a:rPr lang="en-US" sz="2800" dirty="0"/>
              <a:t> is a group of statements that together perform a task.</a:t>
            </a:r>
            <a:endParaRPr lang="en-US" altLang="zh-TW" sz="2800" dirty="0"/>
          </a:p>
          <a:p>
            <a:pPr lvl="1"/>
            <a:r>
              <a:rPr lang="en-US" altLang="zh-TW" sz="2400" dirty="0"/>
              <a:t>It is also known as a </a:t>
            </a:r>
            <a:r>
              <a:rPr lang="en-US" altLang="zh-TW" sz="2400" i="1" dirty="0">
                <a:solidFill>
                  <a:srgbClr val="FF0000"/>
                </a:solidFill>
              </a:rPr>
              <a:t>procedure</a:t>
            </a:r>
            <a:r>
              <a:rPr lang="en-US" altLang="zh-TW" sz="2400" dirty="0"/>
              <a:t> or a </a:t>
            </a:r>
            <a:r>
              <a:rPr lang="en-US" altLang="zh-TW" sz="2400" i="1" dirty="0">
                <a:solidFill>
                  <a:srgbClr val="FF0000"/>
                </a:solidFill>
              </a:rPr>
              <a:t>subroutine</a:t>
            </a:r>
            <a:r>
              <a:rPr lang="en-US" altLang="zh-TW" sz="2400" dirty="0"/>
              <a:t> in other programming languages</a:t>
            </a:r>
          </a:p>
          <a:p>
            <a:pPr lvl="1"/>
            <a:r>
              <a:rPr lang="en-US" altLang="zh-TW" sz="2400" dirty="0"/>
              <a:t>Writing your own function allows you to automate common tasks in a more powerful and general way than copying and pasting.</a:t>
            </a:r>
          </a:p>
          <a:p>
            <a:pPr marL="0" indent="0">
              <a:buNone/>
            </a:pPr>
            <a:endParaRPr lang="en-US" altLang="zh-TW" sz="2800" dirty="0"/>
          </a:p>
          <a:p>
            <a:r>
              <a:rPr lang="en-US" altLang="zh-TW" sz="2800" dirty="0"/>
              <a:t>A C program is made up of one or more functions.</a:t>
            </a:r>
          </a:p>
          <a:p>
            <a:pPr lvl="1"/>
            <a:r>
              <a:rPr lang="en-US" altLang="zh-TW" sz="2400" dirty="0"/>
              <a:t>e.g., 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main(),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sqrt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400" dirty="0"/>
              <a:t> is the starting point of a program.</a:t>
            </a:r>
          </a:p>
          <a:p>
            <a:pPr marL="0" indent="0">
              <a:buNone/>
            </a:pPr>
            <a:endParaRPr lang="en-US" altLang="zh-TW" sz="2400" b="1" dirty="0"/>
          </a:p>
          <a:p>
            <a:pPr marL="0" indent="0">
              <a:buNone/>
            </a:pPr>
            <a:r>
              <a:rPr lang="en-US" altLang="zh-TW" sz="2400" b="1" dirty="0"/>
              <a:t>Note</a:t>
            </a:r>
            <a:r>
              <a:rPr lang="en-US" altLang="zh-TW" sz="2400" dirty="0"/>
              <a:t>: </a:t>
            </a:r>
            <a:r>
              <a:rPr lang="en-US" altLang="zh-TW" sz="2400" dirty="0">
                <a:ea typeface="新細明體" pitchFamily="18" charset="-120"/>
              </a:rPr>
              <a:t>In the lecture notes, we use the notation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foobar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2400" dirty="0">
                <a:ea typeface="新細明體" pitchFamily="18" charset="-120"/>
              </a:rPr>
              <a:t> to mean "a function named </a:t>
            </a:r>
            <a:r>
              <a:rPr lang="en-US" altLang="zh-TW" sz="24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foobar</a:t>
            </a:r>
            <a:r>
              <a:rPr lang="en-US" altLang="zh-TW" sz="2400" dirty="0">
                <a:ea typeface="新細明體" pitchFamily="18" charset="-120"/>
              </a:rPr>
              <a:t>".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7028593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2625402" y="990600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greet()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greet();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2160061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2160062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1.2. A Simple Function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6575F9E-33FF-93EA-3C71-34CD72C49D66}"/>
              </a:ext>
            </a:extLst>
          </p:cNvPr>
          <p:cNvSpPr/>
          <p:nvPr/>
        </p:nvSpPr>
        <p:spPr>
          <a:xfrm>
            <a:off x="957262" y="3173210"/>
            <a:ext cx="381000" cy="2362200"/>
          </a:xfrm>
          <a:prstGeom prst="downArrow">
            <a:avLst>
              <a:gd name="adj1" fmla="val 50000"/>
              <a:gd name="adj2" fmla="val 1813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D1CC7-8DC9-444D-BFBE-366475A61F02}"/>
              </a:ext>
            </a:extLst>
          </p:cNvPr>
          <p:cNvSpPr txBox="1"/>
          <p:nvPr/>
        </p:nvSpPr>
        <p:spPr>
          <a:xfrm>
            <a:off x="152400" y="1897992"/>
            <a:ext cx="2124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When Run</a:t>
            </a:r>
          </a:p>
          <a:p>
            <a:pPr algn="ctr"/>
            <a:r>
              <a:rPr lang="en-US" altLang="zh-CN" sz="2400" dirty="0"/>
              <a:t>Start from main() function</a:t>
            </a:r>
            <a:endParaRPr lang="zh-CN" altLang="en-US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6E23BA-B255-FC6A-6FB2-80C22ED70740}"/>
              </a:ext>
            </a:extLst>
          </p:cNvPr>
          <p:cNvCxnSpPr>
            <a:stCxn id="2" idx="0"/>
          </p:cNvCxnSpPr>
          <p:nvPr/>
        </p:nvCxnSpPr>
        <p:spPr>
          <a:xfrm>
            <a:off x="1147762" y="3173210"/>
            <a:ext cx="112940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9638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5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</a:rPr>
              <a:t>greet</a:t>
            </a:r>
            <a:r>
              <a:rPr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</a:rPr>
              <a:t>main</a:t>
            </a:r>
            <a:r>
              <a:rPr lang="en-US" altLang="zh-TW" sz="2000" b="0" dirty="0">
                <a:latin typeface="Consolas" panose="020B0609020204030204" pitchFamily="49" charset="0"/>
              </a:rPr>
              <a:t>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greet();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1528763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1.3. Function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4102" y="1676400"/>
            <a:ext cx="4863898" cy="11430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315200" y="1676400"/>
            <a:ext cx="3138714" cy="74309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000" dirty="0">
                <a:solidFill>
                  <a:srgbClr val="000000"/>
                </a:solidFill>
              </a:rPr>
              <a:t>A function named "</a:t>
            </a:r>
            <a:r>
              <a:rPr lang="en-US" altLang="zh-TW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</a:t>
            </a:r>
            <a:r>
              <a:rPr lang="en-US" altLang="zh-TW" sz="2000" dirty="0">
                <a:solidFill>
                  <a:srgbClr val="000000"/>
                </a:solidFill>
              </a:rPr>
              <a:t>“</a:t>
            </a:r>
          </a:p>
          <a:p>
            <a:pPr eaLnBrk="0" hangingPunct="0"/>
            <a:r>
              <a:rPr lang="en-US" altLang="zh-TW" sz="2000" dirty="0">
                <a:solidFill>
                  <a:srgbClr val="000000"/>
                </a:solidFill>
              </a:rPr>
              <a:t>Function definition</a:t>
            </a:r>
          </a:p>
        </p:txBody>
      </p:sp>
      <p:sp>
        <p:nvSpPr>
          <p:cNvPr id="11" name="Rectangle 23"/>
          <p:cNvSpPr txBox="1">
            <a:spLocks noChangeArrowheads="1"/>
          </p:cNvSpPr>
          <p:nvPr/>
        </p:nvSpPr>
        <p:spPr bwMode="auto">
          <a:xfrm>
            <a:off x="6400799" y="990600"/>
            <a:ext cx="4267200" cy="45720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sz="2400" dirty="0">
                <a:ea typeface="新細明體" pitchFamily="18" charset="-120"/>
                <a:cs typeface="Consolas" panose="020B0609020204030204" pitchFamily="49" charset="0"/>
              </a:rPr>
              <a:t>A function has a name.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94102" y="2973154"/>
            <a:ext cx="4863898" cy="2208446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301796" y="3127376"/>
            <a:ext cx="3152118" cy="1520824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000" dirty="0">
                <a:solidFill>
                  <a:srgbClr val="000000"/>
                </a:solidFill>
              </a:rPr>
              <a:t>A function named "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zh-TW" sz="2000" dirty="0">
                <a:solidFill>
                  <a:srgbClr val="000000"/>
                </a:solidFill>
              </a:rPr>
              <a:t>"</a:t>
            </a:r>
          </a:p>
          <a:p>
            <a:pPr eaLnBrk="0" hangingPunct="0"/>
            <a:endParaRPr lang="en-US" altLang="zh-TW" sz="2000" dirty="0">
              <a:solidFill>
                <a:srgbClr val="000000"/>
              </a:solidFill>
            </a:endParaRPr>
          </a:p>
          <a:p>
            <a:pPr eaLnBrk="0" hangingPunct="0"/>
            <a:r>
              <a:rPr lang="en-US" altLang="zh-TW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000" b="1" dirty="0">
                <a:solidFill>
                  <a:srgbClr val="C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</a:rPr>
              <a:t>is also the </a:t>
            </a:r>
            <a:r>
              <a:rPr lang="en-US" altLang="zh-TW" sz="2000" b="1" u="sng" dirty="0">
                <a:solidFill>
                  <a:srgbClr val="000000"/>
                </a:solidFill>
              </a:rPr>
              <a:t>starting point</a:t>
            </a:r>
            <a:r>
              <a:rPr lang="en-US" altLang="zh-TW" sz="2000" dirty="0">
                <a:solidFill>
                  <a:srgbClr val="000000"/>
                </a:solidFill>
              </a:rPr>
              <a:t> of a C program. </a:t>
            </a:r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6878662" y="1866900"/>
            <a:ext cx="4437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6858000" y="3284754"/>
            <a:ext cx="4437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0791BEDE-C132-76E0-306D-AFC42841C0CA}"/>
              </a:ext>
            </a:extLst>
          </p:cNvPr>
          <p:cNvSpPr/>
          <p:nvPr/>
        </p:nvSpPr>
        <p:spPr>
          <a:xfrm>
            <a:off x="957262" y="3173210"/>
            <a:ext cx="381000" cy="2362200"/>
          </a:xfrm>
          <a:prstGeom prst="downArrow">
            <a:avLst>
              <a:gd name="adj1" fmla="val 50000"/>
              <a:gd name="adj2" fmla="val 1813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3BB0F-A33C-7780-3914-6F82FABCB4AE}"/>
              </a:ext>
            </a:extLst>
          </p:cNvPr>
          <p:cNvSpPr txBox="1"/>
          <p:nvPr/>
        </p:nvSpPr>
        <p:spPr>
          <a:xfrm>
            <a:off x="165302" y="2419490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Start from main() function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438662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4495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greet()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greet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1528763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1.4. Calling/Invoking A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3486" y="3714750"/>
            <a:ext cx="1482714" cy="381000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5283201" y="2876549"/>
            <a:ext cx="5196113" cy="230505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We </a:t>
            </a:r>
            <a:r>
              <a:rPr lang="en-US" altLang="zh-TW" sz="2400" i="1" dirty="0">
                <a:solidFill>
                  <a:srgbClr val="0070C0"/>
                </a:solidFill>
              </a:rPr>
              <a:t>call</a:t>
            </a:r>
            <a:r>
              <a:rPr lang="en-US" altLang="zh-TW" sz="2400" dirty="0">
                <a:solidFill>
                  <a:srgbClr val="0070C0"/>
                </a:solidFill>
              </a:rPr>
              <a:t> </a:t>
            </a:r>
            <a:r>
              <a:rPr lang="en-US" altLang="zh-TW" sz="2400" dirty="0"/>
              <a:t>(or</a:t>
            </a:r>
            <a:r>
              <a:rPr lang="en-US" altLang="zh-TW" sz="2400" dirty="0">
                <a:solidFill>
                  <a:srgbClr val="0070C0"/>
                </a:solidFill>
              </a:rPr>
              <a:t> </a:t>
            </a:r>
            <a:r>
              <a:rPr lang="en-US" altLang="zh-TW" sz="2400" i="1" dirty="0">
                <a:solidFill>
                  <a:srgbClr val="0070C0"/>
                </a:solidFill>
              </a:rPr>
              <a:t>invoke</a:t>
            </a:r>
            <a:r>
              <a:rPr lang="en-US" altLang="zh-TW" sz="2400" dirty="0"/>
              <a:t>) a function by the function's name, followed by a pair of parentheses.</a:t>
            </a:r>
          </a:p>
          <a:p>
            <a:endParaRPr lang="en-US" altLang="zh-TW" sz="2400" dirty="0"/>
          </a:p>
          <a:p>
            <a:r>
              <a:rPr lang="en-US" altLang="zh-TW" sz="2400" dirty="0"/>
              <a:t>Calling a function </a:t>
            </a:r>
            <a:r>
              <a:rPr lang="en-US" altLang="zh-TW" sz="2400" dirty="0">
                <a:sym typeface="Wingdings" pitchFamily="2" charset="2"/>
              </a:rPr>
              <a:t></a:t>
            </a:r>
            <a:r>
              <a:rPr lang="en-US" altLang="zh-TW" sz="2400" dirty="0"/>
              <a:t> executing the code in that function.</a:t>
            </a: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3886199" y="3905249"/>
            <a:ext cx="13970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3460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44958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greet()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greet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1528763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1.5. Terminology: </a:t>
            </a:r>
            <a:r>
              <a:rPr lang="en-US" altLang="zh-TW" sz="4000" i="1" dirty="0"/>
              <a:t>Caller</a:t>
            </a:r>
            <a:r>
              <a:rPr lang="en-US" altLang="zh-TW" sz="4000" dirty="0"/>
              <a:t> and </a:t>
            </a:r>
            <a:r>
              <a:rPr lang="en-US" altLang="zh-TW" sz="4000" i="1" dirty="0" err="1"/>
              <a:t>Callee</a:t>
            </a:r>
            <a:endParaRPr lang="en-US" altLang="zh-TW" sz="4000" i="1" dirty="0"/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4572001" y="3519668"/>
            <a:ext cx="5943599" cy="1676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300" dirty="0"/>
              <a:t>At line 9,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main()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initiates the </a:t>
            </a:r>
            <a:r>
              <a:rPr lang="en-US" altLang="zh-TW" sz="2300" b="1" i="1" dirty="0"/>
              <a:t>function call</a:t>
            </a:r>
            <a:r>
              <a:rPr lang="en-US" altLang="zh-TW" sz="2300" dirty="0"/>
              <a:t>, and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greet()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is being called. In this situation, we say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main()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is the </a:t>
            </a:r>
            <a:r>
              <a:rPr lang="en-US" altLang="zh-TW" sz="2300" i="1" dirty="0">
                <a:solidFill>
                  <a:srgbClr val="0070C0"/>
                </a:solidFill>
              </a:rPr>
              <a:t>caller</a:t>
            </a:r>
            <a:r>
              <a:rPr lang="en-US" altLang="zh-TW" sz="2300" dirty="0"/>
              <a:t>, and </a:t>
            </a:r>
            <a:r>
              <a:rPr lang="en-US" altLang="zh-TW" sz="2300" dirty="0">
                <a:solidFill>
                  <a:srgbClr val="C00000"/>
                </a:solidFill>
                <a:latin typeface="Consolas" panose="020B0609020204030204" pitchFamily="49" charset="0"/>
              </a:rPr>
              <a:t>greet()</a:t>
            </a:r>
            <a:r>
              <a:rPr lang="en-US" altLang="zh-TW" sz="2300" dirty="0">
                <a:solidFill>
                  <a:srgbClr val="C00000"/>
                </a:solidFill>
              </a:rPr>
              <a:t> </a:t>
            </a:r>
            <a:r>
              <a:rPr lang="en-US" altLang="zh-TW" sz="2300" dirty="0"/>
              <a:t>is the </a:t>
            </a:r>
            <a:r>
              <a:rPr lang="en-US" altLang="zh-TW" sz="2300" i="1" dirty="0" err="1">
                <a:solidFill>
                  <a:srgbClr val="0070C0"/>
                </a:solidFill>
              </a:rPr>
              <a:t>callee</a:t>
            </a:r>
            <a:r>
              <a:rPr lang="en-US" altLang="zh-TW" sz="2300" dirty="0"/>
              <a:t>.</a:t>
            </a:r>
          </a:p>
        </p:txBody>
      </p:sp>
      <p:sp>
        <p:nvSpPr>
          <p:cNvPr id="2" name="Curved Right Arrow 1"/>
          <p:cNvSpPr/>
          <p:nvPr/>
        </p:nvSpPr>
        <p:spPr>
          <a:xfrm rot="10800000">
            <a:off x="3733800" y="1713887"/>
            <a:ext cx="685799" cy="2300468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19599" y="2649716"/>
            <a:ext cx="2055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Function call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99B46F-3923-4640-988E-4083B6BFEC51}"/>
              </a:ext>
            </a:extLst>
          </p:cNvPr>
          <p:cNvSpPr/>
          <p:nvPr/>
        </p:nvSpPr>
        <p:spPr>
          <a:xfrm>
            <a:off x="2396103" y="3429000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1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75CD97F5-65A5-437B-92C0-640E6BB3F5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331800"/>
            <a:ext cx="0" cy="457201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99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greet()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solidFill>
                  <a:srgbClr val="C00000"/>
                </a:solidFill>
                <a:latin typeface="Consolas" panose="020B0609020204030204" pitchFamily="49" charset="0"/>
              </a:rPr>
              <a:t>greet</a:t>
            </a:r>
            <a:r>
              <a:rPr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 hidden="1"/>
          <p:cNvSpPr>
            <a:spLocks noChangeArrowheads="1"/>
          </p:cNvSpPr>
          <p:nvPr/>
        </p:nvSpPr>
        <p:spPr bwMode="auto">
          <a:xfrm>
            <a:off x="1528763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/>
              <a:t>1.6. Control Flow During a Function Call – Part 1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4800600" y="4058582"/>
            <a:ext cx="5715000" cy="147682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When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/>
              <a:t>is called </a:t>
            </a:r>
            <a:r>
              <a:rPr lang="en-US" altLang="zh-TW" sz="2400" u="sng" dirty="0"/>
              <a:t>at line 9 </a:t>
            </a:r>
            <a:r>
              <a:rPr lang="en-US" altLang="zh-TW" sz="2400" dirty="0"/>
              <a:t>during program execution, control is "transferred" to the beginning of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/>
              <a:t>.</a:t>
            </a:r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6857999" y="1828800"/>
            <a:ext cx="2133601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3809999" y="3810000"/>
            <a:ext cx="5181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8991600" y="1828800"/>
            <a:ext cx="1" cy="19812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FB29E7-96E4-4905-87AF-CBE8E74CFDC0}"/>
              </a:ext>
            </a:extLst>
          </p:cNvPr>
          <p:cNvSpPr/>
          <p:nvPr/>
        </p:nvSpPr>
        <p:spPr>
          <a:xfrm>
            <a:off x="8964000" y="2610783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>
                <a:solidFill>
                  <a:schemeClr val="tx1"/>
                </a:solidFill>
              </a:rPr>
              <a:t>2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8642D0-B601-4399-8AEB-6E5703FB4E8A}"/>
              </a:ext>
            </a:extLst>
          </p:cNvPr>
          <p:cNvSpPr/>
          <p:nvPr/>
        </p:nvSpPr>
        <p:spPr>
          <a:xfrm>
            <a:off x="2396103" y="342900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Line 19">
            <a:extLst>
              <a:ext uri="{FF2B5EF4-FFF2-40B4-BE49-F238E27FC236}">
                <a16:creationId xmlns:a16="http://schemas.microsoft.com/office/drawing/2014/main" id="{E16A4DE8-7352-4338-9717-14367E398A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331800"/>
            <a:ext cx="0" cy="457201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897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greet()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solidFill>
                  <a:srgbClr val="C00000"/>
                </a:solidFill>
                <a:latin typeface="Consolas" panose="020B0609020204030204" pitchFamily="49" charset="0"/>
              </a:rPr>
              <a:t>greet</a:t>
            </a:r>
            <a:r>
              <a:rPr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528763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/>
              <a:t>1.6. Control Flow During a Function Call – Part 2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4800600" y="4058582"/>
            <a:ext cx="5715000" cy="147682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Statement in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/>
              <a:t>is executed.</a:t>
            </a:r>
          </a:p>
          <a:p>
            <a:endParaRPr lang="en-US" altLang="zh-TW" sz="2400" dirty="0"/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6857999" y="1828800"/>
            <a:ext cx="2133601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3810000" y="3810000"/>
            <a:ext cx="5181600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8991600" y="1828800"/>
            <a:ext cx="1" cy="198120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19"/>
          <p:cNvSpPr>
            <a:spLocks noChangeShapeType="1"/>
          </p:cNvSpPr>
          <p:nvPr/>
        </p:nvSpPr>
        <p:spPr bwMode="auto">
          <a:xfrm flipH="1">
            <a:off x="6865255" y="1828800"/>
            <a:ext cx="0" cy="74022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88983C-86F1-41CD-91AC-1BD275F56FCB}"/>
              </a:ext>
            </a:extLst>
          </p:cNvPr>
          <p:cNvSpPr/>
          <p:nvPr/>
        </p:nvSpPr>
        <p:spPr>
          <a:xfrm>
            <a:off x="6927490" y="2175892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3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7A5508-23D2-432D-870C-1758DFCBA2F6}"/>
              </a:ext>
            </a:extLst>
          </p:cNvPr>
          <p:cNvSpPr/>
          <p:nvPr/>
        </p:nvSpPr>
        <p:spPr>
          <a:xfrm>
            <a:off x="8964000" y="2610783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>
                <a:solidFill>
                  <a:schemeClr val="bg1"/>
                </a:solidFill>
              </a:rPr>
              <a:t>2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A4B27D-66FA-4BCB-84D6-DECE87081998}"/>
              </a:ext>
            </a:extLst>
          </p:cNvPr>
          <p:cNvSpPr/>
          <p:nvPr/>
        </p:nvSpPr>
        <p:spPr>
          <a:xfrm>
            <a:off x="2396103" y="342900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063C15CD-62F7-41DE-9FCF-25C125B756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331800"/>
            <a:ext cx="0" cy="457201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37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nimBg="1"/>
      <p:bldP spid="1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4495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greet()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"Hi! How are you?\n"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solidFill>
                  <a:srgbClr val="C00000"/>
                </a:solidFill>
                <a:latin typeface="Consolas" panose="020B0609020204030204" pitchFamily="49" charset="0"/>
              </a:rPr>
              <a:t>greet</a:t>
            </a:r>
            <a:r>
              <a:rPr lang="en-US" altLang="zh-TW" sz="2000" b="0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4495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528763" y="5535410"/>
            <a:ext cx="4033837" cy="673124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Hi! How are you?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TW" sz="4000" dirty="0"/>
              <a:t>1.6. Control Flow During a Function Call – Part 3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4800600" y="4058582"/>
            <a:ext cx="5715000" cy="152769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altLang="zh-TW" sz="2400" dirty="0"/>
              <a:t>When execution is completed in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greet()</a:t>
            </a:r>
            <a:r>
              <a:rPr lang="en-US" altLang="zh-TW" sz="2400" dirty="0"/>
              <a:t>, control is</a:t>
            </a:r>
            <a:r>
              <a:rPr lang="en-US" altLang="zh-TW" sz="2400" u="sng" dirty="0"/>
              <a:t> returned to the location where the function is called</a:t>
            </a:r>
            <a:r>
              <a:rPr lang="en-US" altLang="zh-TW" sz="2400" dirty="0"/>
              <a:t>, </a:t>
            </a:r>
            <a:r>
              <a:rPr lang="en-HK" altLang="zh-TW" sz="2400" dirty="0"/>
              <a:t>and execute the rest of the statements in 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400" dirty="0"/>
              <a:t> </a:t>
            </a:r>
            <a:r>
              <a:rPr lang="en-HK" altLang="zh-TW" sz="2400" dirty="0"/>
              <a:t>.</a:t>
            </a:r>
            <a:endParaRPr lang="en-US" altLang="zh-TW" sz="2400" dirty="0"/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6857999" y="1828800"/>
            <a:ext cx="2133601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3810000" y="3810000"/>
            <a:ext cx="5181600" cy="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8991600" y="1828800"/>
            <a:ext cx="1" cy="1981200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19"/>
          <p:cNvSpPr>
            <a:spLocks noChangeShapeType="1"/>
          </p:cNvSpPr>
          <p:nvPr/>
        </p:nvSpPr>
        <p:spPr bwMode="auto">
          <a:xfrm flipH="1">
            <a:off x="6865255" y="1828800"/>
            <a:ext cx="0" cy="740229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3962400" y="4009621"/>
            <a:ext cx="4724400" cy="1450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8686800" y="2569028"/>
            <a:ext cx="0" cy="1440593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6865255" y="2583542"/>
            <a:ext cx="1821545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80A9E7-0D63-40F2-9E03-83E50A0374C2}"/>
              </a:ext>
            </a:extLst>
          </p:cNvPr>
          <p:cNvSpPr/>
          <p:nvPr/>
        </p:nvSpPr>
        <p:spPr>
          <a:xfrm>
            <a:off x="8964000" y="2610783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>
                <a:solidFill>
                  <a:schemeClr val="bg1"/>
                </a:solidFill>
              </a:rPr>
              <a:t>2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1C830C-60CE-43BD-9C74-B0476B89A8C3}"/>
              </a:ext>
            </a:extLst>
          </p:cNvPr>
          <p:cNvSpPr/>
          <p:nvPr/>
        </p:nvSpPr>
        <p:spPr>
          <a:xfrm>
            <a:off x="6927490" y="2175892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1D0412-A9E3-48BC-9E72-944E3EC2F068}"/>
              </a:ext>
            </a:extLst>
          </p:cNvPr>
          <p:cNvSpPr/>
          <p:nvPr/>
        </p:nvSpPr>
        <p:spPr>
          <a:xfrm>
            <a:off x="2396103" y="3429000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bg1"/>
                </a:solidFill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DF74FF7F-6111-41C1-890F-412E021841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331800"/>
            <a:ext cx="0" cy="457201"/>
          </a:xfrm>
          <a:prstGeom prst="line">
            <a:avLst/>
          </a:prstGeom>
          <a:noFill/>
          <a:ln w="25400">
            <a:solidFill>
              <a:schemeClr val="bg1">
                <a:lumMod val="8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1B4646-E4A6-41D9-A4F6-8C39FBE2EB9C}"/>
              </a:ext>
            </a:extLst>
          </p:cNvPr>
          <p:cNvSpPr/>
          <p:nvPr/>
        </p:nvSpPr>
        <p:spPr>
          <a:xfrm>
            <a:off x="8312268" y="3143769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4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7D04AB-F82A-4A99-8673-67CDBDD64A09}"/>
              </a:ext>
            </a:extLst>
          </p:cNvPr>
          <p:cNvCxnSpPr>
            <a:cxnSpLocks/>
          </p:cNvCxnSpPr>
          <p:nvPr/>
        </p:nvCxnSpPr>
        <p:spPr>
          <a:xfrm>
            <a:off x="3962400" y="4058582"/>
            <a:ext cx="0" cy="66501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E7105B5-5FCA-453D-8FCA-C3E981474BE3}"/>
              </a:ext>
            </a:extLst>
          </p:cNvPr>
          <p:cNvSpPr/>
          <p:nvPr/>
        </p:nvSpPr>
        <p:spPr>
          <a:xfrm>
            <a:off x="4002450" y="4230138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HK" sz="2000" dirty="0">
                <a:solidFill>
                  <a:schemeClr val="tx1"/>
                </a:solidFill>
              </a:rPr>
              <a:t>5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7618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1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2AFFC-7044-4D32-B5C1-AADB05BE2D41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1.7. Variables declared in one function are not accessible by another function</a:t>
            </a: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1905000" y="1401579"/>
            <a:ext cx="8686800" cy="3429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bar()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"In bar(): y = %d\n"</a:t>
            </a:r>
            <a:r>
              <a:rPr lang="en-US" altLang="zh-TW" sz="2000" b="0" dirty="0">
                <a:latin typeface="Consolas" panose="020B0609020204030204" pitchFamily="49" charset="0"/>
              </a:rPr>
              <a:t>, y);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bar();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onsolas" panose="020B0609020204030204" pitchFamily="49" charset="0"/>
              </a:rPr>
              <a:t>);	</a:t>
            </a:r>
            <a:endParaRPr lang="en-US" altLang="zh-TW" sz="2000" b="0" dirty="0">
              <a:solidFill>
                <a:srgbClr val="FF33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447800" y="1401579"/>
            <a:ext cx="461962" cy="3429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152400" y="5029200"/>
            <a:ext cx="11963400" cy="1128532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Variables declared in a function are </a:t>
            </a:r>
            <a:r>
              <a:rPr lang="en-US" altLang="zh-TW" sz="2400" i="1" dirty="0">
                <a:solidFill>
                  <a:srgbClr val="0000FF"/>
                </a:solidFill>
                <a:highlight>
                  <a:srgbClr val="FFFF00"/>
                </a:highlight>
              </a:rPr>
              <a:t>local</a:t>
            </a:r>
            <a:r>
              <a:rPr lang="en-US" altLang="zh-TW" sz="2400" i="1" dirty="0">
                <a:solidFill>
                  <a:srgbClr val="0000FF"/>
                </a:solidFill>
              </a:rPr>
              <a:t> variables</a:t>
            </a:r>
            <a:r>
              <a:rPr lang="en-US" altLang="zh-TW" sz="2400" dirty="0">
                <a:solidFill>
                  <a:srgbClr val="000000"/>
                </a:solidFill>
              </a:rPr>
              <a:t> and are only accessible inside that function.</a:t>
            </a:r>
          </a:p>
          <a:p>
            <a:pPr eaLnBrk="0" hangingPunct="0"/>
            <a:endParaRPr lang="en-US" altLang="zh-TW" sz="800" dirty="0">
              <a:solidFill>
                <a:srgbClr val="000000"/>
              </a:solidFill>
            </a:endParaRPr>
          </a:p>
          <a:p>
            <a:pPr eaLnBrk="0" hangingPunct="0"/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400" dirty="0">
                <a:solidFill>
                  <a:srgbClr val="000000"/>
                </a:solidFill>
              </a:rPr>
              <a:t>, being declared in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bar()</a:t>
            </a:r>
            <a:r>
              <a:rPr lang="en-US" altLang="zh-TW" sz="2400" dirty="0">
                <a:solidFill>
                  <a:srgbClr val="000000"/>
                </a:solidFill>
              </a:rPr>
              <a:t>, is not accessible in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main()</a:t>
            </a:r>
            <a:r>
              <a:rPr lang="en-US" altLang="zh-TW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D4853-5512-C47C-088F-FDF282F47EB3}"/>
              </a:ext>
            </a:extLst>
          </p:cNvPr>
          <p:cNvSpPr txBox="1"/>
          <p:nvPr/>
        </p:nvSpPr>
        <p:spPr>
          <a:xfrm>
            <a:off x="5763126" y="3221730"/>
            <a:ext cx="4523874" cy="11387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 </a:t>
            </a:r>
          </a:p>
          <a:p>
            <a:pPr algn="ctr"/>
            <a:r>
              <a:rPr lang="en-US" altLang="zh-TW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/* Compile-time </a:t>
            </a:r>
            <a:r>
              <a:rPr lang="en-US" altLang="zh-TW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error</a:t>
            </a:r>
            <a:r>
              <a:rPr lang="en-US" altLang="zh-TW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 */</a:t>
            </a:r>
          </a:p>
          <a:p>
            <a:pPr algn="ctr"/>
            <a:r>
              <a:rPr lang="en-US" altLang="zh-TW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y not declared</a:t>
            </a:r>
          </a:p>
          <a:p>
            <a:pPr algn="ctr"/>
            <a:r>
              <a:rPr lang="en-US" altLang="zh-CN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 </a:t>
            </a:r>
            <a:endParaRPr lang="zh-CN" alt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0837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4528-0F4A-4CB0-AC07-BC41AACAB7AB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11506200" cy="838200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1.7. Variables declared in a function are </a:t>
            </a:r>
            <a:r>
              <a:rPr lang="en-US" altLang="zh-TW" sz="3200" b="1" u="sng" dirty="0">
                <a:highlight>
                  <a:srgbClr val="FFFF00"/>
                </a:highlight>
              </a:rPr>
              <a:t>local</a:t>
            </a:r>
            <a:r>
              <a:rPr lang="en-US" altLang="zh-TW" sz="3200" dirty="0"/>
              <a:t> to that function</a:t>
            </a:r>
            <a:endParaRPr lang="en-US" sz="3200" dirty="0"/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1990725" y="990600"/>
            <a:ext cx="8686800" cy="517064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foo()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CC00CC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"In foo(): x = %d\n"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CC00CC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5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"Before: In main(): x = %d\n"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foo();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"After: In main(): x = %d\n"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1524000" y="990600"/>
            <a:ext cx="461962" cy="517064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6908840" y="5562601"/>
            <a:ext cx="3570208" cy="101566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Before: In main(): x = 5</a:t>
            </a:r>
          </a:p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In foo(): x = 0</a:t>
            </a:r>
          </a:p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After: In main(): x = 5</a:t>
            </a: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5715000" y="990601"/>
            <a:ext cx="4764048" cy="533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00"/>
                </a:solidFill>
              </a:rPr>
              <a:t>Every function has its own variables. </a:t>
            </a: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6352813" y="2144492"/>
            <a:ext cx="4114800" cy="206451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</a:rPr>
              <a:t> in </a:t>
            </a:r>
            <a:r>
              <a:rPr lang="en-US" altLang="zh-TW" sz="2400" dirty="0">
                <a:latin typeface="Consolas" panose="020B0609020204030204" pitchFamily="49" charset="0"/>
              </a:rPr>
              <a:t>foo()</a:t>
            </a:r>
            <a:r>
              <a:rPr lang="en-US" altLang="zh-TW" sz="2400" dirty="0">
                <a:solidFill>
                  <a:srgbClr val="000000"/>
                </a:solidFill>
              </a:rPr>
              <a:t> and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</a:rPr>
              <a:t> in </a:t>
            </a:r>
            <a:r>
              <a:rPr lang="en-US" altLang="zh-TW" sz="2400" dirty="0">
                <a:latin typeface="Consolas" panose="020B0609020204030204" pitchFamily="49" charset="0"/>
              </a:rPr>
              <a:t>main()</a:t>
            </a:r>
            <a:r>
              <a:rPr lang="en-US" altLang="zh-TW" sz="2400" dirty="0">
                <a:solidFill>
                  <a:srgbClr val="000000"/>
                </a:solidFill>
              </a:rPr>
              <a:t> are two </a:t>
            </a:r>
            <a:r>
              <a:rPr lang="en-US" altLang="zh-TW" sz="2400" u="sng" dirty="0">
                <a:solidFill>
                  <a:srgbClr val="000000"/>
                </a:solidFill>
              </a:rPr>
              <a:t>different variables</a:t>
            </a:r>
            <a:r>
              <a:rPr lang="en-US" altLang="zh-TW" sz="2400" dirty="0">
                <a:solidFill>
                  <a:srgbClr val="000000"/>
                </a:solidFill>
              </a:rPr>
              <a:t>.</a:t>
            </a:r>
            <a:endParaRPr lang="en-US" altLang="zh-TW" sz="2000" dirty="0">
              <a:solidFill>
                <a:srgbClr val="000000"/>
              </a:solidFill>
            </a:endParaRPr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7315994" y="3177381"/>
            <a:ext cx="576262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TW"/>
              <a:t>0</a:t>
            </a: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8693944" y="3177381"/>
            <a:ext cx="576262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zh-TW"/>
              <a:t>5</a:t>
            </a:r>
          </a:p>
        </p:txBody>
      </p:sp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7250510" y="3507582"/>
            <a:ext cx="70564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zh-TW" b="1" dirty="0">
                <a:solidFill>
                  <a:srgbClr val="CC00CC"/>
                </a:solidFill>
                <a:latin typeface="Consolas" panose="020B0609020204030204" pitchFamily="49" charset="0"/>
              </a:rPr>
              <a:t>x</a:t>
            </a:r>
            <a:endParaRPr lang="en-US" altLang="zh-TW" dirty="0">
              <a:solidFill>
                <a:srgbClr val="CC00CC"/>
              </a:solidFill>
            </a:endParaRPr>
          </a:p>
          <a:p>
            <a:pPr algn="ctr" eaLnBrk="0" hangingPunct="0">
              <a:lnSpc>
                <a:spcPct val="80000"/>
              </a:lnSpc>
            </a:pPr>
            <a:r>
              <a:rPr lang="en-US" altLang="zh-TW" dirty="0"/>
              <a:t>(</a:t>
            </a:r>
            <a:r>
              <a:rPr lang="en-US" altLang="zh-TW" b="1" dirty="0">
                <a:latin typeface="Consolas" panose="020B0609020204030204" pitchFamily="49" charset="0"/>
              </a:rPr>
              <a:t>foo</a:t>
            </a:r>
            <a:r>
              <a:rPr lang="en-US" altLang="zh-TW" dirty="0"/>
              <a:t>)</a:t>
            </a:r>
          </a:p>
        </p:txBody>
      </p:sp>
      <p:sp>
        <p:nvSpPr>
          <p:cNvPr id="67595" name="Text Box 11"/>
          <p:cNvSpPr txBox="1">
            <a:spLocks noChangeArrowheads="1"/>
          </p:cNvSpPr>
          <p:nvPr/>
        </p:nvSpPr>
        <p:spPr bwMode="auto">
          <a:xfrm>
            <a:off x="8566730" y="3507582"/>
            <a:ext cx="832279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endParaRPr lang="en-US" altLang="zh-TW" dirty="0">
              <a:solidFill>
                <a:srgbClr val="FF0000"/>
              </a:solidFill>
            </a:endParaRPr>
          </a:p>
          <a:p>
            <a:pPr algn="ctr" eaLnBrk="0" hangingPunct="0">
              <a:lnSpc>
                <a:spcPct val="80000"/>
              </a:lnSpc>
            </a:pPr>
            <a:r>
              <a:rPr lang="en-US" altLang="zh-TW" dirty="0"/>
              <a:t>(</a:t>
            </a:r>
            <a:r>
              <a:rPr lang="en-US" altLang="zh-TW" b="1" dirty="0">
                <a:latin typeface="Consolas" panose="020B0609020204030204" pitchFamily="49" charset="0"/>
              </a:rPr>
              <a:t>main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73717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nimBg="1"/>
      <p:bldP spid="67591" grpId="0" animBg="1"/>
      <p:bldP spid="67592" grpId="0" animBg="1"/>
      <p:bldP spid="67593" grpId="0" animBg="1"/>
      <p:bldP spid="67594" grpId="0"/>
      <p:bldP spid="6759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BF27A-0E50-9C4B-93C2-677EF67F3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 of Using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BB1C-73D6-2946-AC46-CAE386EE7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u="sng" dirty="0"/>
              <a:t>Write once, use it multiple times.</a:t>
            </a:r>
          </a:p>
          <a:p>
            <a:r>
              <a:rPr lang="en-US" dirty="0"/>
              <a:t>As requirements change, you </a:t>
            </a:r>
            <a:r>
              <a:rPr lang="en-US" u="sng" dirty="0"/>
              <a:t>only need to update code in one place </a:t>
            </a:r>
            <a:r>
              <a:rPr lang="en-US" dirty="0"/>
              <a:t>(inside the function), instead of many</a:t>
            </a:r>
          </a:p>
          <a:p>
            <a:pPr lvl="8"/>
            <a:endParaRPr lang="en-US" dirty="0"/>
          </a:p>
          <a:p>
            <a:r>
              <a:rPr lang="en-US" altLang="zh-CN" dirty="0"/>
              <a:t>You eliminate the chance of making incidental mistakes (a.k.a. bugs) when you copy and paste</a:t>
            </a:r>
          </a:p>
          <a:p>
            <a:r>
              <a:rPr lang="en-US" altLang="zh-CN" dirty="0"/>
              <a:t>You can give a function a </a:t>
            </a:r>
            <a:r>
              <a:rPr lang="en-US" altLang="zh-CN" u="sng" dirty="0"/>
              <a:t>meaningful name</a:t>
            </a:r>
            <a:r>
              <a:rPr lang="en-US" altLang="zh-CN" dirty="0"/>
              <a:t> that makes your code easier to understand</a:t>
            </a:r>
          </a:p>
          <a:p>
            <a:pPr lvl="1"/>
            <a:r>
              <a:rPr lang="en-US" altLang="zh-CN" dirty="0"/>
              <a:t>E.g.,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kg_2_lb(…)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585B9-A1F1-A54F-AE5F-755873FE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E6C2-B6A2-654E-A7BD-57488A4F12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772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3410-690C-1842-8C37-DC197B4D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885F-344A-1743-9771-E50A4EFF5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248549"/>
            <a:ext cx="6229351" cy="4928414"/>
          </a:xfrm>
        </p:spPr>
        <p:txBody>
          <a:bodyPr>
            <a:normAutofit/>
          </a:bodyPr>
          <a:lstStyle/>
          <a:p>
            <a:r>
              <a:rPr lang="en-US" sz="2800" dirty="0"/>
              <a:t>Suppose we want to calculate </a:t>
            </a:r>
            <a:r>
              <a:rPr lang="en-US" sz="2800" i="1" u="sng" dirty="0"/>
              <a:t>many</a:t>
            </a:r>
            <a:r>
              <a:rPr lang="en-US" sz="2800" dirty="0"/>
              <a:t> unit conversions from </a:t>
            </a:r>
            <a:r>
              <a:rPr lang="en-US" sz="2800" i="1" dirty="0"/>
              <a:t>kg</a:t>
            </a:r>
            <a:r>
              <a:rPr lang="en-US" sz="2800" dirty="0"/>
              <a:t> to </a:t>
            </a:r>
            <a:r>
              <a:rPr lang="en-US" sz="2800" i="1" dirty="0" err="1"/>
              <a:t>lb</a:t>
            </a:r>
            <a:r>
              <a:rPr lang="en-US" sz="2800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3951-4314-B24C-A9CF-B7F42C88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E6C2-B6A2-654E-A7BD-57488A4F1208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8C81D-8895-DB44-9715-366155D31DA3}"/>
              </a:ext>
            </a:extLst>
          </p:cNvPr>
          <p:cNvSpPr txBox="1"/>
          <p:nvPr/>
        </p:nvSpPr>
        <p:spPr>
          <a:xfrm>
            <a:off x="2469782" y="2470131"/>
            <a:ext cx="5883342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57;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2.2;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49;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2.2;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74;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2.2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61;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2.2;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5EEBD1-1280-D441-8143-49F3CB872C0A}"/>
                  </a:ext>
                </a:extLst>
              </p:cNvPr>
              <p:cNvSpPr txBox="1"/>
              <p:nvPr/>
            </p:nvSpPr>
            <p:spPr>
              <a:xfrm>
                <a:off x="9220200" y="1413910"/>
                <a:ext cx="2035126" cy="408623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𝑙𝑏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× 2.2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5EEBD1-1280-D441-8143-49F3CB87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200" y="1413910"/>
                <a:ext cx="2035126" cy="408623"/>
              </a:xfrm>
              <a:prstGeom prst="roundRect">
                <a:avLst/>
              </a:prstGeom>
              <a:blipFill>
                <a:blip r:embed="rId2"/>
                <a:stretch>
                  <a:fillRect l="-1780" r="-1780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1ADAD3D-F307-4DCE-8592-5033D8DAE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112" y="2470130"/>
            <a:ext cx="430670" cy="31393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4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5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6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7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8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9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6" name="Cloud Callout 5">
            <a:extLst>
              <a:ext uri="{FF2B5EF4-FFF2-40B4-BE49-F238E27FC236}">
                <a16:creationId xmlns:a16="http://schemas.microsoft.com/office/drawing/2014/main" id="{BAF882CA-B318-4B44-AA46-CFB468DE7C9F}"/>
              </a:ext>
            </a:extLst>
          </p:cNvPr>
          <p:cNvSpPr/>
          <p:nvPr/>
        </p:nvSpPr>
        <p:spPr>
          <a:xfrm>
            <a:off x="29826" y="1292661"/>
            <a:ext cx="2383187" cy="1686639"/>
          </a:xfrm>
          <a:prstGeom prst="cloudCallout">
            <a:avLst>
              <a:gd name="adj1" fmla="val 46976"/>
              <a:gd name="adj2" fmla="val 73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400" dirty="0"/>
              <a:t>Can you spot some </a:t>
            </a:r>
            <a:r>
              <a:rPr lang="en-US" sz="2400" dirty="0">
                <a:solidFill>
                  <a:srgbClr val="FF0000"/>
                </a:solidFill>
              </a:rPr>
              <a:t>mistakes</a:t>
            </a:r>
            <a:r>
              <a:rPr lang="en-US" sz="2400" dirty="0"/>
              <a:t>? </a:t>
            </a:r>
            <a:endParaRPr lang="en-US" sz="2400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536511-233D-C1B0-13C0-24744F560F45}"/>
                  </a:ext>
                </a:extLst>
              </p:cNvPr>
              <p:cNvSpPr txBox="1"/>
              <p:nvPr/>
            </p:nvSpPr>
            <p:spPr>
              <a:xfrm>
                <a:off x="9051898" y="3352800"/>
                <a:ext cx="2530502" cy="408623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× 2.2046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536511-233D-C1B0-13C0-24744F560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898" y="3352800"/>
                <a:ext cx="2530502" cy="408623"/>
              </a:xfrm>
              <a:prstGeom prst="roundRect">
                <a:avLst/>
              </a:prstGeom>
              <a:blipFill>
                <a:blip r:embed="rId3"/>
                <a:stretch>
                  <a:fillRect l="-1671" r="-1671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Down 9">
            <a:extLst>
              <a:ext uri="{FF2B5EF4-FFF2-40B4-BE49-F238E27FC236}">
                <a16:creationId xmlns:a16="http://schemas.microsoft.com/office/drawing/2014/main" id="{5A9F4217-6BAC-2406-B7CB-1C3A2385B19D}"/>
              </a:ext>
            </a:extLst>
          </p:cNvPr>
          <p:cNvSpPr/>
          <p:nvPr/>
        </p:nvSpPr>
        <p:spPr>
          <a:xfrm>
            <a:off x="10169817" y="1847997"/>
            <a:ext cx="421983" cy="1504803"/>
          </a:xfrm>
          <a:prstGeom prst="downArrow">
            <a:avLst>
              <a:gd name="adj1" fmla="val 50000"/>
              <a:gd name="adj2" fmla="val 8848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1097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3410-690C-1842-8C37-DC197B4D9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Functions: </a:t>
            </a:r>
            <a:r>
              <a:rPr lang="en-US" altLang="zh-CN" u="sng" dirty="0"/>
              <a:t>Write once, use it multiple times.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885F-344A-1743-9771-E50A4EFF5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should consider writing a function whenever you’ve copied and pasted a block of code </a:t>
            </a:r>
            <a:r>
              <a:rPr lang="en-US" u="sng" dirty="0"/>
              <a:t>more than twice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3951-4314-B24C-A9CF-B7F42C88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E6C2-B6A2-654E-A7BD-57488A4F1208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8C81D-8895-DB44-9715-366155D31DA3}"/>
              </a:ext>
            </a:extLst>
          </p:cNvPr>
          <p:cNvSpPr txBox="1"/>
          <p:nvPr/>
        </p:nvSpPr>
        <p:spPr>
          <a:xfrm>
            <a:off x="2438400" y="3309878"/>
            <a:ext cx="53340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kg_2_lb( 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weight_kg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HK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2.2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= kg_2_lb(57);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= kg_2_lb(49);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= kg_2_lb(74);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michelle_weight_lb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kg_2_lb(61);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C5D9C3-3A41-4CFC-BFB8-B9ECC810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730" y="3309879"/>
            <a:ext cx="430670" cy="28623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0EE98F2-0564-BBCC-9E93-13EDEF3C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319" y="3484418"/>
            <a:ext cx="2843702" cy="1078342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HK" sz="2000" i="1" dirty="0">
                <a:solidFill>
                  <a:schemeClr val="accent4">
                    <a:lumMod val="75000"/>
                  </a:schemeClr>
                </a:solidFill>
              </a:rPr>
              <a:t>Arguments</a:t>
            </a:r>
            <a:r>
              <a:rPr lang="en-US" altLang="zh-HK" sz="2000" dirty="0"/>
              <a:t> (inputs) can be passed to the function, to be discussed later.</a:t>
            </a:r>
            <a:endParaRPr lang="en-US" altLang="zh-HK" sz="2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Line 19">
            <a:extLst>
              <a:ext uri="{FF2B5EF4-FFF2-40B4-BE49-F238E27FC236}">
                <a16:creationId xmlns:a16="http://schemas.microsoft.com/office/drawing/2014/main" id="{E8C7E4DC-BC69-B371-7E4C-F18024AC5D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48399" y="3581400"/>
            <a:ext cx="1948919" cy="533400"/>
          </a:xfrm>
          <a:prstGeom prst="line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E60E0B-8AA8-C3AE-850C-AD46EA6FE4CF}"/>
                  </a:ext>
                </a:extLst>
              </p:cNvPr>
              <p:cNvSpPr txBox="1"/>
              <p:nvPr/>
            </p:nvSpPr>
            <p:spPr>
              <a:xfrm>
                <a:off x="1066800" y="2481206"/>
                <a:ext cx="2035126" cy="408623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𝑙𝑏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× 2.2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E60E0B-8AA8-C3AE-850C-AD46EA6FE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481206"/>
                <a:ext cx="2035126" cy="408623"/>
              </a:xfrm>
              <a:prstGeom prst="roundRect">
                <a:avLst/>
              </a:prstGeom>
              <a:blipFill>
                <a:blip r:embed="rId2"/>
                <a:stretch>
                  <a:fillRect l="-1775" r="-1775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D0B5DA-1E80-274F-BD90-715811FA9534}"/>
                  </a:ext>
                </a:extLst>
              </p:cNvPr>
              <p:cNvSpPr txBox="1"/>
              <p:nvPr/>
            </p:nvSpPr>
            <p:spPr>
              <a:xfrm>
                <a:off x="4870590" y="2481206"/>
                <a:ext cx="2530502" cy="408623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× 2.2046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D0B5DA-1E80-274F-BD90-715811FA9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590" y="2481206"/>
                <a:ext cx="2530502" cy="408623"/>
              </a:xfrm>
              <a:prstGeom prst="roundRect">
                <a:avLst/>
              </a:prstGeom>
              <a:blipFill>
                <a:blip r:embed="rId3"/>
                <a:stretch>
                  <a:fillRect l="-1671" r="-1671" b="-22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4B87907D-85CD-8FAA-1B4F-7C63A6FE4D15}"/>
              </a:ext>
            </a:extLst>
          </p:cNvPr>
          <p:cNvSpPr/>
          <p:nvPr/>
        </p:nvSpPr>
        <p:spPr>
          <a:xfrm rot="16200000">
            <a:off x="3860794" y="1823052"/>
            <a:ext cx="294663" cy="1724929"/>
          </a:xfrm>
          <a:prstGeom prst="downArrow">
            <a:avLst>
              <a:gd name="adj1" fmla="val 50000"/>
              <a:gd name="adj2" fmla="val 14368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5628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9BA10-0F27-4190-A326-D4862C3CBFA6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52400"/>
            <a:ext cx="8839200" cy="7620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2. Parameters</a:t>
            </a:r>
            <a:endParaRPr lang="zh-TW" altLang="en-US" dirty="0"/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143001"/>
            <a:ext cx="10515600" cy="4983165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Parameters are for passing data from a caller to a </a:t>
            </a:r>
            <a:r>
              <a:rPr lang="en-US" altLang="zh-TW" sz="2800" dirty="0" err="1"/>
              <a:t>callee</a:t>
            </a:r>
            <a:r>
              <a:rPr lang="en-US" altLang="zh-TW" sz="2800" dirty="0"/>
              <a:t>.</a:t>
            </a:r>
          </a:p>
          <a:p>
            <a:endParaRPr lang="en-US" altLang="zh-TW" sz="1400" dirty="0"/>
          </a:p>
          <a:p>
            <a:r>
              <a:rPr lang="en-US" altLang="zh-TW" sz="2800" dirty="0"/>
              <a:t>Proper use of parameters allows programmers to </a:t>
            </a:r>
            <a:r>
              <a:rPr lang="en-US" altLang="zh-TW" sz="2800" u="sng" dirty="0"/>
              <a:t>reuse code</a:t>
            </a:r>
            <a:r>
              <a:rPr lang="en-US" altLang="zh-TW" sz="2800" dirty="0"/>
              <a:t> for different data.</a:t>
            </a:r>
          </a:p>
          <a:p>
            <a:pPr lvl="1"/>
            <a:r>
              <a:rPr lang="en-US" altLang="zh-TW" sz="2400" dirty="0"/>
              <a:t>e.g., </a:t>
            </a:r>
            <a:r>
              <a:rPr lang="en-US" altLang="zh-TW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 dirty="0"/>
              <a:t> can be used to print many kinds of data in different formats.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91E73A-1417-3FC2-85B7-AD2354C56CA4}"/>
              </a:ext>
            </a:extLst>
          </p:cNvPr>
          <p:cNvSpPr txBox="1"/>
          <p:nvPr/>
        </p:nvSpPr>
        <p:spPr>
          <a:xfrm>
            <a:off x="3401194" y="3517825"/>
            <a:ext cx="5334000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kg_2_lb( 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weight_kg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HK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weight_kg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2.2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peter_weight_lb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= kg_2_lb(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57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mary_weight_lb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= kg_2_lb(</a:t>
            </a:r>
            <a:r>
              <a:rPr lang="en-US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49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michael_weight_lb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= kg_2_lb(</a:t>
            </a:r>
            <a:r>
              <a:rPr lang="en-US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michelle_weight_lb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kg_2_lb(</a:t>
            </a:r>
            <a:r>
              <a:rPr lang="en-US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61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136BC-EF99-FE11-809C-BEAB8E1C7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524" y="3517827"/>
            <a:ext cx="430670" cy="258532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urier New" panose="02070309020205020404" pitchFamily="49" charset="0"/>
              </a:rPr>
              <a:t>9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3EF9C01-9167-29FD-27D8-FAA09C118A89}"/>
              </a:ext>
            </a:extLst>
          </p:cNvPr>
          <p:cNvCxnSpPr>
            <a:cxnSpLocks/>
          </p:cNvCxnSpPr>
          <p:nvPr/>
        </p:nvCxnSpPr>
        <p:spPr>
          <a:xfrm rot="16200000" flipV="1">
            <a:off x="6359728" y="4064490"/>
            <a:ext cx="1219200" cy="430669"/>
          </a:xfrm>
          <a:prstGeom prst="bentConnector3">
            <a:avLst>
              <a:gd name="adj1" fmla="val 101316"/>
            </a:avLst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593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void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foo(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 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 {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+mn-cs"/>
              </a:rPr>
              <a:t>"%d\n"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, n);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main() {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x = 10;</a:t>
            </a:r>
          </a:p>
          <a:p>
            <a:pPr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 + 3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return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0;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2.1. Formal and Actual Parameters</a:t>
            </a:r>
            <a:endParaRPr lang="en-US" altLang="zh-TW" sz="4000" b="1" dirty="0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5867400" y="1143000"/>
            <a:ext cx="4610100" cy="2286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Variables for holding the values passed to a function are called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formal</a:t>
            </a:r>
            <a:r>
              <a:rPr lang="en-US" altLang="zh-TW" sz="2400" b="0" dirty="0">
                <a:solidFill>
                  <a:srgbClr val="0000FF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parameters</a:t>
            </a:r>
            <a:r>
              <a:rPr lang="en-US" altLang="zh-TW" sz="2400" b="0" i="1" dirty="0">
                <a:latin typeface="Calibri" panose="020F0502020204030204" pitchFamily="34" charset="0"/>
              </a:rPr>
              <a:t>. </a:t>
            </a:r>
          </a:p>
          <a:p>
            <a:endParaRPr lang="en-US" altLang="zh-TW" sz="2400" b="0" dirty="0">
              <a:latin typeface="Calibri" panose="020F0502020204030204" pitchFamily="34" charset="0"/>
            </a:endParaRPr>
          </a:p>
          <a:p>
            <a:r>
              <a:rPr lang="en-US" altLang="zh-TW" sz="2400" b="0" dirty="0">
                <a:latin typeface="Calibri" panose="020F0502020204030204" pitchFamily="34" charset="0"/>
              </a:rPr>
              <a:t>They have </a:t>
            </a:r>
            <a:r>
              <a:rPr lang="en-US" altLang="zh-TW" sz="2400" b="0" u="sng" dirty="0">
                <a:latin typeface="Calibri" panose="020F0502020204030204" pitchFamily="34" charset="0"/>
              </a:rPr>
              <a:t>local</a:t>
            </a:r>
            <a:r>
              <a:rPr lang="en-US" altLang="zh-TW" sz="2400" b="0" dirty="0">
                <a:latin typeface="Calibri" panose="020F0502020204030204" pitchFamily="34" charset="0"/>
              </a:rPr>
              <a:t> scope in the function. 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5867400" y="4114800"/>
            <a:ext cx="4610100" cy="13716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The expressions specified in the function calls are called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actual parameters</a:t>
            </a:r>
            <a:r>
              <a:rPr lang="en-US" altLang="zh-TW" sz="2400" b="0" dirty="0">
                <a:latin typeface="Calibri" panose="020F0502020204030204" pitchFamily="34" charset="0"/>
              </a:rPr>
              <a:t> or </a:t>
            </a:r>
            <a:r>
              <a:rPr lang="en-US" altLang="zh-TW" sz="2400" b="0" i="1" dirty="0">
                <a:solidFill>
                  <a:srgbClr val="0000FF"/>
                </a:solidFill>
                <a:latin typeface="Calibri" panose="020F0502020204030204" pitchFamily="34" charset="0"/>
              </a:rPr>
              <a:t>arguments</a:t>
            </a:r>
            <a:r>
              <a:rPr lang="en-US" altLang="zh-TW" sz="2400" b="0" dirty="0"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314700" y="1702078"/>
            <a:ext cx="838200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3048000" y="4016653"/>
            <a:ext cx="419100" cy="3693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3048000" y="4378603"/>
            <a:ext cx="419100" cy="3693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3048000" y="4740553"/>
            <a:ext cx="1104900" cy="3693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 flipH="1" flipV="1">
            <a:off x="4305300" y="2019300"/>
            <a:ext cx="156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 flipH="1" flipV="1">
            <a:off x="3619500" y="4152900"/>
            <a:ext cx="22479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 flipH="1">
            <a:off x="3771900" y="4381500"/>
            <a:ext cx="20955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 flipH="1">
            <a:off x="4152900" y="4381500"/>
            <a:ext cx="1714500" cy="36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4661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void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foo(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 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 {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</a:t>
            </a:r>
            <a:r>
              <a:rPr lang="en-US" altLang="zh-TW" sz="2000" b="0" dirty="0" err="1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printf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+mn-cs"/>
              </a:rPr>
              <a:t>"%d\n"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, n);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main() {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int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x = 10;</a:t>
            </a:r>
          </a:p>
          <a:p>
            <a:pPr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foo(</a:t>
            </a:r>
            <a:r>
              <a:rPr lang="en-US" altLang="zh-TW" sz="2000" b="0" dirty="0">
                <a:solidFill>
                  <a:srgbClr val="800080"/>
                </a:solidFill>
                <a:latin typeface="Consolas" panose="020B0609020204030204" pitchFamily="49" charset="0"/>
                <a:cs typeface="+mn-cs"/>
              </a:rPr>
              <a:t>x + 3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);</a:t>
            </a:r>
          </a:p>
          <a:p>
            <a:pPr defTabSz="914400" eaLnBrk="1" hangingPunct="1">
              <a:lnSpc>
                <a:spcPct val="110000"/>
              </a:lnSpc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cs typeface="+mn-cs"/>
            </a:endParaRP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+mn-cs"/>
              </a:rPr>
              <a:t>return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 0;</a:t>
            </a:r>
          </a:p>
          <a:p>
            <a:pPr defTabSz="914400" eaLnBrk="1" hangingPunct="1">
              <a:lnSpc>
                <a:spcPct val="110000"/>
              </a:lnSpc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2.2. How values are passed to a function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6340916" y="1143000"/>
            <a:ext cx="4108350" cy="1079476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dirty="0">
                <a:latin typeface="Consolas" panose="020B0609020204030204" pitchFamily="49" charset="0"/>
              </a:rPr>
              <a:t>3</a:t>
            </a:r>
          </a:p>
          <a:p>
            <a:pPr eaLnBrk="1" hangingPunct="1"/>
            <a:r>
              <a:rPr lang="en-US" altLang="zh-TW" sz="2000" dirty="0">
                <a:latin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dirty="0">
                <a:latin typeface="Consolas" panose="020B0609020204030204" pitchFamily="49" charset="0"/>
              </a:rPr>
              <a:t>13    </a:t>
            </a:r>
          </a:p>
        </p:txBody>
      </p:sp>
      <p:sp>
        <p:nvSpPr>
          <p:cNvPr id="28" name="Freeform 6"/>
          <p:cNvSpPr>
            <a:spLocks/>
          </p:cNvSpPr>
          <p:nvPr/>
        </p:nvSpPr>
        <p:spPr bwMode="auto">
          <a:xfrm>
            <a:off x="3580726" y="2007136"/>
            <a:ext cx="1264976" cy="2183864"/>
          </a:xfrm>
          <a:custGeom>
            <a:avLst/>
            <a:gdLst>
              <a:gd name="T0" fmla="*/ 0 w 944"/>
              <a:gd name="T1" fmla="*/ 1728 h 1728"/>
              <a:gd name="T2" fmla="*/ 864 w 944"/>
              <a:gd name="T3" fmla="*/ 576 h 1728"/>
              <a:gd name="T4" fmla="*/ 480 w 944"/>
              <a:gd name="T5" fmla="*/ 0 h 1728"/>
              <a:gd name="T6" fmla="*/ 0 60000 65536"/>
              <a:gd name="T7" fmla="*/ 0 60000 65536"/>
              <a:gd name="T8" fmla="*/ 0 60000 65536"/>
              <a:gd name="T9" fmla="*/ 0 w 944"/>
              <a:gd name="T10" fmla="*/ 0 h 1728"/>
              <a:gd name="T11" fmla="*/ 944 w 944"/>
              <a:gd name="T12" fmla="*/ 1728 h 17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44" h="1728">
                <a:moveTo>
                  <a:pt x="0" y="1728"/>
                </a:moveTo>
                <a:cubicBezTo>
                  <a:pt x="392" y="1296"/>
                  <a:pt x="784" y="864"/>
                  <a:pt x="864" y="576"/>
                </a:cubicBezTo>
                <a:cubicBezTo>
                  <a:pt x="944" y="288"/>
                  <a:pt x="712" y="144"/>
                  <a:pt x="480" y="0"/>
                </a:cubicBezTo>
              </a:path>
            </a:pathLst>
          </a:custGeom>
          <a:noFill/>
          <a:ln w="25400" cap="flat" cmpd="sng">
            <a:solidFill>
              <a:schemeClr val="folHlink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4688930" y="2685812"/>
            <a:ext cx="6960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solidFill>
                  <a:schemeClr val="folHlink"/>
                </a:solidFill>
                <a:latin typeface="Calibri" panose="020F0502020204030204" pitchFamily="34" charset="0"/>
              </a:rPr>
              <a:t>n = 3</a:t>
            </a:r>
          </a:p>
        </p:txBody>
      </p:sp>
      <p:sp>
        <p:nvSpPr>
          <p:cNvPr id="30" name="Freeform 8"/>
          <p:cNvSpPr>
            <a:spLocks/>
          </p:cNvSpPr>
          <p:nvPr/>
        </p:nvSpPr>
        <p:spPr bwMode="auto">
          <a:xfrm>
            <a:off x="3580725" y="1919288"/>
            <a:ext cx="2775624" cy="2576512"/>
          </a:xfrm>
          <a:custGeom>
            <a:avLst/>
            <a:gdLst>
              <a:gd name="T0" fmla="*/ 0 w 1624"/>
              <a:gd name="T1" fmla="*/ 2448 h 2448"/>
              <a:gd name="T2" fmla="*/ 1344 w 1624"/>
              <a:gd name="T3" fmla="*/ 1392 h 2448"/>
              <a:gd name="T4" fmla="*/ 1488 w 1624"/>
              <a:gd name="T5" fmla="*/ 672 h 2448"/>
              <a:gd name="T6" fmla="*/ 528 w 1624"/>
              <a:gd name="T7" fmla="*/ 0 h 2448"/>
              <a:gd name="T8" fmla="*/ 0 60000 65536"/>
              <a:gd name="T9" fmla="*/ 0 60000 65536"/>
              <a:gd name="T10" fmla="*/ 0 60000 65536"/>
              <a:gd name="T11" fmla="*/ 0 60000 65536"/>
              <a:gd name="T12" fmla="*/ 0 w 1624"/>
              <a:gd name="T13" fmla="*/ 0 h 2448"/>
              <a:gd name="T14" fmla="*/ 1624 w 1624"/>
              <a:gd name="T15" fmla="*/ 2448 h 24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4" h="2448">
                <a:moveTo>
                  <a:pt x="0" y="2448"/>
                </a:moveTo>
                <a:cubicBezTo>
                  <a:pt x="548" y="2068"/>
                  <a:pt x="1096" y="1688"/>
                  <a:pt x="1344" y="1392"/>
                </a:cubicBezTo>
                <a:cubicBezTo>
                  <a:pt x="1592" y="1096"/>
                  <a:pt x="1624" y="904"/>
                  <a:pt x="1488" y="672"/>
                </a:cubicBezTo>
                <a:cubicBezTo>
                  <a:pt x="1352" y="440"/>
                  <a:pt x="940" y="220"/>
                  <a:pt x="528" y="0"/>
                </a:cubicBezTo>
              </a:path>
            </a:pathLst>
          </a:custGeom>
          <a:noFill/>
          <a:ln w="25400" cap="flat" cmpd="sng">
            <a:solidFill>
              <a:srgbClr val="00B05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6171725" y="2890266"/>
            <a:ext cx="825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solidFill>
                  <a:srgbClr val="00B050"/>
                </a:solidFill>
                <a:latin typeface="Calibri" panose="020F0502020204030204" pitchFamily="34" charset="0"/>
              </a:rPr>
              <a:t>n = 10</a:t>
            </a:r>
          </a:p>
        </p:txBody>
      </p:sp>
      <p:sp>
        <p:nvSpPr>
          <p:cNvPr id="32" name="Freeform 11"/>
          <p:cNvSpPr>
            <a:spLocks/>
          </p:cNvSpPr>
          <p:nvPr/>
        </p:nvSpPr>
        <p:spPr bwMode="auto">
          <a:xfrm>
            <a:off x="4191000" y="1837068"/>
            <a:ext cx="3106592" cy="3039732"/>
          </a:xfrm>
          <a:custGeom>
            <a:avLst/>
            <a:gdLst>
              <a:gd name="T0" fmla="*/ 0 w 1624"/>
              <a:gd name="T1" fmla="*/ 2448 h 2448"/>
              <a:gd name="T2" fmla="*/ 1344 w 1624"/>
              <a:gd name="T3" fmla="*/ 1392 h 2448"/>
              <a:gd name="T4" fmla="*/ 1488 w 1624"/>
              <a:gd name="T5" fmla="*/ 672 h 2448"/>
              <a:gd name="T6" fmla="*/ 528 w 1624"/>
              <a:gd name="T7" fmla="*/ 0 h 2448"/>
              <a:gd name="T8" fmla="*/ 0 60000 65536"/>
              <a:gd name="T9" fmla="*/ 0 60000 65536"/>
              <a:gd name="T10" fmla="*/ 0 60000 65536"/>
              <a:gd name="T11" fmla="*/ 0 60000 65536"/>
              <a:gd name="T12" fmla="*/ 0 w 1624"/>
              <a:gd name="T13" fmla="*/ 0 h 2448"/>
              <a:gd name="T14" fmla="*/ 1624 w 1624"/>
              <a:gd name="T15" fmla="*/ 2448 h 24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4" h="2448">
                <a:moveTo>
                  <a:pt x="0" y="2448"/>
                </a:moveTo>
                <a:cubicBezTo>
                  <a:pt x="548" y="2068"/>
                  <a:pt x="1096" y="1688"/>
                  <a:pt x="1344" y="1392"/>
                </a:cubicBezTo>
                <a:cubicBezTo>
                  <a:pt x="1592" y="1096"/>
                  <a:pt x="1624" y="904"/>
                  <a:pt x="1488" y="672"/>
                </a:cubicBezTo>
                <a:cubicBezTo>
                  <a:pt x="1352" y="440"/>
                  <a:pt x="940" y="220"/>
                  <a:pt x="528" y="0"/>
                </a:cubicBezTo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7081999" y="2485757"/>
            <a:ext cx="825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solidFill>
                  <a:srgbClr val="0000FF"/>
                </a:solidFill>
                <a:latin typeface="Calibri" panose="020F0502020204030204" pitchFamily="34" charset="0"/>
              </a:rPr>
              <a:t>n = 13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5581650" y="4419601"/>
            <a:ext cx="5021480" cy="1580381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When a caller calls a function with parameters, the </a:t>
            </a:r>
            <a:r>
              <a:rPr lang="en-US" altLang="zh-TW" sz="2400" u="sng" dirty="0">
                <a:solidFill>
                  <a:srgbClr val="0070C0"/>
                </a:solidFill>
                <a:latin typeface="Calibri" panose="020F0502020204030204" pitchFamily="34" charset="0"/>
              </a:rPr>
              <a:t>values</a:t>
            </a:r>
            <a:r>
              <a:rPr lang="en-US" altLang="zh-TW" sz="2400" b="0" dirty="0">
                <a:latin typeface="Calibri" panose="020F0502020204030204" pitchFamily="34" charset="0"/>
              </a:rPr>
              <a:t> of the arguments are </a:t>
            </a:r>
            <a:r>
              <a:rPr lang="en-US" altLang="zh-TW" sz="2400" u="sng" dirty="0">
                <a:latin typeface="Calibri" panose="020F0502020204030204" pitchFamily="34" charset="0"/>
              </a:rPr>
              <a:t>copied</a:t>
            </a:r>
            <a:r>
              <a:rPr lang="en-US" altLang="zh-TW" sz="2400" b="0" dirty="0">
                <a:latin typeface="Calibri" panose="020F0502020204030204" pitchFamily="34" charset="0"/>
              </a:rPr>
              <a:t> to the formal parameters. </a:t>
            </a:r>
          </a:p>
        </p:txBody>
      </p:sp>
    </p:spTree>
    <p:extLst>
      <p:ext uri="{BB962C8B-B14F-4D97-AF65-F5344CB8AC3E}">
        <p14:creationId xmlns:p14="http://schemas.microsoft.com/office/powerpoint/2010/main" val="3856598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0" grpId="0" animBg="1"/>
      <p:bldP spid="31" grpId="0"/>
      <p:bldP spid="32" grpId="0" animBg="1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669EB-ECBD-412B-97CF-4A8181BACFC5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91600" cy="838200"/>
          </a:xfrm>
        </p:spPr>
        <p:txBody>
          <a:bodyPr>
            <a:noAutofit/>
          </a:bodyPr>
          <a:lstStyle/>
          <a:p>
            <a:pPr algn="l"/>
            <a:r>
              <a:rPr lang="en-US" altLang="zh-TW" sz="3600" dirty="0"/>
              <a:t>2.3. Defining a function with parameters </a:t>
            </a:r>
            <a:r>
              <a:rPr lang="en-US" altLang="zh-TW" sz="3200" dirty="0"/>
              <a:t>(</a:t>
            </a:r>
            <a:r>
              <a:rPr lang="en-US" altLang="zh-TW" sz="3200" i="1" dirty="0"/>
              <a:t>Syntax</a:t>
            </a:r>
            <a:r>
              <a:rPr lang="en-US" altLang="zh-TW" sz="3200" dirty="0"/>
              <a:t>)</a:t>
            </a:r>
            <a:endParaRPr lang="en-US" altLang="zh-TW" sz="3600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39937" y="1219200"/>
            <a:ext cx="8229600" cy="18288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void </a:t>
            </a:r>
            <a:r>
              <a:rPr lang="en-US" altLang="zh-TW" sz="2400" dirty="0" err="1">
                <a:latin typeface="Consolas" panose="020B0609020204030204" pitchFamily="49" charset="0"/>
              </a:rPr>
              <a:t>function_name</a:t>
            </a:r>
            <a:r>
              <a:rPr lang="en-US" altLang="zh-TW" sz="2400" dirty="0">
                <a:latin typeface="Consolas" panose="020B0609020204030204" pitchFamily="49" charset="0"/>
              </a:rPr>
              <a:t>( </a:t>
            </a:r>
            <a:r>
              <a:rPr lang="en-US" altLang="zh-TW" sz="2800" dirty="0" err="1">
                <a:solidFill>
                  <a:schemeClr val="folHlink"/>
                </a:solidFill>
                <a:latin typeface="Consolas" panose="020B0609020204030204" pitchFamily="49" charset="0"/>
              </a:rPr>
              <a:t>parameter_list</a:t>
            </a:r>
            <a:r>
              <a:rPr lang="en-US" altLang="zh-TW" sz="2800" dirty="0">
                <a:solidFill>
                  <a:schemeClr val="folHlink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dirty="0">
                <a:latin typeface="Consolas" panose="020B0609020204030204" pitchFamily="49" charset="0"/>
              </a:rPr>
              <a:t>) {</a:t>
            </a:r>
          </a:p>
          <a:p>
            <a:pPr>
              <a:buFont typeface="Wingdings" pitchFamily="2" charset="2"/>
              <a:buNone/>
            </a:pPr>
            <a:br>
              <a:rPr lang="en-US" altLang="zh-TW" sz="2400" dirty="0">
                <a:latin typeface="Consolas" panose="020B0609020204030204" pitchFamily="49" charset="0"/>
              </a:rPr>
            </a:br>
            <a:r>
              <a:rPr lang="en-US" altLang="zh-TW" sz="2400" dirty="0">
                <a:latin typeface="Consolas" panose="020B0609020204030204" pitchFamily="49" charset="0"/>
              </a:rPr>
              <a:t>  // declarations and statements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2057400" y="3276600"/>
            <a:ext cx="830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6125" indent="-288925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800" b="0" dirty="0" err="1">
                <a:solidFill>
                  <a:schemeClr val="folHlink"/>
                </a:solidFill>
                <a:latin typeface="Consolas" panose="020B0609020204030204" pitchFamily="49" charset="0"/>
              </a:rPr>
              <a:t>parameter_list</a:t>
            </a:r>
            <a:endParaRPr lang="en-US" altLang="zh-TW" sz="2800" b="0" dirty="0">
              <a:solidFill>
                <a:schemeClr val="folHlink"/>
              </a:solidFill>
              <a:latin typeface="Consolas" panose="020B0609020204030204" pitchFamily="49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Calibri" panose="020F0502020204030204" pitchFamily="34" charset="0"/>
              </a:rPr>
              <a:t>Zero or more parameters</a:t>
            </a:r>
            <a:r>
              <a:rPr lang="en-US" altLang="zh-TW" sz="2400" b="0" i="1" dirty="0">
                <a:latin typeface="Calibri" panose="020F0502020204030204" pitchFamily="34" charset="0"/>
              </a:rPr>
              <a:t> </a:t>
            </a:r>
            <a:r>
              <a:rPr lang="en-US" altLang="zh-TW" sz="2400" b="0" dirty="0">
                <a:latin typeface="Calibri" panose="020F0502020204030204" pitchFamily="34" charset="0"/>
              </a:rPr>
              <a:t>separated by comma in the form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b="0" dirty="0">
                <a:latin typeface="Calibri" panose="020F0502020204030204" pitchFamily="34" charset="0"/>
              </a:rPr>
              <a:t>	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 param</a:t>
            </a:r>
            <a:r>
              <a:rPr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type</a:t>
            </a:r>
            <a:r>
              <a:rPr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 param</a:t>
            </a:r>
            <a:r>
              <a:rPr lang="en-US" altLang="zh-TW" sz="2400" b="0" baseline="-25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…, </a:t>
            </a:r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400" b="0" baseline="-25000" dirty="0" err="1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param</a:t>
            </a:r>
            <a:r>
              <a:rPr lang="en-US" altLang="zh-TW" sz="2400" b="0" baseline="-25000" dirty="0" err="1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endParaRPr lang="en-US" altLang="zh-TW" sz="2400" b="0" baseline="-25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endParaRPr lang="en-US" altLang="zh-TW" sz="2400" b="0" baseline="-25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endParaRPr lang="en-US" altLang="zh-TW" sz="2400" b="0" baseline="-25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b="0" dirty="0">
                <a:latin typeface="Calibri" panose="020F0502020204030204" pitchFamily="34" charset="0"/>
              </a:rPr>
              <a:t>E.g.,   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 panose="020B0609020204030204" pitchFamily="49" charset="0"/>
              </a:rPr>
              <a:t> x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b="0" dirty="0">
                <a:latin typeface="Consolas" panose="020B0609020204030204" pitchFamily="49" charset="0"/>
              </a:rPr>
              <a:t>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 panose="020B0609020204030204" pitchFamily="49" charset="0"/>
              </a:rPr>
              <a:t> y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double </a:t>
            </a:r>
            <a:r>
              <a:rPr lang="en-US" altLang="zh-TW" sz="2400" b="0" dirty="0">
                <a:latin typeface="Consolas" panose="020B0609020204030204" pitchFamily="49" charset="0"/>
              </a:rPr>
              <a:t>z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char </a:t>
            </a:r>
            <a:r>
              <a:rPr lang="en-US" altLang="zh-TW" sz="2400" b="0" dirty="0">
                <a:latin typeface="Consolas" panose="020B0609020204030204" pitchFamily="49" charset="0"/>
              </a:rPr>
              <a:t>c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, … …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endParaRPr lang="en-US" altLang="zh-TW" sz="2400" b="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772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4A17-F376-4619-BF9F-B5B4F8A1EBED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1976439" y="990600"/>
            <a:ext cx="8605837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void foo(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x,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y</a:t>
            </a:r>
            <a:r>
              <a:rPr lang="en-US" altLang="zh-TW" sz="2000" b="0" dirty="0">
                <a:latin typeface="Consolas" panose="020B0609020204030204" pitchFamily="49" charset="0"/>
              </a:rPr>
              <a:t>) {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Correct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x, y);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1519238" y="990600"/>
            <a:ext cx="461963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7413" name="Rectangle 17"/>
          <p:cNvSpPr>
            <a:spLocks noGrp="1" noChangeArrowheads="1"/>
          </p:cNvSpPr>
          <p:nvPr>
            <p:ph type="body" idx="4294967295"/>
          </p:nvPr>
        </p:nvSpPr>
        <p:spPr>
          <a:xfrm>
            <a:off x="1662114" y="3733800"/>
            <a:ext cx="8726487" cy="2227262"/>
          </a:xfrm>
          <a:noFill/>
        </p:spPr>
        <p:txBody>
          <a:bodyPr>
            <a:normAutofit/>
          </a:bodyPr>
          <a:lstStyle/>
          <a:p>
            <a:r>
              <a:rPr lang="en-US" altLang="zh-TW" sz="2800" dirty="0">
                <a:cs typeface="Times New Roman" pitchFamily="18" charset="0"/>
              </a:rPr>
              <a:t>We need to clearly specify the </a:t>
            </a:r>
            <a:r>
              <a:rPr lang="en-US" altLang="zh-TW" sz="2800" b="1" u="sng" dirty="0">
                <a:cs typeface="Times New Roman" pitchFamily="18" charset="0"/>
              </a:rPr>
              <a:t>data type for every parameter</a:t>
            </a:r>
            <a:r>
              <a:rPr lang="en-US" altLang="zh-TW" sz="2800" dirty="0">
                <a:cs typeface="Times New Roman" pitchFamily="18" charset="0"/>
              </a:rPr>
              <a:t> even if multiple parameters are of the same type.</a:t>
            </a:r>
            <a:endParaRPr lang="en-US" altLang="zh-TW" sz="2400" dirty="0">
              <a:cs typeface="Times New Roman" pitchFamily="18" charset="0"/>
            </a:endParaRPr>
          </a:p>
        </p:txBody>
      </p:sp>
      <p:sp>
        <p:nvSpPr>
          <p:cNvPr id="17414" name="Rectangle 19"/>
          <p:cNvSpPr>
            <a:spLocks noChangeArrowheads="1"/>
          </p:cNvSpPr>
          <p:nvPr/>
        </p:nvSpPr>
        <p:spPr bwMode="auto">
          <a:xfrm>
            <a:off x="1981200" y="2362200"/>
            <a:ext cx="8605838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void foo(</a:t>
            </a:r>
            <a:r>
              <a:rPr lang="en-US" altLang="zh-TW" sz="2000" dirty="0" err="1">
                <a:solidFill>
                  <a:srgbClr val="FF330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</a:rPr>
              <a:t> x, y</a:t>
            </a:r>
            <a:r>
              <a:rPr lang="en-US" altLang="zh-TW" sz="2000" b="0" dirty="0">
                <a:latin typeface="Consolas" panose="020B0609020204030204" pitchFamily="49" charset="0"/>
              </a:rPr>
              <a:t>) {     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/* Incorrect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x, y);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415" name="Rectangle 20"/>
          <p:cNvSpPr>
            <a:spLocks noChangeArrowheads="1"/>
          </p:cNvSpPr>
          <p:nvPr/>
        </p:nvSpPr>
        <p:spPr bwMode="auto">
          <a:xfrm>
            <a:off x="1524001" y="2362200"/>
            <a:ext cx="461963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594338" y="76200"/>
            <a:ext cx="8987938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2.3. </a:t>
            </a:r>
            <a:r>
              <a:rPr lang="en-US" altLang="zh-TW" sz="4000" dirty="0"/>
              <a:t>parameters </a:t>
            </a:r>
            <a:r>
              <a:rPr lang="en-US" altLang="zh-TW" sz="3600" dirty="0"/>
              <a:t>(</a:t>
            </a:r>
            <a:r>
              <a:rPr lang="en-US" altLang="zh-TW" sz="3600" i="1" dirty="0"/>
              <a:t>Syntax</a:t>
            </a:r>
            <a:r>
              <a:rPr lang="en-US" altLang="zh-TW" sz="3600" dirty="0"/>
              <a:t>) </a:t>
            </a:r>
            <a:r>
              <a:rPr lang="en-US" sz="4000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1322589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7CE83-8552-455A-ABAA-D553F99CF1BA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2031438" y="990599"/>
            <a:ext cx="8645525" cy="3477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foo(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x,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“x=%d y=%d\n"</a:t>
            </a:r>
            <a:r>
              <a:rPr lang="en-US" altLang="zh-TW" sz="2000" b="0" dirty="0">
                <a:latin typeface="Consolas" panose="020B0609020204030204" pitchFamily="49" charset="0"/>
              </a:rPr>
              <a:t>, x, y);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x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</a:rPr>
              <a:t>, 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foo(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foo(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y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66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534550" y="990600"/>
            <a:ext cx="496887" cy="3477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440334" name="Rectangle 14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5014915"/>
            <a:ext cx="9677400" cy="1524000"/>
          </a:xfrm>
          <a:noFill/>
        </p:spPr>
        <p:txBody>
          <a:bodyPr/>
          <a:lstStyle/>
          <a:p>
            <a:r>
              <a:rPr lang="en-US" altLang="zh-TW" sz="2800" u="sng" dirty="0"/>
              <a:t>Arguments and formal parameters are matched by</a:t>
            </a:r>
            <a:r>
              <a:rPr lang="en-US" altLang="zh-TW" sz="2800" dirty="0"/>
              <a:t> </a:t>
            </a:r>
            <a:r>
              <a:rPr lang="en-US" altLang="zh-TW" sz="2800" u="sng" dirty="0"/>
              <a:t>position</a:t>
            </a:r>
            <a:r>
              <a:rPr lang="en-US" altLang="zh-TW" sz="2800" dirty="0"/>
              <a:t> (not by names and not by types).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2.4. Parameters are matched by position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7315200" y="3657600"/>
            <a:ext cx="3200400" cy="457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What is the output?</a:t>
            </a:r>
            <a:endParaRPr lang="en-US" altLang="zh-TW" sz="1600" b="0" dirty="0">
              <a:latin typeface="Calibri" panose="020F050202020403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96276" y="2254248"/>
            <a:ext cx="2219325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dirty="0">
                <a:latin typeface="Consolas" panose="020B0609020204030204" pitchFamily="49" charset="0"/>
              </a:rPr>
              <a:t>x=3 y=2</a:t>
            </a:r>
          </a:p>
          <a:p>
            <a:r>
              <a:rPr lang="en-US" altLang="zh-TW" sz="2800" dirty="0">
                <a:latin typeface="Consolas" panose="020B0609020204030204" pitchFamily="49" charset="0"/>
              </a:rPr>
              <a:t>x=2 y=3</a:t>
            </a:r>
          </a:p>
        </p:txBody>
      </p:sp>
    </p:spTree>
    <p:extLst>
      <p:ext uri="{BB962C8B-B14F-4D97-AF65-F5344CB8AC3E}">
        <p14:creationId xmlns:p14="http://schemas.microsoft.com/office/powerpoint/2010/main" val="398038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2" y="1075457"/>
            <a:ext cx="11623432" cy="1605479"/>
          </a:xfrm>
        </p:spPr>
        <p:txBody>
          <a:bodyPr>
            <a:normAutofit/>
          </a:bodyPr>
          <a:lstStyle/>
          <a:p>
            <a:r>
              <a:rPr lang="en-US" sz="4000" dirty="0"/>
              <a:t>Design and implement a function that can be used to </a:t>
            </a:r>
          </a:p>
          <a:p>
            <a:pPr marL="0" indent="0">
              <a:buNone/>
            </a:pPr>
            <a:r>
              <a:rPr lang="en-US" sz="4000" dirty="0"/>
              <a:t>print any character </a:t>
            </a:r>
            <a:r>
              <a:rPr lang="en-US" sz="4000" b="1" dirty="0"/>
              <a:t>n</a:t>
            </a:r>
            <a:r>
              <a:rPr lang="en-US" sz="4000" dirty="0"/>
              <a:t>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2.5.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2C12D-190F-FC35-7A56-3CD39A21CEAB}"/>
              </a:ext>
            </a:extLst>
          </p:cNvPr>
          <p:cNvSpPr txBox="1"/>
          <p:nvPr/>
        </p:nvSpPr>
        <p:spPr>
          <a:xfrm>
            <a:off x="2438400" y="2680936"/>
            <a:ext cx="716280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800" b="0" dirty="0">
                <a:latin typeface="Consolas" panose="020B0609020204030204" pitchFamily="49" charset="0"/>
              </a:rPr>
              <a:t> </a:t>
            </a:r>
            <a:r>
              <a:rPr lang="en-US" altLang="zh-TW" sz="28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800" b="0" dirty="0">
                <a:latin typeface="Consolas" panose="020B0609020204030204" pitchFamily="49" charset="0"/>
              </a:rPr>
              <a:t>(</a:t>
            </a: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zh-TW" sz="2800" b="0" dirty="0">
                <a:latin typeface="Consolas" panose="020B0609020204030204" pitchFamily="49" charset="0"/>
              </a:rPr>
              <a:t>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</a:rPr>
              <a:t>     ……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AEA16-0198-1A0A-D318-D5F19B5041DF}"/>
              </a:ext>
            </a:extLst>
          </p:cNvPr>
          <p:cNvSpPr txBox="1"/>
          <p:nvPr/>
        </p:nvSpPr>
        <p:spPr>
          <a:xfrm>
            <a:off x="5767939" y="2680936"/>
            <a:ext cx="3047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n,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char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ch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A5FE9-A9FE-F7EC-D766-DCE81E13C895}"/>
              </a:ext>
            </a:extLst>
          </p:cNvPr>
          <p:cNvSpPr txBox="1"/>
          <p:nvPr/>
        </p:nvSpPr>
        <p:spPr>
          <a:xfrm>
            <a:off x="5690402" y="2705299"/>
            <a:ext cx="3047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???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2197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23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985962" y="990600"/>
            <a:ext cx="8682038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A function that prints the character, 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, n times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n,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0;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n;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"%c"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'#'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  Hello World!\n"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'*'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528762" y="990600"/>
            <a:ext cx="461962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2.5. Example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64CBEAB-8727-9AF3-C5FB-CA80AB86E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4419600"/>
            <a:ext cx="3962400" cy="1066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</a:rPr>
              <a:t>#################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Hello World!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*****************    </a:t>
            </a:r>
          </a:p>
        </p:txBody>
      </p:sp>
    </p:spTree>
    <p:extLst>
      <p:ext uri="{BB962C8B-B14F-4D97-AF65-F5344CB8AC3E}">
        <p14:creationId xmlns:p14="http://schemas.microsoft.com/office/powerpoint/2010/main" val="3616428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985962" y="990600"/>
            <a:ext cx="8682038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A function that prints the character, </a:t>
            </a:r>
            <a:r>
              <a:rPr lang="en-US" altLang="zh-TW" sz="2000" b="0" dirty="0" err="1">
                <a:solidFill>
                  <a:srgbClr val="008000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, n times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n,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= 0;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 &lt; n; </a:t>
            </a:r>
            <a:r>
              <a:rPr lang="en-US" altLang="zh-TW" sz="2000" b="0" dirty="0" err="1">
                <a:latin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"%c"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 err="1">
                <a:latin typeface="Consolas" panose="020B0609020204030204" pitchFamily="49" charset="0"/>
              </a:rPr>
              <a:t>ch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'#'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  Hello World!\n"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printChars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17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'*'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528762" y="990600"/>
            <a:ext cx="461962" cy="5105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2.5. Example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254868" y="1402841"/>
            <a:ext cx="688733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4655920" y="4393898"/>
            <a:ext cx="525681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 flipH="1" flipV="1">
            <a:off x="5254867" y="4393898"/>
            <a:ext cx="12983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4691762" y="2753109"/>
            <a:ext cx="718439" cy="44729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205391" y="2386953"/>
            <a:ext cx="450529" cy="366156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553200" y="4339176"/>
            <a:ext cx="3886201" cy="1299625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alibri" panose="020F0502020204030204" pitchFamily="34" charset="0"/>
              </a:rPr>
              <a:t>Character constant is enclosed by a pair of single quotes (</a:t>
            </a:r>
            <a:r>
              <a:rPr lang="en-US" altLang="zh-TW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zh-TW" sz="2400" b="0" dirty="0">
                <a:latin typeface="Calibri" panose="020F0502020204030204" pitchFamily="34" charset="0"/>
              </a:rPr>
              <a:t>).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71ECF2F-E78C-9D68-85E4-525FE2515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2057401"/>
            <a:ext cx="4276725" cy="91651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</a:rPr>
              <a:t>#################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Hello World!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*****************    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5410200" y="3085044"/>
            <a:ext cx="3733800" cy="916513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%c</a:t>
            </a:r>
            <a:r>
              <a:rPr lang="en-US" altLang="zh-TW" sz="2400" b="0" dirty="0">
                <a:latin typeface="Calibri" panose="020F0502020204030204" pitchFamily="34" charset="0"/>
              </a:rPr>
              <a:t> is the format specifier for printing character.</a:t>
            </a:r>
          </a:p>
        </p:txBody>
      </p:sp>
    </p:spTree>
    <p:extLst>
      <p:ext uri="{BB962C8B-B14F-4D97-AF65-F5344CB8AC3E}">
        <p14:creationId xmlns:p14="http://schemas.microsoft.com/office/powerpoint/2010/main" val="1188601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971B-6557-4C72-73FE-8A83F7E4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0619E6-7B6C-CD8D-1D67-D7C95547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25</a:t>
            </a:fld>
            <a:endParaRPr lang="en-US" altLang="zh-TW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903D198-0F75-B856-310F-709BA35D5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53FFF903-5A41-F421-4C64-7EBC00179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/>
              <a:t>Basic Concepts</a:t>
            </a:r>
          </a:p>
          <a:p>
            <a:pPr marL="838200" lvl="1" indent="-381000"/>
            <a:r>
              <a:rPr lang="en-US" altLang="zh-TW" b="1" u="sng" dirty="0"/>
              <a:t>trace</a:t>
            </a:r>
            <a:r>
              <a:rPr lang="en-US" altLang="zh-TW" dirty="0"/>
              <a:t> a function call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/>
              <a:t>Defining a function with parameters</a:t>
            </a:r>
          </a:p>
          <a:p>
            <a:pPr marL="838200" lvl="1" indent="-381000"/>
            <a:r>
              <a:rPr lang="en-US" altLang="zh-TW" dirty="0"/>
              <a:t>match by position</a:t>
            </a:r>
          </a:p>
          <a:p>
            <a:pPr marL="838200" lvl="1" indent="-381000"/>
            <a:r>
              <a:rPr lang="en-US" altLang="zh-TW" dirty="0"/>
              <a:t>local variables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b="1" dirty="0"/>
              <a:t>Return</a:t>
            </a:r>
          </a:p>
          <a:p>
            <a:pPr marL="838200" lvl="1" indent="-381000"/>
            <a:r>
              <a:rPr lang="en-US" altLang="zh-TW" dirty="0"/>
              <a:t>return type match</a:t>
            </a:r>
          </a:p>
          <a:p>
            <a:pPr marL="838200" lvl="1" indent="-381000"/>
            <a:r>
              <a:rPr lang="en-US" altLang="zh-TW" dirty="0">
                <a:ea typeface="新細明體"/>
              </a:rPr>
              <a:t>Interrupt the function</a:t>
            </a:r>
            <a:endParaRPr lang="en-US" altLang="zh-TW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000" dirty="0">
                <a:latin typeface="Consolas" panose="020B0609020204030204" pitchFamily="49" charset="0"/>
                <a:cs typeface="Times New Roman" pitchFamily="18" charset="0"/>
              </a:rPr>
              <a:t>Function Prototypes/declarations</a:t>
            </a:r>
            <a:endParaRPr lang="en-US" altLang="zh-TW" sz="2400" dirty="0"/>
          </a:p>
          <a:p>
            <a:pPr marL="533400" indent="-533400">
              <a:buFont typeface="+mj-lt"/>
              <a:buAutoNum type="arabicPeriod" startAt="5"/>
            </a:pPr>
            <a:r>
              <a:rPr lang="en-US" altLang="zh-CN" sz="2000" dirty="0">
                <a:latin typeface="Consolas" panose="020B0609020204030204" pitchFamily="49" charset="0"/>
                <a:cs typeface="Times New Roman" pitchFamily="18" charset="0"/>
              </a:rPr>
              <a:t>Pre-defined Functions</a:t>
            </a:r>
            <a:endParaRPr lang="en-US" altLang="zh-TW" sz="2400" dirty="0"/>
          </a:p>
          <a:p>
            <a:pPr marL="838200" lvl="1" indent="-381000"/>
            <a:r>
              <a:rPr lang="en-US" altLang="zh-TW" sz="2000" dirty="0"/>
              <a:t>Include header file(s)</a:t>
            </a:r>
          </a:p>
          <a:p>
            <a:pPr marL="438150" indent="-381000"/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52714114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9BA10-0F27-4190-A326-D4862C3CBFA6}" type="slidenum">
              <a:rPr lang="zh-TW" altLang="en-US"/>
              <a:pPr/>
              <a:t>26</a:t>
            </a:fld>
            <a:endParaRPr lang="en-US" altLang="zh-TW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76200"/>
            <a:ext cx="8839200" cy="9144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3. Return Value</a:t>
            </a:r>
            <a:endParaRPr lang="zh-TW" altLang="en-US" dirty="0"/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143001"/>
            <a:ext cx="10058400" cy="4983165"/>
          </a:xfrm>
        </p:spPr>
        <p:txBody>
          <a:bodyPr>
            <a:normAutofit/>
          </a:bodyPr>
          <a:lstStyle/>
          <a:p>
            <a:r>
              <a:rPr lang="en-US" altLang="zh-TW" dirty="0"/>
              <a:t>How to return a value from a function to its caller?</a:t>
            </a:r>
          </a:p>
          <a:p>
            <a:endParaRPr lang="en-US" altLang="zh-TW" dirty="0"/>
          </a:p>
          <a:p>
            <a:r>
              <a:rPr lang="en-US" altLang="zh-TW" dirty="0"/>
              <a:t>How does the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TW" dirty="0"/>
              <a:t> keyword affect the execution flow inside a function?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EA149-1809-16E8-927B-857D607D2804}"/>
              </a:ext>
            </a:extLst>
          </p:cNvPr>
          <p:cNvSpPr txBox="1"/>
          <p:nvPr/>
        </p:nvSpPr>
        <p:spPr>
          <a:xfrm>
            <a:off x="860659" y="3618620"/>
            <a:ext cx="6097604" cy="2507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 … …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b="0" dirty="0">
                <a:latin typeface="Consolas" panose="020B0609020204030204" pitchFamily="49" charset="0"/>
              </a:rPr>
              <a:t> </a:t>
            </a:r>
            <a:r>
              <a:rPr lang="en-US" altLang="zh-TW" sz="24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4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47D9C9-0D6C-20A9-CED8-BC706729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809999"/>
            <a:ext cx="5410200" cy="17526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highlight>
                  <a:srgbClr val="FFFFCC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2400" b="0" dirty="0">
                <a:latin typeface="Consolas" panose="020B0609020204030204" pitchFamily="49" charset="0"/>
              </a:rPr>
              <a:t> foo(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int x, int y</a:t>
            </a:r>
            <a:r>
              <a:rPr lang="en-US" altLang="zh-TW" sz="2400" b="0" dirty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		</a:t>
            </a:r>
            <a:r>
              <a:rPr lang="en-US" altLang="zh-TW" sz="24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400" b="0" dirty="0">
                <a:latin typeface="Consolas" panose="020B0609020204030204" pitchFamily="49" charset="0"/>
              </a:rPr>
              <a:t>(</a:t>
            </a:r>
            <a:r>
              <a:rPr lang="en-US" altLang="zh-TW" sz="2400" b="0" dirty="0">
                <a:solidFill>
                  <a:srgbClr val="33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400" b="0" dirty="0">
                <a:latin typeface="Consolas" panose="020B0609020204030204" pitchFamily="49" charset="0"/>
              </a:rPr>
              <a:t>, x, y);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no return</a:t>
            </a:r>
          </a:p>
          <a:p>
            <a:pPr eaLnBrk="1" hangingPunct="1"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647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27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cube(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x)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y = x * x * x;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result;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result = cube(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"Cube of 3 is %d\n"</a:t>
            </a:r>
            <a:r>
              <a:rPr lang="en-US" altLang="zh-TW" sz="2000" b="0" dirty="0">
                <a:latin typeface="Consolas" panose="020B0609020204030204" pitchFamily="49" charset="0"/>
              </a:rPr>
              <a:t>, result);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528764" y="6159524"/>
            <a:ext cx="4033837" cy="4191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Cube of 3 is 27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3.1. Returning a Value From a Function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29201" y="1143000"/>
            <a:ext cx="5414963" cy="1143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lang="en-US" altLang="zh-TW" sz="3200" dirty="0">
                <a:solidFill>
                  <a:srgbClr val="000000"/>
                </a:solidFill>
              </a:rPr>
              <a:t>A function can return a value to its caller.</a:t>
            </a:r>
          </a:p>
        </p:txBody>
      </p:sp>
    </p:spTree>
    <p:extLst>
      <p:ext uri="{BB962C8B-B14F-4D97-AF65-F5344CB8AC3E}">
        <p14:creationId xmlns:p14="http://schemas.microsoft.com/office/powerpoint/2010/main" val="41189824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63DD3-9112-40D3-BCC9-E1B4F3D95360}" type="slidenum">
              <a:rPr lang="zh-TW" altLang="en-US"/>
              <a:pPr/>
              <a:t>28</a:t>
            </a:fld>
            <a:endParaRPr lang="en-US" altLang="zh-TW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994103" y="990600"/>
            <a:ext cx="8673897" cy="516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cube(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x)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y = x * x * x;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result;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result = cube(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"Cube of 3 is %d\n"</a:t>
            </a:r>
            <a:r>
              <a:rPr lang="en-US" altLang="zh-TW" sz="2000" b="0" dirty="0">
                <a:latin typeface="Consolas" panose="020B0609020204030204" pitchFamily="49" charset="0"/>
              </a:rPr>
              <a:t>, result);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99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528762" y="990600"/>
            <a:ext cx="465340" cy="51689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1528764" y="6159524"/>
            <a:ext cx="4033837" cy="4191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Cube of 3 is 27</a:t>
            </a:r>
          </a:p>
        </p:txBody>
      </p:sp>
      <p:sp>
        <p:nvSpPr>
          <p:cNvPr id="7476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8763" y="0"/>
            <a:ext cx="9139236" cy="990600"/>
          </a:xfrm>
          <a:noFill/>
          <a:ln/>
        </p:spPr>
        <p:txBody>
          <a:bodyPr>
            <a:normAutofit/>
          </a:bodyPr>
          <a:lstStyle/>
          <a:p>
            <a:r>
              <a:rPr lang="en-US" altLang="zh-TW" sz="4000" dirty="0"/>
              <a:t>3.1. Returning a Value From a Function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791201" y="1005796"/>
            <a:ext cx="4652963" cy="1200329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TW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</a:rPr>
              <a:t> indicates that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cube()</a:t>
            </a:r>
            <a:r>
              <a:rPr lang="en-US" altLang="zh-TW" sz="2400" dirty="0">
                <a:solidFill>
                  <a:srgbClr val="000000"/>
                </a:solidFill>
              </a:rPr>
              <a:t> will return a value of type </a:t>
            </a:r>
            <a:r>
              <a:rPr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</a:rPr>
              <a:t> when the function finishes its execution.</a:t>
            </a: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 flipV="1">
            <a:off x="4038600" y="2971800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2550886" y="1605960"/>
            <a:ext cx="3240314" cy="709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5535388" y="2877748"/>
            <a:ext cx="5236028" cy="156966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dirty="0">
                <a:solidFill>
                  <a:srgbClr val="000000"/>
                </a:solidFill>
              </a:rPr>
              <a:t> is a keyword that is used to specify the value to be returned to the caller. In this example, </a:t>
            </a:r>
            <a:r>
              <a:rPr lang="en-US" altLang="zh-TW" sz="2400" b="1" u="sng" dirty="0">
                <a:solidFill>
                  <a:srgbClr val="000000"/>
                </a:solidFill>
              </a:rPr>
              <a:t>the </a:t>
            </a:r>
            <a:r>
              <a:rPr lang="en-US" altLang="zh-TW" sz="2400" b="1" i="1" u="sng" dirty="0">
                <a:solidFill>
                  <a:srgbClr val="000000"/>
                </a:solidFill>
              </a:rPr>
              <a:t>value</a:t>
            </a:r>
            <a:r>
              <a:rPr lang="en-US" altLang="zh-TW" sz="2400" b="1" u="sng" dirty="0">
                <a:solidFill>
                  <a:srgbClr val="000000"/>
                </a:solidFill>
              </a:rPr>
              <a:t> of </a:t>
            </a:r>
            <a:r>
              <a:rPr lang="en-US" altLang="zh-TW" sz="2400" b="1" u="sng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TW" sz="2400" b="1" u="sng" dirty="0">
                <a:solidFill>
                  <a:srgbClr val="000000"/>
                </a:solidFill>
              </a:rPr>
              <a:t> </a:t>
            </a:r>
            <a:r>
              <a:rPr lang="en-US" altLang="zh-TW" sz="2400" dirty="0">
                <a:solidFill>
                  <a:srgbClr val="000000"/>
                </a:solidFill>
              </a:rPr>
              <a:t>is returned.</a:t>
            </a:r>
            <a:endParaRPr lang="en-US" altLang="zh-TW" sz="2400" dirty="0">
              <a:solidFill>
                <a:srgbClr val="0000CC"/>
              </a:solidFill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905000" y="1676956"/>
            <a:ext cx="645886" cy="369332"/>
          </a:xfrm>
          <a:prstGeom prst="rect">
            <a:avLst/>
          </a:prstGeom>
          <a:noFill/>
          <a:ln w="25400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2550886" y="2716768"/>
            <a:ext cx="1487714" cy="369332"/>
          </a:xfrm>
          <a:prstGeom prst="rect">
            <a:avLst/>
          </a:prstGeom>
          <a:noFill/>
          <a:ln w="25400">
            <a:solidFill>
              <a:srgbClr val="FF33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4649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4D77-FB20-4C78-8D9D-5BE8AEF86034}" type="slidenum">
              <a:rPr lang="zh-TW" altLang="en-US"/>
              <a:pPr/>
              <a:t>29</a:t>
            </a:fld>
            <a:endParaRPr lang="en-US" altLang="zh-TW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"/>
            <a:ext cx="9144000" cy="990600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dirty="0"/>
              <a:t>3.2. Defining a function that returns a value (Syntax)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199" y="1054781"/>
            <a:ext cx="8229600" cy="1655762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5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return_type</a:t>
            </a:r>
            <a:r>
              <a:rPr lang="en-US" altLang="zh-TW" sz="2400" dirty="0">
                <a:latin typeface="Consolas" panose="020B0609020204030204" pitchFamily="49" charset="0"/>
              </a:rPr>
              <a:t> </a:t>
            </a:r>
            <a:r>
              <a:rPr lang="en-US" altLang="zh-TW" sz="2400" dirty="0" err="1">
                <a:latin typeface="Consolas" panose="020B0609020204030204" pitchFamily="49" charset="0"/>
              </a:rPr>
              <a:t>function_name</a:t>
            </a:r>
            <a:r>
              <a:rPr lang="en-US" altLang="zh-TW" sz="2400" dirty="0">
                <a:latin typeface="Consolas" panose="020B0609020204030204" pitchFamily="49" charset="0"/>
              </a:rPr>
              <a:t>( </a:t>
            </a:r>
            <a:r>
              <a:rPr lang="en-US" altLang="zh-TW" sz="2500" dirty="0" err="1">
                <a:latin typeface="Consolas" panose="020B0609020204030204" pitchFamily="49" charset="0"/>
              </a:rPr>
              <a:t>parameter_list</a:t>
            </a:r>
            <a:r>
              <a:rPr lang="en-US" altLang="zh-TW" sz="2500" dirty="0">
                <a:latin typeface="Consolas" panose="020B0609020204030204" pitchFamily="49" charset="0"/>
              </a:rPr>
              <a:t> </a:t>
            </a:r>
            <a:r>
              <a:rPr lang="en-US" altLang="zh-TW" sz="2400" dirty="0">
                <a:latin typeface="Consolas" panose="020B0609020204030204" pitchFamily="49" charset="0"/>
              </a:rPr>
              <a:t>) {</a:t>
            </a:r>
            <a:br>
              <a:rPr lang="en-US" altLang="zh-TW" sz="2400" dirty="0">
                <a:latin typeface="Consolas" panose="020B0609020204030204" pitchFamily="49" charset="0"/>
              </a:rPr>
            </a:br>
            <a:r>
              <a:rPr lang="en-US" altLang="zh-TW" sz="2400" dirty="0">
                <a:latin typeface="Consolas" panose="020B0609020204030204" pitchFamily="49" charset="0"/>
              </a:rPr>
              <a:t>  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dirty="0">
                <a:latin typeface="Consolas" panose="020B0609020204030204" pitchFamily="49" charset="0"/>
              </a:rPr>
              <a:t> 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r>
              <a:rPr lang="en-US" altLang="zh-TW" sz="24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1676401" y="2743200"/>
            <a:ext cx="8839199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6125" indent="-288925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8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return_type</a:t>
            </a:r>
            <a:endParaRPr lang="en-US" altLang="zh-TW" sz="28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u="sng" dirty="0">
                <a:latin typeface="Calibri" panose="020F0502020204030204" pitchFamily="34" charset="0"/>
              </a:rPr>
              <a:t>Data type</a:t>
            </a:r>
            <a:r>
              <a:rPr lang="en-US" altLang="zh-TW" sz="2400" b="0" dirty="0">
                <a:latin typeface="Calibri" panose="020F0502020204030204" pitchFamily="34" charset="0"/>
              </a:rPr>
              <a:t> of data to be returned by the function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Calibri" panose="020F0502020204030204" pitchFamily="34" charset="0"/>
              </a:rPr>
              <a:t>Use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400" b="0" dirty="0">
                <a:latin typeface="Calibri" panose="020F0502020204030204" pitchFamily="34" charset="0"/>
              </a:rPr>
              <a:t> if a function does not return a value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TW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800" b="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800" b="0" dirty="0">
                <a:latin typeface="Consolas" panose="020B0609020204030204" pitchFamily="49" charset="0"/>
              </a:rPr>
              <a:t> </a:t>
            </a:r>
            <a:r>
              <a:rPr lang="en-US" altLang="zh-TW" sz="2800" b="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endParaRPr lang="en-US" altLang="zh-TW" sz="2900" b="0" dirty="0">
              <a:latin typeface="Calibri" panose="020F0502020204030204" pitchFamily="34" charset="0"/>
            </a:endParaRP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solidFill>
                  <a:srgbClr val="008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b="0" dirty="0">
                <a:latin typeface="Calibri" panose="020F0502020204030204" pitchFamily="34" charset="0"/>
              </a:rPr>
              <a:t> is a keyword.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Calibri" panose="020F0502020204030204" pitchFamily="34" charset="0"/>
              </a:rPr>
              <a:t>When this statement is executed, the value of </a:t>
            </a:r>
            <a:r>
              <a:rPr lang="en-US" altLang="zh-TW" sz="2400" b="0" dirty="0">
                <a:solidFill>
                  <a:schemeClr val="folHlink"/>
                </a:solidFill>
                <a:latin typeface="Consolas" panose="020B0609020204030204" pitchFamily="49" charset="0"/>
              </a:rPr>
              <a:t>expression</a:t>
            </a:r>
            <a:r>
              <a:rPr lang="en-US" altLang="zh-TW" sz="2400" b="0" dirty="0">
                <a:latin typeface="Calibri" panose="020F0502020204030204" pitchFamily="34" charset="0"/>
              </a:rPr>
              <a:t> is returned to the caller.</a:t>
            </a:r>
          </a:p>
        </p:txBody>
      </p:sp>
    </p:spTree>
    <p:extLst>
      <p:ext uri="{BB962C8B-B14F-4D97-AF65-F5344CB8AC3E}">
        <p14:creationId xmlns:p14="http://schemas.microsoft.com/office/powerpoint/2010/main" val="372380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DE92-83A0-4030-9AAE-594FB7FDFDF9}" type="slidenum">
              <a:rPr lang="zh-TW" altLang="en-US"/>
              <a:pPr/>
              <a:t>30</a:t>
            </a:fld>
            <a:endParaRPr lang="en-US" altLang="zh-TW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762000"/>
          </a:xfrm>
          <a:noFill/>
        </p:spPr>
        <p:txBody>
          <a:bodyPr anchor="t">
            <a:normAutofit fontScale="90000"/>
          </a:bodyPr>
          <a:lstStyle/>
          <a:p>
            <a:pPr algn="l"/>
            <a:r>
              <a:rPr lang="en-US" altLang="zh-TW" sz="3600" dirty="0"/>
              <a:t>3.3. Evaluating an expression containing function calls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1999214" y="17081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x =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cube(1)</a:t>
            </a:r>
            <a:r>
              <a:rPr lang="en-US" altLang="zh-TW" sz="2000" b="0" dirty="0">
                <a:latin typeface="Consolas" panose="020B0609020204030204" pitchFamily="49" charset="0"/>
              </a:rPr>
              <a:t> + cube(2) * cube(3);</a:t>
            </a:r>
          </a:p>
        </p:txBody>
      </p:sp>
      <p:sp>
        <p:nvSpPr>
          <p:cNvPr id="22533" name="Rectangle 8"/>
          <p:cNvSpPr>
            <a:spLocks noChangeArrowheads="1"/>
          </p:cNvSpPr>
          <p:nvPr/>
        </p:nvSpPr>
        <p:spPr bwMode="auto">
          <a:xfrm>
            <a:off x="1785938" y="1066800"/>
            <a:ext cx="853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b="0" dirty="0">
                <a:solidFill>
                  <a:srgbClr val="000000"/>
                </a:solidFill>
                <a:latin typeface="Calibri" panose="020F0502020204030204" pitchFamily="34" charset="0"/>
              </a:rPr>
              <a:t>Functions are called first if they are part of an expression.</a:t>
            </a:r>
          </a:p>
        </p:txBody>
      </p:sp>
      <p:sp>
        <p:nvSpPr>
          <p:cNvPr id="22534" name="Rectangle 9"/>
          <p:cNvSpPr>
            <a:spLocks noChangeArrowheads="1"/>
          </p:cNvSpPr>
          <p:nvPr/>
        </p:nvSpPr>
        <p:spPr bwMode="auto">
          <a:xfrm>
            <a:off x="1999214" y="24320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x =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</a:rPr>
              <a:t> +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cube(2)</a:t>
            </a:r>
            <a:r>
              <a:rPr lang="en-US" altLang="zh-TW" sz="2000" b="0" dirty="0">
                <a:latin typeface="Consolas" panose="020B0609020204030204" pitchFamily="49" charset="0"/>
              </a:rPr>
              <a:t> * cube(3);</a:t>
            </a:r>
          </a:p>
        </p:txBody>
      </p: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1999214" y="30797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x = 1 +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8</a:t>
            </a:r>
            <a:r>
              <a:rPr lang="en-US" altLang="zh-TW" sz="2000" b="0" dirty="0">
                <a:latin typeface="Consolas" panose="020B0609020204030204" pitchFamily="49" charset="0"/>
              </a:rPr>
              <a:t> *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cube(3)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536" name="Rectangle 12"/>
          <p:cNvSpPr>
            <a:spLocks noChangeArrowheads="1"/>
          </p:cNvSpPr>
          <p:nvPr/>
        </p:nvSpPr>
        <p:spPr bwMode="auto">
          <a:xfrm>
            <a:off x="1999214" y="37655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x = 1 +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8 *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27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1999214" y="44513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x =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</a:rPr>
              <a:t>1 + 216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538" name="Rectangle 14"/>
          <p:cNvSpPr>
            <a:spLocks noChangeArrowheads="1"/>
          </p:cNvSpPr>
          <p:nvPr/>
        </p:nvSpPr>
        <p:spPr bwMode="auto">
          <a:xfrm>
            <a:off x="1999214" y="5137150"/>
            <a:ext cx="76200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x = 217;</a:t>
            </a:r>
          </a:p>
        </p:txBody>
      </p:sp>
      <p:sp>
        <p:nvSpPr>
          <p:cNvPr id="22539" name="Rectangle 19"/>
          <p:cNvSpPr>
            <a:spLocks noChangeArrowheads="1"/>
          </p:cNvSpPr>
          <p:nvPr/>
        </p:nvSpPr>
        <p:spPr bwMode="auto">
          <a:xfrm>
            <a:off x="1999215" y="5674668"/>
            <a:ext cx="73404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Note: some compilers call the functions from right to left.</a:t>
            </a:r>
          </a:p>
        </p:txBody>
      </p:sp>
      <p:sp>
        <p:nvSpPr>
          <p:cNvPr id="2" name="Down Arrow 1"/>
          <p:cNvSpPr/>
          <p:nvPr/>
        </p:nvSpPr>
        <p:spPr>
          <a:xfrm rot="440998">
            <a:off x="2685557" y="211182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 rot="440998">
            <a:off x="3218958" y="284743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 rot="440998">
            <a:off x="3904757" y="3489245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440998">
            <a:off x="3405425" y="415791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 rot="440998">
            <a:off x="2837958" y="4890171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13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43AB-AF1F-4038-9F8C-669288AE7BB3}" type="slidenum">
              <a:rPr lang="zh-TW" altLang="en-US"/>
              <a:pPr/>
              <a:t>31</a:t>
            </a:fld>
            <a:endParaRPr lang="en-US" altLang="zh-TW"/>
          </a:p>
        </p:txBody>
      </p:sp>
      <p:sp>
        <p:nvSpPr>
          <p:cNvPr id="2355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849825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4. Interrupting Control Flow with </a:t>
            </a:r>
            <a:r>
              <a:rPr lang="en-US" altLang="zh-TW" sz="4000" dirty="0">
                <a:solidFill>
                  <a:srgbClr val="0070C0"/>
                </a:solidFill>
                <a:latin typeface="Consolas"/>
                <a:ea typeface="新細明體"/>
              </a:rPr>
              <a:t>return</a:t>
            </a:r>
            <a:r>
              <a:rPr lang="en-US" altLang="zh-TW" sz="4000" dirty="0">
                <a:solidFill>
                  <a:srgbClr val="0070C0"/>
                </a:solidFill>
                <a:ea typeface="新細明體"/>
              </a:rPr>
              <a:t> </a:t>
            </a:r>
            <a:endParaRPr lang="en-US" altLang="zh-TW" sz="4000" dirty="0">
              <a:solidFill>
                <a:srgbClr val="0070C0"/>
              </a:solidFill>
            </a:endParaRPr>
          </a:p>
        </p:txBody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94338" y="1066800"/>
            <a:ext cx="9073662" cy="137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TW" dirty="0"/>
              <a:t>A </a:t>
            </a:r>
            <a:r>
              <a:rPr lang="en-US" altLang="zh-TW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statement can also force an execution to </a:t>
            </a:r>
            <a:r>
              <a:rPr lang="en-US" altLang="zh-TW" b="1" u="sng" dirty="0"/>
              <a:t>leave a function </a:t>
            </a:r>
            <a:r>
              <a:rPr lang="en-US" altLang="zh-TW" dirty="0"/>
              <a:t>and return to its caller </a:t>
            </a:r>
            <a:r>
              <a:rPr lang="en-US" altLang="zh-TW" b="1" u="sng" dirty="0"/>
              <a:t>immediately</a:t>
            </a:r>
            <a:r>
              <a:rPr lang="en-US" altLang="zh-TW" dirty="0"/>
              <a:t>.</a:t>
            </a:r>
            <a:endParaRPr lang="en-US" altLang="zh-TW" sz="1300" dirty="0"/>
          </a:p>
        </p:txBody>
      </p:sp>
      <p:sp>
        <p:nvSpPr>
          <p:cNvPr id="23567" name="Rectangle 14"/>
          <p:cNvSpPr>
            <a:spLocks noChangeArrowheads="1"/>
          </p:cNvSpPr>
          <p:nvPr/>
        </p:nvSpPr>
        <p:spPr bwMode="auto">
          <a:xfrm>
            <a:off x="1752601" y="2667000"/>
            <a:ext cx="3733800" cy="3276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 panose="020B0609020204030204" pitchFamily="49" charset="0"/>
              </a:rPr>
              <a:t> min(</a:t>
            </a:r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 panose="020B0609020204030204" pitchFamily="49" charset="0"/>
              </a:rPr>
              <a:t> x, </a:t>
            </a:r>
            <a:r>
              <a:rPr lang="en-US" altLang="zh-TW" sz="2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onsolas" panose="020B0609020204030204" pitchFamily="49" charset="0"/>
              </a:rPr>
              <a:t> y) { </a:t>
            </a:r>
          </a:p>
          <a:p>
            <a:pPr eaLnBrk="1" hangingPunct="1"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400" b="0" dirty="0">
                <a:latin typeface="Consolas" panose="020B0609020204030204" pitchFamily="49" charset="0"/>
              </a:rPr>
              <a:t> (x &gt; y)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  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b="0" dirty="0">
                <a:latin typeface="Consolas" panose="020B0609020204030204" pitchFamily="49" charset="0"/>
              </a:rPr>
              <a:t>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 </a:t>
            </a:r>
            <a:endParaRPr lang="en-US" altLang="zh-TW" sz="2400" b="0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  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b="0" dirty="0">
                <a:latin typeface="Consolas" panose="020B0609020204030204" pitchFamily="49" charset="0"/>
              </a:rPr>
              <a:t> x;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4751" name="Rectangle 15"/>
          <p:cNvSpPr>
            <a:spLocks noChangeArrowheads="1"/>
          </p:cNvSpPr>
          <p:nvPr/>
        </p:nvSpPr>
        <p:spPr bwMode="auto">
          <a:xfrm>
            <a:off x="5638801" y="2671310"/>
            <a:ext cx="4805363" cy="2670629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When "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" is executed, execution immediately stops in 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min()</a:t>
            </a:r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 and resumes at its caller. </a:t>
            </a:r>
          </a:p>
          <a:p>
            <a:endParaRPr lang="en-US" altLang="zh-TW" sz="2400" b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In this example, if "</a:t>
            </a:r>
            <a:r>
              <a:rPr lang="en-US" altLang="zh-TW" sz="24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x &gt; y</a:t>
            </a:r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" is true, "</a:t>
            </a:r>
            <a:r>
              <a:rPr lang="en-US" altLang="zh-TW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return x</a:t>
            </a:r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" will </a:t>
            </a:r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not</a:t>
            </a:r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 be executed.</a:t>
            </a:r>
          </a:p>
        </p:txBody>
      </p:sp>
    </p:spTree>
    <p:extLst>
      <p:ext uri="{BB962C8B-B14F-4D97-AF65-F5344CB8AC3E}">
        <p14:creationId xmlns:p14="http://schemas.microsoft.com/office/powerpoint/2010/main" val="2377141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4.1.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Implement a function that accepts a month and a year as parameters, and returns the number of days in the given month and year.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829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8762" y="990600"/>
            <a:ext cx="490538" cy="51800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76200"/>
            <a:ext cx="8763000" cy="8382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ea typeface="新細明體"/>
              </a:rPr>
              <a:t>4.1. Example (with multiple </a:t>
            </a:r>
            <a:r>
              <a:rPr lang="en-US" altLang="zh-TW" sz="4000" b="1" dirty="0">
                <a:latin typeface="Consolas"/>
                <a:ea typeface="新細明體"/>
              </a:rPr>
              <a:t>return</a:t>
            </a:r>
            <a:r>
              <a:rPr lang="en-US" altLang="zh-TW" sz="4000" dirty="0">
                <a:ea typeface="新細明體"/>
              </a:rPr>
              <a:t>’s)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019300" y="990601"/>
            <a:ext cx="8648700" cy="51800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Returns # of days in a particular month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daysPerMonth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m,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(m == 1 || m == 3 || m == 5 ||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m == 7 || m == 8 || m == 10 || m == 12)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31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(m == 4 || m == 6 || m == 9 || m == 11)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30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/* if y is a leap year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(…)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29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 28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4751" name="Rectangle 15"/>
          <p:cNvSpPr>
            <a:spLocks noChangeArrowheads="1"/>
          </p:cNvSpPr>
          <p:nvPr/>
        </p:nvSpPr>
        <p:spPr bwMode="auto">
          <a:xfrm>
            <a:off x="6248400" y="5338762"/>
            <a:ext cx="4195762" cy="83185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Only one of the "return" statements will be executed.</a:t>
            </a: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1774031" y="25908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1774031" y="35814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1774031" y="48768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1774031" y="55626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C0DACCF5-318B-40BC-9270-DD644A4E4419}" type="slidenum">
              <a:rPr lang="zh-TW" altLang="en-US"/>
              <a:pPr/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6178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8762" y="990600"/>
            <a:ext cx="490538" cy="546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90000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CCF5-318B-40BC-9270-DD644A4E4419}" type="slidenum">
              <a:rPr lang="zh-TW" altLang="en-US"/>
              <a:pPr/>
              <a:t>34</a:t>
            </a:fld>
            <a:endParaRPr lang="en-US" altLang="zh-TW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76200"/>
            <a:ext cx="8839200" cy="8382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ea typeface="新細明體"/>
              </a:rPr>
              <a:t>4.1. Example (with only one </a:t>
            </a:r>
            <a:r>
              <a:rPr lang="en-US" altLang="zh-TW" sz="4000" b="1" dirty="0">
                <a:latin typeface="Consolas"/>
                <a:ea typeface="新細明體"/>
              </a:rPr>
              <a:t>return</a:t>
            </a:r>
            <a:r>
              <a:rPr lang="en-US" altLang="zh-TW" sz="4000" dirty="0">
                <a:ea typeface="新細明體"/>
              </a:rPr>
              <a:t>)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2019300" y="990600"/>
            <a:ext cx="8648700" cy="546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Returns # of days in a particular month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</a:rPr>
              <a:t>daysPerMonth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m,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y)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(m == 1 || m == 3 || m == 5 ||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 m == 7 || m == 8 || m == 10 || m == 12)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lang="en-US" altLang="zh-TW" sz="2000" b="0" dirty="0">
                <a:latin typeface="Consolas" panose="020B0609020204030204" pitchFamily="49" charset="0"/>
              </a:rPr>
              <a:t> = 31;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(m == 4 || m == 6 || m == 9 || m == 11)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lang="en-US" altLang="zh-TW" sz="2000" b="0" dirty="0">
                <a:latin typeface="Consolas" panose="020B0609020204030204" pitchFamily="49" charset="0"/>
              </a:rPr>
              <a:t> = 30;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(…)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if y is a leap year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lang="en-US" altLang="zh-TW" sz="2000" b="0" dirty="0">
                <a:latin typeface="Consolas" panose="020B0609020204030204" pitchFamily="49" charset="0"/>
              </a:rPr>
              <a:t> = 29;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lang="en-US" altLang="zh-TW" sz="2000" b="0" dirty="0">
                <a:latin typeface="Consolas" panose="020B0609020204030204" pitchFamily="49" charset="0"/>
              </a:rPr>
              <a:t> = 28;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 days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4751" name="Rectangle 15"/>
          <p:cNvSpPr>
            <a:spLocks noChangeArrowheads="1"/>
          </p:cNvSpPr>
          <p:nvPr/>
        </p:nvSpPr>
        <p:spPr bwMode="auto">
          <a:xfrm>
            <a:off x="4953000" y="4889500"/>
            <a:ext cx="5715000" cy="15621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A function is easier to debug if there is only one 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400" b="0" dirty="0">
                <a:solidFill>
                  <a:srgbClr val="000000"/>
                </a:solidFill>
                <a:latin typeface="Calibri" panose="020F0502020204030204" pitchFamily="34" charset="0"/>
              </a:rPr>
              <a:t> statement because we know exactly where an execution leaves the function.</a:t>
            </a: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1676400" y="5943600"/>
            <a:ext cx="685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9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6CFDF-AC26-4449-8B73-48655BFD774F}" type="slidenum">
              <a:rPr lang="zh-TW" altLang="en-US"/>
              <a:pPr/>
              <a:t>35</a:t>
            </a:fld>
            <a:endParaRPr lang="en-US" altLang="zh-TW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/>
              </a:rPr>
              <a:t>4.2. Using </a:t>
            </a:r>
            <a:r>
              <a:rPr lang="en-US" altLang="zh-TW" sz="3600" dirty="0">
                <a:solidFill>
                  <a:srgbClr val="0070C0"/>
                </a:solidFill>
                <a:latin typeface="Consolas"/>
                <a:ea typeface="新細明體"/>
              </a:rPr>
              <a:t>return</a:t>
            </a:r>
            <a:r>
              <a:rPr lang="en-US" altLang="zh-TW" sz="3600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sz="3600" dirty="0">
                <a:ea typeface="新細明體"/>
              </a:rPr>
              <a:t>without a returning value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4338" y="1066800"/>
            <a:ext cx="8921262" cy="990600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When the function return type is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800" dirty="0"/>
              <a:t>, we can use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800" dirty="0"/>
              <a:t> without a return value.</a:t>
            </a: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209800" y="2098299"/>
            <a:ext cx="7520007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altLang="zh-TW" sz="2000" dirty="0">
                <a:latin typeface="Consolas" panose="020B0609020204030204" pitchFamily="49" charset="0"/>
              </a:rPr>
              <a:t> </a:t>
            </a:r>
            <a:r>
              <a:rPr lang="en-US" altLang="zh-TW" sz="2000" dirty="0" err="1">
                <a:latin typeface="Consolas" panose="020B0609020204030204" pitchFamily="49" charset="0"/>
              </a:rPr>
              <a:t>askSomething</a:t>
            </a:r>
            <a:r>
              <a:rPr lang="en-US" altLang="zh-TW" sz="2000" dirty="0">
                <a:latin typeface="Consolas" panose="020B0609020204030204" pitchFamily="49" charset="0"/>
              </a:rPr>
              <a:t>( </a:t>
            </a: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</a:rPr>
              <a:t> code ) {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(code != 7) {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   </a:t>
            </a:r>
            <a:r>
              <a:rPr lang="en-US" altLang="zh-TW" sz="200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3399FF"/>
                </a:solidFill>
                <a:latin typeface="Consolas" panose="020B0609020204030204" pitchFamily="49" charset="0"/>
              </a:rPr>
              <a:t>"Who are you?\n"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  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/* Leave the function immediately */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   }</a:t>
            </a:r>
          </a:p>
          <a:p>
            <a:endParaRPr lang="en-US" altLang="zh-TW" sz="2000" dirty="0">
              <a:latin typeface="Consolas" panose="020B0609020204030204" pitchFamily="49" charset="0"/>
            </a:endParaRPr>
          </a:p>
          <a:p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3399FF"/>
                </a:solidFill>
                <a:latin typeface="Consolas" panose="020B0609020204030204" pitchFamily="49" charset="0"/>
              </a:rPr>
              <a:t>"How are you today, James?\n"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endParaRPr lang="en-US" altLang="zh-TW" sz="2000" dirty="0">
              <a:latin typeface="Consolas" panose="020B0609020204030204" pitchFamily="49" charset="0"/>
            </a:endParaRPr>
          </a:p>
          <a:p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dirty="0">
                <a:latin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/* This return statement is optional */</a:t>
            </a:r>
          </a:p>
          <a:p>
            <a:r>
              <a:rPr lang="en-US" altLang="zh-TW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3909" name="AutoShape 5"/>
          <p:cNvSpPr>
            <a:spLocks noChangeArrowheads="1"/>
          </p:cNvSpPr>
          <p:nvPr/>
        </p:nvSpPr>
        <p:spPr bwMode="auto">
          <a:xfrm>
            <a:off x="3661229" y="5105401"/>
            <a:ext cx="6072207" cy="919401"/>
          </a:xfrm>
          <a:prstGeom prst="wedgeRoundRectCallout">
            <a:avLst>
              <a:gd name="adj1" fmla="val -59802"/>
              <a:gd name="adj2" fmla="val -56726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2400" u="sng" dirty="0"/>
              <a:t>If the return type is </a:t>
            </a:r>
            <a:r>
              <a:rPr lang="en-US" altLang="zh-TW" sz="2400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sz="2400" dirty="0"/>
              <a:t>, placing a return as the last statement is optional (it is implied).</a:t>
            </a:r>
          </a:p>
        </p:txBody>
      </p:sp>
    </p:spTree>
    <p:extLst>
      <p:ext uri="{BB962C8B-B14F-4D97-AF65-F5344CB8AC3E}">
        <p14:creationId xmlns:p14="http://schemas.microsoft.com/office/powerpoint/2010/main" val="59535297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78EC0-4457-4D81-A460-8ED34E5B35BC}" type="slidenum">
              <a:rPr lang="zh-TW" altLang="en-US"/>
              <a:pPr/>
              <a:t>36</a:t>
            </a:fld>
            <a:endParaRPr lang="en-US" altLang="zh-TW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ea typeface="新細明體"/>
              </a:rPr>
              <a:t>4.3. Additional info about returning a value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1" y="1143000"/>
            <a:ext cx="10515600" cy="5029200"/>
          </a:xfrm>
        </p:spPr>
        <p:txBody>
          <a:bodyPr>
            <a:normAutofit/>
          </a:bodyPr>
          <a:lstStyle/>
          <a:p>
            <a:r>
              <a:rPr lang="en-US" altLang="zh-TW" dirty="0"/>
              <a:t>A function can return only </a:t>
            </a:r>
            <a:r>
              <a:rPr lang="en-US" altLang="zh-TW" u="sng" dirty="0"/>
              <a:t>one value of a specific data type</a:t>
            </a:r>
            <a:r>
              <a:rPr lang="en-US" altLang="zh-TW" dirty="0"/>
              <a:t>.</a:t>
            </a:r>
          </a:p>
          <a:p>
            <a:pPr lvl="4"/>
            <a:endParaRPr lang="en-US" altLang="zh-TW" dirty="0"/>
          </a:p>
          <a:p>
            <a:r>
              <a:rPr lang="en-US" altLang="zh-TW" dirty="0"/>
              <a:t>If a function’s return type is not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TW" dirty="0"/>
              <a:t>, then all paths leaving the function must </a:t>
            </a:r>
            <a:r>
              <a:rPr lang="en-US" altLang="zh-TW" b="1" dirty="0"/>
              <a:t>return a value </a:t>
            </a:r>
            <a:r>
              <a:rPr lang="en-US" altLang="zh-TW" dirty="0"/>
              <a:t>that </a:t>
            </a:r>
            <a:r>
              <a:rPr lang="en-US" altLang="zh-TW" b="1" dirty="0"/>
              <a:t>matches the return type.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1926545" y="4267200"/>
            <a:ext cx="4416594" cy="14465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altLang="zh-TW" sz="2000" b="0" dirty="0">
                <a:latin typeface="Consolas" panose="020B0609020204030204" pitchFamily="49" charset="0"/>
              </a:rPr>
              <a:t> reciprocal(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66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</a:rPr>
              <a:t>x)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</a:rPr>
              <a:t> (x !=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1.0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/ x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7848600" y="4205645"/>
            <a:ext cx="3962400" cy="156966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zh-TW" sz="2400" dirty="0"/>
              <a:t>If </a:t>
            </a:r>
            <a:r>
              <a:rPr lang="en-US" altLang="zh-TW" sz="2400" dirty="0">
                <a:latin typeface="Consolas" panose="020B0609020204030204" pitchFamily="49" charset="0"/>
              </a:rPr>
              <a:t>x</a:t>
            </a:r>
            <a:r>
              <a:rPr lang="en-US" altLang="zh-TW" sz="2400" dirty="0"/>
              <a:t> is 0, then an undefined value is returned. </a:t>
            </a:r>
          </a:p>
          <a:p>
            <a:pPr eaLnBrk="0" hangingPunct="0"/>
            <a:endParaRPr lang="en-US" altLang="zh-TW" sz="2400" dirty="0"/>
          </a:p>
          <a:p>
            <a:pPr eaLnBrk="0" hangingPunct="0"/>
            <a:r>
              <a:rPr lang="en-US" altLang="zh-TW" sz="2400" dirty="0"/>
              <a:t>Compiler may warn.</a:t>
            </a:r>
          </a:p>
        </p:txBody>
      </p:sp>
    </p:spTree>
    <p:extLst>
      <p:ext uri="{BB962C8B-B14F-4D97-AF65-F5344CB8AC3E}">
        <p14:creationId xmlns:p14="http://schemas.microsoft.com/office/powerpoint/2010/main" val="31946103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99FA1-D4D2-C60F-299A-252786A3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39E484-09AB-5283-FF84-201D8921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37</a:t>
            </a:fld>
            <a:endParaRPr lang="en-US" altLang="zh-TW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48E4271-6224-3318-884E-E003848A1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DB0319C-C6FB-2BE7-70CE-320A3ACAA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Basic Concepts</a:t>
            </a:r>
          </a:p>
          <a:p>
            <a:pPr marL="838200" lvl="1" indent="-381000"/>
            <a:r>
              <a:rPr lang="en-US" altLang="zh-TW" sz="2400" b="1" u="sng" dirty="0"/>
              <a:t>trace</a:t>
            </a:r>
            <a:r>
              <a:rPr lang="en-US" altLang="zh-TW" sz="2400" dirty="0"/>
              <a:t> a function call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Defining a function with parameters</a:t>
            </a:r>
          </a:p>
          <a:p>
            <a:pPr marL="838200" lvl="1" indent="-381000"/>
            <a:r>
              <a:rPr lang="en-US" altLang="zh-TW" sz="2400" dirty="0"/>
              <a:t>match by position</a:t>
            </a:r>
          </a:p>
          <a:p>
            <a:pPr marL="838200" lvl="1" indent="-381000"/>
            <a:r>
              <a:rPr lang="en-US" altLang="zh-TW" sz="2400" dirty="0"/>
              <a:t>local variables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800" dirty="0"/>
              <a:t>Return</a:t>
            </a:r>
          </a:p>
          <a:p>
            <a:pPr marL="838200" lvl="1" indent="-381000"/>
            <a:r>
              <a:rPr lang="en-US" altLang="zh-TW" sz="2400" dirty="0"/>
              <a:t>return type match</a:t>
            </a:r>
          </a:p>
          <a:p>
            <a:pPr marL="838200" lvl="1" indent="-381000"/>
            <a:r>
              <a:rPr lang="en-US" altLang="zh-TW" sz="2400" dirty="0">
                <a:ea typeface="新細明體"/>
              </a:rPr>
              <a:t>Interrupt the function</a:t>
            </a:r>
            <a:endParaRPr lang="en-US" altLang="zh-TW" sz="2400" dirty="0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cs typeface="Times New Roman" pitchFamily="18" charset="0"/>
              </a:rPr>
              <a:t>Function Prototypes/declarations</a:t>
            </a:r>
            <a:endParaRPr lang="en-US" altLang="zh-TW" sz="2800" dirty="0"/>
          </a:p>
          <a:p>
            <a:pPr marL="533400" indent="-533400">
              <a:buFont typeface="+mj-lt"/>
              <a:buAutoNum type="arabicPeriod" startAt="5"/>
            </a:pPr>
            <a:r>
              <a:rPr lang="en-US" altLang="zh-CN" sz="2400" dirty="0">
                <a:latin typeface="Consolas" panose="020B0609020204030204" pitchFamily="49" charset="0"/>
                <a:cs typeface="Times New Roman" pitchFamily="18" charset="0"/>
              </a:rPr>
              <a:t>Pre-defined Functions</a:t>
            </a:r>
            <a:endParaRPr lang="en-US" altLang="zh-TW" sz="2800" dirty="0"/>
          </a:p>
          <a:p>
            <a:pPr marL="838200" lvl="1" indent="-381000"/>
            <a:r>
              <a:rPr lang="en-US" altLang="zh-TW" sz="2400" dirty="0"/>
              <a:t>Include header file(s)</a:t>
            </a:r>
          </a:p>
          <a:p>
            <a:pPr marL="438150" indent="-381000"/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82870182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8ED9-DB91-4A3F-A9A2-DF0DB86C56B4}" type="slidenum">
              <a:rPr lang="zh-TW" altLang="en-US"/>
              <a:pPr/>
              <a:t>38</a:t>
            </a:fld>
            <a:endParaRPr lang="en-US" altLang="zh-TW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0"/>
            <a:ext cx="8915400" cy="9144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ea typeface="新細明體"/>
              </a:rPr>
              <a:t>5. Function Prototypes (</a:t>
            </a:r>
            <a:r>
              <a:rPr lang="zh-CN" altLang="en-US" dirty="0">
                <a:ea typeface="新細明體"/>
              </a:rPr>
              <a:t>原型</a:t>
            </a:r>
            <a:r>
              <a:rPr lang="en-US" altLang="zh-TW" dirty="0">
                <a:ea typeface="新細明體"/>
              </a:rPr>
              <a:t>)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143001"/>
            <a:ext cx="8534400" cy="4983165"/>
          </a:xfrm>
        </p:spPr>
        <p:txBody>
          <a:bodyPr/>
          <a:lstStyle/>
          <a:p>
            <a:r>
              <a:rPr lang="en-US" altLang="zh-TW" dirty="0"/>
              <a:t>Also known as</a:t>
            </a:r>
            <a:r>
              <a:rPr lang="en-US" altLang="zh-TW" i="1" dirty="0"/>
              <a:t> </a:t>
            </a:r>
            <a:r>
              <a:rPr lang="en-US" altLang="zh-TW" i="1" dirty="0">
                <a:solidFill>
                  <a:srgbClr val="0070C0"/>
                </a:solidFill>
              </a:rPr>
              <a:t>function declarations</a:t>
            </a:r>
          </a:p>
          <a:p>
            <a:endParaRPr lang="en-US" altLang="zh-TW" i="1" dirty="0"/>
          </a:p>
          <a:p>
            <a:r>
              <a:rPr lang="en-US" altLang="zh-TW" dirty="0"/>
              <a:t>Why do we need function prototypes?</a:t>
            </a:r>
          </a:p>
          <a:p>
            <a:endParaRPr lang="en-US" altLang="zh-TW" dirty="0"/>
          </a:p>
          <a:p>
            <a:r>
              <a:rPr lang="en-US" altLang="zh-TW" dirty="0"/>
              <a:t>How to define function prototypes?</a:t>
            </a:r>
          </a:p>
        </p:txBody>
      </p:sp>
    </p:spTree>
    <p:extLst>
      <p:ext uri="{BB962C8B-B14F-4D97-AF65-F5344CB8AC3E}">
        <p14:creationId xmlns:p14="http://schemas.microsoft.com/office/powerpoint/2010/main" val="16335270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99E-DAF3-47E1-818D-BD63472CCE6D}" type="slidenum">
              <a:rPr lang="zh-TW" altLang="en-US"/>
              <a:pPr/>
              <a:t>39</a:t>
            </a:fld>
            <a:endParaRPr lang="en-US" altLang="zh-TW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6670" y="4267201"/>
            <a:ext cx="8682730" cy="175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A C compiler performs a 1-pass sequential scan of the source code during compilation. By the time the compiler encounters the identifier "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800" dirty="0"/>
              <a:t>"  at line 5, it does not know "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800" dirty="0"/>
              <a:t>" is a function defined at line 10.</a:t>
            </a:r>
            <a:endParaRPr lang="zh-TW" altLang="en-US" sz="2800" dirty="0"/>
          </a:p>
        </p:txBody>
      </p:sp>
      <p:sp>
        <p:nvSpPr>
          <p:cNvPr id="81924" name="Rectangle 2"/>
          <p:cNvSpPr>
            <a:spLocks noChangeArrowheads="1"/>
          </p:cNvSpPr>
          <p:nvPr/>
        </p:nvSpPr>
        <p:spPr bwMode="auto">
          <a:xfrm>
            <a:off x="2020888" y="0"/>
            <a:ext cx="8647112" cy="41055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square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)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 // what is square?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definition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square(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*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1524000" y="0"/>
            <a:ext cx="496888" cy="415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5159376" y="76200"/>
            <a:ext cx="5508625" cy="83185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 b="0" dirty="0">
                <a:latin typeface="Calibri" panose="020F0502020204030204" pitchFamily="34" charset="0"/>
              </a:rPr>
              <a:t>Compile-time warning: </a:t>
            </a:r>
            <a:r>
              <a:rPr lang="en-US" altLang="zh-TW" sz="2400" b="0" dirty="0">
                <a:solidFill>
                  <a:srgbClr val="FF3300"/>
                </a:solidFill>
                <a:latin typeface="Calibri" panose="020F0502020204030204" pitchFamily="34" charset="0"/>
              </a:rPr>
              <a:t>undefined '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400" b="0" dirty="0">
                <a:solidFill>
                  <a:srgbClr val="FF3300"/>
                </a:solidFill>
                <a:latin typeface="Calibri" panose="020F0502020204030204" pitchFamily="34" charset="0"/>
              </a:rPr>
              <a:t>'; assume returning 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</a:rPr>
              <a:t>. Why?</a:t>
            </a:r>
          </a:p>
        </p:txBody>
      </p:sp>
      <p:sp>
        <p:nvSpPr>
          <p:cNvPr id="81927" name="Line 7"/>
          <p:cNvSpPr>
            <a:spLocks noChangeShapeType="1"/>
          </p:cNvSpPr>
          <p:nvPr/>
        </p:nvSpPr>
        <p:spPr bwMode="auto">
          <a:xfrm flipH="1">
            <a:off x="5159376" y="908051"/>
            <a:ext cx="403225" cy="576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F769AF3C-A3BB-FE43-1FBD-D69B15DF64AD}"/>
              </a:ext>
            </a:extLst>
          </p:cNvPr>
          <p:cNvSpPr/>
          <p:nvPr/>
        </p:nvSpPr>
        <p:spPr>
          <a:xfrm>
            <a:off x="778668" y="136521"/>
            <a:ext cx="496888" cy="3969025"/>
          </a:xfrm>
          <a:prstGeom prst="downArrow">
            <a:avLst>
              <a:gd name="adj1" fmla="val 50000"/>
              <a:gd name="adj2" fmla="val 1584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07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C99E-DAF3-47E1-818D-BD63472CCE6D}" type="slidenum">
              <a:rPr lang="zh-TW" altLang="en-US"/>
              <a:pPr/>
              <a:t>40</a:t>
            </a:fld>
            <a:endParaRPr lang="en-US" altLang="zh-TW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6670" y="4267201"/>
            <a:ext cx="8682730" cy="1904999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We could rearrange the functions so that all </a:t>
            </a:r>
            <a:r>
              <a:rPr lang="en-US" altLang="zh-TW" sz="2800" dirty="0" err="1"/>
              <a:t>callees</a:t>
            </a:r>
            <a:r>
              <a:rPr lang="en-US" altLang="zh-TW" sz="2800" dirty="0"/>
              <a:t> are defined before their callers, but such approach is not always possible.</a:t>
            </a:r>
          </a:p>
          <a:p>
            <a:pPr>
              <a:lnSpc>
                <a:spcPct val="90000"/>
              </a:lnSpc>
            </a:pPr>
            <a:endParaRPr lang="en-US" altLang="zh-TW" sz="19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A better solution is to declare function prototypes.</a:t>
            </a:r>
            <a:endParaRPr lang="zh-TW" altLang="en-US" sz="2800" dirty="0"/>
          </a:p>
        </p:txBody>
      </p:sp>
      <p:sp>
        <p:nvSpPr>
          <p:cNvPr id="81924" name="Rectangle 2"/>
          <p:cNvSpPr>
            <a:spLocks noChangeArrowheads="1"/>
          </p:cNvSpPr>
          <p:nvPr/>
        </p:nvSpPr>
        <p:spPr bwMode="auto">
          <a:xfrm>
            <a:off x="2020888" y="0"/>
            <a:ext cx="8647112" cy="41549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definition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square(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*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FF33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square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)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 // square is defined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1524000" y="0"/>
            <a:ext cx="496888" cy="41549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14559374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75AD-900C-49D6-B252-55CF39A2C377}" type="slidenum">
              <a:rPr lang="zh-TW" altLang="en-US"/>
              <a:pPr/>
              <a:t>41</a:t>
            </a:fld>
            <a:endParaRPr lang="en-US" altLang="zh-TW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2020888" y="-1"/>
            <a:ext cx="8647112" cy="483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#include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prototype */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square( </a:t>
            </a:r>
            <a:r>
              <a:rPr lang="en-US" altLang="zh-TW" sz="2000" b="0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</a:rPr>
              <a:t>"%d\n"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square( </a:t>
            </a:r>
            <a:r>
              <a:rPr lang="en-US" altLang="zh-TW" sz="2000" b="0" dirty="0">
                <a:solidFill>
                  <a:srgbClr val="33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4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)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r>
              <a:rPr lang="en-US" altLang="zh-TW" sz="2000" dirty="0">
                <a:solidFill>
                  <a:srgbClr val="008000"/>
                </a:solidFill>
                <a:latin typeface="Consolas" panose="020B0609020204030204" pitchFamily="49" charset="0"/>
              </a:rPr>
              <a:t> // square will be defined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/* Function definition */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square( 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y * y;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2772" name="Rectangle 8"/>
          <p:cNvSpPr>
            <a:spLocks noChangeArrowheads="1"/>
          </p:cNvSpPr>
          <p:nvPr/>
        </p:nvSpPr>
        <p:spPr bwMode="auto">
          <a:xfrm>
            <a:off x="1524000" y="0"/>
            <a:ext cx="496888" cy="483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rIns="90000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32774" name="Rectangle 10"/>
          <p:cNvSpPr>
            <a:spLocks noChangeArrowheads="1"/>
          </p:cNvSpPr>
          <p:nvPr/>
        </p:nvSpPr>
        <p:spPr bwMode="auto">
          <a:xfrm>
            <a:off x="1985964" y="1033740"/>
            <a:ext cx="2890837" cy="36933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32775" name="Rectangle 11"/>
          <p:cNvSpPr>
            <a:spLocks noChangeArrowheads="1"/>
          </p:cNvSpPr>
          <p:nvPr/>
        </p:nvSpPr>
        <p:spPr bwMode="auto">
          <a:xfrm>
            <a:off x="1676401" y="5334000"/>
            <a:ext cx="8843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b="0" dirty="0">
                <a:latin typeface="Calibri" panose="020F0502020204030204" pitchFamily="34" charset="0"/>
              </a:rPr>
              <a:t>A </a:t>
            </a:r>
            <a:r>
              <a:rPr lang="en-US" altLang="zh-TW" sz="2800" b="0" u="sng" dirty="0">
                <a:latin typeface="Calibri" panose="020F0502020204030204" pitchFamily="34" charset="0"/>
              </a:rPr>
              <a:t>function prototype</a:t>
            </a:r>
            <a:r>
              <a:rPr lang="en-US" altLang="zh-TW" sz="2800" b="0" dirty="0">
                <a:latin typeface="Calibri" panose="020F0502020204030204" pitchFamily="34" charset="0"/>
              </a:rPr>
              <a:t> provides a compiler info about a function.</a:t>
            </a:r>
          </a:p>
        </p:txBody>
      </p:sp>
      <p:sp>
        <p:nvSpPr>
          <p:cNvPr id="360461" name="Rectangle 13"/>
          <p:cNvSpPr>
            <a:spLocks noChangeArrowheads="1"/>
          </p:cNvSpPr>
          <p:nvPr/>
        </p:nvSpPr>
        <p:spPr bwMode="auto">
          <a:xfrm>
            <a:off x="5951538" y="2590800"/>
            <a:ext cx="4716462" cy="2743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b="0" dirty="0">
                <a:latin typeface="Calibri" panose="020F0502020204030204" pitchFamily="34" charset="0"/>
              </a:rPr>
              <a:t>Tells a compiler that:</a:t>
            </a: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square</a:t>
            </a:r>
            <a:r>
              <a:rPr lang="en-US" altLang="zh-TW" sz="2400" b="0" dirty="0">
                <a:latin typeface="Calibri" panose="020F0502020204030204" pitchFamily="34" charset="0"/>
              </a:rPr>
              <a:t> is a function name.</a:t>
            </a: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TW" sz="2400" b="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Calibri" panose="020F0502020204030204" pitchFamily="34" charset="0"/>
              </a:rPr>
              <a:t>The function takes an argument of type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</a:rPr>
              <a:t>.</a:t>
            </a:r>
            <a:endParaRPr lang="en-US" altLang="zh-TW" sz="2400" b="0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TW" sz="2400" b="0" dirty="0">
              <a:latin typeface="Calibri" panose="020F0502020204030204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Calibri" panose="020F0502020204030204" pitchFamily="34" charset="0"/>
              </a:rPr>
              <a:t>The function returns a value of type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 dirty="0">
                <a:latin typeface="Calibri" panose="020F0502020204030204" pitchFamily="34" charset="0"/>
              </a:rPr>
              <a:t>.</a:t>
            </a:r>
            <a:endParaRPr lang="en-US" altLang="zh-TW" sz="24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360462" name="Line 14"/>
          <p:cNvSpPr>
            <a:spLocks noChangeShapeType="1"/>
          </p:cNvSpPr>
          <p:nvPr/>
        </p:nvSpPr>
        <p:spPr bwMode="auto">
          <a:xfrm flipH="1" flipV="1">
            <a:off x="4876800" y="1219371"/>
            <a:ext cx="1074738" cy="144762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60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01B54-CF90-4659-B91B-1ECD3C687F19}" type="slidenum">
              <a:rPr lang="zh-TW" altLang="en-US"/>
              <a:pPr/>
              <a:t>42</a:t>
            </a:fld>
            <a:endParaRPr lang="en-US" altLang="zh-TW"/>
          </a:p>
        </p:txBody>
      </p:sp>
      <p:sp>
        <p:nvSpPr>
          <p:cNvPr id="33797" name="Rectangle 22"/>
          <p:cNvSpPr>
            <a:spLocks noGrp="1" noChangeArrowheads="1"/>
          </p:cNvSpPr>
          <p:nvPr>
            <p:ph type="title"/>
          </p:nvPr>
        </p:nvSpPr>
        <p:spPr>
          <a:xfrm>
            <a:off x="1752600" y="76200"/>
            <a:ext cx="8763000" cy="838200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altLang="zh-TW" sz="3200" b="1" dirty="0">
                <a:ea typeface="新細明體"/>
              </a:rPr>
              <a:t>5.1. Function Prototypes</a:t>
            </a:r>
            <a:r>
              <a:rPr lang="en-US" altLang="zh-TW" sz="3200" dirty="0">
                <a:ea typeface="新細明體"/>
              </a:rPr>
              <a:t>: When to use them and why?</a:t>
            </a:r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0" y="1143000"/>
            <a:ext cx="4419600" cy="50292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TW" dirty="0"/>
              <a:t>When a </a:t>
            </a:r>
            <a:r>
              <a:rPr lang="en-US" altLang="zh-TW" dirty="0" err="1"/>
              <a:t>callee</a:t>
            </a:r>
            <a:r>
              <a:rPr lang="en-US" altLang="zh-TW" dirty="0"/>
              <a:t> is defined after its caller in the same file</a:t>
            </a:r>
          </a:p>
          <a:p>
            <a:pPr>
              <a:spcBef>
                <a:spcPct val="0"/>
              </a:spcBef>
            </a:pPr>
            <a:endParaRPr lang="en-US" altLang="zh-TW" dirty="0"/>
          </a:p>
          <a:p>
            <a:pPr>
              <a:spcBef>
                <a:spcPct val="0"/>
              </a:spcBef>
            </a:pPr>
            <a:r>
              <a:rPr lang="en-US" altLang="zh-TW" dirty="0"/>
              <a:t>When a </a:t>
            </a:r>
            <a:r>
              <a:rPr lang="en-US" altLang="zh-TW" dirty="0" err="1"/>
              <a:t>callee</a:t>
            </a:r>
            <a:r>
              <a:rPr lang="en-US" altLang="zh-TW" dirty="0"/>
              <a:t> and its caller are defined in separate source files</a:t>
            </a:r>
          </a:p>
          <a:p>
            <a:pPr lvl="1">
              <a:spcBef>
                <a:spcPct val="0"/>
              </a:spcBef>
            </a:pPr>
            <a:r>
              <a:rPr lang="en-US" altLang="zh-TW" dirty="0"/>
              <a:t>Common in large software project</a:t>
            </a:r>
            <a:endParaRPr lang="zh-TW" altLang="en-US" dirty="0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1905001" y="1143000"/>
            <a:ext cx="3957637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 foo(void)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void bar(void)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altLang="zh-TW" sz="2000" b="0" dirty="0">
              <a:latin typeface="Consolas" panose="020B0609020204030204" pitchFamily="49" charset="0"/>
            </a:endParaRPr>
          </a:p>
          <a:p>
            <a:r>
              <a:rPr lang="en-US" altLang="zh-TW" sz="2000" b="0" dirty="0" err="1">
                <a:latin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foo();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endParaRPr lang="en-US" altLang="zh-TW" sz="2000" b="0" dirty="0">
              <a:latin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</a:rPr>
              <a:t>void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foo()</a:t>
            </a:r>
            <a:r>
              <a:rPr lang="en-US" altLang="zh-TW" sz="2000" b="0" dirty="0">
                <a:latin typeface="Consolas" panose="020B0609020204030204" pitchFamily="49" charset="0"/>
              </a:rPr>
              <a:t> {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if (…)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bar();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  <a:p>
            <a:endParaRPr lang="en-US" altLang="zh-TW" sz="2000" b="0" dirty="0">
              <a:latin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</a:rPr>
              <a:t>void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</a:rPr>
              <a:t>bar()</a:t>
            </a:r>
            <a:r>
              <a:rPr lang="en-US" altLang="zh-TW" sz="2000" b="0" dirty="0">
                <a:latin typeface="Consolas" panose="020B0609020204030204" pitchFamily="49" charset="0"/>
              </a:rPr>
              <a:t> {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if (…)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foo()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2000" b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5676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64CFA-81BC-4EDD-998C-C529557942DE}" type="slidenum">
              <a:rPr lang="zh-TW" altLang="en-US"/>
              <a:pPr/>
              <a:t>43</a:t>
            </a:fld>
            <a:endParaRPr lang="en-US" altLang="zh-TW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ea typeface="新細明體"/>
              </a:rPr>
              <a:t>5.2. Function Prototypes</a:t>
            </a:r>
            <a:r>
              <a:rPr lang="en-US" altLang="zh-TW" sz="3200" dirty="0">
                <a:ea typeface="新細明體"/>
              </a:rPr>
              <a:t> (Syntax)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Function prototype is like a function definition but </a:t>
            </a:r>
            <a:r>
              <a:rPr lang="en-US" altLang="zh-TW" sz="2800" u="sng" dirty="0"/>
              <a:t>without the body</a:t>
            </a:r>
            <a:r>
              <a:rPr lang="en-US" altLang="zh-TW" sz="2800" dirty="0"/>
              <a:t>.</a:t>
            </a:r>
          </a:p>
          <a:p>
            <a:pPr>
              <a:lnSpc>
                <a:spcPct val="90000"/>
              </a:lnSpc>
            </a:pPr>
            <a:endParaRPr lang="en-US" altLang="zh-TW" sz="700" dirty="0">
              <a:cs typeface="Consolas" panose="020B0609020204030204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b="1" u="sng" dirty="0">
                <a:cs typeface="Consolas" panose="020B0609020204030204" pitchFamily="49" charset="0"/>
              </a:rPr>
              <a:t>Function </a:t>
            </a:r>
            <a:r>
              <a:rPr lang="en-US" altLang="zh-TW" sz="2400" b="1" i="1" u="sng" dirty="0">
                <a:cs typeface="Consolas" panose="020B0609020204030204" pitchFamily="49" charset="0"/>
              </a:rPr>
              <a:t>definition</a:t>
            </a:r>
            <a:endParaRPr lang="en-US" altLang="zh-TW" sz="2400" b="1" i="1" u="sng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	double foo(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x, double y,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A[],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B[][64] ) {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 		  …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	}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zh-TW" sz="1500" u="sng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b="1" u="sng" dirty="0"/>
              <a:t>Function </a:t>
            </a:r>
            <a:r>
              <a:rPr lang="en-US" altLang="zh-TW" sz="2400" b="1" i="1" u="sng" dirty="0"/>
              <a:t>prototype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	double foo(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x, double y,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A[],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</a:rPr>
              <a:t> B[][64] );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TW" sz="2200" dirty="0">
                <a:solidFill>
                  <a:srgbClr val="0070C0"/>
                </a:solidFill>
              </a:rPr>
              <a:t>				</a:t>
            </a:r>
            <a:r>
              <a:rPr lang="en-US" altLang="zh-TW" sz="2200" dirty="0"/>
              <a:t>	or</a:t>
            </a:r>
            <a:endParaRPr lang="en-US" altLang="zh-TW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double foo(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double,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[], </a:t>
            </a:r>
            <a:r>
              <a:rPr lang="en-US" altLang="zh-TW" sz="2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[][64]);</a:t>
            </a:r>
          </a:p>
          <a:p>
            <a:pPr lvl="1">
              <a:lnSpc>
                <a:spcPct val="90000"/>
              </a:lnSpc>
              <a:buNone/>
            </a:pPr>
            <a:endParaRPr lang="en-US" altLang="zh-TW" sz="15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Parameter names are optional in function prototypes.</a:t>
            </a:r>
          </a:p>
          <a:p>
            <a:pPr lvl="1">
              <a:lnSpc>
                <a:spcPct val="90000"/>
              </a:lnSpc>
            </a:pPr>
            <a:r>
              <a:rPr lang="en-US" altLang="zh-TW" sz="2400" u="sng" dirty="0"/>
              <a:t>Function name</a:t>
            </a:r>
            <a:r>
              <a:rPr lang="en-US" altLang="zh-TW" sz="2400" dirty="0"/>
              <a:t>, </a:t>
            </a:r>
            <a:r>
              <a:rPr lang="en-US" altLang="zh-TW" sz="2400" u="sng" dirty="0"/>
              <a:t>return type</a:t>
            </a:r>
            <a:r>
              <a:rPr lang="en-US" altLang="zh-TW" sz="2400" dirty="0"/>
              <a:t>, and </a:t>
            </a:r>
            <a:r>
              <a:rPr lang="en-US" altLang="zh-TW" sz="2400" u="sng" dirty="0"/>
              <a:t>parameter types</a:t>
            </a:r>
            <a:r>
              <a:rPr lang="en-US" altLang="zh-TW" sz="2400" dirty="0"/>
              <a:t> must match between a function definition and its function prototype.</a:t>
            </a:r>
            <a:endParaRPr lang="en-US" altLang="zh-TW" sz="2400" b="1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None/>
            </a:pPr>
            <a:endParaRPr lang="en-US" altLang="zh-TW" sz="2400" dirty="0">
              <a:solidFill>
                <a:srgbClr val="0000FF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7D901A5-0369-D5A4-F703-1FC92C72D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621" y="2667001"/>
            <a:ext cx="2843702" cy="691571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HK" sz="2000" dirty="0"/>
              <a:t>Passing </a:t>
            </a:r>
            <a:r>
              <a:rPr lang="en-US" altLang="zh-HK" sz="2000" i="1" dirty="0">
                <a:solidFill>
                  <a:schemeClr val="accent4">
                    <a:lumMod val="75000"/>
                  </a:schemeClr>
                </a:solidFill>
              </a:rPr>
              <a:t>Array</a:t>
            </a:r>
            <a:r>
              <a:rPr lang="en-US" altLang="zh-HK" sz="2000" dirty="0"/>
              <a:t> to function, shall be discussed later.</a:t>
            </a:r>
            <a:endParaRPr lang="en-US" altLang="zh-HK" sz="20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8637F6CF-4857-5487-CD8D-CA62A9F2BC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8999" y="3352800"/>
            <a:ext cx="609601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B8DA108-77EB-E212-0977-B9C6E12FB9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90056" y="3352801"/>
            <a:ext cx="149145" cy="35585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4E00C5C8-A6B9-B0C6-B31A-E997AC27D7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62800" y="2514600"/>
            <a:ext cx="520821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DF61D30A-D342-EACA-3D8A-099899620C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86800" y="2438400"/>
            <a:ext cx="1524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43179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E1EE8-BE2B-47DF-A8B3-3C50A5E35520}" type="slidenum">
              <a:rPr lang="zh-TW" altLang="en-US"/>
              <a:pPr/>
              <a:t>44</a:t>
            </a:fld>
            <a:endParaRPr lang="en-US" altLang="zh-TW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6. Calling Pre-defined Functions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 dirty="0"/>
              <a:t>C language provides many built-in functions. To use them, you have to know the following info (which can be found in manuals):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</a:rPr>
              <a:t>name, functionality, parameters, return value</a:t>
            </a:r>
          </a:p>
          <a:p>
            <a:pPr lvl="4"/>
            <a:endParaRPr lang="en-US" altLang="zh-TW" sz="1500" dirty="0">
              <a:solidFill>
                <a:srgbClr val="0000FF"/>
              </a:solidFill>
            </a:endParaRPr>
          </a:p>
          <a:p>
            <a:r>
              <a:rPr lang="en-US" altLang="zh-TW" sz="2800" dirty="0"/>
              <a:t>You also need to know which </a:t>
            </a:r>
            <a:r>
              <a:rPr lang="en-US" altLang="zh-TW" sz="2800" i="1" dirty="0">
                <a:solidFill>
                  <a:srgbClr val="0070C0"/>
                </a:solidFill>
              </a:rPr>
              <a:t>header file(s)</a:t>
            </a:r>
            <a:r>
              <a:rPr lang="en-US" altLang="zh-TW" sz="2800" dirty="0"/>
              <a:t> to include.</a:t>
            </a:r>
          </a:p>
          <a:p>
            <a:pPr marL="0" indent="0">
              <a:buNone/>
            </a:pPr>
            <a:r>
              <a:rPr lang="en-US" altLang="zh-TW" sz="2800" dirty="0"/>
              <a:t>     e.g.:</a:t>
            </a:r>
          </a:p>
          <a:p>
            <a:pPr lvl="1"/>
            <a:r>
              <a:rPr lang="en-US" altLang="zh-TW" sz="2400" dirty="0"/>
              <a:t>To use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(…)</a:t>
            </a:r>
            <a:r>
              <a:rPr lang="en-US" altLang="zh-TW" sz="2400" dirty="0"/>
              <a:t>, you have to include "</a:t>
            </a:r>
            <a:r>
              <a:rPr lang="en-US" altLang="zh-TW" sz="2400" dirty="0" err="1"/>
              <a:t>stdio.h</a:t>
            </a:r>
            <a:r>
              <a:rPr lang="en-US" altLang="zh-TW" sz="2400" dirty="0"/>
              <a:t>" with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	#include &lt;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altLang="zh-TW" sz="2400" dirty="0"/>
              <a:t>To use math functions, you have to include "</a:t>
            </a:r>
            <a:r>
              <a:rPr lang="en-US" altLang="zh-TW" sz="2400" dirty="0" err="1"/>
              <a:t>math.h</a:t>
            </a:r>
            <a:r>
              <a:rPr lang="en-US" altLang="zh-TW" sz="2400" dirty="0"/>
              <a:t>" with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math.h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endParaRPr lang="en-US" altLang="zh-TW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568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DCDC-BB7F-502E-1E8D-E7482716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6.1 Absolute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1C23-08BC-5FFF-C3D1-A7516779F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Sometimes, we care about the magnitude of the value, instead of the sign of the value</a:t>
            </a:r>
          </a:p>
          <a:p>
            <a:pPr lvl="1"/>
            <a:r>
              <a:rPr lang="en-US" dirty="0">
                <a:cs typeface="Calibri"/>
              </a:rPr>
              <a:t>The function prototype: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cs typeface="Calibri"/>
              </a:rPr>
              <a:t>Example: Absolute difference of two numbers.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70057-724F-0318-0958-47F47B4F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6640C-104F-136B-7F6D-48750F3F5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545" y="2628378"/>
            <a:ext cx="3466704" cy="79937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abs(</a:t>
            </a: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sz="2000" b="0" dirty="0">
                <a:solidFill>
                  <a:srgbClr val="0066FF"/>
                </a:solidFill>
                <a:latin typeface="Consolas"/>
                <a:ea typeface="新細明體"/>
                <a:cs typeface="Times New Roman"/>
              </a:rPr>
              <a:t> </a:t>
            </a:r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x); 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 </a:t>
            </a:r>
            <a:r>
              <a:rPr lang="en-US" sz="2000" b="0" dirty="0" err="1">
                <a:latin typeface="Consolas"/>
                <a:ea typeface="新細明體"/>
                <a:cs typeface="Times New Roman"/>
              </a:rPr>
              <a:t>f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abs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double 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x); </a:t>
            </a:r>
            <a:endParaRPr lang="en-US" dirty="0">
              <a:latin typeface="Consolas"/>
              <a:cs typeface="Times New Roman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F641459-0C13-D99C-92A4-3E371492D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941" y="2588900"/>
            <a:ext cx="4828783" cy="830997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sz="2400" dirty="0">
                <a:ea typeface="新細明體"/>
              </a:rPr>
              <a:t>If x ≥ 0, both functions return x.</a:t>
            </a:r>
          </a:p>
          <a:p>
            <a:r>
              <a:rPr lang="en-US" altLang="zh-TW" sz="2400" dirty="0">
                <a:ea typeface="新細明體"/>
                <a:cs typeface="Calibri"/>
              </a:rPr>
              <a:t>If x &lt; 0, both functions return -x.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018F40-71CD-2A3B-A61D-89E8C5653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545" y="4319392"/>
            <a:ext cx="8560621" cy="13839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t">
            <a:no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("Diff = %d\n", abs(7 - 3));        </a:t>
            </a:r>
            <a:r>
              <a:rPr lang="en-US" altLang="zh-TW" sz="2000" b="0" dirty="0">
                <a:solidFill>
                  <a:srgbClr val="00B050"/>
                </a:solidFill>
                <a:latin typeface="Consolas"/>
                <a:ea typeface="新細明體"/>
                <a:cs typeface="Times New Roman"/>
              </a:rPr>
              <a:t>// Diff = 4</a:t>
            </a:r>
            <a:endParaRPr lang="en-US" dirty="0">
              <a:solidFill>
                <a:srgbClr val="00B050"/>
              </a:solidFill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("Diff = %d\n", abs(3 - 7));     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Times New Roman"/>
              </a:rPr>
              <a:t> // Diff = 4</a:t>
            </a: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cs typeface="Times New Roman"/>
              </a:rPr>
              <a:t>printf</a:t>
            </a:r>
            <a:r>
              <a:rPr lang="en-US" sz="2000" b="0" dirty="0">
                <a:latin typeface="Consolas"/>
                <a:cs typeface="Times New Roman"/>
              </a:rPr>
              <a:t>("Diff = %.2f\n", </a:t>
            </a:r>
            <a:r>
              <a:rPr lang="en-US" sz="2000" b="0" dirty="0" err="1">
                <a:latin typeface="Consolas"/>
                <a:cs typeface="Times New Roman"/>
              </a:rPr>
              <a:t>fabs</a:t>
            </a:r>
            <a:r>
              <a:rPr lang="en-US" sz="2000" b="0" dirty="0">
                <a:latin typeface="Consolas"/>
                <a:cs typeface="Times New Roman"/>
              </a:rPr>
              <a:t>(1 - 0.5));  </a:t>
            </a:r>
            <a:r>
              <a:rPr lang="en-US" sz="2000" b="0" dirty="0">
                <a:solidFill>
                  <a:srgbClr val="00B050"/>
                </a:solidFill>
                <a:latin typeface="Consolas"/>
                <a:ea typeface="新細明體"/>
                <a:cs typeface="Times New Roman"/>
              </a:rPr>
              <a:t> // Diff = 0.50</a:t>
            </a:r>
          </a:p>
          <a:p>
            <a:pPr>
              <a:lnSpc>
                <a:spcPct val="110000"/>
              </a:lnSpc>
            </a:pPr>
            <a:r>
              <a:rPr lang="en-US" sz="2000" b="0" dirty="0" err="1">
                <a:solidFill>
                  <a:srgbClr val="000000"/>
                </a:solidFill>
                <a:latin typeface="Consolas"/>
                <a:cs typeface="Times New Roman"/>
              </a:rPr>
              <a:t>printf</a:t>
            </a:r>
            <a:r>
              <a:rPr lang="en-US" sz="2000" b="0" dirty="0">
                <a:solidFill>
                  <a:srgbClr val="000000"/>
                </a:solidFill>
                <a:latin typeface="Consolas"/>
                <a:cs typeface="Times New Roman"/>
              </a:rPr>
              <a:t>("Diff = %.2f\n", </a:t>
            </a:r>
            <a:r>
              <a:rPr lang="en-US" sz="2000" b="0" dirty="0" err="1">
                <a:solidFill>
                  <a:srgbClr val="000000"/>
                </a:solidFill>
                <a:latin typeface="Consolas"/>
                <a:cs typeface="Times New Roman"/>
              </a:rPr>
              <a:t>fabs</a:t>
            </a:r>
            <a:r>
              <a:rPr lang="en-US" sz="2000" b="0" dirty="0">
                <a:solidFill>
                  <a:srgbClr val="000000"/>
                </a:solidFill>
                <a:latin typeface="Consolas"/>
                <a:cs typeface="Times New Roman"/>
              </a:rPr>
              <a:t>(0.5 - 1));  </a:t>
            </a:r>
            <a:r>
              <a:rPr lang="en-US" sz="2000" b="0" dirty="0">
                <a:latin typeface="Consolas"/>
                <a:cs typeface="Times New Roman"/>
              </a:rPr>
              <a:t> </a:t>
            </a:r>
            <a:r>
              <a:rPr lang="en-US" sz="2000" b="0" dirty="0">
                <a:solidFill>
                  <a:srgbClr val="00B050"/>
                </a:solidFill>
                <a:latin typeface="Consolas"/>
                <a:cs typeface="Times New Roman"/>
              </a:rPr>
              <a:t>// Diff = 0.50</a:t>
            </a:r>
            <a:endParaRPr lang="en-US" dirty="0">
              <a:solidFill>
                <a:srgbClr val="00B05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0681142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8274-1410-6433-6356-68CA81BC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939408" cy="838200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6.1 Example: Comparing two floating point numbers</a:t>
            </a:r>
            <a:endParaRPr lang="en-US" sz="3200" dirty="0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B7B07-99B0-C07F-EC56-2B4AED2F5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12E84-35AE-86C0-4939-1047DA84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199763-DF3C-F3CB-4C73-B23DED58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888" y="949889"/>
            <a:ext cx="8647112" cy="55601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/>
                <a:cs typeface="Times New Roman"/>
              </a:rPr>
              <a:t>#include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&lt;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stdio.h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#include &lt;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math.h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&gt;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double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pi = 3.14;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double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x = pi * pi * 1110.12345;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double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y = 1110.12345 * pi * pi;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B05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// never do this again!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if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 x == y ) 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("V1: Same\n");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("V1: Different\n");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B05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// remember this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if 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 </a:t>
            </a:r>
            <a:r>
              <a:rPr lang="en-US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fabs</a:t>
            </a:r>
            <a:r>
              <a:rPr lang="en-US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Times New Roman"/>
              </a:rPr>
              <a:t>(x - y) &lt; 1e-8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)</a:t>
            </a:r>
            <a:endParaRPr lang="en-US" b="0" dirty="0">
              <a:latin typeface="Consolas" panose="020B0609020204030204" pitchFamily="49" charset="0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("V2: Same\n");</a:t>
            </a:r>
            <a:endParaRPr lang="en-US" b="0" dirty="0">
              <a:latin typeface="Consolas" panose="020B0609020204030204" pitchFamily="49" charset="0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</a:t>
            </a: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b="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printf</a:t>
            </a:r>
            <a:r>
              <a:rPr lang="en-US" b="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Times New Roman"/>
              </a:rPr>
              <a:t>("V2: Different\n");</a:t>
            </a:r>
            <a:endParaRPr 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3BA2C11-D85F-6D04-1E97-D670F15D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949892"/>
            <a:ext cx="496888" cy="557691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45720" rIns="90000" bIns="45720" anchor="t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</a:rPr>
              <a:t>14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15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16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17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/>
                <a:ea typeface="新細明體"/>
                <a:cs typeface="Times New Roman"/>
              </a:rPr>
              <a:t>18</a:t>
            </a:r>
            <a:endParaRPr lang="en-US" altLang="zh-TW" b="0" dirty="0">
              <a:solidFill>
                <a:srgbClr val="5F5F5F"/>
              </a:solidFill>
              <a:latin typeface="Consolas" panose="020B0609020204030204" pitchFamily="49" charset="0"/>
              <a:ea typeface="新細明體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384662F-E8C1-82AB-2D5D-EF2BE8E8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580" y="3082446"/>
            <a:ext cx="3754983" cy="156966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400" b="0" dirty="0">
                <a:latin typeface="Calibri"/>
                <a:ea typeface="新細明體"/>
                <a:cs typeface="Times New Roman"/>
              </a:rPr>
              <a:t>This checks the absolute difference between x and y is less than 1e-8 (10</a:t>
            </a:r>
            <a:r>
              <a:rPr lang="en-US" altLang="zh-TW" sz="2400" b="0" baseline="30000" dirty="0">
                <a:latin typeface="Calibri"/>
                <a:ea typeface="新細明體"/>
                <a:cs typeface="Times New Roman"/>
              </a:rPr>
              <a:t>-8</a:t>
            </a:r>
            <a:r>
              <a:rPr lang="en-US" altLang="zh-TW" sz="2400" b="0" dirty="0">
                <a:latin typeface="Calibri"/>
                <a:ea typeface="新細明體"/>
                <a:cs typeface="Times New Roman"/>
              </a:rPr>
              <a:t>), </a:t>
            </a:r>
            <a:r>
              <a:rPr lang="en-US" altLang="zh-TW" sz="2400" b="0" dirty="0" err="1">
                <a:latin typeface="Calibri"/>
                <a:ea typeface="新細明體"/>
                <a:cs typeface="Times New Roman"/>
              </a:rPr>
              <a:t>ie</a:t>
            </a:r>
            <a:r>
              <a:rPr lang="en-US" altLang="zh-TW" sz="2400" b="0" dirty="0">
                <a:latin typeface="Calibri"/>
                <a:ea typeface="新細明體"/>
                <a:cs typeface="Times New Roman"/>
              </a:rPr>
              <a:t>. A very small number</a:t>
            </a:r>
            <a:endParaRPr lang="en-US" dirty="0"/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FA07E931-B984-13B4-32BE-836CE8585C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4321392"/>
            <a:ext cx="1228592" cy="33071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7DEE86E-61AF-BDFB-ECB9-0362864C5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471" y="5646107"/>
            <a:ext cx="2446473" cy="707886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V1: Different</a:t>
            </a:r>
          </a:p>
          <a:p>
            <a:r>
              <a:rPr lang="en-US" altLang="zh-TW" sz="2000" b="0" dirty="0">
                <a:latin typeface="Consolas"/>
                <a:ea typeface="新細明體"/>
                <a:cs typeface="Times New Roman"/>
              </a:rPr>
              <a:t>V2: Same</a:t>
            </a:r>
            <a:endParaRPr lang="en-US" altLang="zh-TW" sz="2000" b="0" dirty="0">
              <a:latin typeface="Consolas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250551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7709-8093-4ED7-963D-6E92D5798EED}" type="slidenum">
              <a:rPr lang="zh-TW" altLang="en-US"/>
              <a:pPr/>
              <a:t>47</a:t>
            </a:fld>
            <a:endParaRPr lang="en-US" altLang="zh-TW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Understand what "functions", "parameters/arguments", "return value/type" are</a:t>
            </a:r>
            <a:endParaRPr lang="en-US" altLang="zh-TW" sz="28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endParaRPr lang="en-US" altLang="zh-TW" sz="2800" dirty="0"/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Understand what is happening during a function call / </a:t>
            </a:r>
            <a:r>
              <a:rPr lang="en-US" altLang="zh-TW" sz="2800" b="1" u="sng" dirty="0">
                <a:ea typeface="新細明體"/>
              </a:rPr>
              <a:t>TRACE</a:t>
            </a:r>
            <a:endParaRPr lang="en-US" altLang="zh-TW" sz="1800" b="1" u="sng" dirty="0">
              <a:ea typeface="新細明體"/>
            </a:endParaRPr>
          </a:p>
          <a:p>
            <a:pPr>
              <a:lnSpc>
                <a:spcPct val="90000"/>
              </a:lnSpc>
            </a:pPr>
            <a:endParaRPr lang="en-US" altLang="zh-TW" sz="2800" dirty="0"/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Know how to define and call a function</a:t>
            </a:r>
            <a:endParaRPr lang="en-US" altLang="zh-TW" sz="28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a typeface="+mn-lt"/>
                <a:cs typeface="+mn-lt"/>
              </a:rPr>
              <a:t>Understand how a </a:t>
            </a:r>
            <a:r>
              <a:rPr lang="en-US" sz="2800" b="1" u="sng" dirty="0">
                <a:ea typeface="+mn-lt"/>
                <a:cs typeface="+mn-lt"/>
              </a:rPr>
              <a:t>return</a:t>
            </a:r>
            <a:r>
              <a:rPr lang="en-US" sz="2800" dirty="0">
                <a:ea typeface="+mn-lt"/>
                <a:cs typeface="+mn-lt"/>
              </a:rPr>
              <a:t> statement can interrupt the flow of execution in a function</a:t>
            </a:r>
          </a:p>
          <a:p>
            <a:pPr>
              <a:lnSpc>
                <a:spcPct val="90000"/>
              </a:lnSpc>
            </a:pPr>
            <a:endParaRPr lang="en-US" sz="28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ea typeface="+mn-lt"/>
                <a:cs typeface="+mn-lt"/>
              </a:rPr>
              <a:t>Understand why we need function prototypes and how to declare them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684310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5 C Functions</a:t>
            </a:r>
          </a:p>
          <a:p>
            <a:pPr lvl="1"/>
            <a:r>
              <a:rPr lang="en-US" dirty="0"/>
              <a:t>Sections 5.1 – 5.5: Function Basics and examples</a:t>
            </a:r>
          </a:p>
          <a:p>
            <a:pPr lvl="1"/>
            <a:r>
              <a:rPr lang="en-US" dirty="0"/>
              <a:t>Sections 5.6: Function Prototypes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2210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7212</TotalTime>
  <Words>4657</Words>
  <Application>Microsoft Macintosh PowerPoint</Application>
  <PresentationFormat>宽屏</PresentationFormat>
  <Paragraphs>1111</Paragraphs>
  <Slides>48</Slides>
  <Notes>32</Notes>
  <HiddenSlides>5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7" baseType="lpstr">
      <vt:lpstr>Cambria Math</vt:lpstr>
      <vt:lpstr>Calibri</vt:lpstr>
      <vt:lpstr>Wingdings</vt:lpstr>
      <vt:lpstr>Segoe UI Emoji</vt:lpstr>
      <vt:lpstr>PMingLiU</vt:lpstr>
      <vt:lpstr>Consolas</vt:lpstr>
      <vt:lpstr>Arial</vt:lpstr>
      <vt:lpstr>Times New Roman</vt:lpstr>
      <vt:lpstr>Office Theme</vt:lpstr>
      <vt:lpstr>Functions (Basic)</vt:lpstr>
      <vt:lpstr>Outline</vt:lpstr>
      <vt:lpstr>1.1. What is a Function?</vt:lpstr>
      <vt:lpstr>1.2. A Simple Function</vt:lpstr>
      <vt:lpstr>1.3. Function Name</vt:lpstr>
      <vt:lpstr>1.4. Calling/Invoking A Function</vt:lpstr>
      <vt:lpstr>1.5. Terminology: Caller and Callee</vt:lpstr>
      <vt:lpstr>1.6. Control Flow During a Function Call – Part 1</vt:lpstr>
      <vt:lpstr>1.6. Control Flow During a Function Call – Part 2</vt:lpstr>
      <vt:lpstr>1.6. Control Flow During a Function Call – Part 3</vt:lpstr>
      <vt:lpstr>1.7. Variables declared in one function are not accessible by another function</vt:lpstr>
      <vt:lpstr>1.7. Variables declared in a function are local to that function</vt:lpstr>
      <vt:lpstr>Advantages of Using Functions</vt:lpstr>
      <vt:lpstr>Functions</vt:lpstr>
      <vt:lpstr>Functions: Write once, use it multiple times.</vt:lpstr>
      <vt:lpstr>2. Parameters</vt:lpstr>
      <vt:lpstr>2.1. Formal and Actual Parameters</vt:lpstr>
      <vt:lpstr>2.2. How values are passed to a function</vt:lpstr>
      <vt:lpstr>2.3. Defining a function with parameters (Syntax)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Outline</vt:lpstr>
      <vt:lpstr>3. Return Value</vt:lpstr>
      <vt:lpstr>3.1. Returning a Value From a Function</vt:lpstr>
      <vt:lpstr>3.1. Returning a Value From a Function</vt:lpstr>
      <vt:lpstr>3.2. Defining a function that returns a value (Syntax)</vt:lpstr>
      <vt:lpstr>3.3. Evaluating an expression containing function calls</vt:lpstr>
      <vt:lpstr>4. Interrupting Control Flow with return </vt:lpstr>
      <vt:lpstr>4.1. Example</vt:lpstr>
      <vt:lpstr>4.1. Example (with multiple return’s)</vt:lpstr>
      <vt:lpstr>4.1. Example (with only one return)</vt:lpstr>
      <vt:lpstr>4.2. Using return without a returning value</vt:lpstr>
      <vt:lpstr>4.3. Additional info about returning a value</vt:lpstr>
      <vt:lpstr>Outline</vt:lpstr>
      <vt:lpstr>5. Function Prototypes (原型)</vt:lpstr>
      <vt:lpstr>PowerPoint 演示文稿</vt:lpstr>
      <vt:lpstr>PowerPoint 演示文稿</vt:lpstr>
      <vt:lpstr>PowerPoint 演示文稿</vt:lpstr>
      <vt:lpstr>5.1. Function Prototypes: When to use them and why?</vt:lpstr>
      <vt:lpstr>5.2. Function Prototypes (Syntax)</vt:lpstr>
      <vt:lpstr>6. Calling Pre-defined Functions</vt:lpstr>
      <vt:lpstr>6.1 Absolute values</vt:lpstr>
      <vt:lpstr>6.1 Example: Comparing two floating point numbers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/>
  <cp:lastModifiedBy>LIU, Zeyu</cp:lastModifiedBy>
  <cp:revision>12</cp:revision>
  <dcterms:created xsi:type="dcterms:W3CDTF">2011-07-19T12:51:33Z</dcterms:created>
  <dcterms:modified xsi:type="dcterms:W3CDTF">2025-10-23T11:14:30Z</dcterms:modified>
</cp:coreProperties>
</file>