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420" r:id="rId2"/>
    <p:sldId id="322" r:id="rId3"/>
    <p:sldId id="256" r:id="rId4"/>
    <p:sldId id="259" r:id="rId5"/>
    <p:sldId id="385" r:id="rId6"/>
    <p:sldId id="390" r:id="rId7"/>
    <p:sldId id="382" r:id="rId8"/>
    <p:sldId id="386" r:id="rId9"/>
    <p:sldId id="383" r:id="rId10"/>
    <p:sldId id="384" r:id="rId11"/>
    <p:sldId id="387" r:id="rId12"/>
    <p:sldId id="395" r:id="rId13"/>
    <p:sldId id="388" r:id="rId14"/>
    <p:sldId id="417" r:id="rId15"/>
    <p:sldId id="412" r:id="rId16"/>
    <p:sldId id="389" r:id="rId17"/>
    <p:sldId id="418" r:id="rId18"/>
    <p:sldId id="413" r:id="rId19"/>
    <p:sldId id="397" r:id="rId20"/>
    <p:sldId id="399" r:id="rId21"/>
    <p:sldId id="414" r:id="rId22"/>
    <p:sldId id="398" r:id="rId23"/>
    <p:sldId id="400" r:id="rId24"/>
    <p:sldId id="415" r:id="rId25"/>
    <p:sldId id="421" r:id="rId26"/>
    <p:sldId id="401" r:id="rId27"/>
    <p:sldId id="403" r:id="rId28"/>
    <p:sldId id="419" r:id="rId29"/>
    <p:sldId id="404" r:id="rId30"/>
    <p:sldId id="416" r:id="rId31"/>
    <p:sldId id="406" r:id="rId32"/>
    <p:sldId id="407" r:id="rId33"/>
    <p:sldId id="408" r:id="rId34"/>
    <p:sldId id="308" r:id="rId35"/>
    <p:sldId id="411" r:id="rId36"/>
    <p:sldId id="394" r:id="rId37"/>
    <p:sldId id="392" r:id="rId38"/>
    <p:sldId id="410" r:id="rId39"/>
    <p:sldId id="409" r:id="rId40"/>
  </p:sldIdLst>
  <p:sldSz cx="12192000" cy="6858000"/>
  <p:notesSz cx="6858000" cy="9144000"/>
  <p:embeddedFontLst>
    <p:embeddedFont>
      <p:font typeface="Consolas" panose="020B0609020204030204" pitchFamily="49" charset="0"/>
      <p:regular r:id="rId43"/>
      <p:bold r:id="rId44"/>
      <p:italic r:id="rId45"/>
      <p:boldItalic r:id="rId46"/>
    </p:embeddedFont>
    <p:embeddedFont>
      <p:font typeface="Helvetica" pitchFamily="2" charset="0"/>
      <p:regular r:id="rId47"/>
      <p:bold r:id="rId48"/>
      <p:italic r:id="rId49"/>
      <p:boldItalic r:id="rId50"/>
    </p:embeddedFont>
    <p:embeddedFont>
      <p:font typeface="PMingLiU" panose="02020500000000000000" pitchFamily="18" charset="-120"/>
      <p:regular r:id="rId51"/>
    </p:embeddedFont>
  </p:embeddedFontLst>
  <p:custDataLst>
    <p:tags r:id="rId5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CC"/>
    <a:srgbClr val="FFFFCC"/>
    <a:srgbClr val="750F6D"/>
    <a:srgbClr val="0000FF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C62FDF-3E8C-4807-BEEA-6D78164B27B6}" v="188" dt="2025-11-03T02:48:50.7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80"/>
    <p:restoredTop sz="94640"/>
  </p:normalViewPr>
  <p:slideViewPr>
    <p:cSldViewPr snapToGrid="0">
      <p:cViewPr varScale="1">
        <p:scale>
          <a:sx n="111" d="100"/>
          <a:sy n="111" d="100"/>
        </p:scale>
        <p:origin x="656" y="2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92"/>
    </p:cViewPr>
  </p:sorter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47" Type="http://schemas.openxmlformats.org/officeDocument/2006/relationships/font" Target="fonts/font5.fntdata"/><Relationship Id="rId50" Type="http://schemas.openxmlformats.org/officeDocument/2006/relationships/font" Target="fonts/font8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3.fntdata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9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7.fntdata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52" Type="http://schemas.openxmlformats.org/officeDocument/2006/relationships/tags" Target="tags/tag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li Jiang (CSD)" userId="7c291cd4-aa97-4867-8d2d-ebf5c1c3b419" providerId="ADAL" clId="{8FBD0129-C0BB-4F8A-B9D2-D31C5DC212F7}"/>
    <pc:docChg chg="undo custSel addSld modSld sldOrd">
      <pc:chgData name="Yuli Jiang (CSD)" userId="7c291cd4-aa97-4867-8d2d-ebf5c1c3b419" providerId="ADAL" clId="{8FBD0129-C0BB-4F8A-B9D2-D31C5DC212F7}" dt="2025-11-03T02:51:48.428" v="1220" actId="20577"/>
      <pc:docMkLst>
        <pc:docMk/>
      </pc:docMkLst>
      <pc:sldChg chg="addSp delSp modSp mod delAnim modAnim">
        <pc:chgData name="Yuli Jiang (CSD)" userId="7c291cd4-aa97-4867-8d2d-ebf5c1c3b419" providerId="ADAL" clId="{8FBD0129-C0BB-4F8A-B9D2-D31C5DC212F7}" dt="2025-11-03T02:50:29.901" v="1216" actId="14100"/>
        <pc:sldMkLst>
          <pc:docMk/>
          <pc:sldMk cId="2369003110" sldId="308"/>
        </pc:sldMkLst>
        <pc:spChg chg="add mod">
          <ac:chgData name="Yuli Jiang (CSD)" userId="7c291cd4-aa97-4867-8d2d-ebf5c1c3b419" providerId="ADAL" clId="{8FBD0129-C0BB-4F8A-B9D2-D31C5DC212F7}" dt="2025-11-03T02:50:24.350" v="1214" actId="1076"/>
          <ac:spMkLst>
            <pc:docMk/>
            <pc:sldMk cId="2369003110" sldId="308"/>
            <ac:spMk id="2" creationId="{1341AC14-0AF6-1D04-54DD-E1261BD8BE8C}"/>
          </ac:spMkLst>
        </pc:spChg>
        <pc:spChg chg="del">
          <ac:chgData name="Yuli Jiang (CSD)" userId="7c291cd4-aa97-4867-8d2d-ebf5c1c3b419" providerId="ADAL" clId="{8FBD0129-C0BB-4F8A-B9D2-D31C5DC212F7}" dt="2025-11-02T18:03:22.823" v="144" actId="478"/>
          <ac:spMkLst>
            <pc:docMk/>
            <pc:sldMk cId="2369003110" sldId="308"/>
            <ac:spMk id="2" creationId="{B7FECB39-2821-A5D1-1588-552FD43156B8}"/>
          </ac:spMkLst>
        </pc:spChg>
        <pc:spChg chg="add mod">
          <ac:chgData name="Yuli Jiang (CSD)" userId="7c291cd4-aa97-4867-8d2d-ebf5c1c3b419" providerId="ADAL" clId="{8FBD0129-C0BB-4F8A-B9D2-D31C5DC212F7}" dt="2025-11-02T18:41:24.311" v="837" actId="13926"/>
          <ac:spMkLst>
            <pc:docMk/>
            <pc:sldMk cId="2369003110" sldId="308"/>
            <ac:spMk id="3" creationId="{F32C3139-E7E2-00B7-FAB3-28632F083EB9}"/>
          </ac:spMkLst>
        </pc:spChg>
        <pc:spChg chg="add mod">
          <ac:chgData name="Yuli Jiang (CSD)" userId="7c291cd4-aa97-4867-8d2d-ebf5c1c3b419" providerId="ADAL" clId="{8FBD0129-C0BB-4F8A-B9D2-D31C5DC212F7}" dt="2025-11-03T02:50:29.901" v="1216" actId="14100"/>
          <ac:spMkLst>
            <pc:docMk/>
            <pc:sldMk cId="2369003110" sldId="308"/>
            <ac:spMk id="6" creationId="{D03BCB4C-5FE5-0BD4-54F2-33021C20946F}"/>
          </ac:spMkLst>
        </pc:spChg>
        <pc:spChg chg="mod">
          <ac:chgData name="Yuli Jiang (CSD)" userId="7c291cd4-aa97-4867-8d2d-ebf5c1c3b419" providerId="ADAL" clId="{8FBD0129-C0BB-4F8A-B9D2-D31C5DC212F7}" dt="2025-11-03T02:50:04.365" v="1213" actId="14100"/>
          <ac:spMkLst>
            <pc:docMk/>
            <pc:sldMk cId="2369003110" sldId="308"/>
            <ac:spMk id="118787" creationId="{00000000-0000-0000-0000-000000000000}"/>
          </ac:spMkLst>
        </pc:spChg>
      </pc:sldChg>
      <pc:sldChg chg="ord">
        <pc:chgData name="Yuli Jiang (CSD)" userId="7c291cd4-aa97-4867-8d2d-ebf5c1c3b419" providerId="ADAL" clId="{8FBD0129-C0BB-4F8A-B9D2-D31C5DC212F7}" dt="2025-11-02T17:49:14.080" v="31"/>
        <pc:sldMkLst>
          <pc:docMk/>
          <pc:sldMk cId="743491572" sldId="382"/>
        </pc:sldMkLst>
      </pc:sldChg>
      <pc:sldChg chg="addSp delSp modSp mod modAnim">
        <pc:chgData name="Yuli Jiang (CSD)" userId="7c291cd4-aa97-4867-8d2d-ebf5c1c3b419" providerId="ADAL" clId="{8FBD0129-C0BB-4F8A-B9D2-D31C5DC212F7}" dt="2025-11-02T18:55:58.649" v="1079" actId="1076"/>
        <pc:sldMkLst>
          <pc:docMk/>
          <pc:sldMk cId="2458953853" sldId="383"/>
        </pc:sldMkLst>
        <pc:spChg chg="del mod">
          <ac:chgData name="Yuli Jiang (CSD)" userId="7c291cd4-aa97-4867-8d2d-ebf5c1c3b419" providerId="ADAL" clId="{8FBD0129-C0BB-4F8A-B9D2-D31C5DC212F7}" dt="2025-11-02T18:55:54.089" v="1077" actId="478"/>
          <ac:spMkLst>
            <pc:docMk/>
            <pc:sldMk cId="2458953853" sldId="383"/>
            <ac:spMk id="2" creationId="{F854DCFA-BC02-9D73-1893-D00D69BCB486}"/>
          </ac:spMkLst>
        </pc:spChg>
        <pc:spChg chg="del mod">
          <ac:chgData name="Yuli Jiang (CSD)" userId="7c291cd4-aa97-4867-8d2d-ebf5c1c3b419" providerId="ADAL" clId="{8FBD0129-C0BB-4F8A-B9D2-D31C5DC212F7}" dt="2025-11-02T18:53:51.109" v="1052" actId="478"/>
          <ac:spMkLst>
            <pc:docMk/>
            <pc:sldMk cId="2458953853" sldId="383"/>
            <ac:spMk id="3" creationId="{00000000-0000-0000-0000-000000000000}"/>
          </ac:spMkLst>
        </pc:spChg>
        <pc:spChg chg="add mod">
          <ac:chgData name="Yuli Jiang (CSD)" userId="7c291cd4-aa97-4867-8d2d-ebf5c1c3b419" providerId="ADAL" clId="{8FBD0129-C0BB-4F8A-B9D2-D31C5DC212F7}" dt="2025-11-02T17:52:45.309" v="50"/>
          <ac:spMkLst>
            <pc:docMk/>
            <pc:sldMk cId="2458953853" sldId="383"/>
            <ac:spMk id="4" creationId="{677EA99E-B528-882F-CCCB-CB601C7E62AB}"/>
          </ac:spMkLst>
        </pc:spChg>
        <pc:spChg chg="add mod">
          <ac:chgData name="Yuli Jiang (CSD)" userId="7c291cd4-aa97-4867-8d2d-ebf5c1c3b419" providerId="ADAL" clId="{8FBD0129-C0BB-4F8A-B9D2-D31C5DC212F7}" dt="2025-11-02T17:52:45.309" v="50"/>
          <ac:spMkLst>
            <pc:docMk/>
            <pc:sldMk cId="2458953853" sldId="383"/>
            <ac:spMk id="7" creationId="{4AAC6613-647D-2C93-A68F-59A8780AB0E4}"/>
          </ac:spMkLst>
        </pc:spChg>
        <pc:spChg chg="mod">
          <ac:chgData name="Yuli Jiang (CSD)" userId="7c291cd4-aa97-4867-8d2d-ebf5c1c3b419" providerId="ADAL" clId="{8FBD0129-C0BB-4F8A-B9D2-D31C5DC212F7}" dt="2025-11-02T18:55:49.729" v="1076"/>
          <ac:spMkLst>
            <pc:docMk/>
            <pc:sldMk cId="2458953853" sldId="383"/>
            <ac:spMk id="10" creationId="{00000000-0000-0000-0000-000000000000}"/>
          </ac:spMkLst>
        </pc:spChg>
        <pc:spChg chg="mod ord">
          <ac:chgData name="Yuli Jiang (CSD)" userId="7c291cd4-aa97-4867-8d2d-ebf5c1c3b419" providerId="ADAL" clId="{8FBD0129-C0BB-4F8A-B9D2-D31C5DC212F7}" dt="2025-11-02T18:55:58.649" v="1079" actId="1076"/>
          <ac:spMkLst>
            <pc:docMk/>
            <pc:sldMk cId="2458953853" sldId="383"/>
            <ac:spMk id="108546" creationId="{00000000-0000-0000-0000-000000000000}"/>
          </ac:spMkLst>
        </pc:spChg>
      </pc:sldChg>
      <pc:sldChg chg="addSp modSp">
        <pc:chgData name="Yuli Jiang (CSD)" userId="7c291cd4-aa97-4867-8d2d-ebf5c1c3b419" providerId="ADAL" clId="{8FBD0129-C0BB-4F8A-B9D2-D31C5DC212F7}" dt="2025-11-02T18:56:26.539" v="1081" actId="115"/>
        <pc:sldMkLst>
          <pc:docMk/>
          <pc:sldMk cId="4216806017" sldId="384"/>
        </pc:sldMkLst>
        <pc:spChg chg="add mod">
          <ac:chgData name="Yuli Jiang (CSD)" userId="7c291cd4-aa97-4867-8d2d-ebf5c1c3b419" providerId="ADAL" clId="{8FBD0129-C0BB-4F8A-B9D2-D31C5DC212F7}" dt="2025-11-02T17:52:46.649" v="51"/>
          <ac:spMkLst>
            <pc:docMk/>
            <pc:sldMk cId="4216806017" sldId="384"/>
            <ac:spMk id="2" creationId="{8D59C57F-8008-E44C-1F22-E1365B993F7D}"/>
          </ac:spMkLst>
        </pc:spChg>
        <pc:spChg chg="add mod">
          <ac:chgData name="Yuli Jiang (CSD)" userId="7c291cd4-aa97-4867-8d2d-ebf5c1c3b419" providerId="ADAL" clId="{8FBD0129-C0BB-4F8A-B9D2-D31C5DC212F7}" dt="2025-11-02T17:52:46.649" v="51"/>
          <ac:spMkLst>
            <pc:docMk/>
            <pc:sldMk cId="4216806017" sldId="384"/>
            <ac:spMk id="3" creationId="{5D854FB8-7C63-012A-1611-FFF866061363}"/>
          </ac:spMkLst>
        </pc:spChg>
        <pc:spChg chg="mod">
          <ac:chgData name="Yuli Jiang (CSD)" userId="7c291cd4-aa97-4867-8d2d-ebf5c1c3b419" providerId="ADAL" clId="{8FBD0129-C0BB-4F8A-B9D2-D31C5DC212F7}" dt="2025-11-02T18:56:26.539" v="1081" actId="115"/>
          <ac:spMkLst>
            <pc:docMk/>
            <pc:sldMk cId="4216806017" sldId="384"/>
            <ac:spMk id="10" creationId="{00000000-0000-0000-0000-000000000000}"/>
          </ac:spMkLst>
        </pc:spChg>
      </pc:sldChg>
      <pc:sldChg chg="modSp mod modShow">
        <pc:chgData name="Yuli Jiang (CSD)" userId="7c291cd4-aa97-4867-8d2d-ebf5c1c3b419" providerId="ADAL" clId="{8FBD0129-C0BB-4F8A-B9D2-D31C5DC212F7}" dt="2025-11-02T17:50:19.982" v="37" actId="729"/>
        <pc:sldMkLst>
          <pc:docMk/>
          <pc:sldMk cId="1469296175" sldId="385"/>
        </pc:sldMkLst>
        <pc:spChg chg="mod">
          <ac:chgData name="Yuli Jiang (CSD)" userId="7c291cd4-aa97-4867-8d2d-ebf5c1c3b419" providerId="ADAL" clId="{8FBD0129-C0BB-4F8A-B9D2-D31C5DC212F7}" dt="2025-11-02T17:49:45.770" v="36" actId="403"/>
          <ac:spMkLst>
            <pc:docMk/>
            <pc:sldMk cId="1469296175" sldId="385"/>
            <ac:spMk id="8196" creationId="{00000000-0000-0000-0000-000000000000}"/>
          </ac:spMkLst>
        </pc:spChg>
      </pc:sldChg>
      <pc:sldChg chg="addSp modSp mod modTransition">
        <pc:chgData name="Yuli Jiang (CSD)" userId="7c291cd4-aa97-4867-8d2d-ebf5c1c3b419" providerId="ADAL" clId="{8FBD0129-C0BB-4F8A-B9D2-D31C5DC212F7}" dt="2025-11-02T18:52:22.682" v="1046" actId="1076"/>
        <pc:sldMkLst>
          <pc:docMk/>
          <pc:sldMk cId="1407391018" sldId="386"/>
        </pc:sldMkLst>
        <pc:spChg chg="add mod">
          <ac:chgData name="Yuli Jiang (CSD)" userId="7c291cd4-aa97-4867-8d2d-ebf5c1c3b419" providerId="ADAL" clId="{8FBD0129-C0BB-4F8A-B9D2-D31C5DC212F7}" dt="2025-11-02T18:52:22.682" v="1046" actId="1076"/>
          <ac:spMkLst>
            <pc:docMk/>
            <pc:sldMk cId="1407391018" sldId="386"/>
            <ac:spMk id="3" creationId="{AEE4DF54-3108-745F-BDE1-FDCCDF36DDC1}"/>
          </ac:spMkLst>
        </pc:spChg>
        <pc:spChg chg="mod">
          <ac:chgData name="Yuli Jiang (CSD)" userId="7c291cd4-aa97-4867-8d2d-ebf5c1c3b419" providerId="ADAL" clId="{8FBD0129-C0BB-4F8A-B9D2-D31C5DC212F7}" dt="2025-11-02T18:52:20.037" v="1045" actId="27636"/>
          <ac:spMkLst>
            <pc:docMk/>
            <pc:sldMk cId="1407391018" sldId="386"/>
            <ac:spMk id="581635" creationId="{00000000-0000-0000-0000-000000000000}"/>
          </ac:spMkLst>
        </pc:spChg>
      </pc:sldChg>
      <pc:sldChg chg="addSp modSp">
        <pc:chgData name="Yuli Jiang (CSD)" userId="7c291cd4-aa97-4867-8d2d-ebf5c1c3b419" providerId="ADAL" clId="{8FBD0129-C0BB-4F8A-B9D2-D31C5DC212F7}" dt="2025-11-02T17:52:49.061" v="52"/>
        <pc:sldMkLst>
          <pc:docMk/>
          <pc:sldMk cId="92146439" sldId="387"/>
        </pc:sldMkLst>
        <pc:spChg chg="add mod">
          <ac:chgData name="Yuli Jiang (CSD)" userId="7c291cd4-aa97-4867-8d2d-ebf5c1c3b419" providerId="ADAL" clId="{8FBD0129-C0BB-4F8A-B9D2-D31C5DC212F7}" dt="2025-11-02T17:52:49.061" v="52"/>
          <ac:spMkLst>
            <pc:docMk/>
            <pc:sldMk cId="92146439" sldId="387"/>
            <ac:spMk id="2" creationId="{69270BD9-EA96-6547-335A-A15A2696C8FC}"/>
          </ac:spMkLst>
        </pc:spChg>
        <pc:spChg chg="add mod">
          <ac:chgData name="Yuli Jiang (CSD)" userId="7c291cd4-aa97-4867-8d2d-ebf5c1c3b419" providerId="ADAL" clId="{8FBD0129-C0BB-4F8A-B9D2-D31C5DC212F7}" dt="2025-11-02T17:52:49.061" v="52"/>
          <ac:spMkLst>
            <pc:docMk/>
            <pc:sldMk cId="92146439" sldId="387"/>
            <ac:spMk id="3" creationId="{F65ABA4F-98FE-8C8C-0E4D-11B47BAFE28D}"/>
          </ac:spMkLst>
        </pc:spChg>
      </pc:sldChg>
      <pc:sldChg chg="modSp">
        <pc:chgData name="Yuli Jiang (CSD)" userId="7c291cd4-aa97-4867-8d2d-ebf5c1c3b419" providerId="ADAL" clId="{8FBD0129-C0BB-4F8A-B9D2-D31C5DC212F7}" dt="2025-11-02T17:54:35.922" v="73" actId="1076"/>
        <pc:sldMkLst>
          <pc:docMk/>
          <pc:sldMk cId="569942825" sldId="388"/>
        </pc:sldMkLst>
        <pc:spChg chg="mod">
          <ac:chgData name="Yuli Jiang (CSD)" userId="7c291cd4-aa97-4867-8d2d-ebf5c1c3b419" providerId="ADAL" clId="{8FBD0129-C0BB-4F8A-B9D2-D31C5DC212F7}" dt="2025-11-02T17:54:35.922" v="73" actId="1076"/>
          <ac:spMkLst>
            <pc:docMk/>
            <pc:sldMk cId="569942825" sldId="388"/>
            <ac:spMk id="10" creationId="{00000000-0000-0000-0000-000000000000}"/>
          </ac:spMkLst>
        </pc:spChg>
      </pc:sldChg>
      <pc:sldChg chg="modSp">
        <pc:chgData name="Yuli Jiang (CSD)" userId="7c291cd4-aa97-4867-8d2d-ebf5c1c3b419" providerId="ADAL" clId="{8FBD0129-C0BB-4F8A-B9D2-D31C5DC212F7}" dt="2025-11-02T18:58:57.152" v="1096" actId="1076"/>
        <pc:sldMkLst>
          <pc:docMk/>
          <pc:sldMk cId="1304222779" sldId="389"/>
        </pc:sldMkLst>
        <pc:spChg chg="mod">
          <ac:chgData name="Yuli Jiang (CSD)" userId="7c291cd4-aa97-4867-8d2d-ebf5c1c3b419" providerId="ADAL" clId="{8FBD0129-C0BB-4F8A-B9D2-D31C5DC212F7}" dt="2025-11-02T18:58:57.152" v="1096" actId="1076"/>
          <ac:spMkLst>
            <pc:docMk/>
            <pc:sldMk cId="1304222779" sldId="389"/>
            <ac:spMk id="11" creationId="{00000000-0000-0000-0000-000000000000}"/>
          </ac:spMkLst>
        </pc:spChg>
      </pc:sldChg>
      <pc:sldChg chg="modSp mod modTransition">
        <pc:chgData name="Yuli Jiang (CSD)" userId="7c291cd4-aa97-4867-8d2d-ebf5c1c3b419" providerId="ADAL" clId="{8FBD0129-C0BB-4F8A-B9D2-D31C5DC212F7}" dt="2025-11-02T17:50:44.700" v="39" actId="1076"/>
        <pc:sldMkLst>
          <pc:docMk/>
          <pc:sldMk cId="774024287" sldId="390"/>
        </pc:sldMkLst>
        <pc:spChg chg="mod">
          <ac:chgData name="Yuli Jiang (CSD)" userId="7c291cd4-aa97-4867-8d2d-ebf5c1c3b419" providerId="ADAL" clId="{8FBD0129-C0BB-4F8A-B9D2-D31C5DC212F7}" dt="2025-11-02T17:47:50.436" v="22" actId="1076"/>
          <ac:spMkLst>
            <pc:docMk/>
            <pc:sldMk cId="774024287" sldId="390"/>
            <ac:spMk id="6" creationId="{00000000-0000-0000-0000-000000000000}"/>
          </ac:spMkLst>
        </pc:spChg>
        <pc:spChg chg="mod">
          <ac:chgData name="Yuli Jiang (CSD)" userId="7c291cd4-aa97-4867-8d2d-ebf5c1c3b419" providerId="ADAL" clId="{8FBD0129-C0BB-4F8A-B9D2-D31C5DC212F7}" dt="2025-11-02T17:47:53.184" v="23" actId="14100"/>
          <ac:spMkLst>
            <pc:docMk/>
            <pc:sldMk cId="774024287" sldId="390"/>
            <ac:spMk id="15" creationId="{08853B86-DAD8-8080-50F3-DFA685172820}"/>
          </ac:spMkLst>
        </pc:spChg>
        <pc:spChg chg="mod">
          <ac:chgData name="Yuli Jiang (CSD)" userId="7c291cd4-aa97-4867-8d2d-ebf5c1c3b419" providerId="ADAL" clId="{8FBD0129-C0BB-4F8A-B9D2-D31C5DC212F7}" dt="2025-11-02T17:48:15.980" v="29" actId="1076"/>
          <ac:spMkLst>
            <pc:docMk/>
            <pc:sldMk cId="774024287" sldId="390"/>
            <ac:spMk id="19" creationId="{00000000-0000-0000-0000-000000000000}"/>
          </ac:spMkLst>
        </pc:spChg>
        <pc:spChg chg="mod">
          <ac:chgData name="Yuli Jiang (CSD)" userId="7c291cd4-aa97-4867-8d2d-ebf5c1c3b419" providerId="ADAL" clId="{8FBD0129-C0BB-4F8A-B9D2-D31C5DC212F7}" dt="2025-11-02T17:50:44.700" v="39" actId="1076"/>
          <ac:spMkLst>
            <pc:docMk/>
            <pc:sldMk cId="774024287" sldId="390"/>
            <ac:spMk id="24" creationId="{00000000-0000-0000-0000-000000000000}"/>
          </ac:spMkLst>
        </pc:spChg>
        <pc:spChg chg="mod">
          <ac:chgData name="Yuli Jiang (CSD)" userId="7c291cd4-aa97-4867-8d2d-ebf5c1c3b419" providerId="ADAL" clId="{8FBD0129-C0BB-4F8A-B9D2-D31C5DC212F7}" dt="2025-11-02T17:50:41.450" v="38" actId="1076"/>
          <ac:spMkLst>
            <pc:docMk/>
            <pc:sldMk cId="774024287" sldId="390"/>
            <ac:spMk id="26" creationId="{00000000-0000-0000-0000-000000000000}"/>
          </ac:spMkLst>
        </pc:spChg>
      </pc:sldChg>
      <pc:sldChg chg="modSp mod">
        <pc:chgData name="Yuli Jiang (CSD)" userId="7c291cd4-aa97-4867-8d2d-ebf5c1c3b419" providerId="ADAL" clId="{8FBD0129-C0BB-4F8A-B9D2-D31C5DC212F7}" dt="2025-11-02T18:49:56.139" v="1024" actId="5793"/>
        <pc:sldMkLst>
          <pc:docMk/>
          <pc:sldMk cId="3991833874" sldId="392"/>
        </pc:sldMkLst>
        <pc:spChg chg="mod">
          <ac:chgData name="Yuli Jiang (CSD)" userId="7c291cd4-aa97-4867-8d2d-ebf5c1c3b419" providerId="ADAL" clId="{8FBD0129-C0BB-4F8A-B9D2-D31C5DC212F7}" dt="2025-11-02T18:49:56.139" v="1024" actId="5793"/>
          <ac:spMkLst>
            <pc:docMk/>
            <pc:sldMk cId="3991833874" sldId="392"/>
            <ac:spMk id="3" creationId="{00000000-0000-0000-0000-000000000000}"/>
          </ac:spMkLst>
        </pc:spChg>
      </pc:sldChg>
      <pc:sldChg chg="modSp mod">
        <pc:chgData name="Yuli Jiang (CSD)" userId="7c291cd4-aa97-4867-8d2d-ebf5c1c3b419" providerId="ADAL" clId="{8FBD0129-C0BB-4F8A-B9D2-D31C5DC212F7}" dt="2025-11-02T18:50:23.069" v="1026" actId="403"/>
        <pc:sldMkLst>
          <pc:docMk/>
          <pc:sldMk cId="3844208864" sldId="394"/>
        </pc:sldMkLst>
        <pc:spChg chg="mod">
          <ac:chgData name="Yuli Jiang (CSD)" userId="7c291cd4-aa97-4867-8d2d-ebf5c1c3b419" providerId="ADAL" clId="{8FBD0129-C0BB-4F8A-B9D2-D31C5DC212F7}" dt="2025-11-02T18:50:23.069" v="1026" actId="403"/>
          <ac:spMkLst>
            <pc:docMk/>
            <pc:sldMk cId="3844208864" sldId="394"/>
            <ac:spMk id="3" creationId="{00000000-0000-0000-0000-000000000000}"/>
          </ac:spMkLst>
        </pc:spChg>
      </pc:sldChg>
      <pc:sldChg chg="modSp mod">
        <pc:chgData name="Yuli Jiang (CSD)" userId="7c291cd4-aa97-4867-8d2d-ebf5c1c3b419" providerId="ADAL" clId="{8FBD0129-C0BB-4F8A-B9D2-D31C5DC212F7}" dt="2025-11-02T17:53:56.089" v="65" actId="20577"/>
        <pc:sldMkLst>
          <pc:docMk/>
          <pc:sldMk cId="3458066092" sldId="395"/>
        </pc:sldMkLst>
        <pc:spChg chg="mod">
          <ac:chgData name="Yuli Jiang (CSD)" userId="7c291cd4-aa97-4867-8d2d-ebf5c1c3b419" providerId="ADAL" clId="{8FBD0129-C0BB-4F8A-B9D2-D31C5DC212F7}" dt="2025-11-02T17:53:56.089" v="65" actId="20577"/>
          <ac:spMkLst>
            <pc:docMk/>
            <pc:sldMk cId="3458066092" sldId="395"/>
            <ac:spMk id="3" creationId="{00000000-0000-0000-0000-000000000000}"/>
          </ac:spMkLst>
        </pc:spChg>
        <pc:spChg chg="mod">
          <ac:chgData name="Yuli Jiang (CSD)" userId="7c291cd4-aa97-4867-8d2d-ebf5c1c3b419" providerId="ADAL" clId="{8FBD0129-C0BB-4F8A-B9D2-D31C5DC212F7}" dt="2025-11-02T17:53:28.703" v="55" actId="1076"/>
          <ac:spMkLst>
            <pc:docMk/>
            <pc:sldMk cId="3458066092" sldId="395"/>
            <ac:spMk id="7" creationId="{52AA37BF-4D24-84AA-1148-A24192767340}"/>
          </ac:spMkLst>
        </pc:spChg>
      </pc:sldChg>
      <pc:sldChg chg="addSp modSp mod">
        <pc:chgData name="Yuli Jiang (CSD)" userId="7c291cd4-aa97-4867-8d2d-ebf5c1c3b419" providerId="ADAL" clId="{8FBD0129-C0BB-4F8A-B9D2-D31C5DC212F7}" dt="2025-11-02T19:02:17.382" v="1128" actId="14100"/>
        <pc:sldMkLst>
          <pc:docMk/>
          <pc:sldMk cId="828062854" sldId="397"/>
        </pc:sldMkLst>
        <pc:spChg chg="mod">
          <ac:chgData name="Yuli Jiang (CSD)" userId="7c291cd4-aa97-4867-8d2d-ebf5c1c3b419" providerId="ADAL" clId="{8FBD0129-C0BB-4F8A-B9D2-D31C5DC212F7}" dt="2025-11-02T19:02:17.382" v="1128" actId="14100"/>
          <ac:spMkLst>
            <pc:docMk/>
            <pc:sldMk cId="828062854" sldId="397"/>
            <ac:spMk id="3" creationId="{00000000-0000-0000-0000-000000000000}"/>
          </ac:spMkLst>
        </pc:spChg>
        <pc:spChg chg="mod">
          <ac:chgData name="Yuli Jiang (CSD)" userId="7c291cd4-aa97-4867-8d2d-ebf5c1c3b419" providerId="ADAL" clId="{8FBD0129-C0BB-4F8A-B9D2-D31C5DC212F7}" dt="2025-11-02T19:01:50.261" v="1116" actId="1076"/>
          <ac:spMkLst>
            <pc:docMk/>
            <pc:sldMk cId="828062854" sldId="397"/>
            <ac:spMk id="5" creationId="{00000000-0000-0000-0000-000000000000}"/>
          </ac:spMkLst>
        </pc:spChg>
        <pc:spChg chg="mod">
          <ac:chgData name="Yuli Jiang (CSD)" userId="7c291cd4-aa97-4867-8d2d-ebf5c1c3b419" providerId="ADAL" clId="{8FBD0129-C0BB-4F8A-B9D2-D31C5DC212F7}" dt="2025-11-02T19:02:04.871" v="1119" actId="13822"/>
          <ac:spMkLst>
            <pc:docMk/>
            <pc:sldMk cId="828062854" sldId="397"/>
            <ac:spMk id="6" creationId="{2ABCF9CD-C00B-07E2-5386-E5C03CC61CAB}"/>
          </ac:spMkLst>
        </pc:spChg>
        <pc:spChg chg="mod">
          <ac:chgData name="Yuli Jiang (CSD)" userId="7c291cd4-aa97-4867-8d2d-ebf5c1c3b419" providerId="ADAL" clId="{8FBD0129-C0BB-4F8A-B9D2-D31C5DC212F7}" dt="2025-11-02T19:01:50.261" v="1116" actId="1076"/>
          <ac:spMkLst>
            <pc:docMk/>
            <pc:sldMk cId="828062854" sldId="397"/>
            <ac:spMk id="7" creationId="{866517D5-0A64-AFE5-DB9B-C62AA6DC4FB9}"/>
          </ac:spMkLst>
        </pc:spChg>
        <pc:spChg chg="add mod ord">
          <ac:chgData name="Yuli Jiang (CSD)" userId="7c291cd4-aa97-4867-8d2d-ebf5c1c3b419" providerId="ADAL" clId="{8FBD0129-C0BB-4F8A-B9D2-D31C5DC212F7}" dt="2025-11-02T19:01:50.261" v="1116" actId="1076"/>
          <ac:spMkLst>
            <pc:docMk/>
            <pc:sldMk cId="828062854" sldId="397"/>
            <ac:spMk id="8" creationId="{0A6533DF-20F9-F691-B593-F633BE963A51}"/>
          </ac:spMkLst>
        </pc:spChg>
      </pc:sldChg>
      <pc:sldChg chg="delSp modSp mod modAnim">
        <pc:chgData name="Yuli Jiang (CSD)" userId="7c291cd4-aa97-4867-8d2d-ebf5c1c3b419" providerId="ADAL" clId="{8FBD0129-C0BB-4F8A-B9D2-D31C5DC212F7}" dt="2025-11-02T19:02:57.819" v="1132" actId="13926"/>
        <pc:sldMkLst>
          <pc:docMk/>
          <pc:sldMk cId="4199362674" sldId="399"/>
        </pc:sldMkLst>
        <pc:spChg chg="mod">
          <ac:chgData name="Yuli Jiang (CSD)" userId="7c291cd4-aa97-4867-8d2d-ebf5c1c3b419" providerId="ADAL" clId="{8FBD0129-C0BB-4F8A-B9D2-D31C5DC212F7}" dt="2025-11-02T18:00:43.874" v="125" actId="20577"/>
          <ac:spMkLst>
            <pc:docMk/>
            <pc:sldMk cId="4199362674" sldId="399"/>
            <ac:spMk id="2" creationId="{F7643EC8-08AA-A5F3-29A2-BA75DA98C228}"/>
          </ac:spMkLst>
        </pc:spChg>
        <pc:spChg chg="del">
          <ac:chgData name="Yuli Jiang (CSD)" userId="7c291cd4-aa97-4867-8d2d-ebf5c1c3b419" providerId="ADAL" clId="{8FBD0129-C0BB-4F8A-B9D2-D31C5DC212F7}" dt="2025-11-02T19:02:48.432" v="1131" actId="478"/>
          <ac:spMkLst>
            <pc:docMk/>
            <pc:sldMk cId="4199362674" sldId="399"/>
            <ac:spMk id="8" creationId="{00000000-0000-0000-0000-000000000000}"/>
          </ac:spMkLst>
        </pc:spChg>
        <pc:spChg chg="mod ord">
          <ac:chgData name="Yuli Jiang (CSD)" userId="7c291cd4-aa97-4867-8d2d-ebf5c1c3b419" providerId="ADAL" clId="{8FBD0129-C0BB-4F8A-B9D2-D31C5DC212F7}" dt="2025-11-02T19:02:57.819" v="1132" actId="13926"/>
          <ac:spMkLst>
            <pc:docMk/>
            <pc:sldMk cId="4199362674" sldId="399"/>
            <ac:spMk id="108546" creationId="{00000000-0000-0000-0000-000000000000}"/>
          </ac:spMkLst>
        </pc:spChg>
      </pc:sldChg>
      <pc:sldChg chg="addSp delSp modSp mod modAnim">
        <pc:chgData name="Yuli Jiang (CSD)" userId="7c291cd4-aa97-4867-8d2d-ebf5c1c3b419" providerId="ADAL" clId="{8FBD0129-C0BB-4F8A-B9D2-D31C5DC212F7}" dt="2025-11-02T19:15:13.669" v="1196" actId="14100"/>
        <pc:sldMkLst>
          <pc:docMk/>
          <pc:sldMk cId="2544477084" sldId="400"/>
        </pc:sldMkLst>
        <pc:spChg chg="add mod">
          <ac:chgData name="Yuli Jiang (CSD)" userId="7c291cd4-aa97-4867-8d2d-ebf5c1c3b419" providerId="ADAL" clId="{8FBD0129-C0BB-4F8A-B9D2-D31C5DC212F7}" dt="2025-11-02T19:15:05.469" v="1194" actId="1076"/>
          <ac:spMkLst>
            <pc:docMk/>
            <pc:sldMk cId="2544477084" sldId="400"/>
            <ac:spMk id="2" creationId="{444231DD-F3D4-9275-7F8E-7DC518DE9DDE}"/>
          </ac:spMkLst>
        </pc:spChg>
        <pc:spChg chg="del mod topLvl">
          <ac:chgData name="Yuli Jiang (CSD)" userId="7c291cd4-aa97-4867-8d2d-ebf5c1c3b419" providerId="ADAL" clId="{8FBD0129-C0BB-4F8A-B9D2-D31C5DC212F7}" dt="2025-11-02T19:05:55.559" v="1136" actId="478"/>
          <ac:spMkLst>
            <pc:docMk/>
            <pc:sldMk cId="2544477084" sldId="400"/>
            <ac:spMk id="8" creationId="{00000000-0000-0000-0000-000000000000}"/>
          </ac:spMkLst>
        </pc:spChg>
        <pc:spChg chg="del">
          <ac:chgData name="Yuli Jiang (CSD)" userId="7c291cd4-aa97-4867-8d2d-ebf5c1c3b419" providerId="ADAL" clId="{8FBD0129-C0BB-4F8A-B9D2-D31C5DC212F7}" dt="2025-11-02T19:06:27.011" v="1150" actId="478"/>
          <ac:spMkLst>
            <pc:docMk/>
            <pc:sldMk cId="2544477084" sldId="400"/>
            <ac:spMk id="10" creationId="{00000000-0000-0000-0000-000000000000}"/>
          </ac:spMkLst>
        </pc:spChg>
        <pc:spChg chg="mod ord topLvl">
          <ac:chgData name="Yuli Jiang (CSD)" userId="7c291cd4-aa97-4867-8d2d-ebf5c1c3b419" providerId="ADAL" clId="{8FBD0129-C0BB-4F8A-B9D2-D31C5DC212F7}" dt="2025-11-02T19:14:48.745" v="1189" actId="20577"/>
          <ac:spMkLst>
            <pc:docMk/>
            <pc:sldMk cId="2544477084" sldId="400"/>
            <ac:spMk id="108546" creationId="{00000000-0000-0000-0000-000000000000}"/>
          </ac:spMkLst>
        </pc:spChg>
        <pc:grpChg chg="del ord">
          <ac:chgData name="Yuli Jiang (CSD)" userId="7c291cd4-aa97-4867-8d2d-ebf5c1c3b419" providerId="ADAL" clId="{8FBD0129-C0BB-4F8A-B9D2-D31C5DC212F7}" dt="2025-11-02T19:05:55.559" v="1136" actId="478"/>
          <ac:grpSpMkLst>
            <pc:docMk/>
            <pc:sldMk cId="2544477084" sldId="400"/>
            <ac:grpSpMk id="7" creationId="{24AFD549-463C-5E60-A26A-2311A6023C6D}"/>
          </ac:grpSpMkLst>
        </pc:grpChg>
        <pc:cxnChg chg="add mod">
          <ac:chgData name="Yuli Jiang (CSD)" userId="7c291cd4-aa97-4867-8d2d-ebf5c1c3b419" providerId="ADAL" clId="{8FBD0129-C0BB-4F8A-B9D2-D31C5DC212F7}" dt="2025-11-02T19:15:13.669" v="1196" actId="14100"/>
          <ac:cxnSpMkLst>
            <pc:docMk/>
            <pc:sldMk cId="2544477084" sldId="400"/>
            <ac:cxnSpMk id="9" creationId="{1C4FA3E9-02CE-544A-DEA2-7EF482A03F89}"/>
          </ac:cxnSpMkLst>
        </pc:cxnChg>
      </pc:sldChg>
      <pc:sldChg chg="ord modAnim">
        <pc:chgData name="Yuli Jiang (CSD)" userId="7c291cd4-aa97-4867-8d2d-ebf5c1c3b419" providerId="ADAL" clId="{8FBD0129-C0BB-4F8A-B9D2-D31C5DC212F7}" dt="2025-11-02T18:37:16.500" v="819"/>
        <pc:sldMkLst>
          <pc:docMk/>
          <pc:sldMk cId="2515751913" sldId="403"/>
        </pc:sldMkLst>
      </pc:sldChg>
      <pc:sldChg chg="modSp mod modAnim">
        <pc:chgData name="Yuli Jiang (CSD)" userId="7c291cd4-aa97-4867-8d2d-ebf5c1c3b419" providerId="ADAL" clId="{8FBD0129-C0BB-4F8A-B9D2-D31C5DC212F7}" dt="2025-11-02T18:37:22.414" v="820"/>
        <pc:sldMkLst>
          <pc:docMk/>
          <pc:sldMk cId="379103974" sldId="404"/>
        </pc:sldMkLst>
        <pc:spChg chg="mod">
          <ac:chgData name="Yuli Jiang (CSD)" userId="7c291cd4-aa97-4867-8d2d-ebf5c1c3b419" providerId="ADAL" clId="{8FBD0129-C0BB-4F8A-B9D2-D31C5DC212F7}" dt="2025-11-02T18:36:32.920" v="816" actId="13926"/>
          <ac:spMkLst>
            <pc:docMk/>
            <pc:sldMk cId="379103974" sldId="404"/>
            <ac:spMk id="108546" creationId="{00000000-0000-0000-0000-000000000000}"/>
          </ac:spMkLst>
        </pc:spChg>
      </pc:sldChg>
      <pc:sldChg chg="modSp mod">
        <pc:chgData name="Yuli Jiang (CSD)" userId="7c291cd4-aa97-4867-8d2d-ebf5c1c3b419" providerId="ADAL" clId="{8FBD0129-C0BB-4F8A-B9D2-D31C5DC212F7}" dt="2025-11-02T18:39:16.720" v="832" actId="13926"/>
        <pc:sldMkLst>
          <pc:docMk/>
          <pc:sldMk cId="3276479647" sldId="406"/>
        </pc:sldMkLst>
        <pc:spChg chg="mod">
          <ac:chgData name="Yuli Jiang (CSD)" userId="7c291cd4-aa97-4867-8d2d-ebf5c1c3b419" providerId="ADAL" clId="{8FBD0129-C0BB-4F8A-B9D2-D31C5DC212F7}" dt="2025-11-02T18:39:16.720" v="832" actId="13926"/>
          <ac:spMkLst>
            <pc:docMk/>
            <pc:sldMk cId="3276479647" sldId="406"/>
            <ac:spMk id="3" creationId="{00000000-0000-0000-0000-000000000000}"/>
          </ac:spMkLst>
        </pc:spChg>
      </pc:sldChg>
      <pc:sldChg chg="ord">
        <pc:chgData name="Yuli Jiang (CSD)" userId="7c291cd4-aa97-4867-8d2d-ebf5c1c3b419" providerId="ADAL" clId="{8FBD0129-C0BB-4F8A-B9D2-D31C5DC212F7}" dt="2025-11-03T02:51:02.002" v="1218"/>
        <pc:sldMkLst>
          <pc:docMk/>
          <pc:sldMk cId="2349464709" sldId="409"/>
        </pc:sldMkLst>
      </pc:sldChg>
      <pc:sldChg chg="modSp mod">
        <pc:chgData name="Yuli Jiang (CSD)" userId="7c291cd4-aa97-4867-8d2d-ebf5c1c3b419" providerId="ADAL" clId="{8FBD0129-C0BB-4F8A-B9D2-D31C5DC212F7}" dt="2025-11-02T18:47:19.363" v="963" actId="15"/>
        <pc:sldMkLst>
          <pc:docMk/>
          <pc:sldMk cId="3704575027" sldId="410"/>
        </pc:sldMkLst>
        <pc:spChg chg="mod">
          <ac:chgData name="Yuli Jiang (CSD)" userId="7c291cd4-aa97-4867-8d2d-ebf5c1c3b419" providerId="ADAL" clId="{8FBD0129-C0BB-4F8A-B9D2-D31C5DC212F7}" dt="2025-11-02T18:47:19.363" v="963" actId="15"/>
          <ac:spMkLst>
            <pc:docMk/>
            <pc:sldMk cId="3704575027" sldId="410"/>
            <ac:spMk id="3" creationId="{00000000-0000-0000-0000-000000000000}"/>
          </ac:spMkLst>
        </pc:spChg>
      </pc:sldChg>
      <pc:sldChg chg="modAnim">
        <pc:chgData name="Yuli Jiang (CSD)" userId="7c291cd4-aa97-4867-8d2d-ebf5c1c3b419" providerId="ADAL" clId="{8FBD0129-C0BB-4F8A-B9D2-D31C5DC212F7}" dt="2025-11-02T18:57:24.469" v="1083"/>
        <pc:sldMkLst>
          <pc:docMk/>
          <pc:sldMk cId="666256513" sldId="412"/>
        </pc:sldMkLst>
      </pc:sldChg>
      <pc:sldChg chg="addSp modSp mod modAnim">
        <pc:chgData name="Yuli Jiang (CSD)" userId="7c291cd4-aa97-4867-8d2d-ebf5c1c3b419" providerId="ADAL" clId="{8FBD0129-C0BB-4F8A-B9D2-D31C5DC212F7}" dt="2025-11-02T19:00:38.500" v="1106" actId="1076"/>
        <pc:sldMkLst>
          <pc:docMk/>
          <pc:sldMk cId="4036717997" sldId="413"/>
        </pc:sldMkLst>
        <pc:spChg chg="mod">
          <ac:chgData name="Yuli Jiang (CSD)" userId="7c291cd4-aa97-4867-8d2d-ebf5c1c3b419" providerId="ADAL" clId="{8FBD0129-C0BB-4F8A-B9D2-D31C5DC212F7}" dt="2025-11-02T19:00:14.909" v="1100" actId="13926"/>
          <ac:spMkLst>
            <pc:docMk/>
            <pc:sldMk cId="4036717997" sldId="413"/>
            <ac:spMk id="2" creationId="{46D80174-02A1-F303-2F3B-617F5E4EE8D8}"/>
          </ac:spMkLst>
        </pc:spChg>
        <pc:spChg chg="add mod">
          <ac:chgData name="Yuli Jiang (CSD)" userId="7c291cd4-aa97-4867-8d2d-ebf5c1c3b419" providerId="ADAL" clId="{8FBD0129-C0BB-4F8A-B9D2-D31C5DC212F7}" dt="2025-11-02T19:00:38.500" v="1106" actId="1076"/>
          <ac:spMkLst>
            <pc:docMk/>
            <pc:sldMk cId="4036717997" sldId="413"/>
            <ac:spMk id="3" creationId="{F3025872-FF17-2493-C642-0E1BAF392AF3}"/>
          </ac:spMkLst>
        </pc:spChg>
      </pc:sldChg>
      <pc:sldChg chg="modSp mod">
        <pc:chgData name="Yuli Jiang (CSD)" userId="7c291cd4-aa97-4867-8d2d-ebf5c1c3b419" providerId="ADAL" clId="{8FBD0129-C0BB-4F8A-B9D2-D31C5DC212F7}" dt="2025-11-02T18:02:14.743" v="136" actId="115"/>
        <pc:sldMkLst>
          <pc:docMk/>
          <pc:sldMk cId="416703953" sldId="414"/>
        </pc:sldMkLst>
        <pc:spChg chg="mod">
          <ac:chgData name="Yuli Jiang (CSD)" userId="7c291cd4-aa97-4867-8d2d-ebf5c1c3b419" providerId="ADAL" clId="{8FBD0129-C0BB-4F8A-B9D2-D31C5DC212F7}" dt="2025-11-02T18:02:14.743" v="136" actId="115"/>
          <ac:spMkLst>
            <pc:docMk/>
            <pc:sldMk cId="416703953" sldId="414"/>
            <ac:spMk id="3" creationId="{00000000-0000-0000-0000-000000000000}"/>
          </ac:spMkLst>
        </pc:spChg>
      </pc:sldChg>
      <pc:sldChg chg="addSp delSp modSp mod ord delAnim">
        <pc:chgData name="Yuli Jiang (CSD)" userId="7c291cd4-aa97-4867-8d2d-ebf5c1c3b419" providerId="ADAL" clId="{8FBD0129-C0BB-4F8A-B9D2-D31C5DC212F7}" dt="2025-11-02T19:09:00.294" v="1182" actId="404"/>
        <pc:sldMkLst>
          <pc:docMk/>
          <pc:sldMk cId="2285902897" sldId="415"/>
        </pc:sldMkLst>
        <pc:spChg chg="mod">
          <ac:chgData name="Yuli Jiang (CSD)" userId="7c291cd4-aa97-4867-8d2d-ebf5c1c3b419" providerId="ADAL" clId="{8FBD0129-C0BB-4F8A-B9D2-D31C5DC212F7}" dt="2025-11-02T18:03:10.455" v="141" actId="1076"/>
          <ac:spMkLst>
            <pc:docMk/>
            <pc:sldMk cId="2285902897" sldId="415"/>
            <ac:spMk id="2" creationId="{83A4B73F-A6F2-3253-2E03-4A21A88B6FF7}"/>
          </ac:spMkLst>
        </pc:spChg>
        <pc:spChg chg="add mod">
          <ac:chgData name="Yuli Jiang (CSD)" userId="7c291cd4-aa97-4867-8d2d-ebf5c1c3b419" providerId="ADAL" clId="{8FBD0129-C0BB-4F8A-B9D2-D31C5DC212F7}" dt="2025-11-02T18:03:01.583" v="138"/>
          <ac:spMkLst>
            <pc:docMk/>
            <pc:sldMk cId="2285902897" sldId="415"/>
            <ac:spMk id="3" creationId="{7C54FB67-404F-BFE0-C706-7F10EAB01A79}"/>
          </ac:spMkLst>
        </pc:spChg>
        <pc:spChg chg="del">
          <ac:chgData name="Yuli Jiang (CSD)" userId="7c291cd4-aa97-4867-8d2d-ebf5c1c3b419" providerId="ADAL" clId="{8FBD0129-C0BB-4F8A-B9D2-D31C5DC212F7}" dt="2025-11-02T18:02:50.755" v="137" actId="478"/>
          <ac:spMkLst>
            <pc:docMk/>
            <pc:sldMk cId="2285902897" sldId="415"/>
            <ac:spMk id="5" creationId="{E6C1FC40-9BC6-D816-04A7-317FEAD2F929}"/>
          </ac:spMkLst>
        </pc:spChg>
        <pc:spChg chg="mod">
          <ac:chgData name="Yuli Jiang (CSD)" userId="7c291cd4-aa97-4867-8d2d-ebf5c1c3b419" providerId="ADAL" clId="{8FBD0129-C0BB-4F8A-B9D2-D31C5DC212F7}" dt="2025-11-02T19:09:00.294" v="1182" actId="404"/>
          <ac:spMkLst>
            <pc:docMk/>
            <pc:sldMk cId="2285902897" sldId="415"/>
            <ac:spMk id="4100" creationId="{00000000-0000-0000-0000-000000000000}"/>
          </ac:spMkLst>
        </pc:spChg>
      </pc:sldChg>
      <pc:sldChg chg="addSp delSp modSp mod delAnim">
        <pc:chgData name="Yuli Jiang (CSD)" userId="7c291cd4-aa97-4867-8d2d-ebf5c1c3b419" providerId="ADAL" clId="{8FBD0129-C0BB-4F8A-B9D2-D31C5DC212F7}" dt="2025-11-02T18:03:16.409" v="143"/>
        <pc:sldMkLst>
          <pc:docMk/>
          <pc:sldMk cId="3945429933" sldId="416"/>
        </pc:sldMkLst>
        <pc:spChg chg="add mod">
          <ac:chgData name="Yuli Jiang (CSD)" userId="7c291cd4-aa97-4867-8d2d-ebf5c1c3b419" providerId="ADAL" clId="{8FBD0129-C0BB-4F8A-B9D2-D31C5DC212F7}" dt="2025-11-02T18:03:16.409" v="143"/>
          <ac:spMkLst>
            <pc:docMk/>
            <pc:sldMk cId="3945429933" sldId="416"/>
            <ac:spMk id="3" creationId="{C14BC37F-DB5F-A171-C58E-245A3005B7C2}"/>
          </ac:spMkLst>
        </pc:spChg>
        <pc:spChg chg="del">
          <ac:chgData name="Yuli Jiang (CSD)" userId="7c291cd4-aa97-4867-8d2d-ebf5c1c3b419" providerId="ADAL" clId="{8FBD0129-C0BB-4F8A-B9D2-D31C5DC212F7}" dt="2025-11-02T18:03:16.063" v="142" actId="478"/>
          <ac:spMkLst>
            <pc:docMk/>
            <pc:sldMk cId="3945429933" sldId="416"/>
            <ac:spMk id="6" creationId="{99A210AE-F0D3-5E37-05DF-D20CB53E0DE8}"/>
          </ac:spMkLst>
        </pc:spChg>
      </pc:sldChg>
      <pc:sldChg chg="modAnim">
        <pc:chgData name="Yuli Jiang (CSD)" userId="7c291cd4-aa97-4867-8d2d-ebf5c1c3b419" providerId="ADAL" clId="{8FBD0129-C0BB-4F8A-B9D2-D31C5DC212F7}" dt="2025-11-02T18:57:04.041" v="1082"/>
        <pc:sldMkLst>
          <pc:docMk/>
          <pc:sldMk cId="3511715186" sldId="417"/>
        </pc:sldMkLst>
      </pc:sldChg>
      <pc:sldChg chg="modSp mod modAnim">
        <pc:chgData name="Yuli Jiang (CSD)" userId="7c291cd4-aa97-4867-8d2d-ebf5c1c3b419" providerId="ADAL" clId="{8FBD0129-C0BB-4F8A-B9D2-D31C5DC212F7}" dt="2025-11-02T17:57:20.689" v="81"/>
        <pc:sldMkLst>
          <pc:docMk/>
          <pc:sldMk cId="427091712" sldId="418"/>
        </pc:sldMkLst>
        <pc:spChg chg="mod">
          <ac:chgData name="Yuli Jiang (CSD)" userId="7c291cd4-aa97-4867-8d2d-ebf5c1c3b419" providerId="ADAL" clId="{8FBD0129-C0BB-4F8A-B9D2-D31C5DC212F7}" dt="2025-11-02T17:56:44.679" v="80" actId="1076"/>
          <ac:spMkLst>
            <pc:docMk/>
            <pc:sldMk cId="427091712" sldId="418"/>
            <ac:spMk id="8" creationId="{5BD15AFF-4F65-3DD0-EF9F-1EF0DBED088F}"/>
          </ac:spMkLst>
        </pc:spChg>
        <pc:spChg chg="mod">
          <ac:chgData name="Yuli Jiang (CSD)" userId="7c291cd4-aa97-4867-8d2d-ebf5c1c3b419" providerId="ADAL" clId="{8FBD0129-C0BB-4F8A-B9D2-D31C5DC212F7}" dt="2025-11-02T17:56:40.759" v="79" actId="1076"/>
          <ac:spMkLst>
            <pc:docMk/>
            <pc:sldMk cId="427091712" sldId="418"/>
            <ac:spMk id="11" creationId="{EDB97EE0-DBBA-AF8C-11E4-F00DC1575DAA}"/>
          </ac:spMkLst>
        </pc:spChg>
        <pc:spChg chg="mod">
          <ac:chgData name="Yuli Jiang (CSD)" userId="7c291cd4-aa97-4867-8d2d-ebf5c1c3b419" providerId="ADAL" clId="{8FBD0129-C0BB-4F8A-B9D2-D31C5DC212F7}" dt="2025-11-02T17:56:14.239" v="75" actId="13926"/>
          <ac:spMkLst>
            <pc:docMk/>
            <pc:sldMk cId="427091712" sldId="418"/>
            <ac:spMk id="108546" creationId="{5C9EC3F1-C707-4989-9274-1D2C1B71D2DD}"/>
          </ac:spMkLst>
        </pc:spChg>
      </pc:sldChg>
      <pc:sldChg chg="modSp mod ord">
        <pc:chgData name="Yuli Jiang (CSD)" userId="7c291cd4-aa97-4867-8d2d-ebf5c1c3b419" providerId="ADAL" clId="{8FBD0129-C0BB-4F8A-B9D2-D31C5DC212F7}" dt="2025-11-02T18:38:25.020" v="829" actId="108"/>
        <pc:sldMkLst>
          <pc:docMk/>
          <pc:sldMk cId="69159554" sldId="419"/>
        </pc:sldMkLst>
        <pc:spChg chg="mod">
          <ac:chgData name="Yuli Jiang (CSD)" userId="7c291cd4-aa97-4867-8d2d-ebf5c1c3b419" providerId="ADAL" clId="{8FBD0129-C0BB-4F8A-B9D2-D31C5DC212F7}" dt="2025-11-02T18:38:25.020" v="829" actId="108"/>
          <ac:spMkLst>
            <pc:docMk/>
            <pc:sldMk cId="69159554" sldId="419"/>
            <ac:spMk id="3" creationId="{F80C2E03-E6A2-B829-7571-E7299316CB45}"/>
          </ac:spMkLst>
        </pc:spChg>
      </pc:sldChg>
      <pc:sldChg chg="modSp mod">
        <pc:chgData name="Yuli Jiang (CSD)" userId="7c291cd4-aa97-4867-8d2d-ebf5c1c3b419" providerId="ADAL" clId="{8FBD0129-C0BB-4F8A-B9D2-D31C5DC212F7}" dt="2025-11-03T02:51:48.428" v="1220" actId="20577"/>
        <pc:sldMkLst>
          <pc:docMk/>
          <pc:sldMk cId="1227544610" sldId="420"/>
        </pc:sldMkLst>
        <pc:spChg chg="mod">
          <ac:chgData name="Yuli Jiang (CSD)" userId="7c291cd4-aa97-4867-8d2d-ebf5c1c3b419" providerId="ADAL" clId="{8FBD0129-C0BB-4F8A-B9D2-D31C5DC212F7}" dt="2025-11-03T02:51:45.140" v="1219" actId="1076"/>
          <ac:spMkLst>
            <pc:docMk/>
            <pc:sldMk cId="1227544610" sldId="420"/>
            <ac:spMk id="2" creationId="{4E5D1A62-1419-95C9-22DF-39E265BDDD4E}"/>
          </ac:spMkLst>
        </pc:spChg>
        <pc:spChg chg="mod">
          <ac:chgData name="Yuli Jiang (CSD)" userId="7c291cd4-aa97-4867-8d2d-ebf5c1c3b419" providerId="ADAL" clId="{8FBD0129-C0BB-4F8A-B9D2-D31C5DC212F7}" dt="2025-11-02T17:30:08.588" v="16" actId="1076"/>
          <ac:spMkLst>
            <pc:docMk/>
            <pc:sldMk cId="1227544610" sldId="420"/>
            <ac:spMk id="5" creationId="{0FC50EF8-3622-FDB6-D61B-5B8940AB3074}"/>
          </ac:spMkLst>
        </pc:spChg>
        <pc:spChg chg="mod">
          <ac:chgData name="Yuli Jiang (CSD)" userId="7c291cd4-aa97-4867-8d2d-ebf5c1c3b419" providerId="ADAL" clId="{8FBD0129-C0BB-4F8A-B9D2-D31C5DC212F7}" dt="2025-11-03T02:51:48.428" v="1220" actId="20577"/>
          <ac:spMkLst>
            <pc:docMk/>
            <pc:sldMk cId="1227544610" sldId="420"/>
            <ac:spMk id="4100" creationId="{00000000-0000-0000-0000-000000000000}"/>
          </ac:spMkLst>
        </pc:spChg>
      </pc:sldChg>
      <pc:sldChg chg="addSp delSp modSp new mod modTransition modAnim">
        <pc:chgData name="Yuli Jiang (CSD)" userId="7c291cd4-aa97-4867-8d2d-ebf5c1c3b419" providerId="ADAL" clId="{8FBD0129-C0BB-4F8A-B9D2-D31C5DC212F7}" dt="2025-11-02T18:35:42.620" v="815"/>
        <pc:sldMkLst>
          <pc:docMk/>
          <pc:sldMk cId="1081875678" sldId="421"/>
        </pc:sldMkLst>
        <pc:spChg chg="mod">
          <ac:chgData name="Yuli Jiang (CSD)" userId="7c291cd4-aa97-4867-8d2d-ebf5c1c3b419" providerId="ADAL" clId="{8FBD0129-C0BB-4F8A-B9D2-D31C5DC212F7}" dt="2025-11-02T18:27:26.046" v="626" actId="20577"/>
          <ac:spMkLst>
            <pc:docMk/>
            <pc:sldMk cId="1081875678" sldId="421"/>
            <ac:spMk id="2" creationId="{0F5E1822-0BD1-481A-FA76-E9CA9A7AA5CB}"/>
          </ac:spMkLst>
        </pc:spChg>
        <pc:spChg chg="mod">
          <ac:chgData name="Yuli Jiang (CSD)" userId="7c291cd4-aa97-4867-8d2d-ebf5c1c3b419" providerId="ADAL" clId="{8FBD0129-C0BB-4F8A-B9D2-D31C5DC212F7}" dt="2025-11-02T18:33:34.852" v="774" actId="20578"/>
          <ac:spMkLst>
            <pc:docMk/>
            <pc:sldMk cId="1081875678" sldId="421"/>
            <ac:spMk id="3" creationId="{4972D7B2-159F-FED5-BBF5-C6FE7FDD6082}"/>
          </ac:spMkLst>
        </pc:spChg>
        <pc:spChg chg="add mod">
          <ac:chgData name="Yuli Jiang (CSD)" userId="7c291cd4-aa97-4867-8d2d-ebf5c1c3b419" providerId="ADAL" clId="{8FBD0129-C0BB-4F8A-B9D2-D31C5DC212F7}" dt="2025-11-02T18:34:14.134" v="791" actId="20577"/>
          <ac:spMkLst>
            <pc:docMk/>
            <pc:sldMk cId="1081875678" sldId="421"/>
            <ac:spMk id="5" creationId="{3A76B101-057C-E9FE-AF6D-94ACC17A0320}"/>
          </ac:spMkLst>
        </pc:spChg>
        <pc:spChg chg="add">
          <ac:chgData name="Yuli Jiang (CSD)" userId="7c291cd4-aa97-4867-8d2d-ebf5c1c3b419" providerId="ADAL" clId="{8FBD0129-C0BB-4F8A-B9D2-D31C5DC212F7}" dt="2025-11-02T18:30:30.483" v="712"/>
          <ac:spMkLst>
            <pc:docMk/>
            <pc:sldMk cId="1081875678" sldId="421"/>
            <ac:spMk id="6" creationId="{A09A8B82-6912-8BBE-14B7-C577DA8E4043}"/>
          </ac:spMkLst>
        </pc:spChg>
        <pc:spChg chg="add del mod">
          <ac:chgData name="Yuli Jiang (CSD)" userId="7c291cd4-aa97-4867-8d2d-ebf5c1c3b419" providerId="ADAL" clId="{8FBD0129-C0BB-4F8A-B9D2-D31C5DC212F7}" dt="2025-11-02T18:32:55.754" v="760"/>
          <ac:spMkLst>
            <pc:docMk/>
            <pc:sldMk cId="1081875678" sldId="421"/>
            <ac:spMk id="7" creationId="{EDDC0EA8-C2C0-0AB2-7DA2-C441F0F3362D}"/>
          </ac:spMkLst>
        </pc:spChg>
        <pc:spChg chg="add mod">
          <ac:chgData name="Yuli Jiang (CSD)" userId="7c291cd4-aa97-4867-8d2d-ebf5c1c3b419" providerId="ADAL" clId="{8FBD0129-C0BB-4F8A-B9D2-D31C5DC212F7}" dt="2025-11-02T18:35:16.390" v="809" actId="1076"/>
          <ac:spMkLst>
            <pc:docMk/>
            <pc:sldMk cId="1081875678" sldId="421"/>
            <ac:spMk id="9" creationId="{2D94E1AC-3175-3120-6E37-FC65059E88B6}"/>
          </ac:spMkLst>
        </pc:spChg>
        <pc:cxnChg chg="add mod">
          <ac:chgData name="Yuli Jiang (CSD)" userId="7c291cd4-aa97-4867-8d2d-ebf5c1c3b419" providerId="ADAL" clId="{8FBD0129-C0BB-4F8A-B9D2-D31C5DC212F7}" dt="2025-11-02T18:35:30.870" v="813" actId="14100"/>
          <ac:cxnSpMkLst>
            <pc:docMk/>
            <pc:sldMk cId="1081875678" sldId="421"/>
            <ac:cxnSpMk id="11" creationId="{16B9A1EA-62EA-CE30-78EA-B5103FF11091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F39E7D-0933-49A8-85E9-DAA850E73190}" type="datetimeFigureOut">
              <a:rPr lang="en-US" smtClean="0"/>
              <a:pPr/>
              <a:t>11/3/25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993CB-FC2D-4E9E-AEBC-5A9FE389B4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9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BC9B9A-975C-46BF-9E10-71766046399C}" type="datetimeFigureOut">
              <a:rPr lang="en-US" smtClean="0"/>
              <a:pPr/>
              <a:t>11/3/25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8DB09-4D6E-4772-BB61-FE91E715B1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92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7840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8422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7323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8422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8422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8422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TW" b="0" baseline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4560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842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F0C8A-6B28-3D06-3543-90D27A3A9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8FB1F5-597D-73C7-F25F-BA29D9B3B3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110E27-D6F1-11A9-AB35-09D1BB6F7A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EC99A9-74C1-E0CA-5A0E-08EE9E6AD1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9894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8422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65010-D038-92F3-50E2-30D6D440A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981613-FB00-1FBB-0EA8-204A043395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8C4202-205B-BE92-4A4F-C2069F60D8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B89582-6FD0-1EE5-23F4-A48CDAE5FF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9728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8422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TW" b="0" baseline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7970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0445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8422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8422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8422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5047D-5621-268F-7139-55E7582D6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F31553-484B-E44F-C3A6-87EA2CE6E1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EF5E97-C353-4743-30CD-8610802F4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TW" b="0" baseline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2136E2-BB17-79AF-9539-6DA3980F27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2573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8422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8422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8422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7479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265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784" y="76200"/>
            <a:ext cx="109728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785" y="1066800"/>
            <a:ext cx="11910647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784" y="76200"/>
            <a:ext cx="109728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 userDrawn="1"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>
    <p:fade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4F82B-A295-4EE3-B28C-D7C9C567FC80}" type="slidenum">
              <a:rPr lang="zh-TW" altLang="en-US"/>
              <a:pPr/>
              <a:t>1</a:t>
            </a:fld>
            <a:endParaRPr lang="en-US" altLang="zh-TW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Function &amp; Variable Scope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533400" indent="-533400">
              <a:spcBef>
                <a:spcPts val="0"/>
              </a:spcBef>
              <a:buFont typeface="Wingdings" pitchFamily="2" charset="2"/>
              <a:buAutoNum type="arabicPeriod"/>
            </a:pPr>
            <a:r>
              <a:rPr lang="en-US" altLang="zh-TW" sz="2400" dirty="0"/>
              <a:t>Functions</a:t>
            </a:r>
          </a:p>
          <a:p>
            <a:pPr marL="838200" lvl="1" indent="-381000">
              <a:spcBef>
                <a:spcPts val="0"/>
              </a:spcBef>
            </a:pPr>
            <a:r>
              <a:rPr lang="en-US" altLang="zh-TW" sz="2400" dirty="0"/>
              <a:t>Call a function </a:t>
            </a:r>
          </a:p>
          <a:p>
            <a:pPr marL="838200" lvl="1" indent="-381000">
              <a:spcBef>
                <a:spcPts val="0"/>
              </a:spcBef>
            </a:pPr>
            <a:r>
              <a:rPr lang="en-US" altLang="zh-TW" sz="2400" dirty="0"/>
              <a:t>Trace a function call</a:t>
            </a:r>
          </a:p>
          <a:p>
            <a:pPr marL="838200" lvl="1" indent="-381000">
              <a:spcBef>
                <a:spcPts val="0"/>
              </a:spcBef>
            </a:pPr>
            <a:r>
              <a:rPr lang="en-US" altLang="zh-TW" sz="2400" dirty="0"/>
              <a:t>Parameters</a:t>
            </a:r>
          </a:p>
          <a:p>
            <a:pPr marL="838200" lvl="1" indent="-381000">
              <a:spcBef>
                <a:spcPts val="0"/>
              </a:spcBef>
            </a:pPr>
            <a:r>
              <a:rPr lang="en-US" altLang="zh-TW" sz="2400" dirty="0"/>
              <a:t>return value</a:t>
            </a:r>
          </a:p>
          <a:p>
            <a:pPr marL="514350" indent="-457200">
              <a:buFont typeface="+mj-lt"/>
              <a:buAutoNum type="arabicPeriod"/>
            </a:pPr>
            <a:r>
              <a:rPr lang="en-US" altLang="zh-TW" b="1" dirty="0"/>
              <a:t>Variable scope </a:t>
            </a:r>
          </a:p>
          <a:p>
            <a:pPr lvl="1"/>
            <a:r>
              <a:rPr lang="en-US" altLang="zh-TW" b="1" dirty="0">
                <a:ea typeface="新細明體"/>
              </a:rPr>
              <a:t>Local: In the scope of { }</a:t>
            </a:r>
          </a:p>
          <a:p>
            <a:pPr lvl="1"/>
            <a:r>
              <a:rPr lang="en-US" altLang="zh-TW" b="1" dirty="0">
                <a:ea typeface="新細明體"/>
              </a:rPr>
              <a:t>Global variable</a:t>
            </a:r>
          </a:p>
          <a:p>
            <a:pPr marL="514350" indent="-457200">
              <a:spcBef>
                <a:spcPts val="0"/>
              </a:spcBef>
              <a:buFont typeface="+mj-lt"/>
              <a:buAutoNum type="arabicPeriod"/>
            </a:pPr>
            <a:r>
              <a:rPr lang="en-US" altLang="zh-TW" sz="2800" dirty="0"/>
              <a:t>Concept of Address</a:t>
            </a:r>
            <a:endParaRPr lang="en-US" altLang="zh-TW" sz="2400" dirty="0"/>
          </a:p>
          <a:p>
            <a:pPr lvl="1">
              <a:spcBef>
                <a:spcPts val="0"/>
              </a:spcBef>
            </a:pPr>
            <a:r>
              <a:rPr lang="en-US" altLang="zh-TW" dirty="0"/>
              <a:t>&amp; to get the address</a:t>
            </a:r>
          </a:p>
          <a:p>
            <a:pPr lvl="1">
              <a:spcBef>
                <a:spcPts val="0"/>
              </a:spcBef>
            </a:pPr>
            <a:r>
              <a:rPr lang="en-US" altLang="zh-TW" dirty="0"/>
              <a:t>Address in array</a:t>
            </a:r>
          </a:p>
          <a:p>
            <a:pPr marL="514350" indent="-457200">
              <a:buFont typeface="+mj-lt"/>
              <a:buAutoNum type="arabicPeriod"/>
            </a:pPr>
            <a:endParaRPr lang="en-US" altLang="zh-TW" dirty="0"/>
          </a:p>
          <a:p>
            <a:pPr marL="438150" indent="-381000"/>
            <a:endParaRPr lang="en-US" altLang="zh-TW" sz="2000" dirty="0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4E5D1A62-1419-95C9-22DF-39E265BDDD4E}"/>
              </a:ext>
            </a:extLst>
          </p:cNvPr>
          <p:cNvSpPr txBox="1">
            <a:spLocks noChangeArrowheads="1"/>
          </p:cNvSpPr>
          <p:nvPr/>
        </p:nvSpPr>
        <p:spPr>
          <a:xfrm>
            <a:off x="4588390" y="1260271"/>
            <a:ext cx="7096001" cy="138907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return_type</a:t>
            </a:r>
            <a:r>
              <a:rPr lang="en-US" altLang="zh-TW" sz="2000" dirty="0">
                <a:latin typeface="Consolas" panose="020B0609020204030204" pitchFamily="49" charset="0"/>
              </a:rPr>
              <a:t> </a:t>
            </a:r>
            <a:r>
              <a:rPr lang="en-US" altLang="zh-TW" sz="2000" dirty="0" err="1">
                <a:latin typeface="Consolas" panose="020B0609020204030204" pitchFamily="49" charset="0"/>
              </a:rPr>
              <a:t>function_name</a:t>
            </a:r>
            <a:r>
              <a:rPr lang="en-US" altLang="zh-TW" sz="2000" dirty="0">
                <a:latin typeface="Consolas" panose="020B0609020204030204" pitchFamily="49" charset="0"/>
              </a:rPr>
              <a:t>( </a:t>
            </a:r>
            <a:r>
              <a:rPr lang="en-US" altLang="zh-TW" sz="2400" dirty="0" err="1">
                <a:latin typeface="Consolas" panose="020B0609020204030204" pitchFamily="49" charset="0"/>
              </a:rPr>
              <a:t>parameter_list</a:t>
            </a:r>
            <a:r>
              <a:rPr lang="en-US" altLang="zh-TW" sz="2400" dirty="0">
                <a:latin typeface="Consolas" panose="020B0609020204030204" pitchFamily="49" charset="0"/>
              </a:rPr>
              <a:t> </a:t>
            </a:r>
            <a:r>
              <a:rPr lang="en-US" altLang="zh-TW" sz="2000" dirty="0">
                <a:latin typeface="Consolas" panose="020B0609020204030204" pitchFamily="49" charset="0"/>
              </a:rPr>
              <a:t>){</a:t>
            </a:r>
            <a:br>
              <a:rPr lang="en-US" altLang="zh-TW" sz="2000" dirty="0">
                <a:latin typeface="Consolas" panose="020B0609020204030204" pitchFamily="49" charset="0"/>
              </a:rPr>
            </a:br>
            <a:r>
              <a:rPr lang="en-US" altLang="zh-TW" sz="2000" dirty="0">
                <a:latin typeface="Consolas" panose="020B0609020204030204" pitchFamily="49" charset="0"/>
              </a:rPr>
              <a:t>  …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>
                <a:latin typeface="Consolas" panose="020B0609020204030204" pitchFamily="49" charset="0"/>
              </a:rPr>
              <a:t>    </a:t>
            </a:r>
            <a:r>
              <a:rPr lang="en-US" altLang="zh-TW" sz="2000" dirty="0">
                <a:solidFill>
                  <a:srgbClr val="008000"/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sz="2000" dirty="0">
                <a:latin typeface="Consolas" panose="020B0609020204030204" pitchFamily="49" charset="0"/>
              </a:rPr>
              <a:t> </a:t>
            </a:r>
            <a:r>
              <a:rPr lang="en-US" altLang="zh-TW" sz="2000" dirty="0">
                <a:solidFill>
                  <a:schemeClr val="folHlink"/>
                </a:solidFill>
                <a:latin typeface="Consolas" panose="020B0609020204030204" pitchFamily="49" charset="0"/>
              </a:rPr>
              <a:t>expression</a:t>
            </a:r>
            <a:r>
              <a:rPr lang="en-US" altLang="zh-TW" sz="2000" dirty="0"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C50EF8-3622-FDB6-D61B-5B8940AB3074}"/>
              </a:ext>
            </a:extLst>
          </p:cNvPr>
          <p:cNvSpPr txBox="1"/>
          <p:nvPr/>
        </p:nvSpPr>
        <p:spPr>
          <a:xfrm>
            <a:off x="4908429" y="3034578"/>
            <a:ext cx="7096001" cy="2931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>
                <a:latin typeface="Consolas" panose="020B0609020204030204" pitchFamily="49" charset="0"/>
              </a:rPr>
              <a:t>Pass parameter </a:t>
            </a:r>
            <a:r>
              <a:rPr lang="en-US" altLang="zh-TW" sz="2800" dirty="0">
                <a:latin typeface="Consolas" panose="020B0609020204030204" pitchFamily="49" charset="0"/>
              </a:rPr>
              <a:t>in function call</a:t>
            </a:r>
          </a:p>
          <a:p>
            <a:r>
              <a:rPr lang="en-US" altLang="zh-CN" sz="1400" dirty="0">
                <a:latin typeface="Consolas" panose="020B0609020204030204" pitchFamily="49" charset="0"/>
                <a:ea typeface="新細明體"/>
              </a:rPr>
              <a:t> </a:t>
            </a:r>
            <a:endParaRPr lang="en-US" altLang="zh-CN" sz="1400" dirty="0">
              <a:ea typeface="新細明體"/>
            </a:endParaRPr>
          </a:p>
          <a:p>
            <a:pPr algn="ctr"/>
            <a:r>
              <a:rPr lang="en-US" altLang="zh-CN" sz="3200" dirty="0">
                <a:ea typeface="新細明體"/>
              </a:rPr>
              <a:t>Pass-by-value </a:t>
            </a:r>
          </a:p>
          <a:p>
            <a:pPr algn="ctr"/>
            <a:r>
              <a:rPr lang="en-US" altLang="zh-CN" sz="3200" dirty="0">
                <a:ea typeface="新細明體"/>
              </a:rPr>
              <a:t>vs. </a:t>
            </a:r>
          </a:p>
          <a:p>
            <a:pPr algn="ctr"/>
            <a:r>
              <a:rPr lang="en-US" altLang="zh-CN" sz="3200" dirty="0">
                <a:ea typeface="新細明體"/>
              </a:rPr>
              <a:t>     Pass-by-reference</a:t>
            </a:r>
          </a:p>
          <a:p>
            <a:r>
              <a:rPr lang="en-US" altLang="zh-CN" sz="1050" dirty="0">
                <a:ea typeface="新細明體"/>
              </a:rPr>
              <a:t>	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altLang="zh-CN" sz="3200" dirty="0">
                <a:ea typeface="新細明體"/>
              </a:rPr>
              <a:t>Array is passed by reference</a:t>
            </a:r>
          </a:p>
        </p:txBody>
      </p:sp>
    </p:spTree>
    <p:extLst>
      <p:ext uri="{BB962C8B-B14F-4D97-AF65-F5344CB8AC3E}">
        <p14:creationId xmlns:p14="http://schemas.microsoft.com/office/powerpoint/2010/main" val="1227544610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BEB76-10C4-75C2-B826-56205993A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F42BE-5224-2769-D56E-87A8EAA7B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574531-C972-3B0C-8844-D0E32B5E1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94065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5000" y="2130428"/>
            <a:ext cx="8534400" cy="2898773"/>
          </a:xfrm>
        </p:spPr>
        <p:txBody>
          <a:bodyPr>
            <a:normAutofit/>
          </a:bodyPr>
          <a:lstStyle/>
          <a:p>
            <a:r>
              <a:rPr lang="en-US" altLang="zh-TW" b="1">
                <a:ea typeface="新細明體" pitchFamily="18" charset="-120"/>
              </a:rPr>
              <a:t>File </a:t>
            </a:r>
            <a:r>
              <a:rPr lang="en-US" altLang="zh-TW" b="1" err="1">
                <a:ea typeface="新細明體" pitchFamily="18" charset="-120"/>
              </a:rPr>
              <a:t>Input/Output</a:t>
            </a:r>
            <a:r>
              <a:rPr lang="en-US" altLang="zh-TW" b="1">
                <a:ea typeface="新細明體" pitchFamily="18" charset="-120"/>
              </a:rPr>
              <a:t> 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4F82B-A295-4EE3-B28C-D7C9C567FC80}" type="slidenum">
              <a:rPr lang="zh-TW" altLang="en-US"/>
              <a:pPr/>
              <a:t>4</a:t>
            </a:fld>
            <a:endParaRPr lang="en-US" altLang="zh-TW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/>
              <a:t>Outline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dirty="0"/>
              <a:t>Introduction</a:t>
            </a:r>
          </a:p>
          <a:p>
            <a:pPr marL="933450" lvl="1" indent="-533400"/>
            <a:r>
              <a:rPr lang="en-US" altLang="zh-TW" dirty="0"/>
              <a:t>Opening a file</a:t>
            </a:r>
          </a:p>
          <a:p>
            <a:pPr marL="933450" lvl="1" indent="-533400"/>
            <a:r>
              <a:rPr lang="en-US" altLang="zh-TW" dirty="0"/>
              <a:t>Closing a file</a:t>
            </a: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dirty="0"/>
              <a:t>Example 1: Reading data from a file</a:t>
            </a:r>
          </a:p>
          <a:p>
            <a:pPr marL="533400" indent="-533400">
              <a:buFont typeface="Wingdings" pitchFamily="2" charset="2"/>
              <a:buAutoNum type="arabicPeriod"/>
            </a:pPr>
            <a:endParaRPr lang="en-US" altLang="zh-TW" dirty="0"/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sz="2800" dirty="0"/>
              <a:t>Example 2: Check if a file is opened successfully</a:t>
            </a: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sz="2800" dirty="0"/>
              <a:t>Example 3, 4: Reading numbers using </a:t>
            </a:r>
            <a:r>
              <a:rPr lang="en-US" altLang="zh-TW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fscanf</a:t>
            </a:r>
            <a:r>
              <a:rPr lang="en-US" altLang="zh-TW" sz="28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sz="2800" dirty="0"/>
              <a:t>Example 5: Writing data to a file</a:t>
            </a: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sz="2800" dirty="0"/>
              <a:t>Example 6: Handling multiple files in a program</a:t>
            </a:r>
          </a:p>
          <a:p>
            <a:pPr marL="533400" indent="-533400">
              <a:buFont typeface="Wingdings" pitchFamily="2" charset="2"/>
              <a:buAutoNum type="arabicPeriod"/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772304277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A9AC16D1-5C8B-4C26-B309-25D2524EE988}" type="slidenum">
              <a:rPr lang="zh-TW" altLang="en-US" b="0">
                <a:latin typeface="Calibri" panose="020F0502020204030204" pitchFamily="34" charset="0"/>
              </a:rPr>
              <a:pPr/>
              <a:t>5</a:t>
            </a:fld>
            <a:endParaRPr lang="en-US" altLang="zh-TW" b="0">
              <a:latin typeface="Calibri" panose="020F0502020204030204" pitchFamily="34" charset="0"/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76200"/>
            <a:ext cx="88392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4000" b="1">
                <a:latin typeface="Helvetica" pitchFamily="34" charset="0"/>
                <a:ea typeface="新細明體" pitchFamily="18" charset="-120"/>
                <a:cs typeface="Times New Roman" pitchFamily="18" charset="0"/>
              </a:rPr>
              <a:t>1. File I/O (Introduction)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9031" y="1143000"/>
            <a:ext cx="11588178" cy="5029200"/>
          </a:xfrm>
        </p:spPr>
        <p:txBody>
          <a:bodyPr/>
          <a:lstStyle/>
          <a:p>
            <a:pPr eaLnBrk="1" hangingPunct="1"/>
            <a:r>
              <a:rPr lang="en-US" altLang="zh-TW" dirty="0">
                <a:ea typeface="新細明體" pitchFamily="18" charset="-120"/>
              </a:rPr>
              <a:t>Reading data from a file is similar to reading data from a keyboard</a:t>
            </a:r>
          </a:p>
          <a:p>
            <a:pPr lvl="1" eaLnBrk="1" hangingPunct="1"/>
            <a:r>
              <a:rPr lang="en-US" altLang="zh-TW" sz="3200" dirty="0">
                <a:ea typeface="新細明體" pitchFamily="18" charset="-120"/>
              </a:rPr>
              <a:t>Characters are read from the "input source" sequentially.</a:t>
            </a:r>
          </a:p>
          <a:p>
            <a:pPr lvl="2" eaLnBrk="1" hangingPunct="1"/>
            <a:r>
              <a:rPr lang="en-US" altLang="zh-TW" sz="3200" b="1" dirty="0">
                <a:ea typeface="新細明體" pitchFamily="18" charset="-120"/>
              </a:rPr>
              <a:t>Keyboard</a:t>
            </a:r>
            <a:r>
              <a:rPr lang="en-US" altLang="zh-TW" sz="3200" dirty="0">
                <a:ea typeface="新細明體" pitchFamily="18" charset="-120"/>
              </a:rPr>
              <a:t> input: May have to wait for additional input</a:t>
            </a:r>
          </a:p>
          <a:p>
            <a:pPr lvl="2" eaLnBrk="1" hangingPunct="1"/>
            <a:r>
              <a:rPr lang="en-US" altLang="zh-TW" sz="3200" b="1" dirty="0">
                <a:ea typeface="新細明體" pitchFamily="18" charset="-120"/>
              </a:rPr>
              <a:t>File</a:t>
            </a:r>
            <a:r>
              <a:rPr lang="en-US" altLang="zh-TW" sz="3200" dirty="0">
                <a:ea typeface="新細明體" pitchFamily="18" charset="-120"/>
              </a:rPr>
              <a:t> Input: All data are in the file.</a:t>
            </a:r>
          </a:p>
          <a:p>
            <a:pPr lvl="2"/>
            <a:endParaRPr lang="en-US" altLang="zh-TW" sz="1000" dirty="0">
              <a:ea typeface="新細明體" pitchFamily="18" charset="-120"/>
            </a:endParaRPr>
          </a:p>
          <a:p>
            <a:pPr lvl="2"/>
            <a:endParaRPr lang="en-US" altLang="zh-TW" sz="1000" dirty="0">
              <a:ea typeface="新細明體" pitchFamily="18" charset="-120"/>
            </a:endParaRPr>
          </a:p>
          <a:p>
            <a:pPr eaLnBrk="1" hangingPunct="1"/>
            <a:r>
              <a:rPr lang="en-US" altLang="zh-TW" dirty="0">
                <a:ea typeface="新細明體" pitchFamily="18" charset="-120"/>
              </a:rPr>
              <a:t>Writing data to a file is similar to outputting data to the console.</a:t>
            </a:r>
          </a:p>
          <a:p>
            <a:pPr lvl="1" eaLnBrk="1" hangingPunct="1"/>
            <a:r>
              <a:rPr lang="en-US" altLang="zh-TW" sz="3200" dirty="0">
                <a:ea typeface="新細明體" pitchFamily="18" charset="-120"/>
              </a:rPr>
              <a:t>Characters are output sequentially.</a:t>
            </a:r>
          </a:p>
        </p:txBody>
      </p:sp>
    </p:spTree>
    <p:extLst>
      <p:ext uri="{BB962C8B-B14F-4D97-AF65-F5344CB8AC3E}">
        <p14:creationId xmlns:p14="http://schemas.microsoft.com/office/powerpoint/2010/main" val="146929617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4338" y="76200"/>
            <a:ext cx="8997462" cy="838200"/>
          </a:xfrm>
        </p:spPr>
        <p:txBody>
          <a:bodyPr>
            <a:normAutofit/>
          </a:bodyPr>
          <a:lstStyle/>
          <a:p>
            <a:r>
              <a:rPr lang="en-US" dirty="0"/>
              <a:t>1.1. File I/O is similar to Console I/O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1769377"/>
              </p:ext>
            </p:extLst>
          </p:nvPr>
        </p:nvGraphicFramePr>
        <p:xfrm>
          <a:off x="3881717" y="2957961"/>
          <a:ext cx="4038600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03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38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38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38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38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38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38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38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\n 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\n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…</a:t>
                      </a: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8362139" y="2255875"/>
            <a:ext cx="3761312" cy="179673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400" b="1" dirty="0"/>
              <a:t>Console Input:</a:t>
            </a:r>
            <a:r>
              <a:rPr lang="en-US" sz="2400" dirty="0"/>
              <a:t> System reads characters </a:t>
            </a:r>
            <a:r>
              <a:rPr lang="en-US" sz="2400" b="1" dirty="0">
                <a:solidFill>
                  <a:srgbClr val="C00000"/>
                </a:solidFill>
              </a:rPr>
              <a:t>from keyboard </a:t>
            </a:r>
          </a:p>
          <a:p>
            <a:endParaRPr lang="en-US" sz="1000" dirty="0"/>
          </a:p>
          <a:p>
            <a:r>
              <a:rPr lang="en-US" sz="2400" b="1" dirty="0"/>
              <a:t>File Input:</a:t>
            </a:r>
            <a:r>
              <a:rPr lang="en-US" sz="2400" dirty="0"/>
              <a:t> System reads characters </a:t>
            </a:r>
            <a:r>
              <a:rPr lang="en-US" sz="2400" b="1" dirty="0">
                <a:solidFill>
                  <a:srgbClr val="C00000"/>
                </a:solidFill>
              </a:rPr>
              <a:t>from a 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877" y="2522575"/>
            <a:ext cx="3422417" cy="137159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 dirty="0"/>
              <a:t>A program retrieves the data from the memory sequentially (e.g., using </a:t>
            </a:r>
            <a:r>
              <a:rPr lang="en-US" sz="2000" b="1" dirty="0" err="1"/>
              <a:t>scanf</a:t>
            </a:r>
            <a:r>
              <a:rPr lang="en-US" sz="2000" b="1" dirty="0"/>
              <a:t>()</a:t>
            </a:r>
            <a:r>
              <a:rPr lang="en-US" sz="2000" dirty="0"/>
              <a:t>)</a:t>
            </a:r>
          </a:p>
        </p:txBody>
      </p:sp>
      <p:cxnSp>
        <p:nvCxnSpPr>
          <p:cNvPr id="9" name="Straight Arrow Connector 8"/>
          <p:cNvCxnSpPr>
            <a:cxnSpLocks/>
          </p:cNvCxnSpPr>
          <p:nvPr/>
        </p:nvCxnSpPr>
        <p:spPr>
          <a:xfrm flipH="1">
            <a:off x="3285565" y="3143381"/>
            <a:ext cx="596152" cy="0"/>
          </a:xfrm>
          <a:prstGeom prst="straightConnector1">
            <a:avLst/>
          </a:prstGeom>
          <a:ln w="28575">
            <a:solidFill>
              <a:schemeClr val="accent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/>
            <a:endCxn id="5" idx="3"/>
          </p:cNvCxnSpPr>
          <p:nvPr/>
        </p:nvCxnSpPr>
        <p:spPr>
          <a:xfrm flipH="1">
            <a:off x="7920317" y="3143381"/>
            <a:ext cx="623048" cy="0"/>
          </a:xfrm>
          <a:prstGeom prst="straightConnector1">
            <a:avLst/>
          </a:prstGeom>
          <a:ln w="28575">
            <a:solidFill>
              <a:schemeClr val="accent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886199" y="2585328"/>
            <a:ext cx="4034118" cy="381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dirty="0"/>
              <a:t>Data in memory</a:t>
            </a:r>
          </a:p>
        </p:txBody>
      </p:sp>
      <p:graphicFrame>
        <p:nvGraphicFramePr>
          <p:cNvPr id="18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0182327"/>
              </p:ext>
            </p:extLst>
          </p:nvPr>
        </p:nvGraphicFramePr>
        <p:xfrm>
          <a:off x="3916387" y="5096006"/>
          <a:ext cx="4038600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03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38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38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38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38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38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38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38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\n 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\n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…</a:t>
                      </a: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8425063" y="4532873"/>
            <a:ext cx="3780045" cy="19812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 b="1" dirty="0"/>
              <a:t>Console output:</a:t>
            </a:r>
            <a:r>
              <a:rPr lang="en-US" sz="2000" dirty="0"/>
              <a:t> System displays the characters </a:t>
            </a:r>
            <a:r>
              <a:rPr lang="en-US" sz="2000" b="1" dirty="0">
                <a:solidFill>
                  <a:srgbClr val="C00000"/>
                </a:solidFill>
              </a:rPr>
              <a:t>on the screen</a:t>
            </a:r>
          </a:p>
          <a:p>
            <a:endParaRPr lang="en-US" sz="900" dirty="0"/>
          </a:p>
          <a:p>
            <a:r>
              <a:rPr lang="en-US" sz="2000" b="1" dirty="0"/>
              <a:t>File Output:</a:t>
            </a:r>
            <a:r>
              <a:rPr lang="en-US" sz="2000" dirty="0"/>
              <a:t> System writes the characters </a:t>
            </a:r>
            <a:r>
              <a:rPr lang="en-US" sz="2000" b="1" dirty="0">
                <a:solidFill>
                  <a:srgbClr val="C00000"/>
                </a:solidFill>
              </a:rPr>
              <a:t>to a 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86" y="4909143"/>
            <a:ext cx="3373001" cy="129988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 dirty="0"/>
              <a:t>A program writes </a:t>
            </a:r>
            <a:r>
              <a:rPr lang="en-US" altLang="zh-CN" sz="2000" dirty="0"/>
              <a:t>the </a:t>
            </a:r>
            <a:r>
              <a:rPr lang="en-US" sz="2000" dirty="0"/>
              <a:t>data sequentially to the memory (e.g., using </a:t>
            </a:r>
            <a:r>
              <a:rPr lang="en-US" sz="2000" b="1" dirty="0" err="1"/>
              <a:t>printf</a:t>
            </a:r>
            <a:r>
              <a:rPr lang="en-US" sz="2000" b="1" dirty="0"/>
              <a:t>()</a:t>
            </a:r>
            <a:r>
              <a:rPr lang="en-US" sz="2000" dirty="0"/>
              <a:t>)</a:t>
            </a:r>
          </a:p>
        </p:txBody>
      </p:sp>
      <p:cxnSp>
        <p:nvCxnSpPr>
          <p:cNvPr id="21" name="Straight Arrow Connector 20"/>
          <p:cNvCxnSpPr>
            <a:cxnSpLocks/>
          </p:cNvCxnSpPr>
          <p:nvPr/>
        </p:nvCxnSpPr>
        <p:spPr>
          <a:xfrm flipH="1">
            <a:off x="3164541" y="5281426"/>
            <a:ext cx="751846" cy="0"/>
          </a:xfrm>
          <a:prstGeom prst="straightConnector1">
            <a:avLst/>
          </a:prstGeom>
          <a:ln w="28575">
            <a:solidFill>
              <a:schemeClr val="accent1"/>
            </a:solidFill>
            <a:headEnd type="arrow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cxnSpLocks/>
            <a:endCxn id="18" idx="3"/>
          </p:cNvCxnSpPr>
          <p:nvPr/>
        </p:nvCxnSpPr>
        <p:spPr>
          <a:xfrm flipH="1">
            <a:off x="7954987" y="5281426"/>
            <a:ext cx="673542" cy="0"/>
          </a:xfrm>
          <a:prstGeom prst="straightConnector1">
            <a:avLst/>
          </a:prstGeom>
          <a:ln w="28575">
            <a:solidFill>
              <a:schemeClr val="accent1"/>
            </a:solidFill>
            <a:headEnd type="arrow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920869" y="4723373"/>
            <a:ext cx="4034118" cy="381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/>
              <a:t>Data in memory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93122" y="2132312"/>
            <a:ext cx="1066800" cy="533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800" b="1" u="sng" dirty="0"/>
              <a:t>Input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4084" y="4279619"/>
            <a:ext cx="1364876" cy="533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800" b="1" u="sng" dirty="0"/>
              <a:t>Output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E2A9466A-AA42-D3BC-AC97-423749FACAB5}"/>
              </a:ext>
            </a:extLst>
          </p:cNvPr>
          <p:cNvSpPr/>
          <p:nvPr/>
        </p:nvSpPr>
        <p:spPr>
          <a:xfrm>
            <a:off x="3697323" y="1074747"/>
            <a:ext cx="4475940" cy="5053032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TextBox 23">
            <a:extLst>
              <a:ext uri="{FF2B5EF4-FFF2-40B4-BE49-F238E27FC236}">
                <a16:creationId xmlns:a16="http://schemas.microsoft.com/office/drawing/2014/main" id="{FE01EFC2-A611-23C0-AA09-BB8B094E7E59}"/>
              </a:ext>
            </a:extLst>
          </p:cNvPr>
          <p:cNvSpPr txBox="1"/>
          <p:nvPr/>
        </p:nvSpPr>
        <p:spPr>
          <a:xfrm>
            <a:off x="5192279" y="1094619"/>
            <a:ext cx="1668487" cy="533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3200" b="1" u="sng" dirty="0">
                <a:solidFill>
                  <a:srgbClr val="C00000"/>
                </a:solidFill>
              </a:rPr>
              <a:t>Memory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D3304368-8154-A6F4-785E-55E6D43F1D4B}"/>
              </a:ext>
            </a:extLst>
          </p:cNvPr>
          <p:cNvSpPr/>
          <p:nvPr/>
        </p:nvSpPr>
        <p:spPr>
          <a:xfrm>
            <a:off x="90876" y="1094619"/>
            <a:ext cx="3329159" cy="5053032"/>
          </a:xfrm>
          <a:prstGeom prst="round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TextBox 23">
            <a:extLst>
              <a:ext uri="{FF2B5EF4-FFF2-40B4-BE49-F238E27FC236}">
                <a16:creationId xmlns:a16="http://schemas.microsoft.com/office/drawing/2014/main" id="{84DEE672-5E06-674F-A625-0BFE66CE2D26}"/>
              </a:ext>
            </a:extLst>
          </p:cNvPr>
          <p:cNvSpPr txBox="1"/>
          <p:nvPr/>
        </p:nvSpPr>
        <p:spPr>
          <a:xfrm>
            <a:off x="942237" y="1094619"/>
            <a:ext cx="1719696" cy="533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3200" b="1" u="sng" dirty="0">
                <a:solidFill>
                  <a:schemeClr val="accent5"/>
                </a:solidFill>
              </a:rPr>
              <a:t>Program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08853B86-DAD8-8080-50F3-DFA685172820}"/>
              </a:ext>
            </a:extLst>
          </p:cNvPr>
          <p:cNvSpPr/>
          <p:nvPr/>
        </p:nvSpPr>
        <p:spPr>
          <a:xfrm>
            <a:off x="8363951" y="1094619"/>
            <a:ext cx="3759500" cy="5053032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6" name="TextBox 23">
            <a:extLst>
              <a:ext uri="{FF2B5EF4-FFF2-40B4-BE49-F238E27FC236}">
                <a16:creationId xmlns:a16="http://schemas.microsoft.com/office/drawing/2014/main" id="{B2ACB750-F471-B2C7-A4A0-37105535ECA3}"/>
              </a:ext>
            </a:extLst>
          </p:cNvPr>
          <p:cNvSpPr txBox="1"/>
          <p:nvPr/>
        </p:nvSpPr>
        <p:spPr>
          <a:xfrm>
            <a:off x="9821146" y="1094619"/>
            <a:ext cx="811306" cy="533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3200" b="1" u="sng" dirty="0">
                <a:solidFill>
                  <a:schemeClr val="accent6"/>
                </a:solidFill>
              </a:rPr>
              <a:t>I/O</a:t>
            </a:r>
          </a:p>
        </p:txBody>
      </p:sp>
    </p:spTree>
    <p:extLst>
      <p:ext uri="{BB962C8B-B14F-4D97-AF65-F5344CB8AC3E}">
        <p14:creationId xmlns:p14="http://schemas.microsoft.com/office/powerpoint/2010/main" val="774024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DDE72-8E1C-48AE-AAB0-105C85EE517D}" type="slidenum">
              <a:rPr lang="zh-TW" altLang="en-US"/>
              <a:pPr/>
              <a:t>7</a:t>
            </a:fld>
            <a:endParaRPr lang="en-US" altLang="zh-TW"/>
          </a:p>
        </p:txBody>
      </p:sp>
      <p:sp>
        <p:nvSpPr>
          <p:cNvPr id="108546" name="Rectangle 2"/>
          <p:cNvSpPr>
            <a:spLocks noChangeArrowheads="1"/>
          </p:cNvSpPr>
          <p:nvPr/>
        </p:nvSpPr>
        <p:spPr bwMode="auto">
          <a:xfrm>
            <a:off x="1990726" y="990600"/>
            <a:ext cx="8677275" cy="53213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#include &lt;</a:t>
            </a:r>
            <a:r>
              <a:rPr lang="en-US" altLang="zh-TW" sz="2000" b="0" dirty="0" err="1">
                <a:latin typeface="Consolas" panose="020B0609020204030204" pitchFamily="49" charset="0"/>
              </a:rPr>
              <a:t>stdio.h</a:t>
            </a:r>
            <a:r>
              <a:rPr lang="en-US" altLang="zh-TW" sz="2000" b="0" dirty="0"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main(void)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FF0000"/>
                </a:solidFill>
                <a:latin typeface="Consolas" panose="020B0609020204030204" pitchFamily="49" charset="0"/>
              </a:rPr>
              <a:t>    FILE *</a:t>
            </a:r>
            <a:r>
              <a:rPr lang="en-US" altLang="zh-TW" sz="2000" b="0" dirty="0" err="1">
                <a:solidFill>
                  <a:srgbClr val="FF0000"/>
                </a:solidFill>
                <a:latin typeface="Consolas" panose="020B0609020204030204" pitchFamily="49" charset="0"/>
              </a:rPr>
              <a:t>fptr</a:t>
            </a:r>
            <a:r>
              <a:rPr lang="en-US" altLang="zh-TW" sz="2000" b="0" dirty="0">
                <a:solidFill>
                  <a:srgbClr val="FF0000"/>
                </a:solidFill>
                <a:latin typeface="Consolas" panose="020B0609020204030204" pitchFamily="49" charset="0"/>
              </a:rPr>
              <a:t>;      //FILE data type,* </a:t>
            </a:r>
            <a:r>
              <a:rPr lang="en-US" altLang="zh-TW" sz="2000" b="0" dirty="0" err="1">
                <a:solidFill>
                  <a:srgbClr val="FF0000"/>
                </a:solidFill>
                <a:latin typeface="Consolas" panose="020B0609020204030204" pitchFamily="49" charset="0"/>
              </a:rPr>
              <a:t>pointer,fbtr</a:t>
            </a:r>
            <a:r>
              <a:rPr lang="en-US" altLang="zh-TW" sz="2000" b="0" dirty="0">
                <a:solidFill>
                  <a:srgbClr val="FF0000"/>
                </a:solidFill>
                <a:latin typeface="Consolas" panose="020B0609020204030204" pitchFamily="49" charset="0"/>
              </a:rPr>
              <a:t> variable name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    int</a:t>
            </a:r>
            <a:r>
              <a:rPr lang="en-US" altLang="zh-TW" sz="2000" b="0" dirty="0">
                <a:latin typeface="Consolas" panose="020B0609020204030204" pitchFamily="49" charset="0"/>
              </a:rPr>
              <a:t> num1, num2;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</a:rPr>
              <a:t>fptr</a:t>
            </a:r>
            <a:r>
              <a:rPr lang="en-US" altLang="zh-TW" sz="2000" b="0" dirty="0">
                <a:latin typeface="Consolas" panose="020B0609020204030204" pitchFamily="49" charset="0"/>
              </a:rPr>
              <a:t> = </a:t>
            </a:r>
            <a:r>
              <a:rPr lang="en-US" altLang="zh-TW" sz="2000" b="0" dirty="0" err="1">
                <a:solidFill>
                  <a:srgbClr val="C00000"/>
                </a:solidFill>
                <a:latin typeface="Consolas" panose="020B0609020204030204" pitchFamily="49" charset="0"/>
              </a:rPr>
              <a:t>fopen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"data.txt"</a:t>
            </a:r>
            <a:r>
              <a:rPr lang="en-US" altLang="zh-TW" sz="2000" b="0" dirty="0">
                <a:latin typeface="Consolas" panose="020B0609020204030204" pitchFamily="49" charset="0"/>
              </a:rPr>
              <a:t>, 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"r"</a:t>
            </a:r>
            <a:r>
              <a:rPr lang="en-US" altLang="zh-TW" sz="2000" b="0" dirty="0">
                <a:latin typeface="Consolas" panose="020B0609020204030204" pitchFamily="49" charset="0"/>
              </a:rPr>
              <a:t>);  </a:t>
            </a: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// open file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.or/ means file in the same </a:t>
            </a:r>
            <a:r>
              <a:rPr lang="en-US" altLang="zh-TW" sz="2000" b="0" dirty="0" err="1">
                <a:solidFill>
                  <a:srgbClr val="008000"/>
                </a:solidFill>
                <a:latin typeface="Consolas" panose="020B0609020204030204" pitchFamily="49" charset="0"/>
              </a:rPr>
              <a:t>foleder</a:t>
            </a:r>
            <a:endParaRPr lang="en-US" altLang="zh-TW" sz="2000" b="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./A/---.txt </a:t>
            </a:r>
            <a:r>
              <a:rPr lang="zh-TW" altLang="en-US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当前位置</a:t>
            </a:r>
            <a:r>
              <a:rPr lang="zh-CN" altLang="en-US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，找到</a:t>
            </a:r>
            <a:r>
              <a:rPr lang="en-US" altLang="zh-CN" sz="2000" b="0" dirty="0" err="1">
                <a:solidFill>
                  <a:srgbClr val="008000"/>
                </a:solidFill>
                <a:latin typeface="Consolas" panose="020B0609020204030204" pitchFamily="49" charset="0"/>
              </a:rPr>
              <a:t>Afolder</a:t>
            </a:r>
            <a:r>
              <a:rPr lang="zh-CN" altLang="en-US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，再访问</a:t>
            </a: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    // Read two integers from the file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solidFill>
                  <a:srgbClr val="C00000"/>
                </a:solidFill>
                <a:latin typeface="Consolas" panose="020B0609020204030204" pitchFamily="49" charset="0"/>
              </a:rPr>
              <a:t>fscanf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 err="1">
                <a:solidFill>
                  <a:srgbClr val="FF0000"/>
                </a:solidFill>
                <a:latin typeface="Consolas" panose="020B0609020204030204" pitchFamily="49" charset="0"/>
              </a:rPr>
              <a:t>fptr</a:t>
            </a:r>
            <a:r>
              <a:rPr lang="en-US" altLang="zh-TW" sz="2000" b="0" dirty="0">
                <a:latin typeface="Consolas" panose="020B0609020204030204" pitchFamily="49" charset="0"/>
              </a:rPr>
              <a:t>, 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"%</a:t>
            </a:r>
            <a:r>
              <a:rPr lang="en-US" altLang="zh-TW" sz="2000" b="0" dirty="0" err="1">
                <a:solidFill>
                  <a:srgbClr val="0099FF"/>
                </a:solidFill>
                <a:latin typeface="Consolas" panose="020B0609020204030204" pitchFamily="49" charset="0"/>
              </a:rPr>
              <a:t>d%d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"</a:t>
            </a:r>
            <a:r>
              <a:rPr lang="en-US" altLang="zh-TW" sz="2000" b="0" dirty="0">
                <a:latin typeface="Consolas" panose="020B0609020204030204" pitchFamily="49" charset="0"/>
              </a:rPr>
              <a:t>, &amp;num1, &amp;num2);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"%d %d\n"</a:t>
            </a:r>
            <a:r>
              <a:rPr lang="en-US" altLang="zh-TW" sz="2000" b="0" dirty="0">
                <a:latin typeface="Consolas" panose="020B0609020204030204" pitchFamily="49" charset="0"/>
              </a:rPr>
              <a:t>, num1, num2);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solidFill>
                  <a:srgbClr val="FF0000"/>
                </a:solidFill>
                <a:latin typeface="Consolas" panose="020B0609020204030204" pitchFamily="49" charset="0"/>
              </a:rPr>
              <a:t>fclose</a:t>
            </a:r>
            <a:r>
              <a:rPr lang="en-US" altLang="zh-TW" sz="2000" b="0" dirty="0">
                <a:solidFill>
                  <a:srgbClr val="FF0000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000" b="0" dirty="0" err="1">
                <a:solidFill>
                  <a:srgbClr val="FF0000"/>
                </a:solidFill>
                <a:latin typeface="Consolas" panose="020B0609020204030204" pitchFamily="49" charset="0"/>
              </a:rPr>
              <a:t>fptr</a:t>
            </a:r>
            <a:r>
              <a:rPr lang="en-US" altLang="zh-TW" sz="2000" b="0" dirty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  <a:r>
              <a:rPr lang="en-US" altLang="zh-TW" sz="2000" b="0" dirty="0">
                <a:latin typeface="Consolas" panose="020B0609020204030204" pitchFamily="49" charset="0"/>
              </a:rPr>
              <a:t>;  </a:t>
            </a: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// close file</a:t>
            </a: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0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8547" name="Rectangle 3"/>
          <p:cNvSpPr>
            <a:spLocks noChangeArrowheads="1"/>
          </p:cNvSpPr>
          <p:nvPr/>
        </p:nvSpPr>
        <p:spPr bwMode="auto">
          <a:xfrm>
            <a:off x="1528763" y="990600"/>
            <a:ext cx="461962" cy="53213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1415</a:t>
            </a:r>
          </a:p>
        </p:txBody>
      </p:sp>
      <p:sp>
        <p:nvSpPr>
          <p:cNvPr id="108548" name="Rectangle 4"/>
          <p:cNvSpPr>
            <a:spLocks noChangeArrowheads="1"/>
          </p:cNvSpPr>
          <p:nvPr/>
        </p:nvSpPr>
        <p:spPr bwMode="auto">
          <a:xfrm>
            <a:off x="8382847" y="4419600"/>
            <a:ext cx="1828800" cy="6858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>
            <a:lvl1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en-US" sz="2000" b="0">
                <a:latin typeface="Consolas" panose="020B0609020204030204" pitchFamily="49" charset="0"/>
              </a:rPr>
              <a:t>123</a:t>
            </a:r>
          </a:p>
          <a:p>
            <a:pPr eaLnBrk="1" hangingPunct="1"/>
            <a:r>
              <a:rPr lang="en-US" altLang="en-US" sz="2000" b="0">
                <a:latin typeface="Consolas" panose="020B0609020204030204" pitchFamily="49" charset="0"/>
              </a:rPr>
              <a:t>456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594338" y="76200"/>
            <a:ext cx="8921262" cy="838200"/>
          </a:xfrm>
        </p:spPr>
        <p:txBody>
          <a:bodyPr>
            <a:normAutofit/>
          </a:bodyPr>
          <a:lstStyle/>
          <a:p>
            <a:r>
              <a:rPr lang="en-US" altLang="zh-TW" b="1"/>
              <a:t>Example #1: Reading data from a file</a:t>
            </a:r>
            <a:endParaRPr lang="en-US" altLang="zh-TW" sz="3000" b="1"/>
          </a:p>
        </p:txBody>
      </p:sp>
      <p:sp>
        <p:nvSpPr>
          <p:cNvPr id="2" name="TextBox 1"/>
          <p:cNvSpPr txBox="1"/>
          <p:nvPr/>
        </p:nvSpPr>
        <p:spPr>
          <a:xfrm>
            <a:off x="8254739" y="4082980"/>
            <a:ext cx="2433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Content of 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data.txt</a:t>
            </a:r>
            <a:r>
              <a:rPr lang="en-US" dirty="0"/>
              <a:t>"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8407139" y="5626100"/>
            <a:ext cx="1828800" cy="6858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>
            <a:lvl1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en-US" sz="2000" b="0">
                <a:latin typeface="Consolas" panose="020B0609020204030204" pitchFamily="49" charset="0"/>
              </a:rPr>
              <a:t>123 456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9032" y="5289480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743491572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21D3315C-CF75-4FB0-950F-52EF0B2625FA}" type="slidenum">
              <a:rPr lang="zh-TW" altLang="en-US" b="0">
                <a:latin typeface="Calibri" panose="020F0502020204030204" pitchFamily="34" charset="0"/>
              </a:rPr>
              <a:pPr/>
              <a:t>8</a:t>
            </a:fld>
            <a:endParaRPr lang="en-US" altLang="zh-TW" b="0">
              <a:latin typeface="Calibri" panose="020F0502020204030204" pitchFamily="34" charset="0"/>
            </a:endParaRP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2241213" y="-108204"/>
            <a:ext cx="8997462" cy="838200"/>
          </a:xfrm>
        </p:spPr>
        <p:txBody>
          <a:bodyPr/>
          <a:lstStyle/>
          <a:p>
            <a:pPr eaLnBrk="1" hangingPunct="1"/>
            <a:r>
              <a:rPr lang="en-US" altLang="zh-TW" dirty="0">
                <a:ea typeface="新細明體" pitchFamily="18" charset="-120"/>
              </a:rPr>
              <a:t>1.2. Steps involving in File I/O</a:t>
            </a:r>
          </a:p>
        </p:txBody>
      </p:sp>
      <p:sp>
        <p:nvSpPr>
          <p:cNvPr id="581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8918" y="2871216"/>
            <a:ext cx="11277600" cy="3675888"/>
          </a:xfrm>
        </p:spPr>
        <p:txBody>
          <a:bodyPr>
            <a:normAutofit fontScale="85000" lnSpcReduction="10000"/>
          </a:bodyPr>
          <a:lstStyle/>
          <a:p>
            <a:pPr marL="609600" indent="-609600">
              <a:buFont typeface="Wingdings" pitchFamily="2" charset="2"/>
              <a:buAutoNum type="arabicPeriod"/>
            </a:pPr>
            <a:r>
              <a:rPr lang="en-US" altLang="zh-TW" b="1" i="1" dirty="0">
                <a:solidFill>
                  <a:srgbClr val="0070C0"/>
                </a:solidFill>
                <a:ea typeface="新細明體" pitchFamily="18" charset="-120"/>
              </a:rPr>
              <a:t>Open</a:t>
            </a:r>
            <a:r>
              <a:rPr lang="en-US" altLang="zh-TW" dirty="0">
                <a:ea typeface="新細明體" pitchFamily="18" charset="-120"/>
              </a:rPr>
              <a:t> a file – Request the system to "prepare" a file for reading/writing</a:t>
            </a:r>
          </a:p>
          <a:p>
            <a:pPr marL="609600" indent="-609600">
              <a:buFont typeface="Wingdings" pitchFamily="2" charset="2"/>
              <a:buAutoNum type="arabicPeriod"/>
            </a:pPr>
            <a:r>
              <a:rPr lang="en-US" altLang="zh-TW" b="1" i="1" dirty="0">
                <a:solidFill>
                  <a:srgbClr val="0070C0"/>
                </a:solidFill>
                <a:ea typeface="新細明體" pitchFamily="18" charset="-120"/>
              </a:rPr>
              <a:t>Reading/writing </a:t>
            </a:r>
            <a:r>
              <a:rPr lang="en-US" altLang="zh-TW" dirty="0">
                <a:ea typeface="新細明體" pitchFamily="18" charset="-120"/>
              </a:rPr>
              <a:t>data from/to the file</a:t>
            </a:r>
          </a:p>
          <a:p>
            <a:pPr marL="609600" indent="-609600">
              <a:buFont typeface="Wingdings" pitchFamily="2" charset="2"/>
              <a:buAutoNum type="arabicPeriod"/>
            </a:pPr>
            <a:r>
              <a:rPr lang="en-US" altLang="zh-TW" b="1" i="1" dirty="0">
                <a:solidFill>
                  <a:srgbClr val="0070C0"/>
                </a:solidFill>
                <a:ea typeface="新細明體" pitchFamily="18" charset="-120"/>
              </a:rPr>
              <a:t>Close</a:t>
            </a:r>
            <a:r>
              <a:rPr lang="en-US" altLang="zh-TW" dirty="0">
                <a:solidFill>
                  <a:srgbClr val="0070C0"/>
                </a:solidFill>
                <a:ea typeface="新細明體" pitchFamily="18" charset="-120"/>
              </a:rPr>
              <a:t> </a:t>
            </a:r>
            <a:r>
              <a:rPr lang="en-US" altLang="zh-TW" dirty="0">
                <a:ea typeface="新細明體" pitchFamily="18" charset="-120"/>
              </a:rPr>
              <a:t>the file when the program is done with the file I/O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zh-TW" sz="3200" dirty="0">
                <a:ea typeface="新細明體" pitchFamily="18" charset="-120"/>
              </a:rPr>
              <a:t>Closing a file means </a:t>
            </a:r>
          </a:p>
          <a:p>
            <a:pPr lvl="2" eaLnBrk="1" hangingPunct="1"/>
            <a:r>
              <a:rPr lang="en-US" altLang="zh-TW" sz="2800" dirty="0">
                <a:ea typeface="新細明體" pitchFamily="18" charset="-120"/>
              </a:rPr>
              <a:t>Releasing all the resources in the memory associated with the file</a:t>
            </a:r>
          </a:p>
          <a:p>
            <a:pPr lvl="2" eaLnBrk="1" hangingPunct="1"/>
            <a:r>
              <a:rPr lang="en-US" altLang="zh-TW" sz="2800" dirty="0">
                <a:ea typeface="新細明體" pitchFamily="18" charset="-120"/>
              </a:rPr>
              <a:t>Flush all data in the memory to the output file if necessary</a:t>
            </a:r>
          </a:p>
          <a:p>
            <a:pPr marL="971550" lvl="1" indent="-514350">
              <a:buFont typeface="Wingdings" pitchFamily="2" charset="2"/>
              <a:buChar char="l"/>
            </a:pPr>
            <a:endParaRPr lang="en-US" altLang="zh-TW" sz="1800" dirty="0">
              <a:ea typeface="新細明體" pitchFamily="18" charset="-120"/>
            </a:endParaRPr>
          </a:p>
          <a:p>
            <a:pPr marL="609600" indent="-609600"/>
            <a:r>
              <a:rPr lang="en-US" altLang="zh-TW" dirty="0">
                <a:ea typeface="新細明體" pitchFamily="18" charset="-120"/>
              </a:rPr>
              <a:t>Step 2 is the same as performing console I/O.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E4DF54-3108-745F-BDE1-FDCCDF36DDC1}"/>
              </a:ext>
            </a:extLst>
          </p:cNvPr>
          <p:cNvSpPr txBox="1"/>
          <p:nvPr/>
        </p:nvSpPr>
        <p:spPr>
          <a:xfrm>
            <a:off x="2643124" y="1247631"/>
            <a:ext cx="6094476" cy="169661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zh-TW" sz="2400" b="0" dirty="0" err="1">
                <a:latin typeface="Consolas" panose="020B0609020204030204" pitchFamily="49" charset="0"/>
              </a:rPr>
              <a:t>fptr</a:t>
            </a:r>
            <a:r>
              <a:rPr lang="en-US" altLang="zh-TW" sz="2400" b="0" dirty="0">
                <a:latin typeface="Consolas" panose="020B0609020204030204" pitchFamily="49" charset="0"/>
              </a:rPr>
              <a:t> = </a:t>
            </a:r>
            <a:r>
              <a:rPr lang="en-US" altLang="zh-TW" sz="2400" b="0" dirty="0" err="1">
                <a:solidFill>
                  <a:srgbClr val="C00000"/>
                </a:solidFill>
                <a:latin typeface="Consolas" panose="020B0609020204030204" pitchFamily="49" charset="0"/>
              </a:rPr>
              <a:t>fopen</a:t>
            </a:r>
            <a:r>
              <a:rPr lang="en-US" altLang="zh-TW" sz="2400" b="0" dirty="0">
                <a:latin typeface="Consolas" panose="020B0609020204030204" pitchFamily="49" charset="0"/>
              </a:rPr>
              <a:t>(</a:t>
            </a:r>
            <a:r>
              <a:rPr lang="en-US" altLang="zh-TW" sz="2400" b="0" dirty="0">
                <a:solidFill>
                  <a:srgbClr val="0099FF"/>
                </a:solidFill>
                <a:latin typeface="Consolas" panose="020B0609020204030204" pitchFamily="49" charset="0"/>
              </a:rPr>
              <a:t>“</a:t>
            </a:r>
            <a:r>
              <a:rPr lang="en-US" altLang="zh-TW" sz="2400" b="0" dirty="0" err="1">
                <a:solidFill>
                  <a:srgbClr val="0099FF"/>
                </a:solidFill>
                <a:latin typeface="Consolas" panose="020B0609020204030204" pitchFamily="49" charset="0"/>
              </a:rPr>
              <a:t>data.txt</a:t>
            </a:r>
            <a:r>
              <a:rPr lang="en-US" altLang="zh-TW" sz="2400" b="0" dirty="0">
                <a:solidFill>
                  <a:srgbClr val="0099FF"/>
                </a:solidFill>
                <a:latin typeface="Consolas" panose="020B0609020204030204" pitchFamily="49" charset="0"/>
              </a:rPr>
              <a:t>”</a:t>
            </a:r>
            <a:r>
              <a:rPr lang="en-US" altLang="zh-TW" sz="2400" b="0" dirty="0">
                <a:latin typeface="Consolas" panose="020B0609020204030204" pitchFamily="49" charset="0"/>
              </a:rPr>
              <a:t>, </a:t>
            </a:r>
            <a:r>
              <a:rPr lang="en-US" altLang="zh-TW" sz="2400" b="0" dirty="0">
                <a:solidFill>
                  <a:srgbClr val="0099FF"/>
                </a:solidFill>
                <a:latin typeface="Consolas" panose="020B0609020204030204" pitchFamily="49" charset="0"/>
              </a:rPr>
              <a:t>“r”</a:t>
            </a:r>
            <a:r>
              <a:rPr lang="en-US" altLang="zh-TW" sz="2400" b="0" dirty="0">
                <a:latin typeface="Consolas" panose="020B0609020204030204" pitchFamily="49" charset="0"/>
              </a:rPr>
              <a:t>); read</a:t>
            </a:r>
            <a:r>
              <a:rPr lang="zh-CN" altLang="en-US" sz="2400" b="0" dirty="0">
                <a:latin typeface="Consolas" panose="020B0609020204030204" pitchFamily="49" charset="0"/>
              </a:rPr>
              <a:t>，</a:t>
            </a:r>
            <a:r>
              <a:rPr lang="en-US" altLang="zh-CN" sz="2400" b="0" dirty="0">
                <a:latin typeface="Consolas" panose="020B0609020204030204" pitchFamily="49" charset="0"/>
              </a:rPr>
              <a:t>w write</a:t>
            </a:r>
            <a:endParaRPr lang="en-US" altLang="zh-TW" sz="24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400" b="0" dirty="0" err="1">
                <a:solidFill>
                  <a:srgbClr val="C00000"/>
                </a:solidFill>
                <a:latin typeface="Consolas" panose="020B0609020204030204" pitchFamily="49" charset="0"/>
              </a:rPr>
              <a:t>fscanf</a:t>
            </a:r>
            <a:r>
              <a:rPr lang="en-US" altLang="zh-TW" sz="2400" b="0" dirty="0">
                <a:latin typeface="Consolas" panose="020B0609020204030204" pitchFamily="49" charset="0"/>
              </a:rPr>
              <a:t>(</a:t>
            </a:r>
            <a:r>
              <a:rPr lang="en-US" altLang="zh-TW" sz="2400" b="0" dirty="0" err="1">
                <a:latin typeface="Consolas" panose="020B0609020204030204" pitchFamily="49" charset="0"/>
              </a:rPr>
              <a:t>fptr</a:t>
            </a:r>
            <a:r>
              <a:rPr lang="en-US" altLang="zh-TW" sz="2400" b="0" dirty="0">
                <a:latin typeface="Consolas" panose="020B0609020204030204" pitchFamily="49" charset="0"/>
              </a:rPr>
              <a:t>, </a:t>
            </a:r>
            <a:r>
              <a:rPr lang="en-US" altLang="zh-TW" sz="2400" b="0" dirty="0">
                <a:solidFill>
                  <a:srgbClr val="0099FF"/>
                </a:solidFill>
                <a:latin typeface="Consolas" panose="020B0609020204030204" pitchFamily="49" charset="0"/>
              </a:rPr>
              <a:t>"%</a:t>
            </a:r>
            <a:r>
              <a:rPr lang="en-US" altLang="zh-TW" sz="2400" b="0" dirty="0" err="1">
                <a:solidFill>
                  <a:srgbClr val="0099FF"/>
                </a:solidFill>
                <a:latin typeface="Consolas" panose="020B0609020204030204" pitchFamily="49" charset="0"/>
              </a:rPr>
              <a:t>d%d</a:t>
            </a:r>
            <a:r>
              <a:rPr lang="en-US" altLang="zh-TW" sz="2400" b="0" dirty="0">
                <a:solidFill>
                  <a:srgbClr val="0099FF"/>
                </a:solidFill>
                <a:latin typeface="Consolas" panose="020B0609020204030204" pitchFamily="49" charset="0"/>
              </a:rPr>
              <a:t>"</a:t>
            </a:r>
            <a:r>
              <a:rPr lang="en-US" altLang="zh-TW" sz="2400" b="0" dirty="0">
                <a:latin typeface="Consolas" panose="020B0609020204030204" pitchFamily="49" charset="0"/>
              </a:rPr>
              <a:t>, &amp;num1, &amp;num2);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 b="0" dirty="0" err="1">
                <a:solidFill>
                  <a:srgbClr val="C00000"/>
                </a:solidFill>
                <a:latin typeface="Consolas" panose="020B0609020204030204" pitchFamily="49" charset="0"/>
              </a:rPr>
              <a:t>fclose</a:t>
            </a:r>
            <a:r>
              <a:rPr lang="en-US" altLang="zh-TW" sz="2400" b="0" dirty="0">
                <a:latin typeface="Consolas" panose="020B0609020204030204" pitchFamily="49" charset="0"/>
              </a:rPr>
              <a:t>(</a:t>
            </a:r>
            <a:r>
              <a:rPr lang="en-US" altLang="zh-TW" sz="2400" b="0" dirty="0" err="1">
                <a:latin typeface="Consolas" panose="020B0609020204030204" pitchFamily="49" charset="0"/>
              </a:rPr>
              <a:t>fptr</a:t>
            </a:r>
            <a:r>
              <a:rPr lang="en-US" altLang="zh-TW" sz="2400" b="0" dirty="0">
                <a:latin typeface="Consolas" panose="020B0609020204030204" pitchFamily="49" charset="0"/>
              </a:rPr>
              <a:t>);  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407391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ChangeArrowheads="1"/>
          </p:cNvSpPr>
          <p:nvPr/>
        </p:nvSpPr>
        <p:spPr bwMode="auto">
          <a:xfrm>
            <a:off x="1990726" y="990600"/>
            <a:ext cx="8677275" cy="5321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#include &lt;</a:t>
            </a:r>
            <a:r>
              <a:rPr lang="en-US" altLang="zh-TW" sz="2000" b="0" dirty="0" err="1">
                <a:latin typeface="Consolas" panose="020B0609020204030204" pitchFamily="49" charset="0"/>
              </a:rPr>
              <a:t>stdio.h</a:t>
            </a:r>
            <a:r>
              <a:rPr lang="en-US" altLang="zh-TW" sz="2000" b="0" dirty="0"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main(void)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altLang="zh-TW" sz="2000" dirty="0">
                <a:highlight>
                  <a:srgbClr val="FFFF00"/>
                </a:highlight>
                <a:latin typeface="Consolas" panose="020B0609020204030204" pitchFamily="49" charset="0"/>
              </a:rPr>
              <a:t>FILE </a:t>
            </a:r>
            <a:r>
              <a:rPr lang="en-US" altLang="zh-TW" sz="2000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*</a:t>
            </a:r>
            <a:r>
              <a:rPr lang="en-US" altLang="zh-TW" sz="2000" dirty="0" err="1">
                <a:highlight>
                  <a:srgbClr val="FFFF00"/>
                </a:highlight>
                <a:latin typeface="Consolas" panose="020B0609020204030204" pitchFamily="49" charset="0"/>
              </a:rPr>
              <a:t>fptr</a:t>
            </a:r>
            <a:r>
              <a:rPr lang="en-US" altLang="zh-TW" sz="200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  <a:endParaRPr lang="en-US" altLang="zh-TW" sz="2000" dirty="0">
              <a:solidFill>
                <a:srgbClr val="0000FF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    int</a:t>
            </a:r>
            <a:r>
              <a:rPr lang="en-US" altLang="zh-TW" sz="2000" b="0" dirty="0">
                <a:latin typeface="Consolas" panose="020B0609020204030204" pitchFamily="49" charset="0"/>
              </a:rPr>
              <a:t> num1, num2;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</a:rPr>
              <a:t>fptr</a:t>
            </a:r>
            <a:r>
              <a:rPr lang="en-US" altLang="zh-TW" sz="2000" b="0" dirty="0">
                <a:latin typeface="Consolas" panose="020B0609020204030204" pitchFamily="49" charset="0"/>
              </a:rPr>
              <a:t> = </a:t>
            </a:r>
            <a:r>
              <a:rPr lang="en-US" altLang="zh-TW" sz="2000" b="0" dirty="0" err="1">
                <a:solidFill>
                  <a:srgbClr val="C00000"/>
                </a:solidFill>
                <a:latin typeface="Consolas" panose="020B0609020204030204" pitchFamily="49" charset="0"/>
              </a:rPr>
              <a:t>fopen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"data.txt"</a:t>
            </a:r>
            <a:r>
              <a:rPr lang="en-US" altLang="zh-TW" sz="2000" b="0" dirty="0">
                <a:latin typeface="Consolas" panose="020B0609020204030204" pitchFamily="49" charset="0"/>
              </a:rPr>
              <a:t>, 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"r"</a:t>
            </a:r>
            <a:r>
              <a:rPr lang="en-US" altLang="zh-TW" sz="2000" b="0" dirty="0">
                <a:latin typeface="Consolas" panose="020B0609020204030204" pitchFamily="49" charset="0"/>
              </a:rPr>
              <a:t>);  </a:t>
            </a: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// open file</a:t>
            </a: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    // Read two integers from the file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solidFill>
                  <a:srgbClr val="C00000"/>
                </a:solidFill>
                <a:latin typeface="Consolas" panose="020B0609020204030204" pitchFamily="49" charset="0"/>
              </a:rPr>
              <a:t>fscanf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 err="1">
                <a:latin typeface="Consolas" panose="020B0609020204030204" pitchFamily="49" charset="0"/>
              </a:rPr>
              <a:t>fptr</a:t>
            </a:r>
            <a:r>
              <a:rPr lang="en-US" altLang="zh-TW" sz="2000" b="0" dirty="0">
                <a:latin typeface="Consolas" panose="020B0609020204030204" pitchFamily="49" charset="0"/>
              </a:rPr>
              <a:t>, 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"%</a:t>
            </a:r>
            <a:r>
              <a:rPr lang="en-US" altLang="zh-TW" sz="2000" b="0" dirty="0" err="1">
                <a:solidFill>
                  <a:srgbClr val="0099FF"/>
                </a:solidFill>
                <a:latin typeface="Consolas" panose="020B0609020204030204" pitchFamily="49" charset="0"/>
              </a:rPr>
              <a:t>d%d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"</a:t>
            </a:r>
            <a:r>
              <a:rPr lang="en-US" altLang="zh-TW" sz="2000" b="0" dirty="0">
                <a:latin typeface="Consolas" panose="020B0609020204030204" pitchFamily="49" charset="0"/>
              </a:rPr>
              <a:t>, &amp;num1, &amp;num2);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"%d %d\n"</a:t>
            </a:r>
            <a:r>
              <a:rPr lang="en-US" altLang="zh-TW" sz="2000" b="0" dirty="0">
                <a:latin typeface="Consolas" panose="020B0609020204030204" pitchFamily="49" charset="0"/>
              </a:rPr>
              <a:t>, num1, num2);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solidFill>
                  <a:srgbClr val="C00000"/>
                </a:solidFill>
                <a:latin typeface="Consolas" panose="020B0609020204030204" pitchFamily="49" charset="0"/>
              </a:rPr>
              <a:t>fclose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 err="1">
                <a:latin typeface="Consolas" panose="020B0609020204030204" pitchFamily="49" charset="0"/>
              </a:rPr>
              <a:t>fptr</a:t>
            </a:r>
            <a:r>
              <a:rPr lang="en-US" altLang="zh-TW" sz="2000" b="0" dirty="0">
                <a:latin typeface="Consolas" panose="020B0609020204030204" pitchFamily="49" charset="0"/>
              </a:rPr>
              <a:t>);  </a:t>
            </a: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// close file</a:t>
            </a: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0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DDE72-8E1C-48AE-AAB0-105C85EE517D}" type="slidenum">
              <a:rPr lang="zh-TW" altLang="en-US"/>
              <a:pPr/>
              <a:t>9</a:t>
            </a:fld>
            <a:endParaRPr lang="en-US" altLang="zh-TW"/>
          </a:p>
        </p:txBody>
      </p:sp>
      <p:sp>
        <p:nvSpPr>
          <p:cNvPr id="108547" name="Rectangle 3"/>
          <p:cNvSpPr>
            <a:spLocks noChangeArrowheads="1"/>
          </p:cNvSpPr>
          <p:nvPr/>
        </p:nvSpPr>
        <p:spPr bwMode="auto">
          <a:xfrm>
            <a:off x="1528763" y="990600"/>
            <a:ext cx="461962" cy="53213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1415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594338" y="76200"/>
            <a:ext cx="8921262" cy="838200"/>
          </a:xfrm>
        </p:spPr>
        <p:txBody>
          <a:bodyPr>
            <a:normAutofit/>
          </a:bodyPr>
          <a:lstStyle/>
          <a:p>
            <a:r>
              <a:rPr lang="en-US" altLang="zh-TW" sz="4000"/>
              <a:t>Example #1: Reading data from a file</a:t>
            </a:r>
            <a:endParaRPr lang="en-US" altLang="zh-TW" sz="2800"/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5733468" y="1117523"/>
            <a:ext cx="5641668" cy="2311477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zh-TW" sz="2400" dirty="0"/>
              <a:t>Declare a variable , </a:t>
            </a:r>
            <a:r>
              <a:rPr lang="en-US" altLang="zh-TW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fptr</a:t>
            </a:r>
            <a:r>
              <a:rPr lang="en-US" altLang="zh-TW" sz="2400" dirty="0"/>
              <a:t>, to store the "states" of a file in the memory. </a:t>
            </a:r>
          </a:p>
          <a:p>
            <a:pPr>
              <a:spcBef>
                <a:spcPct val="50000"/>
              </a:spcBef>
            </a:pPr>
            <a:r>
              <a:rPr lang="en-US" altLang="zh-TW" sz="2400" dirty="0"/>
              <a:t>Note that the variable must be prefixed with a '*' in the declaration (</a:t>
            </a:r>
            <a:r>
              <a:rPr lang="en-HK" altLang="zh-TW" sz="2400" dirty="0"/>
              <a:t>a </a:t>
            </a:r>
            <a:r>
              <a:rPr lang="en-HK" altLang="zh-TW" sz="2400" b="1" i="1" u="sng" dirty="0">
                <a:solidFill>
                  <a:srgbClr val="C00000"/>
                </a:solidFill>
              </a:rPr>
              <a:t>pointer</a:t>
            </a:r>
            <a:r>
              <a:rPr lang="en-HK" altLang="zh-TW" sz="2400" dirty="0"/>
              <a:t> </a:t>
            </a:r>
            <a:r>
              <a:rPr lang="en-US" altLang="zh-TW" sz="2400" dirty="0"/>
              <a:t>)</a:t>
            </a:r>
          </a:p>
          <a:p>
            <a:pPr>
              <a:spcBef>
                <a:spcPct val="50000"/>
              </a:spcBef>
            </a:pPr>
            <a:r>
              <a:rPr lang="en-US" altLang="zh-TW" sz="2400" dirty="0">
                <a:solidFill>
                  <a:srgbClr val="0070C0"/>
                </a:solidFill>
              </a:rPr>
              <a:t>FILE</a:t>
            </a:r>
            <a:r>
              <a:rPr lang="en-US" altLang="zh-TW" sz="2400" dirty="0"/>
              <a:t> is a data type defined in "</a:t>
            </a:r>
            <a:r>
              <a:rPr lang="en-US" altLang="zh-TW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lang="en-US" altLang="zh-TW" sz="2400" dirty="0"/>
              <a:t>".</a:t>
            </a:r>
          </a:p>
          <a:p>
            <a:pPr>
              <a:spcBef>
                <a:spcPct val="50000"/>
              </a:spcBef>
            </a:pPr>
            <a:endParaRPr lang="en-US" altLang="zh-TW" sz="2400" dirty="0"/>
          </a:p>
          <a:p>
            <a:pPr>
              <a:spcBef>
                <a:spcPct val="50000"/>
              </a:spcBef>
            </a:pPr>
            <a:endParaRPr lang="en-US" altLang="zh-TW" sz="2400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77EA99E-B528-882F-CCCB-CB601C7E62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847" y="4419600"/>
            <a:ext cx="1828800" cy="6858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>
            <a:lvl1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en-US" sz="2000" b="0">
                <a:latin typeface="Consolas" panose="020B0609020204030204" pitchFamily="49" charset="0"/>
              </a:rPr>
              <a:t>123</a:t>
            </a:r>
          </a:p>
          <a:p>
            <a:pPr eaLnBrk="1" hangingPunct="1"/>
            <a:r>
              <a:rPr lang="en-US" altLang="en-US" sz="2000" b="0">
                <a:latin typeface="Consolas" panose="020B0609020204030204" pitchFamily="49" charset="0"/>
              </a:rPr>
              <a:t>456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AC6613-647D-2C93-A68F-59A8780AB0E4}"/>
              </a:ext>
            </a:extLst>
          </p:cNvPr>
          <p:cNvSpPr txBox="1"/>
          <p:nvPr/>
        </p:nvSpPr>
        <p:spPr>
          <a:xfrm>
            <a:off x="8254739" y="4082980"/>
            <a:ext cx="2433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Content of 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data.txt</a:t>
            </a:r>
            <a:r>
              <a:rPr lang="en-US" dirty="0"/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245895385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2590800" y="3048000"/>
            <a:ext cx="4343400" cy="381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DDE72-8E1C-48AE-AAB0-105C85EE517D}" type="slidenum">
              <a:rPr lang="zh-TW" altLang="en-US"/>
              <a:pPr/>
              <a:t>10</a:t>
            </a:fld>
            <a:endParaRPr lang="en-US" altLang="zh-TW"/>
          </a:p>
        </p:txBody>
      </p:sp>
      <p:sp>
        <p:nvSpPr>
          <p:cNvPr id="108546" name="Rectangle 2"/>
          <p:cNvSpPr>
            <a:spLocks noChangeArrowheads="1"/>
          </p:cNvSpPr>
          <p:nvPr/>
        </p:nvSpPr>
        <p:spPr bwMode="auto">
          <a:xfrm>
            <a:off x="1990726" y="990600"/>
            <a:ext cx="8677275" cy="5321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#include &lt;</a:t>
            </a:r>
            <a:r>
              <a:rPr lang="en-US" altLang="zh-TW" sz="2000" b="0" dirty="0" err="1">
                <a:latin typeface="Consolas" panose="020B0609020204030204" pitchFamily="49" charset="0"/>
              </a:rPr>
              <a:t>stdio.h</a:t>
            </a:r>
            <a:r>
              <a:rPr lang="en-US" altLang="zh-TW" sz="2000" b="0" dirty="0"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main(void)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altLang="zh-TW" sz="2000" b="0" dirty="0">
                <a:latin typeface="Consolas" panose="020B0609020204030204" pitchFamily="49" charset="0"/>
              </a:rPr>
              <a:t>FILE *</a:t>
            </a:r>
            <a:r>
              <a:rPr lang="en-US" altLang="zh-TW" sz="2000" b="0" dirty="0" err="1">
                <a:latin typeface="Consolas" panose="020B0609020204030204" pitchFamily="49" charset="0"/>
              </a:rPr>
              <a:t>fptr</a:t>
            </a:r>
            <a:r>
              <a:rPr lang="en-US" altLang="zh-TW" sz="2000" b="0" dirty="0">
                <a:latin typeface="Consolas" panose="020B0609020204030204" pitchFamily="49" charset="0"/>
              </a:rPr>
              <a:t>;</a:t>
            </a: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    int</a:t>
            </a:r>
            <a:r>
              <a:rPr lang="en-US" altLang="zh-TW" sz="2000" b="0" dirty="0">
                <a:latin typeface="Consolas" panose="020B0609020204030204" pitchFamily="49" charset="0"/>
              </a:rPr>
              <a:t> num1, num2;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dirty="0" err="1">
                <a:highlight>
                  <a:srgbClr val="FFFF00"/>
                </a:highlight>
                <a:latin typeface="Consolas" panose="020B0609020204030204" pitchFamily="49" charset="0"/>
              </a:rPr>
              <a:t>fptr</a:t>
            </a:r>
            <a:r>
              <a:rPr lang="en-US" altLang="zh-TW" sz="2000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zh-TW" sz="2000" dirty="0" err="1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fopen</a:t>
            </a:r>
            <a:r>
              <a:rPr lang="en-US" altLang="zh-TW" sz="20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2000" dirty="0">
                <a:solidFill>
                  <a:srgbClr val="0099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"data.txt"</a:t>
            </a:r>
            <a:r>
              <a:rPr lang="en-US" altLang="zh-TW" sz="2000" dirty="0"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altLang="zh-TW" sz="2000" dirty="0">
                <a:solidFill>
                  <a:srgbClr val="0099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"r"</a:t>
            </a:r>
            <a:r>
              <a:rPr lang="en-US" altLang="zh-TW" sz="2000" dirty="0"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  <a:r>
              <a:rPr lang="en-US" altLang="zh-TW" sz="2000" b="0" dirty="0">
                <a:latin typeface="Consolas" panose="020B0609020204030204" pitchFamily="49" charset="0"/>
              </a:rPr>
              <a:t>  </a:t>
            </a: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// open file for reading</a:t>
            </a: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    // Read two integers from the file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solidFill>
                  <a:srgbClr val="C00000"/>
                </a:solidFill>
                <a:latin typeface="Consolas" panose="020B0609020204030204" pitchFamily="49" charset="0"/>
              </a:rPr>
              <a:t>fscanf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 err="1">
                <a:latin typeface="Consolas" panose="020B0609020204030204" pitchFamily="49" charset="0"/>
              </a:rPr>
              <a:t>fptr</a:t>
            </a:r>
            <a:r>
              <a:rPr lang="en-US" altLang="zh-TW" sz="2000" b="0" dirty="0">
                <a:latin typeface="Consolas" panose="020B0609020204030204" pitchFamily="49" charset="0"/>
              </a:rPr>
              <a:t>, 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"%</a:t>
            </a:r>
            <a:r>
              <a:rPr lang="en-US" altLang="zh-TW" sz="2000" b="0" dirty="0" err="1">
                <a:solidFill>
                  <a:srgbClr val="0099FF"/>
                </a:solidFill>
                <a:latin typeface="Consolas" panose="020B0609020204030204" pitchFamily="49" charset="0"/>
              </a:rPr>
              <a:t>d%d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"</a:t>
            </a:r>
            <a:r>
              <a:rPr lang="en-US" altLang="zh-TW" sz="2000" b="0" dirty="0">
                <a:latin typeface="Consolas" panose="020B0609020204030204" pitchFamily="49" charset="0"/>
              </a:rPr>
              <a:t>, &amp;num1, &amp;num2);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"%d %d\n"</a:t>
            </a:r>
            <a:r>
              <a:rPr lang="en-US" altLang="zh-TW" sz="2000" b="0" dirty="0">
                <a:latin typeface="Consolas" panose="020B0609020204030204" pitchFamily="49" charset="0"/>
              </a:rPr>
              <a:t>, num1, num2);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solidFill>
                  <a:srgbClr val="C00000"/>
                </a:solidFill>
                <a:latin typeface="Consolas" panose="020B0609020204030204" pitchFamily="49" charset="0"/>
              </a:rPr>
              <a:t>fclose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 err="1">
                <a:latin typeface="Consolas" panose="020B0609020204030204" pitchFamily="49" charset="0"/>
              </a:rPr>
              <a:t>fptr</a:t>
            </a:r>
            <a:r>
              <a:rPr lang="en-US" altLang="zh-TW" sz="2000" b="0" dirty="0">
                <a:latin typeface="Consolas" panose="020B0609020204030204" pitchFamily="49" charset="0"/>
              </a:rPr>
              <a:t>);  </a:t>
            </a: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// close file</a:t>
            </a: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0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8547" name="Rectangle 3"/>
          <p:cNvSpPr>
            <a:spLocks noChangeArrowheads="1"/>
          </p:cNvSpPr>
          <p:nvPr/>
        </p:nvSpPr>
        <p:spPr bwMode="auto">
          <a:xfrm>
            <a:off x="1528763" y="990600"/>
            <a:ext cx="461962" cy="53213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1415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594338" y="76200"/>
            <a:ext cx="8921262" cy="838200"/>
          </a:xfrm>
        </p:spPr>
        <p:txBody>
          <a:bodyPr>
            <a:normAutofit/>
          </a:bodyPr>
          <a:lstStyle/>
          <a:p>
            <a:r>
              <a:rPr lang="en-US" altLang="zh-TW"/>
              <a:t>Example #1: Reading data from a file</a:t>
            </a:r>
            <a:endParaRPr lang="en-US" altLang="zh-TW" sz="3000"/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6329363" y="1100140"/>
            <a:ext cx="5749861" cy="1838320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zh-TW" sz="2400" dirty="0"/>
              <a:t>Open a </a:t>
            </a:r>
            <a:r>
              <a:rPr lang="en-US" altLang="zh-TW" sz="2400" b="1" u="sng" dirty="0"/>
              <a:t>file named </a:t>
            </a:r>
            <a:r>
              <a:rPr lang="en-US" altLang="zh-TW" sz="2400" dirty="0">
                <a:solidFill>
                  <a:srgbClr val="0070C0"/>
                </a:solidFill>
              </a:rPr>
              <a:t>"data.txt"</a:t>
            </a:r>
            <a:r>
              <a:rPr lang="en-US" altLang="zh-TW" sz="2400" dirty="0"/>
              <a:t> for reading (</a:t>
            </a:r>
            <a:r>
              <a:rPr lang="en-US" altLang="zh-TW" sz="2400" dirty="0" err="1"/>
              <a:t>main.c</a:t>
            </a:r>
            <a:r>
              <a:rPr lang="en-US" altLang="zh-TW" sz="2400" dirty="0"/>
              <a:t> and data.txt are in the </a:t>
            </a:r>
            <a:r>
              <a:rPr lang="en-US" altLang="zh-TW" sz="2400" b="1" dirty="0"/>
              <a:t>same folder</a:t>
            </a:r>
            <a:r>
              <a:rPr lang="en-US" altLang="zh-TW" sz="2400" dirty="0"/>
              <a:t>).</a:t>
            </a:r>
          </a:p>
          <a:p>
            <a:pPr>
              <a:spcBef>
                <a:spcPct val="50000"/>
              </a:spcBef>
            </a:pPr>
            <a:r>
              <a:rPr lang="en-US" altLang="zh-TW" sz="2400" dirty="0"/>
              <a:t>The 2</a:t>
            </a:r>
            <a:r>
              <a:rPr lang="en-US" altLang="zh-TW" sz="2400" baseline="30000" dirty="0"/>
              <a:t>nd</a:t>
            </a:r>
            <a:r>
              <a:rPr lang="en-US" altLang="zh-TW" sz="2400" dirty="0"/>
              <a:t> argument, </a:t>
            </a:r>
            <a:r>
              <a:rPr lang="en-US" altLang="zh-TW" sz="2400" dirty="0">
                <a:solidFill>
                  <a:srgbClr val="0070C0"/>
                </a:solidFill>
              </a:rPr>
              <a:t>"r"</a:t>
            </a:r>
            <a:r>
              <a:rPr lang="en-US" altLang="zh-TW" sz="2400" dirty="0"/>
              <a:t>, indicates that we are opening the file for </a:t>
            </a:r>
            <a:r>
              <a:rPr lang="en-US" altLang="zh-TW" sz="2400" b="1" u="sng" dirty="0"/>
              <a:t>reading only</a:t>
            </a:r>
            <a:r>
              <a:rPr lang="en-US" altLang="zh-TW" sz="2400" dirty="0"/>
              <a:t>.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8D59C57F-8008-E44C-1F22-E1365B993F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847" y="4419600"/>
            <a:ext cx="1828800" cy="6858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>
            <a:lvl1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en-US" sz="2000" b="0">
                <a:latin typeface="Consolas" panose="020B0609020204030204" pitchFamily="49" charset="0"/>
              </a:rPr>
              <a:t>123</a:t>
            </a:r>
          </a:p>
          <a:p>
            <a:pPr eaLnBrk="1" hangingPunct="1"/>
            <a:r>
              <a:rPr lang="en-US" altLang="en-US" sz="2000" b="0">
                <a:latin typeface="Consolas" panose="020B0609020204030204" pitchFamily="49" charset="0"/>
              </a:rPr>
              <a:t>456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854FB8-7C63-012A-1611-FFF866061363}"/>
              </a:ext>
            </a:extLst>
          </p:cNvPr>
          <p:cNvSpPr txBox="1"/>
          <p:nvPr/>
        </p:nvSpPr>
        <p:spPr>
          <a:xfrm>
            <a:off x="8254739" y="4082980"/>
            <a:ext cx="2433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Content of 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data.txt</a:t>
            </a:r>
            <a:r>
              <a:rPr lang="en-US" dirty="0"/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421680601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2438400" y="4073525"/>
            <a:ext cx="5105400" cy="4222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DDE72-8E1C-48AE-AAB0-105C85EE517D}" type="slidenum">
              <a:rPr lang="zh-TW" altLang="en-US"/>
              <a:pPr/>
              <a:t>11</a:t>
            </a:fld>
            <a:endParaRPr lang="en-US" altLang="zh-TW"/>
          </a:p>
        </p:txBody>
      </p:sp>
      <p:sp>
        <p:nvSpPr>
          <p:cNvPr id="108546" name="Rectangle 2"/>
          <p:cNvSpPr>
            <a:spLocks noChangeArrowheads="1"/>
          </p:cNvSpPr>
          <p:nvPr/>
        </p:nvSpPr>
        <p:spPr bwMode="auto">
          <a:xfrm>
            <a:off x="1990726" y="990600"/>
            <a:ext cx="8677275" cy="5321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#include &lt;</a:t>
            </a:r>
            <a:r>
              <a:rPr lang="en-US" altLang="zh-TW" sz="2000" b="0" dirty="0" err="1">
                <a:latin typeface="Consolas" panose="020B0609020204030204" pitchFamily="49" charset="0"/>
              </a:rPr>
              <a:t>stdio.h</a:t>
            </a:r>
            <a:r>
              <a:rPr lang="en-US" altLang="zh-TW" sz="2000" b="0" dirty="0"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main(void)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altLang="zh-TW" sz="2000" b="0" dirty="0">
                <a:latin typeface="Consolas" panose="020B0609020204030204" pitchFamily="49" charset="0"/>
              </a:rPr>
              <a:t>FILE *</a:t>
            </a:r>
            <a:r>
              <a:rPr lang="en-US" altLang="zh-TW" sz="2000" b="0" dirty="0" err="1">
                <a:latin typeface="Consolas" panose="020B0609020204030204" pitchFamily="49" charset="0"/>
              </a:rPr>
              <a:t>fptr</a:t>
            </a:r>
            <a:r>
              <a:rPr lang="en-US" altLang="zh-TW" sz="2000" b="0" dirty="0">
                <a:latin typeface="Consolas" panose="020B0609020204030204" pitchFamily="49" charset="0"/>
              </a:rPr>
              <a:t>;</a:t>
            </a: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    int</a:t>
            </a:r>
            <a:r>
              <a:rPr lang="en-US" altLang="zh-TW" sz="2000" b="0" dirty="0">
                <a:latin typeface="Consolas" panose="020B0609020204030204" pitchFamily="49" charset="0"/>
              </a:rPr>
              <a:t> num1, num2;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</a:rPr>
              <a:t>fptr</a:t>
            </a:r>
            <a:r>
              <a:rPr lang="en-US" altLang="zh-TW" sz="2000" b="0" dirty="0">
                <a:latin typeface="Consolas" panose="020B0609020204030204" pitchFamily="49" charset="0"/>
              </a:rPr>
              <a:t> = </a:t>
            </a:r>
            <a:r>
              <a:rPr lang="en-US" altLang="zh-TW" sz="2000" b="0" dirty="0" err="1">
                <a:solidFill>
                  <a:srgbClr val="C00000"/>
                </a:solidFill>
                <a:latin typeface="Consolas" panose="020B0609020204030204" pitchFamily="49" charset="0"/>
              </a:rPr>
              <a:t>fopen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"data.txt"</a:t>
            </a:r>
            <a:r>
              <a:rPr lang="en-US" altLang="zh-TW" sz="2000" b="0" dirty="0">
                <a:latin typeface="Consolas" panose="020B0609020204030204" pitchFamily="49" charset="0"/>
              </a:rPr>
              <a:t>, 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"r"</a:t>
            </a:r>
            <a:r>
              <a:rPr lang="en-US" altLang="zh-TW" sz="2000" b="0" dirty="0">
                <a:latin typeface="Consolas" panose="020B0609020204030204" pitchFamily="49" charset="0"/>
              </a:rPr>
              <a:t>);  </a:t>
            </a: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// open file</a:t>
            </a: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    // Read two integers from the file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latin typeface="Consolas" panose="020B0609020204030204" pitchFamily="49" charset="0"/>
              </a:rPr>
              <a:t>    </a:t>
            </a:r>
            <a:r>
              <a:rPr lang="en-US" altLang="zh-TW" sz="2000" dirty="0" err="1">
                <a:solidFill>
                  <a:srgbClr val="C00000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fscanf</a:t>
            </a:r>
            <a:r>
              <a:rPr lang="en-US" altLang="zh-TW" sz="2000" dirty="0">
                <a:highlight>
                  <a:srgbClr val="00FF00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2000" dirty="0" err="1">
                <a:highlight>
                  <a:srgbClr val="00FF00"/>
                </a:highlight>
                <a:latin typeface="Consolas" panose="020B0609020204030204" pitchFamily="49" charset="0"/>
              </a:rPr>
              <a:t>fptr</a:t>
            </a:r>
            <a:r>
              <a:rPr lang="en-US" altLang="zh-TW" sz="2000" dirty="0">
                <a:highlight>
                  <a:srgbClr val="00FF00"/>
                </a:highlight>
                <a:latin typeface="Consolas" panose="020B0609020204030204" pitchFamily="49" charset="0"/>
              </a:rPr>
              <a:t>, </a:t>
            </a:r>
            <a:r>
              <a:rPr lang="en-US" altLang="zh-TW" sz="2000" dirty="0">
                <a:solidFill>
                  <a:srgbClr val="0099FF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"%</a:t>
            </a:r>
            <a:r>
              <a:rPr lang="en-US" altLang="zh-TW" sz="2000" dirty="0" err="1">
                <a:solidFill>
                  <a:srgbClr val="0099FF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d%d</a:t>
            </a:r>
            <a:r>
              <a:rPr lang="en-US" altLang="zh-TW" sz="2000" dirty="0">
                <a:solidFill>
                  <a:srgbClr val="0099FF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"</a:t>
            </a:r>
            <a:r>
              <a:rPr lang="en-US" altLang="zh-TW" sz="2000" dirty="0">
                <a:highlight>
                  <a:srgbClr val="00FF00"/>
                </a:highlight>
                <a:latin typeface="Consolas" panose="020B0609020204030204" pitchFamily="49" charset="0"/>
              </a:rPr>
              <a:t>, &amp;num1, &amp;num2);</a:t>
            </a:r>
            <a:r>
              <a:rPr lang="en-US" altLang="zh-TW" sz="2000" dirty="0">
                <a:latin typeface="Consolas" panose="020B0609020204030204" pitchFamily="49" charset="0"/>
              </a:rPr>
              <a:t>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"%d %d\n"</a:t>
            </a:r>
            <a:r>
              <a:rPr lang="en-US" altLang="zh-TW" sz="2000" b="0" dirty="0">
                <a:latin typeface="Consolas" panose="020B0609020204030204" pitchFamily="49" charset="0"/>
              </a:rPr>
              <a:t>, num1, num2);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solidFill>
                  <a:srgbClr val="C00000"/>
                </a:solidFill>
                <a:latin typeface="Consolas" panose="020B0609020204030204" pitchFamily="49" charset="0"/>
              </a:rPr>
              <a:t>fclose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 err="1">
                <a:latin typeface="Consolas" panose="020B0609020204030204" pitchFamily="49" charset="0"/>
              </a:rPr>
              <a:t>fptr</a:t>
            </a:r>
            <a:r>
              <a:rPr lang="en-US" altLang="zh-TW" sz="2000" b="0" dirty="0">
                <a:latin typeface="Consolas" panose="020B0609020204030204" pitchFamily="49" charset="0"/>
              </a:rPr>
              <a:t>);  </a:t>
            </a: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// close file</a:t>
            </a: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0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8547" name="Rectangle 3"/>
          <p:cNvSpPr>
            <a:spLocks noChangeArrowheads="1"/>
          </p:cNvSpPr>
          <p:nvPr/>
        </p:nvSpPr>
        <p:spPr bwMode="auto">
          <a:xfrm>
            <a:off x="1528763" y="990600"/>
            <a:ext cx="461962" cy="53213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1415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594338" y="76200"/>
            <a:ext cx="8921262" cy="838200"/>
          </a:xfrm>
        </p:spPr>
        <p:txBody>
          <a:bodyPr>
            <a:normAutofit/>
          </a:bodyPr>
          <a:lstStyle/>
          <a:p>
            <a:r>
              <a:rPr lang="en-US" altLang="zh-TW"/>
              <a:t>Example #1: Reading data from a file</a:t>
            </a:r>
            <a:endParaRPr lang="en-US" altLang="zh-TW" sz="3000"/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4876800" y="1066800"/>
            <a:ext cx="7158317" cy="1882588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zh-TW" sz="2400" dirty="0"/>
              <a:t>After a file has been opened successfully, we can start reading data from the file via </a:t>
            </a:r>
            <a:r>
              <a:rPr lang="en-US" altLang="zh-TW" sz="24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fptr</a:t>
            </a:r>
            <a:r>
              <a:rPr lang="en-US" altLang="zh-TW" sz="2400" dirty="0"/>
              <a:t>.</a:t>
            </a:r>
          </a:p>
          <a:p>
            <a:pPr>
              <a:spcBef>
                <a:spcPct val="50000"/>
              </a:spcBef>
            </a:pPr>
            <a:r>
              <a:rPr lang="en-US" altLang="zh-TW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fscanf</a:t>
            </a:r>
            <a:r>
              <a:rPr lang="en-US" altLang="zh-TW" sz="24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altLang="zh-TW" sz="2400" dirty="0"/>
              <a:t> behaves like </a:t>
            </a:r>
            <a:r>
              <a:rPr lang="en-US" altLang="zh-TW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scanf</a:t>
            </a:r>
            <a:r>
              <a:rPr lang="en-US" altLang="zh-TW" sz="24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altLang="zh-TW" sz="2400" dirty="0"/>
              <a:t> except that </a:t>
            </a:r>
            <a:r>
              <a:rPr lang="en-US" altLang="zh-TW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fscanf</a:t>
            </a:r>
            <a:r>
              <a:rPr lang="en-US" altLang="zh-TW" sz="24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altLang="zh-TW" sz="2400" dirty="0"/>
              <a:t> requires a "file pointer variable" as its first argument.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69270BD9-EA96-6547-335A-A15A2696C8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847" y="4419600"/>
            <a:ext cx="1828800" cy="6858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>
            <a:lvl1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en-US" sz="2000" b="0">
                <a:latin typeface="Consolas" panose="020B0609020204030204" pitchFamily="49" charset="0"/>
              </a:rPr>
              <a:t>123</a:t>
            </a:r>
          </a:p>
          <a:p>
            <a:pPr eaLnBrk="1" hangingPunct="1"/>
            <a:r>
              <a:rPr lang="en-US" altLang="en-US" sz="2000" b="0">
                <a:latin typeface="Consolas" panose="020B0609020204030204" pitchFamily="49" charset="0"/>
              </a:rPr>
              <a:t>456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5ABA4F-98FE-8C8C-0E4D-11B47BAFE28D}"/>
              </a:ext>
            </a:extLst>
          </p:cNvPr>
          <p:cNvSpPr txBox="1"/>
          <p:nvPr/>
        </p:nvSpPr>
        <p:spPr>
          <a:xfrm>
            <a:off x="8254739" y="4082980"/>
            <a:ext cx="2433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Content of 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data.txt</a:t>
            </a:r>
            <a:r>
              <a:rPr lang="en-US" dirty="0"/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9214643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4338" y="76200"/>
            <a:ext cx="8921262" cy="838200"/>
          </a:xfrm>
        </p:spPr>
        <p:txBody>
          <a:bodyPr/>
          <a:lstStyle/>
          <a:p>
            <a:r>
              <a:rPr lang="en-US" b="1" err="1">
                <a:latin typeface="Consolas" panose="020B0609020204030204" pitchFamily="49" charset="0"/>
                <a:cs typeface="Consolas" panose="020B0609020204030204" pitchFamily="49" charset="0"/>
              </a:rPr>
              <a:t>fscanf</a:t>
            </a:r>
            <a:r>
              <a:rPr lang="en-US" b="1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5447" y="3346514"/>
            <a:ext cx="10753165" cy="2825685"/>
          </a:xfrm>
        </p:spPr>
        <p:txBody>
          <a:bodyPr>
            <a:normAutofit/>
          </a:bodyPr>
          <a:lstStyle/>
          <a:p>
            <a:r>
              <a:rPr lang="en-US" sz="3600" dirty="0"/>
              <a:t>Similar to </a:t>
            </a:r>
            <a:r>
              <a:rPr lang="en-US" sz="3600" dirty="0" err="1">
                <a:latin typeface="Consolas" panose="020B0609020204030204" pitchFamily="49" charset="0"/>
                <a:cs typeface="Consolas" panose="020B0609020204030204" pitchFamily="49" charset="0"/>
              </a:rPr>
              <a:t>scanf</a:t>
            </a:r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sz="3600" dirty="0"/>
              <a:t>, except that the data comes from the stream </a:t>
            </a:r>
            <a:r>
              <a:rPr lang="en-US" sz="3600" dirty="0" err="1">
                <a:solidFill>
                  <a:srgbClr val="0070C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fp</a:t>
            </a:r>
            <a:r>
              <a:rPr lang="en-US" sz="3600" dirty="0"/>
              <a:t> (instead of console input, keyboard).</a:t>
            </a:r>
          </a:p>
          <a:p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754094" y="2377912"/>
            <a:ext cx="969004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b="1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fscanf</a:t>
            </a:r>
            <a:r>
              <a:rPr lang="en-US" altLang="zh-TW" sz="28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TW" sz="2800" b="1" dirty="0">
                <a:solidFill>
                  <a:srgbClr val="0070C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FILE *</a:t>
            </a:r>
            <a:r>
              <a:rPr lang="en-US" altLang="zh-TW" sz="2800" b="1" dirty="0" err="1">
                <a:solidFill>
                  <a:srgbClr val="0070C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fp</a:t>
            </a:r>
            <a:r>
              <a:rPr lang="en-US" altLang="zh-TW" sz="28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char *format, arg1, ...);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2AA37BF-4D24-84AA-1148-A24192767340}"/>
              </a:ext>
            </a:extLst>
          </p:cNvPr>
          <p:cNvSpPr txBox="1"/>
          <p:nvPr/>
        </p:nvSpPr>
        <p:spPr>
          <a:xfrm>
            <a:off x="1470630" y="1359782"/>
            <a:ext cx="89212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dirty="0" err="1">
                <a:solidFill>
                  <a:srgbClr val="C00000"/>
                </a:solidFill>
                <a:highlight>
                  <a:srgbClr val="CCFFCC"/>
                </a:highlight>
                <a:latin typeface="Consolas" panose="020B0609020204030204" pitchFamily="49" charset="0"/>
              </a:rPr>
              <a:t>fscanf</a:t>
            </a:r>
            <a:r>
              <a:rPr lang="en-US" altLang="zh-TW" sz="3600" dirty="0">
                <a:highlight>
                  <a:srgbClr val="CCFFCC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3600" dirty="0" err="1">
                <a:highlight>
                  <a:srgbClr val="CCFFCC"/>
                </a:highlight>
                <a:latin typeface="Consolas" panose="020B0609020204030204" pitchFamily="49" charset="0"/>
              </a:rPr>
              <a:t>fptr</a:t>
            </a:r>
            <a:r>
              <a:rPr lang="en-US" altLang="zh-TW" sz="3600" dirty="0">
                <a:highlight>
                  <a:srgbClr val="CCFFCC"/>
                </a:highlight>
                <a:latin typeface="Consolas" panose="020B0609020204030204" pitchFamily="49" charset="0"/>
              </a:rPr>
              <a:t>, </a:t>
            </a:r>
            <a:r>
              <a:rPr lang="en-US" altLang="zh-TW" sz="3600" dirty="0">
                <a:solidFill>
                  <a:srgbClr val="0099FF"/>
                </a:solidFill>
                <a:highlight>
                  <a:srgbClr val="CCFFCC"/>
                </a:highlight>
                <a:latin typeface="Consolas" panose="020B0609020204030204" pitchFamily="49" charset="0"/>
              </a:rPr>
              <a:t>"%</a:t>
            </a:r>
            <a:r>
              <a:rPr lang="en-US" altLang="zh-TW" sz="3600" dirty="0" err="1">
                <a:solidFill>
                  <a:srgbClr val="0099FF"/>
                </a:solidFill>
                <a:highlight>
                  <a:srgbClr val="CCFFCC"/>
                </a:highlight>
                <a:latin typeface="Consolas" panose="020B0609020204030204" pitchFamily="49" charset="0"/>
              </a:rPr>
              <a:t>d%d</a:t>
            </a:r>
            <a:r>
              <a:rPr lang="en-US" altLang="zh-TW" sz="3600" dirty="0">
                <a:solidFill>
                  <a:srgbClr val="0099FF"/>
                </a:solidFill>
                <a:highlight>
                  <a:srgbClr val="CCFFCC"/>
                </a:highlight>
                <a:latin typeface="Consolas" panose="020B0609020204030204" pitchFamily="49" charset="0"/>
              </a:rPr>
              <a:t>"</a:t>
            </a:r>
            <a:r>
              <a:rPr lang="en-US" altLang="zh-TW" sz="3600" dirty="0">
                <a:highlight>
                  <a:srgbClr val="CCFFCC"/>
                </a:highlight>
                <a:latin typeface="Consolas" panose="020B0609020204030204" pitchFamily="49" charset="0"/>
              </a:rPr>
              <a:t>, &amp;num1, &amp;num2); </a:t>
            </a:r>
            <a:endParaRPr lang="LID4096" sz="3600" dirty="0">
              <a:highlight>
                <a:srgbClr val="CCFFCC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458066092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2546220" y="5029201"/>
            <a:ext cx="1797180" cy="4222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DDE72-8E1C-48AE-AAB0-105C85EE517D}" type="slidenum">
              <a:rPr lang="zh-TW" altLang="en-US"/>
              <a:pPr/>
              <a:t>13</a:t>
            </a:fld>
            <a:endParaRPr lang="en-US" altLang="zh-TW"/>
          </a:p>
        </p:txBody>
      </p:sp>
      <p:sp>
        <p:nvSpPr>
          <p:cNvPr id="108546" name="Rectangle 2"/>
          <p:cNvSpPr>
            <a:spLocks noChangeArrowheads="1"/>
          </p:cNvSpPr>
          <p:nvPr/>
        </p:nvSpPr>
        <p:spPr bwMode="auto">
          <a:xfrm>
            <a:off x="1990726" y="990600"/>
            <a:ext cx="8677275" cy="5321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#include &lt;</a:t>
            </a:r>
            <a:r>
              <a:rPr lang="en-US" altLang="zh-TW" sz="2000" b="0" dirty="0" err="1">
                <a:latin typeface="Consolas" panose="020B0609020204030204" pitchFamily="49" charset="0"/>
              </a:rPr>
              <a:t>stdio.h</a:t>
            </a:r>
            <a:r>
              <a:rPr lang="en-US" altLang="zh-TW" sz="2000" b="0" dirty="0"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main(void)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altLang="zh-TW" sz="2000" b="0" dirty="0">
                <a:latin typeface="Consolas" panose="020B0609020204030204" pitchFamily="49" charset="0"/>
              </a:rPr>
              <a:t>FILE *</a:t>
            </a:r>
            <a:r>
              <a:rPr lang="en-US" altLang="zh-TW" sz="2000" b="0" dirty="0" err="1">
                <a:latin typeface="Consolas" panose="020B0609020204030204" pitchFamily="49" charset="0"/>
              </a:rPr>
              <a:t>fptr</a:t>
            </a:r>
            <a:r>
              <a:rPr lang="en-US" altLang="zh-TW" sz="2000" b="0" dirty="0">
                <a:latin typeface="Consolas" panose="020B0609020204030204" pitchFamily="49" charset="0"/>
              </a:rPr>
              <a:t>;</a:t>
            </a: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    int</a:t>
            </a:r>
            <a:r>
              <a:rPr lang="en-US" altLang="zh-TW" sz="2000" b="0" dirty="0">
                <a:latin typeface="Consolas" panose="020B0609020204030204" pitchFamily="49" charset="0"/>
              </a:rPr>
              <a:t> num1, num2;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</a:rPr>
              <a:t>fptr</a:t>
            </a:r>
            <a:r>
              <a:rPr lang="en-US" altLang="zh-TW" sz="2000" b="0" dirty="0">
                <a:latin typeface="Consolas" panose="020B0609020204030204" pitchFamily="49" charset="0"/>
              </a:rPr>
              <a:t> = </a:t>
            </a:r>
            <a:r>
              <a:rPr lang="en-US" altLang="zh-TW" sz="2000" b="0" dirty="0" err="1">
                <a:solidFill>
                  <a:srgbClr val="C00000"/>
                </a:solidFill>
                <a:latin typeface="Consolas" panose="020B0609020204030204" pitchFamily="49" charset="0"/>
              </a:rPr>
              <a:t>fopen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"data.txt"</a:t>
            </a:r>
            <a:r>
              <a:rPr lang="en-US" altLang="zh-TW" sz="2000" b="0" dirty="0">
                <a:latin typeface="Consolas" panose="020B0609020204030204" pitchFamily="49" charset="0"/>
              </a:rPr>
              <a:t>, 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"r"</a:t>
            </a:r>
            <a:r>
              <a:rPr lang="en-US" altLang="zh-TW" sz="2000" b="0" dirty="0">
                <a:latin typeface="Consolas" panose="020B0609020204030204" pitchFamily="49" charset="0"/>
              </a:rPr>
              <a:t>);  </a:t>
            </a: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// open file for reading</a:t>
            </a: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    // Read two integers from the file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solidFill>
                  <a:srgbClr val="C00000"/>
                </a:solidFill>
                <a:latin typeface="Consolas" panose="020B0609020204030204" pitchFamily="49" charset="0"/>
              </a:rPr>
              <a:t>fscanf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 err="1">
                <a:latin typeface="Consolas" panose="020B0609020204030204" pitchFamily="49" charset="0"/>
              </a:rPr>
              <a:t>fptr</a:t>
            </a:r>
            <a:r>
              <a:rPr lang="en-US" altLang="zh-TW" sz="2000" b="0" dirty="0">
                <a:latin typeface="Consolas" panose="020B0609020204030204" pitchFamily="49" charset="0"/>
              </a:rPr>
              <a:t>, 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"%</a:t>
            </a:r>
            <a:r>
              <a:rPr lang="en-US" altLang="zh-TW" sz="2000" b="0" dirty="0" err="1">
                <a:solidFill>
                  <a:srgbClr val="0099FF"/>
                </a:solidFill>
                <a:latin typeface="Consolas" panose="020B0609020204030204" pitchFamily="49" charset="0"/>
              </a:rPr>
              <a:t>d%d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"</a:t>
            </a:r>
            <a:r>
              <a:rPr lang="en-US" altLang="zh-TW" sz="2000" b="0" dirty="0">
                <a:latin typeface="Consolas" panose="020B0609020204030204" pitchFamily="49" charset="0"/>
              </a:rPr>
              <a:t>, &amp;num1, &amp;num2);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"%d %d\n"</a:t>
            </a:r>
            <a:r>
              <a:rPr lang="en-US" altLang="zh-TW" sz="2000" b="0" dirty="0">
                <a:latin typeface="Consolas" panose="020B0609020204030204" pitchFamily="49" charset="0"/>
              </a:rPr>
              <a:t>, num1, num2);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dirty="0" err="1">
                <a:solidFill>
                  <a:srgbClr val="C00000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fclose</a:t>
            </a:r>
            <a:r>
              <a:rPr lang="en-US" altLang="zh-TW" sz="2000" dirty="0">
                <a:highlight>
                  <a:srgbClr val="00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2000" dirty="0" err="1">
                <a:highlight>
                  <a:srgbClr val="00FFFF"/>
                </a:highlight>
                <a:latin typeface="Consolas" panose="020B0609020204030204" pitchFamily="49" charset="0"/>
              </a:rPr>
              <a:t>fptr</a:t>
            </a:r>
            <a:r>
              <a:rPr lang="en-US" altLang="zh-TW" sz="2000" dirty="0">
                <a:highlight>
                  <a:srgbClr val="00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2000" b="0" dirty="0">
                <a:highlight>
                  <a:srgbClr val="00FFFF"/>
                </a:highlight>
                <a:latin typeface="Consolas" panose="020B0609020204030204" pitchFamily="49" charset="0"/>
              </a:rPr>
              <a:t>;</a:t>
            </a:r>
            <a:r>
              <a:rPr lang="en-US" altLang="zh-TW" sz="2000" b="0" dirty="0">
                <a:latin typeface="Consolas" panose="020B0609020204030204" pitchFamily="49" charset="0"/>
              </a:rPr>
              <a:t>  </a:t>
            </a: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// close file</a:t>
            </a: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0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8547" name="Rectangle 3"/>
          <p:cNvSpPr>
            <a:spLocks noChangeArrowheads="1"/>
          </p:cNvSpPr>
          <p:nvPr/>
        </p:nvSpPr>
        <p:spPr bwMode="auto">
          <a:xfrm>
            <a:off x="1528763" y="990600"/>
            <a:ext cx="461962" cy="53213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1415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594338" y="76200"/>
            <a:ext cx="8921262" cy="838200"/>
          </a:xfrm>
        </p:spPr>
        <p:txBody>
          <a:bodyPr>
            <a:normAutofit/>
          </a:bodyPr>
          <a:lstStyle/>
          <a:p>
            <a:r>
              <a:rPr lang="en-US" altLang="zh-TW"/>
              <a:t>Example #1: Reading data from a file</a:t>
            </a:r>
            <a:endParaRPr lang="en-US" altLang="zh-TW" sz="3000"/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6833878" y="4772026"/>
            <a:ext cx="5062466" cy="1358899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zh-TW" sz="2400"/>
              <a:t>Tell the system to release the resources associated with the file. e.g., free up memory space.</a:t>
            </a:r>
          </a:p>
        </p:txBody>
      </p:sp>
    </p:spTree>
    <p:extLst>
      <p:ext uri="{BB962C8B-B14F-4D97-AF65-F5344CB8AC3E}">
        <p14:creationId xmlns:p14="http://schemas.microsoft.com/office/powerpoint/2010/main" val="56994282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864C8-8794-A5F0-9843-A833D37DD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>
            <a:extLst>
              <a:ext uri="{FF2B5EF4-FFF2-40B4-BE49-F238E27FC236}">
                <a16:creationId xmlns:a16="http://schemas.microsoft.com/office/drawing/2014/main" id="{8C3F1A36-419F-02FE-9899-D22E47FF8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21D3315C-CF75-4FB0-950F-52EF0B2625FA}" type="slidenum">
              <a:rPr lang="zh-TW" altLang="en-US" b="0">
                <a:latin typeface="Calibri" panose="020F0502020204030204" pitchFamily="34" charset="0"/>
              </a:rPr>
              <a:pPr/>
              <a:t>14</a:t>
            </a:fld>
            <a:endParaRPr lang="en-US" altLang="zh-TW" b="0">
              <a:latin typeface="Calibri" panose="020F0502020204030204" pitchFamily="34" charset="0"/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EB24ED16-3872-C2F1-B011-97E4C59595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94338" y="76200"/>
            <a:ext cx="8997462" cy="838200"/>
          </a:xfrm>
        </p:spPr>
        <p:txBody>
          <a:bodyPr/>
          <a:lstStyle/>
          <a:p>
            <a:pPr eaLnBrk="1" hangingPunct="1"/>
            <a:r>
              <a:rPr lang="en-US" altLang="zh-TW">
                <a:ea typeface="新細明體" pitchFamily="18" charset="-120"/>
              </a:rPr>
              <a:t>1.2. Steps involving in File I/O</a:t>
            </a:r>
          </a:p>
        </p:txBody>
      </p:sp>
      <p:sp>
        <p:nvSpPr>
          <p:cNvPr id="581635" name="Rectangle 3">
            <a:extLst>
              <a:ext uri="{FF2B5EF4-FFF2-40B4-BE49-F238E27FC236}">
                <a16:creationId xmlns:a16="http://schemas.microsoft.com/office/drawing/2014/main" id="{4703B795-2BE0-28FA-4353-D89A51BC9C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28918" y="1066800"/>
            <a:ext cx="11277600" cy="5480304"/>
          </a:xfrm>
        </p:spPr>
        <p:txBody>
          <a:bodyPr>
            <a:normAutofit/>
          </a:bodyPr>
          <a:lstStyle/>
          <a:p>
            <a:pPr marL="609600" indent="-609600">
              <a:buFont typeface="Wingdings" pitchFamily="2" charset="2"/>
              <a:buAutoNum type="arabicPeriod"/>
            </a:pPr>
            <a:r>
              <a:rPr lang="en-US" altLang="zh-TW" b="1" i="1" dirty="0">
                <a:solidFill>
                  <a:srgbClr val="0070C0"/>
                </a:solidFill>
                <a:ea typeface="新細明體" pitchFamily="18" charset="-120"/>
              </a:rPr>
              <a:t>Open</a:t>
            </a:r>
            <a:r>
              <a:rPr lang="en-US" altLang="zh-TW" dirty="0">
                <a:ea typeface="新細明體" pitchFamily="18" charset="-120"/>
              </a:rPr>
              <a:t> a file </a:t>
            </a:r>
          </a:p>
          <a:p>
            <a:pPr marL="400050" lvl="1" indent="0">
              <a:buNone/>
            </a:pPr>
            <a:r>
              <a:rPr lang="en-US" altLang="zh-TW" dirty="0">
                <a:latin typeface="Consolas" panose="020B0609020204030204" pitchFamily="49" charset="0"/>
              </a:rPr>
              <a:t>FILE *</a:t>
            </a:r>
            <a:r>
              <a:rPr lang="en-US" altLang="zh-TW" dirty="0" err="1">
                <a:latin typeface="Consolas" panose="020B0609020204030204" pitchFamily="49" charset="0"/>
              </a:rPr>
              <a:t>fptr</a:t>
            </a:r>
            <a:r>
              <a:rPr lang="en-US" altLang="zh-TW" dirty="0">
                <a:latin typeface="Consolas" panose="020B0609020204030204" pitchFamily="49" charset="0"/>
              </a:rPr>
              <a:t>;</a:t>
            </a:r>
            <a:endParaRPr lang="en-US" altLang="zh-TW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400050" lvl="1" indent="0">
              <a:buNone/>
            </a:pPr>
            <a:r>
              <a:rPr lang="en-US" altLang="zh-TW" dirty="0" err="1">
                <a:latin typeface="Consolas" panose="020B0609020204030204" pitchFamily="49" charset="0"/>
              </a:rPr>
              <a:t>fptr</a:t>
            </a:r>
            <a:r>
              <a:rPr lang="en-US" altLang="zh-TW" dirty="0">
                <a:latin typeface="Consolas" panose="020B0609020204030204" pitchFamily="49" charset="0"/>
              </a:rPr>
              <a:t> = </a:t>
            </a:r>
            <a:r>
              <a:rPr lang="en-US" altLang="zh-TW" dirty="0" err="1">
                <a:solidFill>
                  <a:srgbClr val="C00000"/>
                </a:solidFill>
                <a:latin typeface="Consolas" panose="020B0609020204030204" pitchFamily="49" charset="0"/>
              </a:rPr>
              <a:t>fopen</a:t>
            </a:r>
            <a:r>
              <a:rPr lang="en-US" altLang="zh-TW" dirty="0">
                <a:latin typeface="Consolas" panose="020B0609020204030204" pitchFamily="49" charset="0"/>
              </a:rPr>
              <a:t>(</a:t>
            </a:r>
            <a:r>
              <a:rPr lang="en-US" altLang="zh-TW" dirty="0">
                <a:solidFill>
                  <a:srgbClr val="0099FF"/>
                </a:solidFill>
                <a:latin typeface="Consolas" panose="020B0609020204030204" pitchFamily="49" charset="0"/>
              </a:rPr>
              <a:t>"data.txt"</a:t>
            </a:r>
            <a:r>
              <a:rPr lang="en-US" altLang="zh-TW" dirty="0">
                <a:latin typeface="Consolas" panose="020B0609020204030204" pitchFamily="49" charset="0"/>
              </a:rPr>
              <a:t>, </a:t>
            </a:r>
            <a:r>
              <a:rPr lang="en-US" altLang="zh-TW" dirty="0">
                <a:solidFill>
                  <a:srgbClr val="0099FF"/>
                </a:solidFill>
                <a:latin typeface="Consolas" panose="020B0609020204030204" pitchFamily="49" charset="0"/>
              </a:rPr>
              <a:t>"r"</a:t>
            </a:r>
            <a:r>
              <a:rPr lang="en-US" altLang="zh-TW" dirty="0">
                <a:latin typeface="Consolas" panose="020B0609020204030204" pitchFamily="49" charset="0"/>
              </a:rPr>
              <a:t>);</a:t>
            </a:r>
          </a:p>
          <a:p>
            <a:pPr marL="400050" lvl="1" indent="0">
              <a:buNone/>
            </a:pPr>
            <a:endParaRPr lang="en-US" altLang="zh-TW" dirty="0">
              <a:ea typeface="新細明體" pitchFamily="18" charset="-120"/>
            </a:endParaRPr>
          </a:p>
          <a:p>
            <a:pPr marL="609600" indent="-609600">
              <a:buFont typeface="Wingdings" pitchFamily="2" charset="2"/>
              <a:buAutoNum type="arabicPeriod"/>
            </a:pPr>
            <a:r>
              <a:rPr lang="en-US" altLang="zh-TW" b="1" i="1" dirty="0">
                <a:solidFill>
                  <a:srgbClr val="0070C0"/>
                </a:solidFill>
                <a:ea typeface="新細明體" pitchFamily="18" charset="-120"/>
              </a:rPr>
              <a:t>Reading/writing </a:t>
            </a:r>
            <a:r>
              <a:rPr lang="en-US" altLang="zh-TW" dirty="0">
                <a:ea typeface="新細明體" pitchFamily="18" charset="-120"/>
              </a:rPr>
              <a:t>data from/to the file</a:t>
            </a:r>
          </a:p>
          <a:p>
            <a:pPr marL="400050" lvl="1" indent="0">
              <a:buNone/>
            </a:pPr>
            <a:r>
              <a:rPr lang="en-US" altLang="zh-TW" dirty="0" err="1">
                <a:solidFill>
                  <a:srgbClr val="C00000"/>
                </a:solidFill>
                <a:latin typeface="Consolas" panose="020B0609020204030204" pitchFamily="49" charset="0"/>
              </a:rPr>
              <a:t>fscanf</a:t>
            </a:r>
            <a:r>
              <a:rPr lang="en-US" altLang="zh-TW" dirty="0">
                <a:latin typeface="Consolas" panose="020B0609020204030204" pitchFamily="49" charset="0"/>
              </a:rPr>
              <a:t>(</a:t>
            </a:r>
            <a:r>
              <a:rPr lang="en-US" altLang="zh-TW" dirty="0" err="1">
                <a:latin typeface="Consolas" panose="020B0609020204030204" pitchFamily="49" charset="0"/>
              </a:rPr>
              <a:t>fptr</a:t>
            </a:r>
            <a:r>
              <a:rPr lang="en-US" altLang="zh-TW" dirty="0">
                <a:latin typeface="Consolas" panose="020B0609020204030204" pitchFamily="49" charset="0"/>
              </a:rPr>
              <a:t>, </a:t>
            </a:r>
            <a:r>
              <a:rPr lang="en-US" altLang="zh-TW" dirty="0">
                <a:solidFill>
                  <a:srgbClr val="0099FF"/>
                </a:solidFill>
                <a:latin typeface="Consolas" panose="020B0609020204030204" pitchFamily="49" charset="0"/>
              </a:rPr>
              <a:t>"%</a:t>
            </a:r>
            <a:r>
              <a:rPr lang="en-US" altLang="zh-TW" dirty="0" err="1">
                <a:solidFill>
                  <a:srgbClr val="0099FF"/>
                </a:solidFill>
                <a:latin typeface="Consolas" panose="020B0609020204030204" pitchFamily="49" charset="0"/>
              </a:rPr>
              <a:t>d%d</a:t>
            </a:r>
            <a:r>
              <a:rPr lang="en-US" altLang="zh-TW" dirty="0">
                <a:solidFill>
                  <a:srgbClr val="0099FF"/>
                </a:solidFill>
                <a:latin typeface="Consolas" panose="020B0609020204030204" pitchFamily="49" charset="0"/>
              </a:rPr>
              <a:t>"</a:t>
            </a:r>
            <a:r>
              <a:rPr lang="en-US" altLang="zh-TW" dirty="0">
                <a:latin typeface="Consolas" panose="020B0609020204030204" pitchFamily="49" charset="0"/>
              </a:rPr>
              <a:t>, &amp;num1, &amp;num2);</a:t>
            </a:r>
          </a:p>
          <a:p>
            <a:pPr marL="400050" lvl="1" indent="0">
              <a:buNone/>
            </a:pPr>
            <a:endParaRPr lang="en-US" altLang="zh-TW" dirty="0">
              <a:ea typeface="新細明體" pitchFamily="18" charset="-120"/>
            </a:endParaRPr>
          </a:p>
          <a:p>
            <a:pPr marL="609600" indent="-609600">
              <a:buFont typeface="Wingdings" pitchFamily="2" charset="2"/>
              <a:buAutoNum type="arabicPeriod"/>
            </a:pPr>
            <a:r>
              <a:rPr lang="en-US" altLang="zh-TW" b="1" i="1" dirty="0">
                <a:solidFill>
                  <a:srgbClr val="0070C0"/>
                </a:solidFill>
                <a:ea typeface="新細明體" pitchFamily="18" charset="-120"/>
              </a:rPr>
              <a:t>Close</a:t>
            </a:r>
            <a:r>
              <a:rPr lang="en-US" altLang="zh-TW" dirty="0">
                <a:solidFill>
                  <a:srgbClr val="0070C0"/>
                </a:solidFill>
                <a:ea typeface="新細明體" pitchFamily="18" charset="-120"/>
              </a:rPr>
              <a:t> </a:t>
            </a:r>
            <a:r>
              <a:rPr lang="en-US" altLang="zh-TW" dirty="0">
                <a:ea typeface="新細明體" pitchFamily="18" charset="-120"/>
              </a:rPr>
              <a:t>the file when the program is done with the file I/O</a:t>
            </a:r>
          </a:p>
          <a:p>
            <a:pPr marL="400050" lvl="1" indent="0">
              <a:buNone/>
            </a:pPr>
            <a:r>
              <a:rPr lang="en-US" altLang="zh-TW" dirty="0" err="1">
                <a:solidFill>
                  <a:srgbClr val="C00000"/>
                </a:solidFill>
                <a:latin typeface="Consolas" panose="020B0609020204030204" pitchFamily="49" charset="0"/>
              </a:rPr>
              <a:t>fclose</a:t>
            </a:r>
            <a:r>
              <a:rPr lang="en-US" altLang="zh-TW" dirty="0">
                <a:latin typeface="Consolas" panose="020B0609020204030204" pitchFamily="49" charset="0"/>
              </a:rPr>
              <a:t>(</a:t>
            </a:r>
            <a:r>
              <a:rPr lang="en-US" altLang="zh-TW" dirty="0" err="1">
                <a:latin typeface="Consolas" panose="020B0609020204030204" pitchFamily="49" charset="0"/>
              </a:rPr>
              <a:t>fptr</a:t>
            </a:r>
            <a:r>
              <a:rPr lang="en-US" altLang="zh-TW" dirty="0">
                <a:latin typeface="Consolas" panose="020B0609020204030204" pitchFamily="49" charset="0"/>
              </a:rPr>
              <a:t>);</a:t>
            </a:r>
            <a:endParaRPr lang="en-US" altLang="zh-TW" b="1" i="1" dirty="0">
              <a:solidFill>
                <a:srgbClr val="0070C0"/>
              </a:solidFill>
              <a:ea typeface="新細明體" pitchFamily="18" charset="-120"/>
            </a:endParaRPr>
          </a:p>
          <a:p>
            <a:pPr marL="0" indent="0">
              <a:buNone/>
            </a:pPr>
            <a:endParaRPr lang="en-US" altLang="zh-TW" sz="1400" dirty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11715186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4F82B-A295-4EE3-B28C-D7C9C567FC80}" type="slidenum">
              <a:rPr lang="zh-TW" altLang="en-US"/>
              <a:pPr/>
              <a:t>15</a:t>
            </a:fld>
            <a:endParaRPr lang="en-US" altLang="zh-TW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/>
              <a:t>Outline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sz="2800" dirty="0"/>
              <a:t>Introduction</a:t>
            </a:r>
          </a:p>
          <a:p>
            <a:pPr marL="933450" lvl="1" indent="-533400"/>
            <a:r>
              <a:rPr lang="en-US" altLang="zh-TW" sz="2400" dirty="0"/>
              <a:t>Opening a file</a:t>
            </a:r>
          </a:p>
          <a:p>
            <a:pPr marL="933450" lvl="1" indent="-533400"/>
            <a:r>
              <a:rPr lang="en-US" altLang="zh-TW" sz="2400" dirty="0"/>
              <a:t>Closing a file</a:t>
            </a: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sz="2800" dirty="0"/>
              <a:t>Example 1: Reading data from a file</a:t>
            </a:r>
          </a:p>
          <a:p>
            <a:pPr marL="533400" indent="-533400">
              <a:buFont typeface="Wingdings" pitchFamily="2" charset="2"/>
              <a:buAutoNum type="arabicPeriod"/>
            </a:pPr>
            <a:endParaRPr lang="en-US" altLang="zh-TW" dirty="0"/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b="1" dirty="0"/>
              <a:t>Example 2: Check if a file is opened successfully</a:t>
            </a: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sz="2800" dirty="0"/>
              <a:t>Example 3, 4: Reading numbers using </a:t>
            </a:r>
            <a:r>
              <a:rPr lang="en-US" altLang="zh-TW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fscanf</a:t>
            </a:r>
            <a:r>
              <a:rPr lang="en-US" altLang="zh-TW" sz="28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sz="2800" dirty="0"/>
              <a:t>Example 5: Writing data to a file</a:t>
            </a: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sz="2800" dirty="0"/>
              <a:t>Example 6: Handling multiple files in a program</a:t>
            </a:r>
          </a:p>
          <a:p>
            <a:pPr marL="533400" indent="-533400">
              <a:buFont typeface="Wingdings" pitchFamily="2" charset="2"/>
              <a:buAutoNum type="arabicPeriod"/>
            </a:pPr>
            <a:endParaRPr lang="en-US" altLang="zh-TW" dirty="0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40CB52B7-8E99-3519-012D-46112A527565}"/>
              </a:ext>
            </a:extLst>
          </p:cNvPr>
          <p:cNvSpPr txBox="1">
            <a:spLocks noChangeArrowheads="1"/>
          </p:cNvSpPr>
          <p:nvPr/>
        </p:nvSpPr>
        <p:spPr>
          <a:xfrm>
            <a:off x="6327648" y="1066800"/>
            <a:ext cx="5478870" cy="19324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zh-TW" sz="2400" dirty="0">
                <a:latin typeface="Consolas" panose="020B0609020204030204" pitchFamily="49" charset="0"/>
              </a:rPr>
              <a:t>FILE *</a:t>
            </a:r>
            <a:r>
              <a:rPr lang="en-US" altLang="zh-TW" sz="2400" dirty="0" err="1">
                <a:latin typeface="Consolas" panose="020B0609020204030204" pitchFamily="49" charset="0"/>
              </a:rPr>
              <a:t>fptr</a:t>
            </a:r>
            <a:r>
              <a:rPr lang="en-US" altLang="zh-TW" sz="2400" dirty="0">
                <a:latin typeface="Consolas" panose="020B0609020204030204" pitchFamily="49" charset="0"/>
              </a:rPr>
              <a:t>;</a:t>
            </a:r>
            <a:endParaRPr lang="en-US" altLang="zh-TW" sz="24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en-US" altLang="zh-TW" sz="2400" dirty="0" err="1">
                <a:latin typeface="Consolas" panose="020B0609020204030204" pitchFamily="49" charset="0"/>
              </a:rPr>
              <a:t>fptr</a:t>
            </a:r>
            <a:r>
              <a:rPr lang="en-US" altLang="zh-TW" sz="2400" dirty="0">
                <a:latin typeface="Consolas" panose="020B0609020204030204" pitchFamily="49" charset="0"/>
              </a:rPr>
              <a:t> = </a:t>
            </a:r>
            <a:r>
              <a:rPr lang="en-US" altLang="zh-TW" sz="2400" dirty="0" err="1">
                <a:solidFill>
                  <a:srgbClr val="C00000"/>
                </a:solidFill>
                <a:latin typeface="Consolas" panose="020B0609020204030204" pitchFamily="49" charset="0"/>
              </a:rPr>
              <a:t>fopen</a:t>
            </a:r>
            <a:r>
              <a:rPr lang="en-US" altLang="zh-TW" sz="2400" dirty="0">
                <a:latin typeface="Consolas" panose="020B0609020204030204" pitchFamily="49" charset="0"/>
              </a:rPr>
              <a:t>(</a:t>
            </a:r>
            <a:r>
              <a:rPr lang="en-US" altLang="zh-TW" sz="2400" dirty="0">
                <a:solidFill>
                  <a:srgbClr val="0099FF"/>
                </a:solidFill>
                <a:latin typeface="Consolas" panose="020B0609020204030204" pitchFamily="49" charset="0"/>
              </a:rPr>
              <a:t>"data.txt"</a:t>
            </a:r>
            <a:r>
              <a:rPr lang="en-US" altLang="zh-TW" sz="2400" dirty="0">
                <a:latin typeface="Consolas" panose="020B0609020204030204" pitchFamily="49" charset="0"/>
              </a:rPr>
              <a:t>, </a:t>
            </a:r>
            <a:r>
              <a:rPr lang="en-US" altLang="zh-TW" sz="2400" dirty="0">
                <a:solidFill>
                  <a:srgbClr val="0099FF"/>
                </a:solidFill>
                <a:latin typeface="Consolas" panose="020B0609020204030204" pitchFamily="49" charset="0"/>
              </a:rPr>
              <a:t>"r"</a:t>
            </a:r>
            <a:r>
              <a:rPr lang="en-US" altLang="zh-TW" sz="24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Font typeface="Arial" pitchFamily="34" charset="0"/>
              <a:buNone/>
            </a:pPr>
            <a:r>
              <a:rPr lang="en-US" altLang="zh-TW" sz="2400" dirty="0" err="1">
                <a:solidFill>
                  <a:srgbClr val="C00000"/>
                </a:solidFill>
                <a:latin typeface="Consolas" panose="020B0609020204030204" pitchFamily="49" charset="0"/>
              </a:rPr>
              <a:t>fscanf</a:t>
            </a:r>
            <a:r>
              <a:rPr lang="en-US" altLang="zh-TW" sz="2400" dirty="0">
                <a:latin typeface="Consolas" panose="020B0609020204030204" pitchFamily="49" charset="0"/>
              </a:rPr>
              <a:t>(</a:t>
            </a:r>
            <a:r>
              <a:rPr lang="en-US" altLang="zh-TW" sz="2400" dirty="0" err="1">
                <a:latin typeface="Consolas" panose="020B0609020204030204" pitchFamily="49" charset="0"/>
              </a:rPr>
              <a:t>fptr</a:t>
            </a:r>
            <a:r>
              <a:rPr lang="en-US" altLang="zh-TW" sz="2400" dirty="0">
                <a:latin typeface="Consolas" panose="020B0609020204030204" pitchFamily="49" charset="0"/>
              </a:rPr>
              <a:t>, </a:t>
            </a:r>
            <a:r>
              <a:rPr lang="en-US" altLang="zh-TW" sz="2400" dirty="0">
                <a:solidFill>
                  <a:srgbClr val="0099FF"/>
                </a:solidFill>
                <a:latin typeface="Consolas" panose="020B0609020204030204" pitchFamily="49" charset="0"/>
              </a:rPr>
              <a:t>"%d"</a:t>
            </a:r>
            <a:r>
              <a:rPr lang="en-US" altLang="zh-TW" sz="2400" dirty="0">
                <a:latin typeface="Consolas" panose="020B0609020204030204" pitchFamily="49" charset="0"/>
              </a:rPr>
              <a:t>, &amp;num);</a:t>
            </a:r>
          </a:p>
          <a:p>
            <a:pPr marL="0" indent="0">
              <a:buFont typeface="Arial" pitchFamily="34" charset="0"/>
              <a:buNone/>
            </a:pPr>
            <a:r>
              <a:rPr lang="en-US" altLang="zh-TW" sz="2400" dirty="0" err="1">
                <a:solidFill>
                  <a:srgbClr val="C00000"/>
                </a:solidFill>
                <a:latin typeface="Consolas" panose="020B0609020204030204" pitchFamily="49" charset="0"/>
              </a:rPr>
              <a:t>fclose</a:t>
            </a:r>
            <a:r>
              <a:rPr lang="en-US" altLang="zh-TW" sz="2400" dirty="0">
                <a:latin typeface="Consolas" panose="020B0609020204030204" pitchFamily="49" charset="0"/>
              </a:rPr>
              <a:t>(</a:t>
            </a:r>
            <a:r>
              <a:rPr lang="en-US" altLang="zh-TW" sz="2400" dirty="0" err="1">
                <a:latin typeface="Consolas" panose="020B0609020204030204" pitchFamily="49" charset="0"/>
              </a:rPr>
              <a:t>fptr</a:t>
            </a:r>
            <a:r>
              <a:rPr lang="en-US" altLang="zh-TW" sz="2400" dirty="0">
                <a:latin typeface="Consolas" panose="020B0609020204030204" pitchFamily="49" charset="0"/>
              </a:rPr>
              <a:t>);</a:t>
            </a:r>
            <a:endParaRPr lang="en-US" altLang="zh-TW" sz="2400" b="1" i="1" dirty="0">
              <a:solidFill>
                <a:srgbClr val="0070C0"/>
              </a:solidFill>
              <a:ea typeface="新細明體" pitchFamily="18" charset="-120"/>
            </a:endParaRPr>
          </a:p>
          <a:p>
            <a:pPr marL="0" indent="0">
              <a:buFont typeface="Arial" pitchFamily="34" charset="0"/>
              <a:buNone/>
            </a:pPr>
            <a:endParaRPr lang="en-US" altLang="zh-TW" sz="1400" dirty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66256513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3048000" y="3352801"/>
            <a:ext cx="1949580" cy="39089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DDE72-8E1C-48AE-AAB0-105C85EE517D}" type="slidenum">
              <a:rPr lang="zh-TW" altLang="en-US"/>
              <a:pPr/>
              <a:t>16</a:t>
            </a:fld>
            <a:endParaRPr lang="en-US" altLang="zh-TW"/>
          </a:p>
        </p:txBody>
      </p:sp>
      <p:sp>
        <p:nvSpPr>
          <p:cNvPr id="108546" name="Rectangle 2"/>
          <p:cNvSpPr>
            <a:spLocks noChangeArrowheads="1"/>
          </p:cNvSpPr>
          <p:nvPr/>
        </p:nvSpPr>
        <p:spPr bwMode="auto">
          <a:xfrm>
            <a:off x="1990726" y="990600"/>
            <a:ext cx="8677275" cy="5321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#include &lt;</a:t>
            </a:r>
            <a:r>
              <a:rPr lang="en-US" altLang="zh-TW" sz="2000" b="0" dirty="0" err="1">
                <a:latin typeface="Consolas" panose="020B0609020204030204" pitchFamily="49" charset="0"/>
              </a:rPr>
              <a:t>stdio.h</a:t>
            </a:r>
            <a:r>
              <a:rPr lang="en-US" altLang="zh-TW" sz="2000" b="0" dirty="0"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#include &lt;</a:t>
            </a:r>
            <a:r>
              <a:rPr lang="en-US" altLang="zh-TW" sz="2000" b="0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stdlib.h</a:t>
            </a:r>
            <a:r>
              <a:rPr lang="en-US" altLang="zh-TW" sz="2000" b="0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&gt;     </a:t>
            </a:r>
            <a:r>
              <a:rPr lang="en-US" altLang="zh-TW" sz="2000" b="0" dirty="0">
                <a:solidFill>
                  <a:srgbClr val="008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// Need this in order to use exit()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main(void)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altLang="zh-TW" sz="2000" b="0" dirty="0">
                <a:latin typeface="Consolas" panose="020B0609020204030204" pitchFamily="49" charset="0"/>
              </a:rPr>
              <a:t>FILE *</a:t>
            </a:r>
            <a:r>
              <a:rPr lang="en-US" altLang="zh-TW" sz="2000" b="0" dirty="0" err="1">
                <a:latin typeface="Consolas" panose="020B0609020204030204" pitchFamily="49" charset="0"/>
              </a:rPr>
              <a:t>fptr</a:t>
            </a:r>
            <a:r>
              <a:rPr lang="en-US" altLang="zh-TW" sz="2000" b="0" dirty="0">
                <a:latin typeface="Consolas" panose="020B0609020204030204" pitchFamily="49" charset="0"/>
              </a:rPr>
              <a:t>;</a:t>
            </a: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</a:rPr>
              <a:t>fptr</a:t>
            </a:r>
            <a:r>
              <a:rPr lang="en-US" altLang="zh-TW" sz="2000" b="0" dirty="0">
                <a:latin typeface="Consolas" panose="020B0609020204030204" pitchFamily="49" charset="0"/>
              </a:rPr>
              <a:t> = </a:t>
            </a:r>
            <a:r>
              <a:rPr lang="en-US" altLang="zh-TW" sz="2000" b="0" dirty="0" err="1">
                <a:latin typeface="Consolas" panose="020B0609020204030204" pitchFamily="49" charset="0"/>
              </a:rPr>
              <a:t>fopen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"data.txt"</a:t>
            </a:r>
            <a:r>
              <a:rPr lang="en-US" altLang="zh-TW" sz="2000" b="0" dirty="0">
                <a:latin typeface="Consolas" panose="020B0609020204030204" pitchFamily="49" charset="0"/>
              </a:rPr>
              <a:t>, 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"r"</a:t>
            </a:r>
            <a:r>
              <a:rPr lang="en-US" altLang="zh-TW" sz="2000" b="0" dirty="0">
                <a:latin typeface="Consolas" panose="020B0609020204030204" pitchFamily="49" charset="0"/>
              </a:rPr>
              <a:t>);  </a:t>
            </a: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// open file for reading</a:t>
            </a: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2000" b="0" dirty="0">
                <a:latin typeface="Consolas" panose="020B0609020204030204" pitchFamily="49" charset="0"/>
              </a:rPr>
              <a:t> (</a:t>
            </a:r>
            <a:r>
              <a:rPr lang="en-US" altLang="zh-TW" sz="2000" b="0" dirty="0" err="1">
                <a:highlight>
                  <a:srgbClr val="00FF00"/>
                </a:highlight>
                <a:latin typeface="Consolas" panose="020B0609020204030204" pitchFamily="49" charset="0"/>
              </a:rPr>
              <a:t>fptr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</a:rPr>
              <a:t> == NULL</a:t>
            </a:r>
            <a:r>
              <a:rPr lang="en-US" altLang="zh-TW" sz="2000" b="0" dirty="0">
                <a:latin typeface="Consolas" panose="020B0609020204030204" pitchFamily="49" charset="0"/>
              </a:rPr>
              <a:t>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    </a:t>
            </a:r>
            <a:r>
              <a:rPr lang="en-US" altLang="zh-TW" sz="2000" b="0" dirty="0" err="1">
                <a:latin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"Cannot open file!\n"</a:t>
            </a:r>
            <a:r>
              <a:rPr lang="en-US" altLang="zh-TW" sz="2000" b="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TW" sz="2000" b="0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exit(1);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008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// Terminate the program immediately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}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    …</a:t>
            </a: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</a:rPr>
              <a:t>fclose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 err="1">
                <a:latin typeface="Consolas" panose="020B0609020204030204" pitchFamily="49" charset="0"/>
              </a:rPr>
              <a:t>fptr</a:t>
            </a:r>
            <a:r>
              <a:rPr lang="en-US" altLang="zh-TW" sz="2000" b="0" dirty="0">
                <a:latin typeface="Consolas" panose="020B0609020204030204" pitchFamily="49" charset="0"/>
              </a:rPr>
              <a:t>);  </a:t>
            </a: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// close file</a:t>
            </a: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0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8547" name="Rectangle 3"/>
          <p:cNvSpPr>
            <a:spLocks noChangeArrowheads="1"/>
          </p:cNvSpPr>
          <p:nvPr/>
        </p:nvSpPr>
        <p:spPr bwMode="auto">
          <a:xfrm>
            <a:off x="1528763" y="990600"/>
            <a:ext cx="461962" cy="53213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1415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594338" y="76200"/>
            <a:ext cx="8921262" cy="838200"/>
          </a:xfrm>
        </p:spPr>
        <p:txBody>
          <a:bodyPr>
            <a:noAutofit/>
          </a:bodyPr>
          <a:lstStyle/>
          <a:p>
            <a:r>
              <a:rPr lang="en-US" altLang="zh-TW" sz="3200" b="1"/>
              <a:t>Example #2: Checking if a file is opened successfully</a:t>
            </a:r>
            <a:endParaRPr lang="en-US" altLang="zh-TW" sz="2000" b="1"/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5753606" y="1682496"/>
            <a:ext cx="5658106" cy="1408176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zh-TW" sz="2800" dirty="0"/>
              <a:t>When </a:t>
            </a:r>
            <a:r>
              <a:rPr lang="en-US" altLang="zh-TW" sz="2800" dirty="0" err="1"/>
              <a:t>fopen</a:t>
            </a:r>
            <a:r>
              <a:rPr lang="en-US" altLang="zh-TW" sz="2800" dirty="0"/>
              <a:t>() fails to open a file, it returns </a:t>
            </a:r>
            <a:r>
              <a:rPr lang="en-US" altLang="zh-TW" sz="2800" b="1" dirty="0"/>
              <a:t>NULL</a:t>
            </a:r>
            <a:r>
              <a:rPr lang="en-US" altLang="zh-TW" sz="2800" dirty="0"/>
              <a:t> (a predefined named constant, empty pointer).</a:t>
            </a:r>
            <a:endParaRPr lang="en-US" altLang="zh-TW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422277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1D9C2-3132-A1C1-EC99-8F605389D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6AAF8E4-AD9C-298C-873E-35D447CA624E}"/>
              </a:ext>
            </a:extLst>
          </p:cNvPr>
          <p:cNvSpPr/>
          <p:nvPr/>
        </p:nvSpPr>
        <p:spPr>
          <a:xfrm>
            <a:off x="3124200" y="4038601"/>
            <a:ext cx="1066800" cy="39089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CFD7B06-6E85-C41F-9B13-2E1D3E318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DDE72-8E1C-48AE-AAB0-105C85EE517D}" type="slidenum">
              <a:rPr lang="zh-TW" altLang="en-US"/>
              <a:pPr/>
              <a:t>17</a:t>
            </a:fld>
            <a:endParaRPr lang="en-US" altLang="zh-TW"/>
          </a:p>
        </p:txBody>
      </p:sp>
      <p:sp>
        <p:nvSpPr>
          <p:cNvPr id="108546" name="Rectangle 2">
            <a:extLst>
              <a:ext uri="{FF2B5EF4-FFF2-40B4-BE49-F238E27FC236}">
                <a16:creationId xmlns:a16="http://schemas.microsoft.com/office/drawing/2014/main" id="{5C9EC3F1-C707-4989-9274-1D2C1B71D2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0726" y="990600"/>
            <a:ext cx="8677275" cy="5321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#include &lt;</a:t>
            </a:r>
            <a:r>
              <a:rPr lang="en-US" altLang="zh-TW" sz="2000" b="0" dirty="0" err="1">
                <a:latin typeface="Consolas" panose="020B0609020204030204" pitchFamily="49" charset="0"/>
              </a:rPr>
              <a:t>stdio.h</a:t>
            </a:r>
            <a:r>
              <a:rPr lang="en-US" altLang="zh-TW" sz="2000" b="0" dirty="0"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#include &lt;</a:t>
            </a:r>
            <a:r>
              <a:rPr lang="en-US" altLang="zh-TW" sz="2000" b="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stdlib.h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&gt;     </a:t>
            </a: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// Need this in order to use exit()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main(void)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altLang="zh-TW" sz="2000" b="0" dirty="0">
                <a:latin typeface="Consolas" panose="020B0609020204030204" pitchFamily="49" charset="0"/>
              </a:rPr>
              <a:t>FILE *</a:t>
            </a:r>
            <a:r>
              <a:rPr lang="en-US" altLang="zh-TW" sz="2000" b="0" dirty="0" err="1">
                <a:latin typeface="Consolas" panose="020B0609020204030204" pitchFamily="49" charset="0"/>
              </a:rPr>
              <a:t>fptr</a:t>
            </a:r>
            <a:r>
              <a:rPr lang="en-US" altLang="zh-TW" sz="2000" b="0" dirty="0">
                <a:latin typeface="Consolas" panose="020B0609020204030204" pitchFamily="49" charset="0"/>
              </a:rPr>
              <a:t>;</a:t>
            </a: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</a:rPr>
              <a:t>fptr</a:t>
            </a:r>
            <a:r>
              <a:rPr lang="en-US" altLang="zh-TW" sz="2000" b="0" dirty="0">
                <a:latin typeface="Consolas" panose="020B0609020204030204" pitchFamily="49" charset="0"/>
              </a:rPr>
              <a:t> = </a:t>
            </a:r>
            <a:r>
              <a:rPr lang="en-US" altLang="zh-TW" sz="2000" b="0" dirty="0" err="1">
                <a:latin typeface="Consolas" panose="020B0609020204030204" pitchFamily="49" charset="0"/>
              </a:rPr>
              <a:t>fopen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"data.txt"</a:t>
            </a:r>
            <a:r>
              <a:rPr lang="en-US" altLang="zh-TW" sz="2000" b="0" dirty="0">
                <a:latin typeface="Consolas" panose="020B0609020204030204" pitchFamily="49" charset="0"/>
              </a:rPr>
              <a:t>, 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"r"</a:t>
            </a:r>
            <a:r>
              <a:rPr lang="en-US" altLang="zh-TW" sz="2000" b="0" dirty="0">
                <a:latin typeface="Consolas" panose="020B0609020204030204" pitchFamily="49" charset="0"/>
              </a:rPr>
              <a:t>);  </a:t>
            </a: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// open file for reading</a:t>
            </a: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if (</a:t>
            </a:r>
            <a:r>
              <a:rPr lang="en-US" altLang="zh-TW" sz="2000" b="0" dirty="0" err="1">
                <a:latin typeface="Consolas" panose="020B0609020204030204" pitchFamily="49" charset="0"/>
              </a:rPr>
              <a:t>fptr</a:t>
            </a:r>
            <a:r>
              <a:rPr lang="en-US" altLang="zh-TW" sz="2000" b="0" dirty="0">
                <a:latin typeface="Consolas" panose="020B0609020204030204" pitchFamily="49" charset="0"/>
              </a:rPr>
              <a:t> == NULL)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    </a:t>
            </a:r>
            <a:r>
              <a:rPr lang="en-US" altLang="zh-TW" sz="2000" b="0" dirty="0" err="1">
                <a:latin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"Cannot open file!\n"</a:t>
            </a:r>
            <a:r>
              <a:rPr lang="en-US" altLang="zh-TW" sz="2000" b="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    </a:t>
            </a:r>
            <a:r>
              <a:rPr lang="en-US" altLang="zh-TW" sz="2000" dirty="0">
                <a:highlight>
                  <a:srgbClr val="00FF00"/>
                </a:highlight>
                <a:latin typeface="Consolas" panose="020B0609020204030204" pitchFamily="49" charset="0"/>
              </a:rPr>
              <a:t>exit(</a:t>
            </a:r>
            <a:r>
              <a:rPr lang="en-US" altLang="zh-TW" sz="2000" dirty="0">
                <a:solidFill>
                  <a:srgbClr val="0099FF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1</a:t>
            </a:r>
            <a:r>
              <a:rPr lang="en-US" altLang="zh-TW" sz="2000" dirty="0">
                <a:highlight>
                  <a:srgbClr val="00FF00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</a:rPr>
              <a:t>;</a:t>
            </a:r>
            <a:r>
              <a:rPr lang="en-US" altLang="zh-TW" sz="2000" b="0" dirty="0">
                <a:latin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// Terminate the program immediately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}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    …</a:t>
            </a: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</a:rPr>
              <a:t>fclose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 err="1">
                <a:latin typeface="Consolas" panose="020B0609020204030204" pitchFamily="49" charset="0"/>
              </a:rPr>
              <a:t>fptr</a:t>
            </a:r>
            <a:r>
              <a:rPr lang="en-US" altLang="zh-TW" sz="2000" b="0" dirty="0">
                <a:latin typeface="Consolas" panose="020B0609020204030204" pitchFamily="49" charset="0"/>
              </a:rPr>
              <a:t>);  </a:t>
            </a: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// close file</a:t>
            </a: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0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FD5A9CAB-74DB-D64B-82AF-B7259BFD8C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8763" y="990600"/>
            <a:ext cx="461962" cy="53213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1415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D63A82F-F762-BA14-99F1-6063D37C1F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94338" y="76200"/>
            <a:ext cx="8921262" cy="838200"/>
          </a:xfrm>
        </p:spPr>
        <p:txBody>
          <a:bodyPr>
            <a:noAutofit/>
          </a:bodyPr>
          <a:lstStyle/>
          <a:p>
            <a:r>
              <a:rPr lang="en-US" altLang="zh-TW" sz="3200"/>
              <a:t>Example #2: Checking if a file is opened successfully</a:t>
            </a:r>
            <a:endParaRPr lang="en-US" altLang="zh-TW" sz="200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EDB97EE0-DBBA-AF8C-11E4-F00DC1575D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3208" y="4542475"/>
            <a:ext cx="7022592" cy="1611437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zh-TW" sz="2000" dirty="0"/>
              <a:t>The argument 1 passed to </a:t>
            </a: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</a:rPr>
              <a:t>exit()</a:t>
            </a:r>
            <a:r>
              <a:rPr lang="en-US" altLang="zh-TW" sz="2000" dirty="0"/>
              <a:t> will be returned to the system. Same to return value in </a:t>
            </a: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</a:rPr>
              <a:t>main()</a:t>
            </a:r>
            <a:r>
              <a:rPr lang="en-US" altLang="zh-TW" sz="2000" dirty="0"/>
              <a:t>. </a:t>
            </a:r>
          </a:p>
          <a:p>
            <a:pPr>
              <a:spcBef>
                <a:spcPct val="50000"/>
              </a:spcBef>
            </a:pPr>
            <a:r>
              <a:rPr lang="en-US" altLang="zh-TW" sz="2000" dirty="0"/>
              <a:t>Typically, a </a:t>
            </a:r>
            <a:r>
              <a:rPr lang="en-US" altLang="zh-TW" sz="2000" b="1" dirty="0"/>
              <a:t>zero</a:t>
            </a:r>
            <a:r>
              <a:rPr lang="en-US" altLang="zh-TW" sz="2000" dirty="0"/>
              <a:t> means the program terminates </a:t>
            </a:r>
            <a:r>
              <a:rPr lang="en-US" altLang="zh-TW" sz="2000" b="1" dirty="0"/>
              <a:t>normally</a:t>
            </a:r>
            <a:r>
              <a:rPr lang="en-US" altLang="zh-TW" sz="2000" dirty="0"/>
              <a:t>. </a:t>
            </a:r>
            <a:r>
              <a:rPr lang="en-US" altLang="zh-TW" sz="2000" u="sng" dirty="0"/>
              <a:t>Non-zero value </a:t>
            </a:r>
            <a:r>
              <a:rPr lang="en-US" altLang="zh-TW" sz="2000" dirty="0"/>
              <a:t>means the program terminates </a:t>
            </a:r>
            <a:r>
              <a:rPr lang="en-US" altLang="zh-TW" sz="2000" u="sng" dirty="0"/>
              <a:t>abnormally</a:t>
            </a:r>
            <a:r>
              <a:rPr lang="en-US" altLang="zh-TW" sz="2000" dirty="0"/>
              <a:t>.</a:t>
            </a:r>
            <a:endParaRPr lang="en-US" altLang="zh-TW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5BD15AFF-4F65-3DD0-EF9F-1EF0DBED0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5481" y="1786966"/>
            <a:ext cx="6898341" cy="1257986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zh-TW" sz="2400" dirty="0"/>
              <a:t>Usually, when a program cannot open a file, a common practice is to output an error message and </a:t>
            </a:r>
            <a:r>
              <a:rPr lang="en-US" altLang="zh-TW" sz="2400" b="1" u="sng" dirty="0"/>
              <a:t>terminate the program using </a:t>
            </a:r>
            <a:r>
              <a:rPr lang="en-US" altLang="zh-TW" sz="2400" b="1" u="sng" dirty="0">
                <a:latin typeface="Consolas" panose="020B0609020204030204" pitchFamily="49" charset="0"/>
                <a:cs typeface="Consolas" panose="020B0609020204030204" pitchFamily="49" charset="0"/>
              </a:rPr>
              <a:t>exit(1)</a:t>
            </a:r>
            <a:r>
              <a:rPr lang="en-US" altLang="zh-TW" sz="2400" b="1" u="sng" dirty="0"/>
              <a:t>.</a:t>
            </a:r>
            <a:endParaRPr lang="en-US" altLang="zh-TW" sz="2400" b="1" u="sng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09171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4F82B-A295-4EE3-B28C-D7C9C567FC80}" type="slidenum">
              <a:rPr lang="zh-TW" altLang="en-US"/>
              <a:pPr/>
              <a:t>18</a:t>
            </a:fld>
            <a:endParaRPr lang="en-US" altLang="zh-TW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Outline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sz="2800" dirty="0"/>
              <a:t>Introduction</a:t>
            </a:r>
          </a:p>
          <a:p>
            <a:pPr marL="933450" lvl="1" indent="-533400"/>
            <a:r>
              <a:rPr lang="en-US" altLang="zh-TW" sz="2400" dirty="0"/>
              <a:t>Opening a file</a:t>
            </a:r>
          </a:p>
          <a:p>
            <a:pPr marL="933450" lvl="1" indent="-533400"/>
            <a:r>
              <a:rPr lang="en-US" altLang="zh-TW" sz="2400" dirty="0"/>
              <a:t>Closing a file</a:t>
            </a: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sz="2800" dirty="0"/>
              <a:t>Example 1: Reading data from a file</a:t>
            </a: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sz="2800" dirty="0"/>
              <a:t>Example 2: Check if a file is opened successfully</a:t>
            </a:r>
          </a:p>
          <a:p>
            <a:pPr marL="533400" indent="-533400">
              <a:buFont typeface="Wingdings" pitchFamily="2" charset="2"/>
              <a:buAutoNum type="arabicPeriod"/>
            </a:pPr>
            <a:endParaRPr lang="en-US" altLang="zh-TW" b="1" dirty="0"/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b="1" dirty="0"/>
              <a:t>Example 3, 4: Reading numbers using </a:t>
            </a:r>
            <a:r>
              <a:rPr lang="en-US" altLang="zh-TW" b="1" dirty="0" err="1">
                <a:latin typeface="Consolas" panose="020B0609020204030204" pitchFamily="49" charset="0"/>
                <a:cs typeface="Consolas" panose="020B0609020204030204" pitchFamily="49" charset="0"/>
              </a:rPr>
              <a:t>fscanf</a:t>
            </a:r>
            <a:r>
              <a:rPr lang="en-US" altLang="zh-TW" b="1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sz="2800" dirty="0"/>
              <a:t>Example 5: Writing data to a file</a:t>
            </a: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sz="2800" dirty="0"/>
              <a:t>Example 6: Handling multiple files in a program</a:t>
            </a:r>
          </a:p>
          <a:p>
            <a:pPr marL="533400" indent="-533400">
              <a:buFont typeface="Wingdings" pitchFamily="2" charset="2"/>
              <a:buAutoNum type="arabicPeriod"/>
            </a:pPr>
            <a:endParaRPr lang="en-US" altLang="zh-TW" dirty="0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46D80174-02A1-F303-2F3B-617F5E4EE8D8}"/>
              </a:ext>
            </a:extLst>
          </p:cNvPr>
          <p:cNvSpPr txBox="1">
            <a:spLocks noChangeArrowheads="1"/>
          </p:cNvSpPr>
          <p:nvPr/>
        </p:nvSpPr>
        <p:spPr>
          <a:xfrm>
            <a:off x="6793992" y="76200"/>
            <a:ext cx="5210440" cy="28882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0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#include &lt;</a:t>
            </a:r>
            <a:r>
              <a:rPr lang="en-US" altLang="zh-TW" sz="200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stdlib.h</a:t>
            </a:r>
            <a:r>
              <a:rPr lang="en-US" altLang="zh-TW" sz="20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&gt; </a:t>
            </a:r>
          </a:p>
          <a:p>
            <a:pPr marL="0" indent="0">
              <a:buNone/>
            </a:pPr>
            <a:endParaRPr lang="en-US" altLang="zh-TW" sz="1000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TW" sz="2000" dirty="0">
                <a:latin typeface="Consolas" panose="020B0609020204030204" pitchFamily="49" charset="0"/>
              </a:rPr>
              <a:t>FILE *</a:t>
            </a:r>
            <a:r>
              <a:rPr lang="en-US" altLang="zh-TW" sz="2000" dirty="0" err="1">
                <a:latin typeface="Consolas" panose="020B0609020204030204" pitchFamily="49" charset="0"/>
              </a:rPr>
              <a:t>fptr</a:t>
            </a:r>
            <a:r>
              <a:rPr lang="en-US" altLang="zh-TW" sz="2000" dirty="0">
                <a:latin typeface="Consolas" panose="020B0609020204030204" pitchFamily="49" charset="0"/>
              </a:rPr>
              <a:t>;</a:t>
            </a:r>
            <a:endParaRPr lang="en-US" altLang="zh-TW" sz="20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en-US" altLang="zh-TW" sz="2000" dirty="0" err="1">
                <a:latin typeface="Consolas" panose="020B0609020204030204" pitchFamily="49" charset="0"/>
              </a:rPr>
              <a:t>fptr</a:t>
            </a:r>
            <a:r>
              <a:rPr lang="en-US" altLang="zh-TW" sz="2000" dirty="0">
                <a:latin typeface="Consolas" panose="020B0609020204030204" pitchFamily="49" charset="0"/>
              </a:rPr>
              <a:t> = </a:t>
            </a:r>
            <a:r>
              <a:rPr lang="en-US" altLang="zh-TW" sz="2000" dirty="0" err="1">
                <a:solidFill>
                  <a:srgbClr val="C00000"/>
                </a:solidFill>
                <a:latin typeface="Consolas" panose="020B0609020204030204" pitchFamily="49" charset="0"/>
              </a:rPr>
              <a:t>fopen</a:t>
            </a:r>
            <a:r>
              <a:rPr lang="en-US" altLang="zh-TW" sz="2000" dirty="0">
                <a:latin typeface="Consolas" panose="020B0609020204030204" pitchFamily="49" charset="0"/>
              </a:rPr>
              <a:t>(</a:t>
            </a:r>
            <a:r>
              <a:rPr lang="en-US" altLang="zh-TW" sz="2000" dirty="0">
                <a:solidFill>
                  <a:srgbClr val="0099FF"/>
                </a:solidFill>
                <a:latin typeface="Consolas" panose="020B0609020204030204" pitchFamily="49" charset="0"/>
              </a:rPr>
              <a:t>"data.txt"</a:t>
            </a:r>
            <a:r>
              <a:rPr lang="en-US" altLang="zh-TW" sz="2000" dirty="0">
                <a:latin typeface="Consolas" panose="020B0609020204030204" pitchFamily="49" charset="0"/>
              </a:rPr>
              <a:t>, </a:t>
            </a:r>
            <a:r>
              <a:rPr lang="en-US" altLang="zh-TW" sz="2000" dirty="0">
                <a:solidFill>
                  <a:srgbClr val="0099FF"/>
                </a:solidFill>
                <a:latin typeface="Consolas" panose="020B0609020204030204" pitchFamily="49" charset="0"/>
              </a:rPr>
              <a:t>"r"</a:t>
            </a:r>
            <a:r>
              <a:rPr lang="en-US" altLang="zh-TW" sz="20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2000" dirty="0">
                <a:latin typeface="Consolas" panose="020B0609020204030204" pitchFamily="49" charset="0"/>
              </a:rPr>
              <a:t> (</a:t>
            </a:r>
            <a:r>
              <a:rPr lang="en-US" altLang="zh-TW" sz="2000" dirty="0" err="1">
                <a:highlight>
                  <a:srgbClr val="00FF00"/>
                </a:highlight>
                <a:latin typeface="Consolas" panose="020B0609020204030204" pitchFamily="49" charset="0"/>
              </a:rPr>
              <a:t>fptr</a:t>
            </a:r>
            <a:r>
              <a:rPr lang="en-US" altLang="zh-TW" sz="2000" dirty="0">
                <a:highlight>
                  <a:srgbClr val="00FF00"/>
                </a:highlight>
                <a:latin typeface="Consolas" panose="020B0609020204030204" pitchFamily="49" charset="0"/>
              </a:rPr>
              <a:t> == NULL</a:t>
            </a:r>
            <a:r>
              <a:rPr lang="en-US" altLang="zh-TW" sz="2000" dirty="0">
                <a:latin typeface="Consolas" panose="020B0609020204030204" pitchFamily="49" charset="0"/>
              </a:rPr>
              <a:t>)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TW" sz="2000" dirty="0">
                <a:latin typeface="Consolas" panose="020B0609020204030204" pitchFamily="49" charset="0"/>
              </a:rPr>
              <a:t>	</a:t>
            </a:r>
            <a:r>
              <a:rPr lang="en-US" altLang="zh-TW" sz="2000" dirty="0">
                <a:highlight>
                  <a:srgbClr val="FF0000"/>
                </a:highlight>
                <a:latin typeface="Consolas" panose="020B0609020204030204" pitchFamily="49" charset="0"/>
              </a:rPr>
              <a:t>exit(</a:t>
            </a:r>
            <a:r>
              <a:rPr lang="en-US" altLang="zh-TW" sz="2000" dirty="0">
                <a:solidFill>
                  <a:srgbClr val="0099FF"/>
                </a:solidFill>
                <a:highlight>
                  <a:srgbClr val="FF0000"/>
                </a:highlight>
                <a:latin typeface="Consolas" panose="020B0609020204030204" pitchFamily="49" charset="0"/>
              </a:rPr>
              <a:t>1</a:t>
            </a:r>
            <a:r>
              <a:rPr lang="en-US" altLang="zh-TW" sz="2000" dirty="0">
                <a:highlight>
                  <a:srgbClr val="FF0000"/>
                </a:highlight>
                <a:latin typeface="Consolas" panose="020B0609020204030204" pitchFamily="49" charset="0"/>
              </a:rPr>
              <a:t>); </a:t>
            </a:r>
          </a:p>
          <a:p>
            <a:pPr marL="0" indent="0">
              <a:buFont typeface="Arial" pitchFamily="34" charset="0"/>
              <a:buNone/>
            </a:pPr>
            <a:r>
              <a:rPr lang="en-US" altLang="zh-TW" sz="2000" dirty="0" err="1">
                <a:solidFill>
                  <a:srgbClr val="C00000"/>
                </a:solidFill>
                <a:latin typeface="Consolas" panose="020B0609020204030204" pitchFamily="49" charset="0"/>
              </a:rPr>
              <a:t>fscanf</a:t>
            </a:r>
            <a:r>
              <a:rPr lang="en-US" altLang="zh-TW" sz="2000" dirty="0">
                <a:latin typeface="Consolas" panose="020B0609020204030204" pitchFamily="49" charset="0"/>
              </a:rPr>
              <a:t>(</a:t>
            </a:r>
            <a:r>
              <a:rPr lang="en-US" altLang="zh-TW" sz="2000" dirty="0" err="1">
                <a:latin typeface="Consolas" panose="020B0609020204030204" pitchFamily="49" charset="0"/>
              </a:rPr>
              <a:t>fptr</a:t>
            </a:r>
            <a:r>
              <a:rPr lang="en-US" altLang="zh-TW" sz="2000" dirty="0">
                <a:latin typeface="Consolas" panose="020B0609020204030204" pitchFamily="49" charset="0"/>
              </a:rPr>
              <a:t>, </a:t>
            </a:r>
            <a:r>
              <a:rPr lang="en-US" altLang="zh-TW" sz="2000" dirty="0">
                <a:solidFill>
                  <a:srgbClr val="0099FF"/>
                </a:solidFill>
                <a:latin typeface="Consolas" panose="020B0609020204030204" pitchFamily="49" charset="0"/>
              </a:rPr>
              <a:t>"%d"</a:t>
            </a:r>
            <a:r>
              <a:rPr lang="en-US" altLang="zh-TW" sz="2000" dirty="0">
                <a:latin typeface="Consolas" panose="020B0609020204030204" pitchFamily="49" charset="0"/>
              </a:rPr>
              <a:t>, &amp;num);</a:t>
            </a:r>
          </a:p>
          <a:p>
            <a:pPr marL="0" indent="0">
              <a:buFont typeface="Arial" pitchFamily="34" charset="0"/>
              <a:buNone/>
            </a:pPr>
            <a:r>
              <a:rPr lang="en-US" altLang="zh-TW" sz="2000" dirty="0" err="1">
                <a:solidFill>
                  <a:srgbClr val="C00000"/>
                </a:solidFill>
                <a:latin typeface="Consolas" panose="020B0609020204030204" pitchFamily="49" charset="0"/>
              </a:rPr>
              <a:t>fclose</a:t>
            </a:r>
            <a:r>
              <a:rPr lang="en-US" altLang="zh-TW" sz="2000" dirty="0">
                <a:latin typeface="Consolas" panose="020B0609020204030204" pitchFamily="49" charset="0"/>
              </a:rPr>
              <a:t>(</a:t>
            </a:r>
            <a:r>
              <a:rPr lang="en-US" altLang="zh-TW" sz="2000" dirty="0" err="1">
                <a:latin typeface="Consolas" panose="020B0609020204030204" pitchFamily="49" charset="0"/>
              </a:rPr>
              <a:t>fptr</a:t>
            </a:r>
            <a:r>
              <a:rPr lang="en-US" altLang="zh-TW" sz="2000" dirty="0">
                <a:latin typeface="Consolas" panose="020B0609020204030204" pitchFamily="49" charset="0"/>
              </a:rPr>
              <a:t>);</a:t>
            </a:r>
            <a:endParaRPr lang="en-US" altLang="zh-TW" sz="2000" b="1" i="1" dirty="0">
              <a:solidFill>
                <a:srgbClr val="0070C0"/>
              </a:solidFill>
              <a:ea typeface="新細明體" pitchFamily="18" charset="-120"/>
            </a:endParaRPr>
          </a:p>
          <a:p>
            <a:pPr marL="0" indent="0">
              <a:buFont typeface="Arial" pitchFamily="34" charset="0"/>
              <a:buNone/>
            </a:pPr>
            <a:endParaRPr lang="en-US" altLang="zh-TW" sz="1200" dirty="0">
              <a:ea typeface="新細明體" pitchFamily="18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025872-FF17-2493-C642-0E1BAF392AF3}"/>
              </a:ext>
            </a:extLst>
          </p:cNvPr>
          <p:cNvSpPr txBox="1"/>
          <p:nvPr/>
        </p:nvSpPr>
        <p:spPr>
          <a:xfrm>
            <a:off x="3237117" y="1520315"/>
            <a:ext cx="3373995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3600" b="1" dirty="0"/>
              <a:t>Project Part Two</a:t>
            </a:r>
            <a:endParaRPr lang="zh-CN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4036717997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>
            <a:extLst>
              <a:ext uri="{FF2B5EF4-FFF2-40B4-BE49-F238E27FC236}">
                <a16:creationId xmlns:a16="http://schemas.microsoft.com/office/drawing/2014/main" id="{0A6533DF-20F9-F691-B593-F633BE963A51}"/>
              </a:ext>
            </a:extLst>
          </p:cNvPr>
          <p:cNvSpPr txBox="1">
            <a:spLocks noChangeArrowheads="1"/>
          </p:cNvSpPr>
          <p:nvPr/>
        </p:nvSpPr>
        <p:spPr>
          <a:xfrm>
            <a:off x="3303052" y="1195193"/>
            <a:ext cx="5210440" cy="28882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</a:rPr>
              <a:t>#include &lt;</a:t>
            </a:r>
            <a:r>
              <a:rPr lang="en-US" altLang="zh-TW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stdlib.h</a:t>
            </a: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</a:p>
          <a:p>
            <a:pPr marL="0" indent="0">
              <a:buNone/>
            </a:pPr>
            <a:endParaRPr lang="en-US" altLang="zh-TW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TW" sz="2000" dirty="0">
                <a:latin typeface="Consolas" panose="020B0609020204030204" pitchFamily="49" charset="0"/>
              </a:rPr>
              <a:t>FILE *</a:t>
            </a:r>
            <a:r>
              <a:rPr lang="en-US" altLang="zh-TW" sz="2000" dirty="0" err="1">
                <a:latin typeface="Consolas" panose="020B0609020204030204" pitchFamily="49" charset="0"/>
              </a:rPr>
              <a:t>fptr</a:t>
            </a:r>
            <a:r>
              <a:rPr lang="en-US" altLang="zh-TW" sz="2000" dirty="0">
                <a:latin typeface="Consolas" panose="020B0609020204030204" pitchFamily="49" charset="0"/>
              </a:rPr>
              <a:t>;</a:t>
            </a:r>
            <a:endParaRPr lang="en-US" altLang="zh-TW" sz="20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en-US" altLang="zh-TW" sz="2000" dirty="0" err="1">
                <a:latin typeface="Consolas" panose="020B0609020204030204" pitchFamily="49" charset="0"/>
              </a:rPr>
              <a:t>fptr</a:t>
            </a:r>
            <a:r>
              <a:rPr lang="en-US" altLang="zh-TW" sz="2000" dirty="0">
                <a:latin typeface="Consolas" panose="020B0609020204030204" pitchFamily="49" charset="0"/>
              </a:rPr>
              <a:t> = </a:t>
            </a:r>
            <a:r>
              <a:rPr lang="en-US" altLang="zh-TW" sz="2000" dirty="0" err="1">
                <a:solidFill>
                  <a:srgbClr val="C00000"/>
                </a:solidFill>
                <a:latin typeface="Consolas" panose="020B0609020204030204" pitchFamily="49" charset="0"/>
              </a:rPr>
              <a:t>fopen</a:t>
            </a:r>
            <a:r>
              <a:rPr lang="en-US" altLang="zh-TW" sz="2000" dirty="0">
                <a:latin typeface="Consolas" panose="020B0609020204030204" pitchFamily="49" charset="0"/>
              </a:rPr>
              <a:t>(</a:t>
            </a:r>
            <a:r>
              <a:rPr lang="en-US" altLang="zh-TW" sz="2000" dirty="0">
                <a:solidFill>
                  <a:srgbClr val="0099FF"/>
                </a:solidFill>
                <a:latin typeface="Consolas" panose="020B0609020204030204" pitchFamily="49" charset="0"/>
              </a:rPr>
              <a:t>"data.txt"</a:t>
            </a:r>
            <a:r>
              <a:rPr lang="en-US" altLang="zh-TW" sz="2000" dirty="0">
                <a:latin typeface="Consolas" panose="020B0609020204030204" pitchFamily="49" charset="0"/>
              </a:rPr>
              <a:t>, </a:t>
            </a:r>
            <a:r>
              <a:rPr lang="en-US" altLang="zh-TW" sz="2000" dirty="0">
                <a:solidFill>
                  <a:srgbClr val="0099FF"/>
                </a:solidFill>
                <a:latin typeface="Consolas" panose="020B0609020204030204" pitchFamily="49" charset="0"/>
              </a:rPr>
              <a:t>"r"</a:t>
            </a:r>
            <a:r>
              <a:rPr lang="en-US" altLang="zh-TW" sz="20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2000" dirty="0">
                <a:latin typeface="Consolas" panose="020B0609020204030204" pitchFamily="49" charset="0"/>
              </a:rPr>
              <a:t> (</a:t>
            </a:r>
            <a:r>
              <a:rPr lang="en-US" altLang="zh-TW" sz="2000" dirty="0" err="1">
                <a:latin typeface="Consolas" panose="020B0609020204030204" pitchFamily="49" charset="0"/>
              </a:rPr>
              <a:t>fptr</a:t>
            </a:r>
            <a:r>
              <a:rPr lang="en-US" altLang="zh-TW" sz="2000" dirty="0">
                <a:latin typeface="Consolas" panose="020B0609020204030204" pitchFamily="49" charset="0"/>
              </a:rPr>
              <a:t> == NULL)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TW" sz="2000" dirty="0">
                <a:latin typeface="Consolas" panose="020B0609020204030204" pitchFamily="49" charset="0"/>
              </a:rPr>
              <a:t>	exit(</a:t>
            </a:r>
            <a:r>
              <a:rPr lang="en-US" altLang="zh-TW" sz="2000" dirty="0">
                <a:solidFill>
                  <a:srgbClr val="0099FF"/>
                </a:solidFill>
                <a:latin typeface="Consolas" panose="020B0609020204030204" pitchFamily="49" charset="0"/>
              </a:rPr>
              <a:t>1</a:t>
            </a:r>
            <a:r>
              <a:rPr lang="en-US" altLang="zh-TW" sz="2000" dirty="0">
                <a:latin typeface="Consolas" panose="020B0609020204030204" pitchFamily="49" charset="0"/>
              </a:rPr>
              <a:t>); </a:t>
            </a:r>
          </a:p>
          <a:p>
            <a:pPr marL="0" indent="0">
              <a:buFont typeface="Arial" pitchFamily="34" charset="0"/>
              <a:buNone/>
            </a:pPr>
            <a:r>
              <a:rPr lang="en-US" altLang="zh-TW" sz="2000" dirty="0" err="1">
                <a:solidFill>
                  <a:srgbClr val="C00000"/>
                </a:solidFill>
                <a:latin typeface="Consolas" panose="020B0609020204030204" pitchFamily="49" charset="0"/>
              </a:rPr>
              <a:t>fscanf</a:t>
            </a:r>
            <a:r>
              <a:rPr lang="en-US" altLang="zh-TW" sz="2000" dirty="0">
                <a:latin typeface="Consolas" panose="020B0609020204030204" pitchFamily="49" charset="0"/>
              </a:rPr>
              <a:t>(</a:t>
            </a:r>
            <a:r>
              <a:rPr lang="en-US" altLang="zh-TW" sz="2000" dirty="0" err="1">
                <a:latin typeface="Consolas" panose="020B0609020204030204" pitchFamily="49" charset="0"/>
              </a:rPr>
              <a:t>fptr</a:t>
            </a:r>
            <a:r>
              <a:rPr lang="en-US" altLang="zh-TW" sz="2000" dirty="0">
                <a:latin typeface="Consolas" panose="020B0609020204030204" pitchFamily="49" charset="0"/>
              </a:rPr>
              <a:t>, </a:t>
            </a:r>
            <a:r>
              <a:rPr lang="en-US" altLang="zh-TW" sz="2000" dirty="0">
                <a:solidFill>
                  <a:srgbClr val="0099FF"/>
                </a:solidFill>
                <a:latin typeface="Consolas" panose="020B0609020204030204" pitchFamily="49" charset="0"/>
              </a:rPr>
              <a:t>"%d"</a:t>
            </a:r>
            <a:r>
              <a:rPr lang="en-US" altLang="zh-TW" sz="2000" dirty="0">
                <a:latin typeface="Consolas" panose="020B0609020204030204" pitchFamily="49" charset="0"/>
              </a:rPr>
              <a:t>, &amp;num);</a:t>
            </a:r>
          </a:p>
          <a:p>
            <a:pPr marL="0" indent="0">
              <a:buFont typeface="Arial" pitchFamily="34" charset="0"/>
              <a:buNone/>
            </a:pPr>
            <a:r>
              <a:rPr lang="en-US" altLang="zh-TW" sz="2000" dirty="0" err="1">
                <a:solidFill>
                  <a:srgbClr val="C00000"/>
                </a:solidFill>
                <a:latin typeface="Consolas" panose="020B0609020204030204" pitchFamily="49" charset="0"/>
              </a:rPr>
              <a:t>fclose</a:t>
            </a:r>
            <a:r>
              <a:rPr lang="en-US" altLang="zh-TW" sz="2000" dirty="0">
                <a:latin typeface="Consolas" panose="020B0609020204030204" pitchFamily="49" charset="0"/>
              </a:rPr>
              <a:t>(</a:t>
            </a:r>
            <a:r>
              <a:rPr lang="en-US" altLang="zh-TW" sz="2000" dirty="0" err="1">
                <a:latin typeface="Consolas" panose="020B0609020204030204" pitchFamily="49" charset="0"/>
              </a:rPr>
              <a:t>fptr</a:t>
            </a:r>
            <a:r>
              <a:rPr lang="en-US" altLang="zh-TW" sz="2000" dirty="0">
                <a:latin typeface="Consolas" panose="020B0609020204030204" pitchFamily="49" charset="0"/>
              </a:rPr>
              <a:t>);</a:t>
            </a:r>
            <a:endParaRPr lang="en-US" altLang="zh-TW" sz="2000" b="1" i="1" dirty="0">
              <a:solidFill>
                <a:srgbClr val="0070C0"/>
              </a:solidFill>
              <a:ea typeface="新細明體" pitchFamily="18" charset="-120"/>
            </a:endParaRPr>
          </a:p>
          <a:p>
            <a:pPr marL="0" indent="0">
              <a:buFont typeface="Arial" pitchFamily="34" charset="0"/>
              <a:buNone/>
            </a:pPr>
            <a:endParaRPr lang="en-US" altLang="zh-TW" sz="1200" dirty="0">
              <a:ea typeface="新細明體" pitchFamily="18" charset="-12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4338" y="76200"/>
            <a:ext cx="8921262" cy="838200"/>
          </a:xfrm>
        </p:spPr>
        <p:txBody>
          <a:bodyPr>
            <a:normAutofit/>
          </a:bodyPr>
          <a:lstStyle/>
          <a:p>
            <a:r>
              <a:rPr lang="en-US" altLang="zh-TW" sz="3600" b="1"/>
              <a:t>Example #3: Reading all integers from a file</a:t>
            </a:r>
            <a:endParaRPr lang="en-US" sz="36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4339" y="4364216"/>
            <a:ext cx="9409837" cy="1807983"/>
          </a:xfrm>
        </p:spPr>
        <p:txBody>
          <a:bodyPr>
            <a:normAutofit/>
          </a:bodyPr>
          <a:lstStyle/>
          <a:p>
            <a:r>
              <a:rPr lang="en-US" sz="2800" b="1" dirty="0"/>
              <a:t>Objective</a:t>
            </a:r>
            <a:r>
              <a:rPr lang="en-US" sz="2800" dirty="0"/>
              <a:t>: To read the data from a file in the above format. i.e., each line contains an integer.</a:t>
            </a:r>
          </a:p>
          <a:p>
            <a:pPr lvl="8"/>
            <a:endParaRPr lang="en-US" sz="1600" dirty="0"/>
          </a:p>
          <a:p>
            <a:r>
              <a:rPr lang="en-US" sz="2800" dirty="0"/>
              <a:t>Suppose the file is named "data.txt" and its format is valid.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42558" y="1687042"/>
            <a:ext cx="2344450" cy="2285999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>
            <a:lvl1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en-US" sz="2400" b="0">
                <a:latin typeface="Consolas" panose="020B0609020204030204" pitchFamily="49" charset="0"/>
              </a:rPr>
              <a:t>123</a:t>
            </a:r>
          </a:p>
          <a:p>
            <a:pPr eaLnBrk="1" hangingPunct="1"/>
            <a:r>
              <a:rPr lang="en-US" altLang="en-US" sz="2400" b="0">
                <a:latin typeface="Consolas" panose="020B0609020204030204" pitchFamily="49" charset="0"/>
              </a:rPr>
              <a:t>456</a:t>
            </a:r>
          </a:p>
          <a:p>
            <a:pPr eaLnBrk="1" hangingPunct="1"/>
            <a:r>
              <a:rPr lang="en-US" altLang="en-US" sz="2400" b="0">
                <a:latin typeface="Consolas" panose="020B0609020204030204" pitchFamily="49" charset="0"/>
              </a:rPr>
              <a:t>333</a:t>
            </a:r>
          </a:p>
          <a:p>
            <a:pPr eaLnBrk="1" hangingPunct="1"/>
            <a:r>
              <a:rPr lang="en-US" altLang="en-US" sz="2400" b="0">
                <a:latin typeface="Consolas" panose="020B0609020204030204" pitchFamily="49" charset="0"/>
              </a:rPr>
              <a:t>666</a:t>
            </a:r>
          </a:p>
          <a:p>
            <a:pPr eaLnBrk="1" hangingPunct="1"/>
            <a:r>
              <a:rPr lang="en-US" altLang="en-US" sz="2400" b="0">
                <a:latin typeface="Consolas" panose="020B0609020204030204" pitchFamily="49" charset="0"/>
              </a:rPr>
              <a:t>999</a:t>
            </a:r>
          </a:p>
          <a:p>
            <a:pPr eaLnBrk="1" hangingPunct="1"/>
            <a:r>
              <a:rPr lang="en-US" altLang="en-US" sz="2400" b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6517D5-0A64-AFE5-DB9B-C62AA6DC4FB9}"/>
              </a:ext>
            </a:extLst>
          </p:cNvPr>
          <p:cNvSpPr txBox="1"/>
          <p:nvPr/>
        </p:nvSpPr>
        <p:spPr>
          <a:xfrm>
            <a:off x="742558" y="116382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File: data.txt</a:t>
            </a:r>
            <a:endParaRPr lang="LID4096" sz="280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ABCF9CD-C00B-07E2-5386-E5C03CC61C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8769" y="1195193"/>
            <a:ext cx="4417511" cy="126402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spcBef>
                <a:spcPct val="50000"/>
              </a:spcBef>
            </a:pPr>
            <a:r>
              <a:rPr lang="en-US" altLang="zh-TW" sz="2800" dirty="0"/>
              <a:t>How many lines in the file?</a:t>
            </a:r>
          </a:p>
          <a:p>
            <a:pPr>
              <a:spcBef>
                <a:spcPct val="50000"/>
              </a:spcBef>
            </a:pPr>
            <a:r>
              <a:rPr lang="en-US" altLang="zh-TW" sz="2800" b="1" u="sng" dirty="0"/>
              <a:t>Unknown</a:t>
            </a:r>
          </a:p>
          <a:p>
            <a:pPr>
              <a:spcBef>
                <a:spcPct val="50000"/>
              </a:spcBef>
            </a:pPr>
            <a:endParaRPr lang="en-US" altLang="zh-TW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806285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ChangeArrowheads="1"/>
          </p:cNvSpPr>
          <p:nvPr/>
        </p:nvSpPr>
        <p:spPr bwMode="auto">
          <a:xfrm>
            <a:off x="1990726" y="990600"/>
            <a:ext cx="8677275" cy="53213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main(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altLang="zh-TW" sz="2000" b="0" dirty="0">
                <a:latin typeface="Consolas" panose="020B0609020204030204" pitchFamily="49" charset="0"/>
              </a:rPr>
              <a:t>FILE *</a:t>
            </a:r>
            <a:r>
              <a:rPr lang="en-US" altLang="zh-TW" sz="2000" b="0" dirty="0" err="1">
                <a:latin typeface="Consolas" panose="020B0609020204030204" pitchFamily="49" charset="0"/>
              </a:rPr>
              <a:t>fptr</a:t>
            </a:r>
            <a:r>
              <a:rPr lang="en-US" altLang="zh-TW" sz="2000" b="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    int </a:t>
            </a:r>
            <a:r>
              <a:rPr lang="en-US" altLang="zh-TW" sz="2000" b="0" dirty="0">
                <a:latin typeface="Consolas" panose="020B0609020204030204" pitchFamily="49" charset="0"/>
              </a:rPr>
              <a:t>num;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</a:rPr>
              <a:t>fptr</a:t>
            </a:r>
            <a:r>
              <a:rPr lang="en-US" altLang="zh-TW" sz="2000" b="0" dirty="0">
                <a:latin typeface="Consolas" panose="020B0609020204030204" pitchFamily="49" charset="0"/>
              </a:rPr>
              <a:t> = </a:t>
            </a:r>
            <a:r>
              <a:rPr lang="en-US" altLang="zh-TW" sz="2000" b="0" dirty="0" err="1">
                <a:latin typeface="Consolas" panose="020B0609020204030204" pitchFamily="49" charset="0"/>
              </a:rPr>
              <a:t>fopen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"data.txt"</a:t>
            </a:r>
            <a:r>
              <a:rPr lang="en-US" altLang="zh-TW" sz="2000" b="0" dirty="0">
                <a:latin typeface="Consolas" panose="020B0609020204030204" pitchFamily="49" charset="0"/>
              </a:rPr>
              <a:t>, 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"r"</a:t>
            </a:r>
            <a:r>
              <a:rPr lang="en-US" altLang="zh-TW" sz="2000" b="0" dirty="0">
                <a:latin typeface="Consolas" panose="020B0609020204030204" pitchFamily="49" charset="0"/>
              </a:rPr>
              <a:t>);  </a:t>
            </a: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// open file for reading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  </a:t>
            </a:r>
            <a:r>
              <a:rPr lang="en-US" altLang="zh-TW" sz="2000" b="0" dirty="0">
                <a:latin typeface="Consolas" panose="020B0609020204030204" pitchFamily="49" charset="0"/>
              </a:rPr>
              <a:t>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altLang="zh-TW" sz="2000" b="0" dirty="0">
                <a:latin typeface="Consolas" panose="020B0609020204030204" pitchFamily="49" charset="0"/>
              </a:rPr>
              <a:t> (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1</a:t>
            </a:r>
            <a:r>
              <a:rPr lang="en-US" altLang="zh-TW" sz="2000" b="0" dirty="0">
                <a:latin typeface="Consolas" panose="020B0609020204030204" pitchFamily="49" charset="0"/>
              </a:rPr>
              <a:t>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2000" b="0" dirty="0">
                <a:latin typeface="Consolas" panose="020B0609020204030204" pitchFamily="49" charset="0"/>
              </a:rPr>
              <a:t> (</a:t>
            </a:r>
            <a:r>
              <a:rPr lang="en-US" altLang="zh-TW" sz="2000" b="0" dirty="0" err="1">
                <a:highlight>
                  <a:srgbClr val="FFFF00"/>
                </a:highlight>
                <a:latin typeface="Consolas" panose="020B0609020204030204" pitchFamily="49" charset="0"/>
              </a:rPr>
              <a:t>fscanf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2000" b="0" dirty="0" err="1">
                <a:highlight>
                  <a:srgbClr val="FFFF00"/>
                </a:highlight>
                <a:latin typeface="Consolas" panose="020B0609020204030204" pitchFamily="49" charset="0"/>
              </a:rPr>
              <a:t>fptr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altLang="zh-TW" sz="2000" b="0" dirty="0">
                <a:solidFill>
                  <a:srgbClr val="0099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"%d"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, &amp;num) != </a:t>
            </a:r>
            <a:r>
              <a:rPr lang="en-US" altLang="zh-TW" sz="2000" b="0" dirty="0">
                <a:solidFill>
                  <a:srgbClr val="0099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1</a:t>
            </a:r>
            <a:r>
              <a:rPr lang="en-US" altLang="zh-TW" sz="2000" b="0" dirty="0">
                <a:latin typeface="Consolas" panose="020B0609020204030204" pitchFamily="49" charset="0"/>
              </a:rPr>
              <a:t>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    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altLang="zh-TW" sz="2000" b="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    …  </a:t>
            </a: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// Process num here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}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</a:rPr>
              <a:t>fclose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 err="1">
                <a:latin typeface="Consolas" panose="020B0609020204030204" pitchFamily="49" charset="0"/>
              </a:rPr>
              <a:t>fptr</a:t>
            </a:r>
            <a:r>
              <a:rPr lang="en-US" altLang="zh-TW" sz="2000" b="0" dirty="0">
                <a:latin typeface="Consolas" panose="020B0609020204030204" pitchFamily="49" charset="0"/>
              </a:rPr>
              <a:t>);  </a:t>
            </a: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// close file</a:t>
            </a: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0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DDE72-8E1C-48AE-AAB0-105C85EE517D}" type="slidenum">
              <a:rPr lang="zh-TW" altLang="en-US"/>
              <a:pPr/>
              <a:t>20</a:t>
            </a:fld>
            <a:endParaRPr lang="en-US" altLang="zh-TW"/>
          </a:p>
        </p:txBody>
      </p:sp>
      <p:sp>
        <p:nvSpPr>
          <p:cNvPr id="108547" name="Rectangle 3"/>
          <p:cNvSpPr>
            <a:spLocks noChangeArrowheads="1"/>
          </p:cNvSpPr>
          <p:nvPr/>
        </p:nvSpPr>
        <p:spPr bwMode="auto">
          <a:xfrm>
            <a:off x="1528763" y="990600"/>
            <a:ext cx="461962" cy="53213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1415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594338" y="76200"/>
            <a:ext cx="8921262" cy="838200"/>
          </a:xfrm>
        </p:spPr>
        <p:txBody>
          <a:bodyPr>
            <a:noAutofit/>
          </a:bodyPr>
          <a:lstStyle/>
          <a:p>
            <a:r>
              <a:rPr lang="en-US" altLang="zh-TW" sz="3600"/>
              <a:t>Example #3: Reading all integers from a file</a:t>
            </a:r>
            <a:endParaRPr lang="en-US" altLang="zh-TW" sz="2400"/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6622824" y="1071192"/>
            <a:ext cx="5334000" cy="1264024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zh-TW" sz="2400" dirty="0"/>
              <a:t>We expect </a:t>
            </a:r>
            <a:r>
              <a:rPr lang="en-US" altLang="zh-TW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fscanf</a:t>
            </a:r>
            <a:r>
              <a:rPr lang="en-US" altLang="zh-TW" sz="24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altLang="zh-TW" sz="2400" dirty="0"/>
              <a:t> to read one integer. If it cannot read any integer, that means we have read all the integers in the file.</a:t>
            </a:r>
          </a:p>
          <a:p>
            <a:pPr>
              <a:spcBef>
                <a:spcPct val="50000"/>
              </a:spcBef>
            </a:pPr>
            <a:endParaRPr lang="en-US" altLang="zh-TW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F7643EC8-08AA-A5F3-29A2-BA75DA98C2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9288" y="3976116"/>
            <a:ext cx="4096512" cy="2095499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spcBef>
                <a:spcPts val="600"/>
              </a:spcBef>
            </a:pPr>
            <a:r>
              <a:rPr lang="en-US" altLang="zh-TW" sz="2800" dirty="0"/>
              <a:t>Use the return value of </a:t>
            </a:r>
            <a:r>
              <a:rPr lang="en-US" altLang="zh-TW" sz="2800" dirty="0" err="1"/>
              <a:t>fscanf</a:t>
            </a:r>
            <a:r>
              <a:rPr lang="en-US" altLang="zh-TW" sz="2800" dirty="0"/>
              <a:t>() function</a:t>
            </a:r>
          </a:p>
          <a:p>
            <a:pPr>
              <a:spcBef>
                <a:spcPts val="600"/>
              </a:spcBef>
            </a:pPr>
            <a:r>
              <a:rPr lang="en-US" altLang="zh-CN" sz="2800" dirty="0"/>
              <a:t>Returns the </a:t>
            </a:r>
            <a:r>
              <a:rPr lang="en-US" altLang="zh-CN" sz="2800" b="1" dirty="0"/>
              <a:t>number of read items</a:t>
            </a:r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419936267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4338" y="76200"/>
            <a:ext cx="8921262" cy="838200"/>
          </a:xfrm>
        </p:spPr>
        <p:txBody>
          <a:bodyPr/>
          <a:lstStyle/>
          <a:p>
            <a:r>
              <a:rPr lang="en-US" b="1" err="1">
                <a:latin typeface="Consolas" panose="020B0609020204030204" pitchFamily="49" charset="0"/>
                <a:cs typeface="Consolas" panose="020B0609020204030204" pitchFamily="49" charset="0"/>
              </a:rPr>
              <a:t>fscanf</a:t>
            </a:r>
            <a:r>
              <a:rPr lang="en-US" b="1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5447" y="1981200"/>
            <a:ext cx="10753165" cy="4191000"/>
          </a:xfrm>
        </p:spPr>
        <p:txBody>
          <a:bodyPr>
            <a:normAutofit/>
          </a:bodyPr>
          <a:lstStyle/>
          <a:p>
            <a:r>
              <a:rPr lang="en-US" b="1" dirty="0">
                <a:highlight>
                  <a:srgbClr val="CCFFCC"/>
                </a:highlight>
              </a:rPr>
              <a:t>Return value:</a:t>
            </a:r>
          </a:p>
          <a:p>
            <a:pPr lvl="1"/>
            <a:r>
              <a:rPr lang="en-US" sz="3200" dirty="0"/>
              <a:t>On success, the function returns the </a:t>
            </a:r>
            <a:r>
              <a:rPr lang="en-US" sz="3200" b="1" dirty="0"/>
              <a:t>number of items </a:t>
            </a:r>
            <a:r>
              <a:rPr lang="en-US" sz="3200" dirty="0"/>
              <a:t>of the argument list successfully filled. </a:t>
            </a:r>
            <a:endParaRPr lang="en-US" sz="3600" dirty="0"/>
          </a:p>
          <a:p>
            <a:pPr lvl="1"/>
            <a:r>
              <a:rPr lang="en-US" sz="3200" dirty="0"/>
              <a:t>If no value could be read due to either a file error or when </a:t>
            </a:r>
            <a:r>
              <a:rPr lang="en-US" sz="3200" b="1" u="sng" dirty="0"/>
              <a:t>end-of-file</a:t>
            </a:r>
            <a:r>
              <a:rPr lang="en-US" sz="3200" dirty="0"/>
              <a:t> is reached, the function returns the named constant </a:t>
            </a:r>
            <a:r>
              <a:rPr lang="en-US" sz="3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EOF</a:t>
            </a:r>
            <a:r>
              <a:rPr lang="en-US" sz="3200" b="1" dirty="0"/>
              <a:t> </a:t>
            </a:r>
            <a:r>
              <a:rPr lang="en-US" sz="3200" dirty="0"/>
              <a:t>(</a:t>
            </a:r>
            <a:r>
              <a:rPr lang="en-US" sz="3200" b="1" dirty="0"/>
              <a:t>End of File</a:t>
            </a:r>
            <a:r>
              <a:rPr lang="en-US" sz="3200" dirty="0"/>
              <a:t>, a negative value defined in </a:t>
            </a:r>
            <a:r>
              <a:rPr lang="en-US" sz="32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lang="en-US" sz="3200" dirty="0"/>
              <a:t>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677238" y="1143001"/>
            <a:ext cx="883836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altLang="zh-TW" sz="2400" b="1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fscanf</a:t>
            </a:r>
            <a:r>
              <a:rPr lang="en-US" altLang="zh-TW" sz="24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TW" sz="2400" b="1" dirty="0">
                <a:solidFill>
                  <a:srgbClr val="0070C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FILE *</a:t>
            </a:r>
            <a:r>
              <a:rPr lang="en-US" altLang="zh-TW" sz="2400" b="1" dirty="0" err="1">
                <a:solidFill>
                  <a:srgbClr val="0070C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fp</a:t>
            </a:r>
            <a:r>
              <a:rPr lang="en-US" altLang="zh-TW" sz="24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char *format, arg1, ...);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2AA37BF-4D24-84AA-1148-A24192767340}"/>
              </a:ext>
            </a:extLst>
          </p:cNvPr>
          <p:cNvSpPr txBox="1"/>
          <p:nvPr/>
        </p:nvSpPr>
        <p:spPr>
          <a:xfrm>
            <a:off x="5109882" y="266095"/>
            <a:ext cx="6983506" cy="5401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zh-TW" sz="2800" b="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2800" b="0" dirty="0">
                <a:latin typeface="Consolas" panose="020B0609020204030204" pitchFamily="49" charset="0"/>
              </a:rPr>
              <a:t> (</a:t>
            </a:r>
            <a:r>
              <a:rPr lang="en-US" altLang="zh-TW" sz="2800" b="0" dirty="0" err="1">
                <a:latin typeface="Consolas" panose="020B0609020204030204" pitchFamily="49" charset="0"/>
              </a:rPr>
              <a:t>fscanf</a:t>
            </a:r>
            <a:r>
              <a:rPr lang="en-US" altLang="zh-TW" sz="2800" b="0" dirty="0">
                <a:latin typeface="Consolas" panose="020B0609020204030204" pitchFamily="49" charset="0"/>
              </a:rPr>
              <a:t>(</a:t>
            </a:r>
            <a:r>
              <a:rPr lang="en-US" altLang="zh-TW" sz="2800" b="0" dirty="0" err="1">
                <a:latin typeface="Consolas" panose="020B0609020204030204" pitchFamily="49" charset="0"/>
              </a:rPr>
              <a:t>fptr</a:t>
            </a:r>
            <a:r>
              <a:rPr lang="en-US" altLang="zh-TW" sz="2800" b="0" dirty="0">
                <a:latin typeface="Consolas" panose="020B0609020204030204" pitchFamily="49" charset="0"/>
              </a:rPr>
              <a:t>, </a:t>
            </a:r>
            <a:r>
              <a:rPr lang="en-US" altLang="zh-TW" sz="2800" b="0" dirty="0">
                <a:solidFill>
                  <a:srgbClr val="0099FF"/>
                </a:solidFill>
                <a:latin typeface="Consolas" panose="020B0609020204030204" pitchFamily="49" charset="0"/>
              </a:rPr>
              <a:t>"%d"</a:t>
            </a:r>
            <a:r>
              <a:rPr lang="en-US" altLang="zh-TW" sz="2800" b="0" dirty="0">
                <a:latin typeface="Consolas" panose="020B0609020204030204" pitchFamily="49" charset="0"/>
              </a:rPr>
              <a:t>, &amp;num) != </a:t>
            </a:r>
            <a:r>
              <a:rPr lang="en-US" altLang="zh-TW" sz="2800" b="0" dirty="0">
                <a:solidFill>
                  <a:srgbClr val="0099FF"/>
                </a:solidFill>
                <a:latin typeface="Consolas" panose="020B0609020204030204" pitchFamily="49" charset="0"/>
              </a:rPr>
              <a:t>1</a:t>
            </a:r>
            <a:r>
              <a:rPr lang="en-US" altLang="zh-TW" sz="2800" b="0" dirty="0"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6703953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4338" y="76200"/>
            <a:ext cx="8921262" cy="838200"/>
          </a:xfrm>
        </p:spPr>
        <p:txBody>
          <a:bodyPr>
            <a:normAutofit/>
          </a:bodyPr>
          <a:lstStyle/>
          <a:p>
            <a:r>
              <a:rPr lang="en-US" altLang="zh-TW" sz="3600" b="1"/>
              <a:t>Example #4: Reading all numbers from a file</a:t>
            </a:r>
            <a:endParaRPr lang="en-US" sz="36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766" y="3944470"/>
            <a:ext cx="10663516" cy="2303929"/>
          </a:xfrm>
        </p:spPr>
        <p:txBody>
          <a:bodyPr>
            <a:normAutofit/>
          </a:bodyPr>
          <a:lstStyle/>
          <a:p>
            <a:r>
              <a:rPr lang="en-US" sz="2800" b="1" dirty="0"/>
              <a:t>Objective</a:t>
            </a:r>
            <a:r>
              <a:rPr lang="en-US" sz="2800" dirty="0"/>
              <a:t>: To read the data from a file in the above format. i.e., each line contains an integer and two floating point numbers that are separated by white space characters.</a:t>
            </a:r>
          </a:p>
          <a:p>
            <a:pPr lvl="5"/>
            <a:endParaRPr lang="en-US" sz="1600" dirty="0"/>
          </a:p>
          <a:p>
            <a:r>
              <a:rPr lang="en-US" sz="2800" dirty="0"/>
              <a:t>Suppose the file is named "data.txt" and its format is valid.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807746" y="1752600"/>
            <a:ext cx="6248400" cy="19812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>
            <a:lvl1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en-US" sz="2000" b="0">
                <a:latin typeface="Consolas" panose="020B0609020204030204" pitchFamily="49" charset="0"/>
              </a:rPr>
              <a:t>123   1.0   2.0</a:t>
            </a:r>
          </a:p>
          <a:p>
            <a:pPr eaLnBrk="1" hangingPunct="1"/>
            <a:r>
              <a:rPr lang="en-US" altLang="en-US" sz="2000" b="0">
                <a:latin typeface="Consolas" panose="020B0609020204030204" pitchFamily="49" charset="0"/>
              </a:rPr>
              <a:t>456   3.5   4.4</a:t>
            </a:r>
          </a:p>
          <a:p>
            <a:pPr eaLnBrk="1" hangingPunct="1"/>
            <a:r>
              <a:rPr lang="en-US" altLang="en-US" sz="2000" b="0">
                <a:latin typeface="Consolas" panose="020B0609020204030204" pitchFamily="49" charset="0"/>
              </a:rPr>
              <a:t>333   2.6   7.8</a:t>
            </a:r>
          </a:p>
          <a:p>
            <a:pPr eaLnBrk="1" hangingPunct="1"/>
            <a:r>
              <a:rPr lang="en-US" altLang="en-US" sz="2000" b="0">
                <a:latin typeface="Consolas" panose="020B0609020204030204" pitchFamily="49" charset="0"/>
              </a:rPr>
              <a:t>666   7.7   3.32</a:t>
            </a:r>
          </a:p>
          <a:p>
            <a:pPr eaLnBrk="1" hangingPunct="1"/>
            <a:r>
              <a:rPr lang="en-US" altLang="en-US" sz="2000" b="0">
                <a:latin typeface="Consolas" panose="020B0609020204030204" pitchFamily="49" charset="0"/>
              </a:rPr>
              <a:t>999   9.2   5.2</a:t>
            </a:r>
          </a:p>
          <a:p>
            <a:pPr eaLnBrk="1" hangingPunct="1"/>
            <a:r>
              <a:rPr lang="en-US" altLang="en-US" sz="2000" b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59A39ED-29BD-696E-794D-C1872F5B255F}"/>
              </a:ext>
            </a:extLst>
          </p:cNvPr>
          <p:cNvSpPr txBox="1"/>
          <p:nvPr/>
        </p:nvSpPr>
        <p:spPr>
          <a:xfrm>
            <a:off x="2807746" y="128032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File: data.txt</a:t>
            </a:r>
            <a:endParaRPr lang="LID4096" sz="2800" dirty="0"/>
          </a:p>
        </p:txBody>
      </p:sp>
    </p:spTree>
    <p:extLst>
      <p:ext uri="{BB962C8B-B14F-4D97-AF65-F5344CB8AC3E}">
        <p14:creationId xmlns:p14="http://schemas.microsoft.com/office/powerpoint/2010/main" val="382168637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ChangeArrowheads="1"/>
          </p:cNvSpPr>
          <p:nvPr/>
        </p:nvSpPr>
        <p:spPr bwMode="auto">
          <a:xfrm>
            <a:off x="3267495" y="1228032"/>
            <a:ext cx="8746635" cy="53213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main(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altLang="zh-TW" sz="2000" b="0" dirty="0">
                <a:latin typeface="Consolas" panose="020B0609020204030204" pitchFamily="49" charset="0"/>
              </a:rPr>
              <a:t>FILE *</a:t>
            </a:r>
            <a:r>
              <a:rPr lang="en-US" altLang="zh-TW" sz="2000" b="0" dirty="0" err="1">
                <a:latin typeface="Consolas" panose="020B0609020204030204" pitchFamily="49" charset="0"/>
              </a:rPr>
              <a:t>fptr</a:t>
            </a:r>
            <a:r>
              <a:rPr lang="en-US" altLang="zh-TW" sz="2000" b="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    int </a:t>
            </a:r>
            <a:r>
              <a:rPr lang="en-US" altLang="zh-TW" sz="2000" b="0" dirty="0">
                <a:latin typeface="Consolas" panose="020B0609020204030204" pitchFamily="49" charset="0"/>
              </a:rPr>
              <a:t>num1;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altLang="zh-TW" sz="2000" b="0" dirty="0">
                <a:latin typeface="Consolas" panose="020B0609020204030204" pitchFamily="49" charset="0"/>
              </a:rPr>
              <a:t> num2, num3;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</a:rPr>
              <a:t>fptr</a:t>
            </a:r>
            <a:r>
              <a:rPr lang="en-US" altLang="zh-TW" sz="2000" b="0" dirty="0">
                <a:latin typeface="Consolas" panose="020B0609020204030204" pitchFamily="49" charset="0"/>
              </a:rPr>
              <a:t> = </a:t>
            </a:r>
            <a:r>
              <a:rPr lang="en-US" altLang="zh-TW" sz="2000" b="0" dirty="0" err="1">
                <a:latin typeface="Consolas" panose="020B0609020204030204" pitchFamily="49" charset="0"/>
              </a:rPr>
              <a:t>fopen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"data.txt"</a:t>
            </a:r>
            <a:r>
              <a:rPr lang="en-US" altLang="zh-TW" sz="2000" b="0" dirty="0">
                <a:latin typeface="Consolas" panose="020B0609020204030204" pitchFamily="49" charset="0"/>
              </a:rPr>
              <a:t>, 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"r"</a:t>
            </a:r>
            <a:r>
              <a:rPr lang="en-US" altLang="zh-TW" sz="2000" b="0" dirty="0">
                <a:latin typeface="Consolas" panose="020B0609020204030204" pitchFamily="49" charset="0"/>
              </a:rPr>
              <a:t>);  </a:t>
            </a: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// open file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  </a:t>
            </a:r>
            <a:r>
              <a:rPr lang="en-US" altLang="zh-TW" sz="2000" b="0" dirty="0">
                <a:latin typeface="Consolas" panose="020B0609020204030204" pitchFamily="49" charset="0"/>
              </a:rPr>
              <a:t>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altLang="zh-TW" sz="2000" b="0" dirty="0">
                <a:latin typeface="Consolas" panose="020B0609020204030204" pitchFamily="49" charset="0"/>
              </a:rPr>
              <a:t> (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</a:rPr>
              <a:t>????</a:t>
            </a:r>
            <a:r>
              <a:rPr lang="en-US" altLang="zh-TW" sz="2000" b="0" dirty="0">
                <a:latin typeface="Consolas" panose="020B0609020204030204" pitchFamily="49" charset="0"/>
              </a:rPr>
              <a:t>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				…  </a:t>
            </a: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// Process num1, num2, num3 here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}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</a:rPr>
              <a:t>fclose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 err="1">
                <a:latin typeface="Consolas" panose="020B0609020204030204" pitchFamily="49" charset="0"/>
              </a:rPr>
              <a:t>fptr</a:t>
            </a:r>
            <a:r>
              <a:rPr lang="en-US" altLang="zh-TW" sz="2000" b="0" dirty="0">
                <a:latin typeface="Consolas" panose="020B0609020204030204" pitchFamily="49" charset="0"/>
              </a:rPr>
              <a:t>);  </a:t>
            </a: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// close file</a:t>
            </a: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0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DDE72-8E1C-48AE-AAB0-105C85EE517D}" type="slidenum">
              <a:rPr lang="zh-TW" altLang="en-US"/>
              <a:pPr/>
              <a:t>23</a:t>
            </a:fld>
            <a:endParaRPr lang="en-US" altLang="zh-TW"/>
          </a:p>
        </p:txBody>
      </p:sp>
      <p:sp>
        <p:nvSpPr>
          <p:cNvPr id="108547" name="Rectangle 3"/>
          <p:cNvSpPr>
            <a:spLocks noChangeArrowheads="1"/>
          </p:cNvSpPr>
          <p:nvPr/>
        </p:nvSpPr>
        <p:spPr bwMode="auto">
          <a:xfrm>
            <a:off x="2805531" y="1217615"/>
            <a:ext cx="461962" cy="53213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1415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594338" y="76200"/>
            <a:ext cx="8921262" cy="838200"/>
          </a:xfrm>
        </p:spPr>
        <p:txBody>
          <a:bodyPr>
            <a:noAutofit/>
          </a:bodyPr>
          <a:lstStyle/>
          <a:p>
            <a:r>
              <a:rPr lang="en-US" altLang="zh-TW" sz="3200"/>
              <a:t>Example #4: Reading all numbers from a file</a:t>
            </a:r>
            <a:endParaRPr lang="en-US" altLang="zh-TW" sz="20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032CA2-DE2B-5CD1-998A-4D4425896B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27" y="2188812"/>
            <a:ext cx="2480875" cy="19812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>
            <a:lvl1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en-US" sz="2000" b="0">
                <a:latin typeface="Consolas" panose="020B0609020204030204" pitchFamily="49" charset="0"/>
              </a:rPr>
              <a:t>123   1.0   2.0</a:t>
            </a:r>
          </a:p>
          <a:p>
            <a:pPr eaLnBrk="1" hangingPunct="1"/>
            <a:r>
              <a:rPr lang="en-US" altLang="en-US" sz="2000" b="0">
                <a:latin typeface="Consolas" panose="020B0609020204030204" pitchFamily="49" charset="0"/>
              </a:rPr>
              <a:t>456   3.5   4.4</a:t>
            </a:r>
          </a:p>
          <a:p>
            <a:pPr eaLnBrk="1" hangingPunct="1"/>
            <a:r>
              <a:rPr lang="en-US" altLang="en-US" sz="2000" b="0">
                <a:latin typeface="Consolas" panose="020B0609020204030204" pitchFamily="49" charset="0"/>
              </a:rPr>
              <a:t>333   2.6   7.8</a:t>
            </a:r>
          </a:p>
          <a:p>
            <a:pPr eaLnBrk="1" hangingPunct="1"/>
            <a:r>
              <a:rPr lang="en-US" altLang="en-US" sz="2000" b="0">
                <a:latin typeface="Consolas" panose="020B0609020204030204" pitchFamily="49" charset="0"/>
              </a:rPr>
              <a:t>666   7.7   3.32</a:t>
            </a:r>
          </a:p>
          <a:p>
            <a:pPr eaLnBrk="1" hangingPunct="1"/>
            <a:r>
              <a:rPr lang="en-US" altLang="en-US" sz="2000" b="0">
                <a:latin typeface="Consolas" panose="020B0609020204030204" pitchFamily="49" charset="0"/>
              </a:rPr>
              <a:t>999   9.2   5.2</a:t>
            </a:r>
          </a:p>
          <a:p>
            <a:pPr eaLnBrk="1" hangingPunct="1"/>
            <a:r>
              <a:rPr lang="en-US" altLang="en-US" sz="2000" b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4" name="文本框 5">
            <a:extLst>
              <a:ext uri="{FF2B5EF4-FFF2-40B4-BE49-F238E27FC236}">
                <a16:creationId xmlns:a16="http://schemas.microsoft.com/office/drawing/2014/main" id="{92449CFF-3EDC-87C1-4569-0F7E45489B28}"/>
              </a:ext>
            </a:extLst>
          </p:cNvPr>
          <p:cNvSpPr txBox="1"/>
          <p:nvPr/>
        </p:nvSpPr>
        <p:spPr>
          <a:xfrm>
            <a:off x="53728" y="1716532"/>
            <a:ext cx="24203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File: data.txt</a:t>
            </a:r>
            <a:endParaRPr lang="LID4096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4231DD-F3D4-9275-7F8E-7DC518DE9DDE}"/>
              </a:ext>
            </a:extLst>
          </p:cNvPr>
          <p:cNvSpPr txBox="1"/>
          <p:nvPr/>
        </p:nvSpPr>
        <p:spPr>
          <a:xfrm>
            <a:off x="9673266" y="4170012"/>
            <a:ext cx="2176272" cy="76944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4400" b="1" dirty="0" err="1"/>
              <a:t>Ureply</a:t>
            </a:r>
            <a:endParaRPr lang="zh-CN" altLang="en-US" sz="4400" b="1" dirty="0"/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1C4FA3E9-02CE-544A-DEA2-7EF482A03F89}"/>
              </a:ext>
            </a:extLst>
          </p:cNvPr>
          <p:cNvCxnSpPr>
            <a:cxnSpLocks/>
            <a:stCxn id="2" idx="1"/>
          </p:cNvCxnSpPr>
          <p:nvPr/>
        </p:nvCxnSpPr>
        <p:spPr>
          <a:xfrm rot="10800000">
            <a:off x="5111496" y="3997867"/>
            <a:ext cx="4561770" cy="556867"/>
          </a:xfrm>
          <a:prstGeom prst="bentConnector3">
            <a:avLst>
              <a:gd name="adj1" fmla="val 100112"/>
            </a:avLst>
          </a:prstGeom>
          <a:ln w="3810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4477084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4F82B-A295-4EE3-B28C-D7C9C567FC80}" type="slidenum">
              <a:rPr lang="zh-TW" altLang="en-US"/>
              <a:pPr/>
              <a:t>24</a:t>
            </a:fld>
            <a:endParaRPr lang="en-US" altLang="zh-TW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/>
              <a:t>Outline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sz="2800" dirty="0"/>
              <a:t>Introduction</a:t>
            </a:r>
          </a:p>
          <a:p>
            <a:pPr marL="933450" lvl="1" indent="-533400"/>
            <a:r>
              <a:rPr lang="en-US" altLang="zh-TW" sz="2400" dirty="0"/>
              <a:t>Opening a file</a:t>
            </a:r>
          </a:p>
          <a:p>
            <a:pPr marL="933450" lvl="1" indent="-533400"/>
            <a:r>
              <a:rPr lang="en-US" altLang="zh-TW" sz="2400" dirty="0"/>
              <a:t>Closing a file</a:t>
            </a: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sz="2800" dirty="0"/>
              <a:t>Example 1: Reading data from a file</a:t>
            </a: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sz="2800" dirty="0"/>
              <a:t>Example 2: Check if a file is opened successfully</a:t>
            </a: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sz="2800" dirty="0"/>
              <a:t>Example 3, 4: Reading numbers using </a:t>
            </a:r>
            <a:r>
              <a:rPr lang="en-US" altLang="zh-TW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fscanf</a:t>
            </a:r>
            <a:r>
              <a:rPr lang="en-US" altLang="zh-TW" sz="28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marL="533400" indent="-533400">
              <a:buFont typeface="Wingdings" pitchFamily="2" charset="2"/>
              <a:buAutoNum type="arabicPeriod"/>
            </a:pPr>
            <a:endParaRPr lang="en-US" altLang="zh-TW" b="1" dirty="0"/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sz="2800" dirty="0"/>
              <a:t>Example 5: Writing data to a file</a:t>
            </a: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sz="2800" dirty="0"/>
              <a:t>Example 6: Handling multiple files in a program</a:t>
            </a:r>
          </a:p>
          <a:p>
            <a:pPr marL="533400" indent="-533400">
              <a:buFont typeface="Wingdings" pitchFamily="2" charset="2"/>
              <a:buAutoNum type="arabicPeriod"/>
            </a:pPr>
            <a:endParaRPr lang="en-US" altLang="zh-TW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3A4B73F-A6F2-3253-2E03-4A21A88B6FF7}"/>
              </a:ext>
            </a:extLst>
          </p:cNvPr>
          <p:cNvSpPr txBox="1"/>
          <p:nvPr/>
        </p:nvSpPr>
        <p:spPr>
          <a:xfrm>
            <a:off x="7014961" y="3955031"/>
            <a:ext cx="4768501" cy="540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zh-TW" sz="2800" b="1" dirty="0">
                <a:solidFill>
                  <a:srgbClr val="C00000"/>
                </a:solidFill>
                <a:latin typeface="Consolas" panose="020B0609020204030204" pitchFamily="49" charset="0"/>
              </a:rPr>
              <a:t>Return value of </a:t>
            </a:r>
            <a:r>
              <a:rPr lang="en-US" altLang="zh-TW" sz="28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fscanf</a:t>
            </a:r>
            <a:r>
              <a:rPr lang="en-US" altLang="zh-TW" sz="2800" b="1" dirty="0">
                <a:solidFill>
                  <a:srgbClr val="C00000"/>
                </a:solidFill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7C54FB67-404F-BFE0-C706-7F10EAB01A79}"/>
              </a:ext>
            </a:extLst>
          </p:cNvPr>
          <p:cNvSpPr txBox="1">
            <a:spLocks noChangeArrowheads="1"/>
          </p:cNvSpPr>
          <p:nvPr/>
        </p:nvSpPr>
        <p:spPr>
          <a:xfrm>
            <a:off x="6793992" y="76200"/>
            <a:ext cx="5210440" cy="28882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0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#include &lt;</a:t>
            </a:r>
            <a:r>
              <a:rPr lang="en-US" altLang="zh-TW" sz="200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stdlib.h</a:t>
            </a:r>
            <a:r>
              <a:rPr lang="en-US" altLang="zh-TW" sz="20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&gt; </a:t>
            </a:r>
          </a:p>
          <a:p>
            <a:pPr marL="0" indent="0">
              <a:buNone/>
            </a:pPr>
            <a:endParaRPr lang="en-US" altLang="zh-TW" sz="1000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TW" sz="2000" dirty="0">
                <a:latin typeface="Consolas" panose="020B0609020204030204" pitchFamily="49" charset="0"/>
              </a:rPr>
              <a:t>FILE *</a:t>
            </a:r>
            <a:r>
              <a:rPr lang="en-US" altLang="zh-TW" sz="2000" dirty="0" err="1">
                <a:latin typeface="Consolas" panose="020B0609020204030204" pitchFamily="49" charset="0"/>
              </a:rPr>
              <a:t>fptr</a:t>
            </a:r>
            <a:r>
              <a:rPr lang="en-US" altLang="zh-TW" sz="2000" dirty="0">
                <a:latin typeface="Consolas" panose="020B0609020204030204" pitchFamily="49" charset="0"/>
              </a:rPr>
              <a:t>;</a:t>
            </a:r>
            <a:endParaRPr lang="en-US" altLang="zh-TW" sz="20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en-US" altLang="zh-TW" sz="2000" dirty="0" err="1">
                <a:latin typeface="Consolas" panose="020B0609020204030204" pitchFamily="49" charset="0"/>
              </a:rPr>
              <a:t>fptr</a:t>
            </a:r>
            <a:r>
              <a:rPr lang="en-US" altLang="zh-TW" sz="2000" dirty="0">
                <a:latin typeface="Consolas" panose="020B0609020204030204" pitchFamily="49" charset="0"/>
              </a:rPr>
              <a:t> = </a:t>
            </a:r>
            <a:r>
              <a:rPr lang="en-US" altLang="zh-TW" sz="2000" dirty="0" err="1">
                <a:solidFill>
                  <a:srgbClr val="C00000"/>
                </a:solidFill>
                <a:latin typeface="Consolas" panose="020B0609020204030204" pitchFamily="49" charset="0"/>
              </a:rPr>
              <a:t>fopen</a:t>
            </a:r>
            <a:r>
              <a:rPr lang="en-US" altLang="zh-TW" sz="2000" dirty="0">
                <a:latin typeface="Consolas" panose="020B0609020204030204" pitchFamily="49" charset="0"/>
              </a:rPr>
              <a:t>(</a:t>
            </a:r>
            <a:r>
              <a:rPr lang="en-US" altLang="zh-TW" sz="2000" dirty="0">
                <a:solidFill>
                  <a:srgbClr val="0099FF"/>
                </a:solidFill>
                <a:latin typeface="Consolas" panose="020B0609020204030204" pitchFamily="49" charset="0"/>
              </a:rPr>
              <a:t>"data.txt"</a:t>
            </a:r>
            <a:r>
              <a:rPr lang="en-US" altLang="zh-TW" sz="2000" dirty="0">
                <a:latin typeface="Consolas" panose="020B0609020204030204" pitchFamily="49" charset="0"/>
              </a:rPr>
              <a:t>, </a:t>
            </a:r>
            <a:r>
              <a:rPr lang="en-US" altLang="zh-TW" sz="2000" dirty="0">
                <a:solidFill>
                  <a:srgbClr val="0099FF"/>
                </a:solidFill>
                <a:latin typeface="Consolas" panose="020B0609020204030204" pitchFamily="49" charset="0"/>
              </a:rPr>
              <a:t>"r"</a:t>
            </a:r>
            <a:r>
              <a:rPr lang="en-US" altLang="zh-TW" sz="20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2000" dirty="0">
                <a:latin typeface="Consolas" panose="020B0609020204030204" pitchFamily="49" charset="0"/>
              </a:rPr>
              <a:t> (</a:t>
            </a:r>
            <a:r>
              <a:rPr lang="en-US" altLang="zh-TW" sz="2000" dirty="0" err="1">
                <a:highlight>
                  <a:srgbClr val="00FF00"/>
                </a:highlight>
                <a:latin typeface="Consolas" panose="020B0609020204030204" pitchFamily="49" charset="0"/>
              </a:rPr>
              <a:t>fptr</a:t>
            </a:r>
            <a:r>
              <a:rPr lang="en-US" altLang="zh-TW" sz="2000" dirty="0">
                <a:highlight>
                  <a:srgbClr val="00FF00"/>
                </a:highlight>
                <a:latin typeface="Consolas" panose="020B0609020204030204" pitchFamily="49" charset="0"/>
              </a:rPr>
              <a:t> == NULL</a:t>
            </a:r>
            <a:r>
              <a:rPr lang="en-US" altLang="zh-TW" sz="2000" dirty="0">
                <a:latin typeface="Consolas" panose="020B0609020204030204" pitchFamily="49" charset="0"/>
              </a:rPr>
              <a:t>)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TW" sz="2000" dirty="0">
                <a:latin typeface="Consolas" panose="020B0609020204030204" pitchFamily="49" charset="0"/>
              </a:rPr>
              <a:t>	exit(</a:t>
            </a:r>
            <a:r>
              <a:rPr lang="en-US" altLang="zh-TW" sz="2000" dirty="0">
                <a:solidFill>
                  <a:srgbClr val="0099FF"/>
                </a:solidFill>
                <a:latin typeface="Consolas" panose="020B0609020204030204" pitchFamily="49" charset="0"/>
              </a:rPr>
              <a:t>1</a:t>
            </a:r>
            <a:r>
              <a:rPr lang="en-US" altLang="zh-TW" sz="2000" dirty="0">
                <a:latin typeface="Consolas" panose="020B0609020204030204" pitchFamily="49" charset="0"/>
              </a:rPr>
              <a:t>); </a:t>
            </a:r>
          </a:p>
          <a:p>
            <a:pPr marL="0" indent="0">
              <a:buFont typeface="Arial" pitchFamily="34" charset="0"/>
              <a:buNone/>
            </a:pPr>
            <a:r>
              <a:rPr lang="en-US" altLang="zh-TW" sz="2000" dirty="0" err="1">
                <a:solidFill>
                  <a:srgbClr val="C00000"/>
                </a:solidFill>
                <a:latin typeface="Consolas" panose="020B0609020204030204" pitchFamily="49" charset="0"/>
              </a:rPr>
              <a:t>fscanf</a:t>
            </a:r>
            <a:r>
              <a:rPr lang="en-US" altLang="zh-TW" sz="2000" dirty="0">
                <a:latin typeface="Consolas" panose="020B0609020204030204" pitchFamily="49" charset="0"/>
              </a:rPr>
              <a:t>(</a:t>
            </a:r>
            <a:r>
              <a:rPr lang="en-US" altLang="zh-TW" sz="2000" dirty="0" err="1">
                <a:latin typeface="Consolas" panose="020B0609020204030204" pitchFamily="49" charset="0"/>
              </a:rPr>
              <a:t>fptr</a:t>
            </a:r>
            <a:r>
              <a:rPr lang="en-US" altLang="zh-TW" sz="2000" dirty="0">
                <a:latin typeface="Consolas" panose="020B0609020204030204" pitchFamily="49" charset="0"/>
              </a:rPr>
              <a:t>, </a:t>
            </a:r>
            <a:r>
              <a:rPr lang="en-US" altLang="zh-TW" sz="2000" dirty="0">
                <a:solidFill>
                  <a:srgbClr val="0099FF"/>
                </a:solidFill>
                <a:latin typeface="Consolas" panose="020B0609020204030204" pitchFamily="49" charset="0"/>
              </a:rPr>
              <a:t>"%d"</a:t>
            </a:r>
            <a:r>
              <a:rPr lang="en-US" altLang="zh-TW" sz="2000" dirty="0">
                <a:latin typeface="Consolas" panose="020B0609020204030204" pitchFamily="49" charset="0"/>
              </a:rPr>
              <a:t>, &amp;num);</a:t>
            </a:r>
          </a:p>
          <a:p>
            <a:pPr marL="0" indent="0">
              <a:buFont typeface="Arial" pitchFamily="34" charset="0"/>
              <a:buNone/>
            </a:pPr>
            <a:r>
              <a:rPr lang="en-US" altLang="zh-TW" sz="2000" dirty="0" err="1">
                <a:solidFill>
                  <a:srgbClr val="C00000"/>
                </a:solidFill>
                <a:latin typeface="Consolas" panose="020B0609020204030204" pitchFamily="49" charset="0"/>
              </a:rPr>
              <a:t>fclose</a:t>
            </a:r>
            <a:r>
              <a:rPr lang="en-US" altLang="zh-TW" sz="2000" dirty="0">
                <a:latin typeface="Consolas" panose="020B0609020204030204" pitchFamily="49" charset="0"/>
              </a:rPr>
              <a:t>(</a:t>
            </a:r>
            <a:r>
              <a:rPr lang="en-US" altLang="zh-TW" sz="2000" dirty="0" err="1">
                <a:latin typeface="Consolas" panose="020B0609020204030204" pitchFamily="49" charset="0"/>
              </a:rPr>
              <a:t>fptr</a:t>
            </a:r>
            <a:r>
              <a:rPr lang="en-US" altLang="zh-TW" sz="2000" dirty="0">
                <a:latin typeface="Consolas" panose="020B0609020204030204" pitchFamily="49" charset="0"/>
              </a:rPr>
              <a:t>);</a:t>
            </a:r>
            <a:endParaRPr lang="en-US" altLang="zh-TW" sz="2000" b="1" i="1" dirty="0">
              <a:solidFill>
                <a:srgbClr val="0070C0"/>
              </a:solidFill>
              <a:ea typeface="新細明體" pitchFamily="18" charset="-120"/>
            </a:endParaRPr>
          </a:p>
          <a:p>
            <a:pPr marL="0" indent="0">
              <a:buFont typeface="Arial" pitchFamily="34" charset="0"/>
              <a:buNone/>
            </a:pPr>
            <a:endParaRPr lang="en-US" altLang="zh-TW" sz="1200" dirty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85902897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E1822-0BD1-481A-FA76-E9CA9A7AA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Project Part Two: read char from file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2D7B2-159F-FED5-BBF5-C6FE7FDD6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785" y="1066800"/>
            <a:ext cx="11967151" cy="5105400"/>
          </a:xfrm>
        </p:spPr>
        <p:txBody>
          <a:bodyPr>
            <a:normAutofit/>
          </a:bodyPr>
          <a:lstStyle/>
          <a:p>
            <a:r>
              <a:rPr lang="en-US" altLang="zh-CN" sz="2800" dirty="0"/>
              <a:t>Read in characters</a:t>
            </a:r>
          </a:p>
          <a:p>
            <a:pPr lvl="1"/>
            <a:r>
              <a:rPr lang="en-US" altLang="zh-CN" sz="2400" dirty="0"/>
              <a:t>Is space </a:t>
            </a:r>
            <a:r>
              <a:rPr lang="en-US" altLang="zh-CN" sz="2400" dirty="0">
                <a:latin typeface="Consolas" panose="020B0609020204030204" pitchFamily="49" charset="0"/>
              </a:rPr>
              <a:t>' '</a:t>
            </a:r>
            <a:r>
              <a:rPr lang="en-US" altLang="zh-CN" sz="2400" dirty="0"/>
              <a:t>, new line </a:t>
            </a:r>
            <a:r>
              <a:rPr lang="en-US" altLang="zh-CN" sz="2400" dirty="0">
                <a:latin typeface="Consolas" panose="020B0609020204030204" pitchFamily="49" charset="0"/>
              </a:rPr>
              <a:t>'\n'</a:t>
            </a:r>
            <a:r>
              <a:rPr lang="en-US" altLang="zh-CN" sz="2400" dirty="0"/>
              <a:t> a character?</a:t>
            </a:r>
          </a:p>
          <a:p>
            <a:pPr lvl="1"/>
            <a:r>
              <a:rPr lang="en-US" altLang="zh-CN" sz="2400" dirty="0"/>
              <a:t>Do we want to read space or newline?</a:t>
            </a:r>
          </a:p>
          <a:p>
            <a:r>
              <a:rPr lang="en-US" altLang="zh-TW" dirty="0" err="1">
                <a:latin typeface="Consolas" panose="020B0609020204030204" pitchFamily="49" charset="0"/>
                <a:cs typeface="Consolas" panose="020B0609020204030204" pitchFamily="49" charset="0"/>
              </a:rPr>
              <a:t>fscanf</a:t>
            </a:r>
            <a:r>
              <a:rPr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</a:p>
          <a:p>
            <a:pPr lvl="1"/>
            <a:r>
              <a:rPr lang="en-US" altLang="zh-TW" dirty="0"/>
              <a:t>will read in newline and space using </a:t>
            </a:r>
            <a:r>
              <a:rPr lang="en-US" altLang="zh-TW" dirty="0">
                <a:latin typeface="Consolas" panose="020B0609020204030204" pitchFamily="49" charset="0"/>
              </a:rPr>
              <a:t>"%c"</a:t>
            </a:r>
          </a:p>
          <a:p>
            <a:pPr lvl="1"/>
            <a:r>
              <a:rPr lang="en-US" altLang="zh-TW" dirty="0"/>
              <a:t>But we don’t want to read newline in project part two</a:t>
            </a:r>
          </a:p>
          <a:p>
            <a:pPr marL="457200" lvl="1" indent="0">
              <a:buNone/>
            </a:pPr>
            <a:r>
              <a:rPr lang="en-US" altLang="zh-TW" b="1" dirty="0" err="1">
                <a:latin typeface="Consolas" panose="020B0609020204030204" pitchFamily="49" charset="0"/>
              </a:rPr>
              <a:t>fscanf</a:t>
            </a:r>
            <a:r>
              <a:rPr lang="en-US" altLang="zh-TW" b="1" dirty="0">
                <a:latin typeface="Consolas" panose="020B0609020204030204" pitchFamily="49" charset="0"/>
              </a:rPr>
              <a:t>(</a:t>
            </a:r>
            <a:r>
              <a:rPr lang="en-US" altLang="zh-TW" b="1" dirty="0" err="1">
                <a:latin typeface="Consolas" panose="020B0609020204030204" pitchFamily="49" charset="0"/>
              </a:rPr>
              <a:t>fptr</a:t>
            </a:r>
            <a:r>
              <a:rPr lang="en-US" altLang="zh-TW" b="1" dirty="0">
                <a:latin typeface="Consolas" panose="020B0609020204030204" pitchFamily="49" charset="0"/>
              </a:rPr>
              <a:t>, </a:t>
            </a:r>
            <a:r>
              <a:rPr lang="en-US" altLang="zh-TW" b="1" dirty="0">
                <a:solidFill>
                  <a:srgbClr val="0099FF"/>
                </a:solidFill>
                <a:latin typeface="Consolas" panose="020B0609020204030204" pitchFamily="49" charset="0"/>
              </a:rPr>
              <a:t>"%c</a:t>
            </a:r>
            <a:r>
              <a:rPr lang="en-US" altLang="zh-TW" b="1" dirty="0">
                <a:solidFill>
                  <a:srgbClr val="0099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zh-TW" b="1" dirty="0">
                <a:solidFill>
                  <a:srgbClr val="0099FF"/>
                </a:solidFill>
                <a:latin typeface="Consolas" panose="020B0609020204030204" pitchFamily="49" charset="0"/>
              </a:rPr>
              <a:t>"</a:t>
            </a:r>
            <a:r>
              <a:rPr lang="en-US" altLang="zh-TW" b="1" dirty="0">
                <a:latin typeface="Consolas" panose="020B0609020204030204" pitchFamily="49" charset="0"/>
              </a:rPr>
              <a:t>, &amp;</a:t>
            </a:r>
            <a:r>
              <a:rPr lang="en-US" altLang="zh-TW" b="1" dirty="0" err="1">
                <a:latin typeface="Consolas" panose="020B0609020204030204" pitchFamily="49" charset="0"/>
              </a:rPr>
              <a:t>ch</a:t>
            </a:r>
            <a:r>
              <a:rPr lang="en-US" altLang="zh-TW" b="1" dirty="0">
                <a:latin typeface="Consolas" panose="020B0609020204030204" pitchFamily="49" charset="0"/>
              </a:rPr>
              <a:t>) </a:t>
            </a:r>
            <a:r>
              <a:rPr lang="en-US" altLang="zh-TW" sz="2400" dirty="0"/>
              <a:t>// </a:t>
            </a:r>
            <a:r>
              <a:rPr lang="en-US" altLang="zh-TW" sz="2400" u="sng" dirty="0"/>
              <a:t>add a space after %c can skip newline and space</a:t>
            </a:r>
          </a:p>
          <a:p>
            <a:pPr lvl="8"/>
            <a:endParaRPr lang="en-US" altLang="zh-CN" dirty="0"/>
          </a:p>
          <a:p>
            <a:r>
              <a:rPr lang="en-US" altLang="zh-CN" dirty="0" err="1"/>
              <a:t>fgetc</a:t>
            </a:r>
            <a:r>
              <a:rPr lang="en-US" altLang="zh-CN" dirty="0"/>
              <a:t>()</a:t>
            </a:r>
          </a:p>
          <a:p>
            <a:pPr lvl="1"/>
            <a:r>
              <a:rPr lang="en-US" altLang="zh-CN" sz="2400" dirty="0" err="1">
                <a:latin typeface="Consolas" panose="020B0609020204030204" pitchFamily="49" charset="0"/>
              </a:rPr>
              <a:t>ch</a:t>
            </a:r>
            <a:r>
              <a:rPr lang="en-US" altLang="zh-CN" sz="2400" dirty="0">
                <a:latin typeface="Consolas" panose="020B0609020204030204" pitchFamily="49" charset="0"/>
              </a:rPr>
              <a:t> = </a:t>
            </a:r>
            <a:r>
              <a:rPr lang="en-US" altLang="zh-CN" sz="2400" dirty="0" err="1">
                <a:latin typeface="Consolas" panose="020B0609020204030204" pitchFamily="49" charset="0"/>
              </a:rPr>
              <a:t>fgetc</a:t>
            </a:r>
            <a:r>
              <a:rPr lang="en-US" altLang="zh-CN" sz="2400" dirty="0">
                <a:latin typeface="Consolas" panose="020B0609020204030204" pitchFamily="49" charset="0"/>
              </a:rPr>
              <a:t>(</a:t>
            </a:r>
            <a:r>
              <a:rPr lang="en-US" altLang="zh-CN" sz="2400" dirty="0" err="1">
                <a:latin typeface="Consolas" panose="020B0609020204030204" pitchFamily="49" charset="0"/>
              </a:rPr>
              <a:t>fptr</a:t>
            </a:r>
            <a:r>
              <a:rPr lang="en-US" altLang="zh-CN" sz="2400" dirty="0">
                <a:latin typeface="Consolas" panose="020B0609020204030204" pitchFamily="49" charset="0"/>
              </a:rPr>
              <a:t>); cannot skip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A87385-66FA-AB6E-2DED-43DC49882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A76B101-057C-E9FE-AF6D-94ACC17A0320}"/>
              </a:ext>
            </a:extLst>
          </p:cNvPr>
          <p:cNvSpPr txBox="1">
            <a:spLocks noChangeArrowheads="1"/>
          </p:cNvSpPr>
          <p:nvPr/>
        </p:nvSpPr>
        <p:spPr>
          <a:xfrm>
            <a:off x="7520494" y="1263192"/>
            <a:ext cx="4293249" cy="164026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000" dirty="0"/>
              <a:t>Newline in different Operating Systems</a:t>
            </a:r>
          </a:p>
          <a:p>
            <a:pPr marL="0" indent="0">
              <a:buNone/>
            </a:pPr>
            <a:r>
              <a:rPr lang="en-US" altLang="zh-TW" sz="2000" dirty="0"/>
              <a:t>Windows</a:t>
            </a:r>
            <a:r>
              <a:rPr lang="zh-TW" altLang="en-US" sz="2000" dirty="0"/>
              <a:t>：</a:t>
            </a:r>
            <a:r>
              <a:rPr lang="en-US" altLang="zh-TW" sz="2000" dirty="0">
                <a:latin typeface="Consolas" panose="020B0609020204030204" pitchFamily="49" charset="0"/>
              </a:rPr>
              <a:t>\r\n</a:t>
            </a:r>
            <a:r>
              <a:rPr lang="zh-CN" altLang="en-US" sz="2000" dirty="0"/>
              <a:t>   </a:t>
            </a:r>
            <a:r>
              <a:rPr lang="en-US" altLang="zh-CN" sz="2000" dirty="0"/>
              <a:t>(two char)</a:t>
            </a:r>
          </a:p>
          <a:p>
            <a:pPr marL="0" indent="0">
              <a:buNone/>
            </a:pPr>
            <a:r>
              <a:rPr lang="en-US" altLang="zh-CN" sz="2000" dirty="0"/>
              <a:t>Old</a:t>
            </a:r>
            <a:r>
              <a:rPr lang="zh-CN" altLang="en-US" sz="2000" dirty="0"/>
              <a:t> </a:t>
            </a:r>
            <a:r>
              <a:rPr lang="en-US" altLang="zh-TW" sz="2000" dirty="0"/>
              <a:t>Mac OS</a:t>
            </a:r>
            <a:r>
              <a:rPr lang="zh-TW" altLang="en-US" sz="2000" dirty="0"/>
              <a:t>：</a:t>
            </a:r>
            <a:r>
              <a:rPr lang="en-US" altLang="zh-TW" sz="2000" dirty="0">
                <a:latin typeface="Consolas" panose="020B0609020204030204" pitchFamily="49" charset="0"/>
              </a:rPr>
              <a:t>\r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TW" sz="2000" dirty="0"/>
              <a:t>Linux/Unix/Mac OS</a:t>
            </a:r>
            <a:r>
              <a:rPr lang="zh-TW" altLang="en-US" sz="2000" dirty="0"/>
              <a:t>：</a:t>
            </a:r>
            <a:r>
              <a:rPr lang="en-US" altLang="zh-TW" sz="2000" dirty="0">
                <a:latin typeface="Consolas" panose="020B0609020204030204" pitchFamily="49" charset="0"/>
              </a:rPr>
              <a:t>\n</a:t>
            </a:r>
          </a:p>
          <a:p>
            <a:pPr marL="0" indent="0">
              <a:buNone/>
            </a:pPr>
            <a:r>
              <a:rPr lang="zh-CN" altLang="en-US" sz="2800" b="1" dirty="0">
                <a:solidFill>
                  <a:srgbClr val="0099FF"/>
                </a:solidFill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endParaRPr lang="en-US" altLang="zh-TW" sz="2800" b="1" dirty="0">
              <a:solidFill>
                <a:srgbClr val="0099FF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94E1AC-3175-3120-6E37-FC65059E88B6}"/>
              </a:ext>
            </a:extLst>
          </p:cNvPr>
          <p:cNvSpPr txBox="1"/>
          <p:nvPr/>
        </p:nvSpPr>
        <p:spPr>
          <a:xfrm>
            <a:off x="8065149" y="4811791"/>
            <a:ext cx="3748594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3600" b="1" dirty="0"/>
              <a:t>Project Part Two</a:t>
            </a:r>
            <a:endParaRPr lang="zh-CN" altLang="en-US" sz="3600" b="1" dirty="0"/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16B9A1EA-62EA-CE30-78EA-B5103FF11091}"/>
              </a:ext>
            </a:extLst>
          </p:cNvPr>
          <p:cNvCxnSpPr>
            <a:cxnSpLocks/>
            <a:stCxn id="9" idx="1"/>
          </p:cNvCxnSpPr>
          <p:nvPr/>
        </p:nvCxnSpPr>
        <p:spPr>
          <a:xfrm rot="10800000">
            <a:off x="3836709" y="4553147"/>
            <a:ext cx="4228440" cy="581811"/>
          </a:xfrm>
          <a:prstGeom prst="bentConnector3">
            <a:avLst>
              <a:gd name="adj1" fmla="val 99938"/>
            </a:avLst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1875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DDE72-8E1C-48AE-AAB0-105C85EE517D}" type="slidenum">
              <a:rPr lang="zh-TW" altLang="en-US"/>
              <a:pPr/>
              <a:t>26</a:t>
            </a:fld>
            <a:endParaRPr lang="en-US" altLang="zh-TW"/>
          </a:p>
        </p:txBody>
      </p:sp>
      <p:sp>
        <p:nvSpPr>
          <p:cNvPr id="108546" name="Rectangle 2"/>
          <p:cNvSpPr>
            <a:spLocks noChangeArrowheads="1"/>
          </p:cNvSpPr>
          <p:nvPr/>
        </p:nvSpPr>
        <p:spPr bwMode="auto">
          <a:xfrm>
            <a:off x="1990726" y="990600"/>
            <a:ext cx="8677275" cy="5410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#include &lt;</a:t>
            </a:r>
            <a:r>
              <a:rPr lang="en-US" altLang="zh-TW" sz="2000" b="0" dirty="0" err="1">
                <a:latin typeface="Consolas" panose="020B0609020204030204" pitchFamily="49" charset="0"/>
              </a:rPr>
              <a:t>stdio.h</a:t>
            </a:r>
            <a:r>
              <a:rPr lang="en-US" altLang="zh-TW" sz="2000" b="0" dirty="0"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main(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altLang="zh-TW" sz="2000" b="0" dirty="0">
                <a:latin typeface="Consolas" panose="020B0609020204030204" pitchFamily="49" charset="0"/>
              </a:rPr>
              <a:t>FILE *</a:t>
            </a:r>
            <a:r>
              <a:rPr lang="en-US" altLang="zh-TW" sz="2000" b="0" dirty="0" err="1">
                <a:latin typeface="Consolas" panose="020B0609020204030204" pitchFamily="49" charset="0"/>
              </a:rPr>
              <a:t>fptr</a:t>
            </a:r>
            <a:r>
              <a:rPr lang="en-US" altLang="zh-TW" sz="2000" b="0" dirty="0">
                <a:latin typeface="Consolas" panose="020B0609020204030204" pitchFamily="49" charset="0"/>
              </a:rPr>
              <a:t>;</a:t>
            </a: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    int</a:t>
            </a:r>
            <a:r>
              <a:rPr lang="en-US" altLang="zh-TW" sz="2000" b="0" dirty="0">
                <a:latin typeface="Consolas" panose="020B0609020204030204" pitchFamily="49" charset="0"/>
              </a:rPr>
              <a:t> </a:t>
            </a:r>
            <a:r>
              <a:rPr lang="en-US" altLang="zh-TW" sz="2000" b="0" dirty="0" err="1">
                <a:latin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</a:rPr>
              <a:t>fptr</a:t>
            </a:r>
            <a:r>
              <a:rPr lang="en-US" altLang="zh-TW" sz="2000" b="0" dirty="0">
                <a:latin typeface="Consolas" panose="020B0609020204030204" pitchFamily="49" charset="0"/>
              </a:rPr>
              <a:t> = </a:t>
            </a:r>
            <a:r>
              <a:rPr lang="en-US" altLang="zh-TW" sz="2000" b="0" dirty="0" err="1">
                <a:solidFill>
                  <a:srgbClr val="C00000"/>
                </a:solidFill>
                <a:latin typeface="Consolas" panose="020B0609020204030204" pitchFamily="49" charset="0"/>
              </a:rPr>
              <a:t>fopen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"data.txt"</a:t>
            </a:r>
            <a:r>
              <a:rPr lang="en-US" altLang="zh-TW" sz="2000" b="0" dirty="0">
                <a:latin typeface="Consolas" panose="020B0609020204030204" pitchFamily="49" charset="0"/>
              </a:rPr>
              <a:t>, </a:t>
            </a:r>
            <a:r>
              <a:rPr lang="en-US" altLang="zh-TW" sz="2000" b="0" dirty="0">
                <a:solidFill>
                  <a:srgbClr val="0099FF"/>
                </a:solidFill>
                <a:highlight>
                  <a:srgbClr val="CCFFCC"/>
                </a:highlight>
                <a:latin typeface="Consolas" panose="020B0609020204030204" pitchFamily="49" charset="0"/>
              </a:rPr>
              <a:t>"w"</a:t>
            </a:r>
            <a:r>
              <a:rPr lang="en-US" altLang="zh-TW" sz="2000" b="0" dirty="0">
                <a:latin typeface="Consolas" panose="020B0609020204030204" pitchFamily="49" charset="0"/>
              </a:rPr>
              <a:t>);</a:t>
            </a: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 // open file for writing</a:t>
            </a: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highlight>
                  <a:srgbClr val="CCFFCC"/>
                </a:highlight>
                <a:latin typeface="Consolas" panose="020B0609020204030204" pitchFamily="49" charset="0"/>
              </a:rPr>
              <a:t>fprintf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 err="1">
                <a:latin typeface="Consolas" panose="020B0609020204030204" pitchFamily="49" charset="0"/>
              </a:rPr>
              <a:t>fptr</a:t>
            </a:r>
            <a:r>
              <a:rPr lang="en-US" altLang="zh-TW" sz="2000" b="0" dirty="0">
                <a:latin typeface="Consolas" panose="020B0609020204030204" pitchFamily="49" charset="0"/>
              </a:rPr>
              <a:t>, 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"Hello!\n"</a:t>
            </a:r>
            <a:r>
              <a:rPr lang="en-US" altLang="zh-TW" sz="2000" b="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b="0" dirty="0">
                <a:latin typeface="Consolas" panose="020B0609020204030204" pitchFamily="49" charset="0"/>
              </a:rPr>
              <a:t> (</a:t>
            </a:r>
            <a:r>
              <a:rPr lang="en-US" altLang="zh-TW" sz="2000" b="0" dirty="0" err="1">
                <a:latin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0</a:t>
            </a:r>
            <a:r>
              <a:rPr lang="en-US" altLang="zh-TW" sz="2000" b="0" dirty="0">
                <a:latin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</a:rPr>
              <a:t> &lt; 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10</a:t>
            </a:r>
            <a:r>
              <a:rPr lang="en-US" altLang="zh-TW" sz="2000" b="0" dirty="0">
                <a:latin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</a:rPr>
              <a:t>++)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    </a:t>
            </a:r>
            <a:r>
              <a:rPr lang="en-US" altLang="zh-TW" sz="2000" b="0" dirty="0" err="1">
                <a:highlight>
                  <a:srgbClr val="CCFFCC"/>
                </a:highlight>
                <a:latin typeface="Consolas" panose="020B0609020204030204" pitchFamily="49" charset="0"/>
              </a:rPr>
              <a:t>fprintf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 err="1">
                <a:latin typeface="Consolas" panose="020B0609020204030204" pitchFamily="49" charset="0"/>
              </a:rPr>
              <a:t>fptr</a:t>
            </a:r>
            <a:r>
              <a:rPr lang="en-US" altLang="zh-TW" sz="2000" b="0" dirty="0">
                <a:latin typeface="Consolas" panose="020B0609020204030204" pitchFamily="49" charset="0"/>
              </a:rPr>
              <a:t>, 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"%d "</a:t>
            </a:r>
            <a:r>
              <a:rPr lang="en-US" altLang="zh-TW" sz="2000" b="0" dirty="0">
                <a:latin typeface="Consolas" panose="020B0609020204030204" pitchFamily="49" charset="0"/>
              </a:rPr>
              <a:t>, </a:t>
            </a:r>
            <a:r>
              <a:rPr lang="en-US" altLang="zh-TW" sz="2000" b="0" dirty="0" err="1">
                <a:latin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highlight>
                  <a:srgbClr val="CCFFCC"/>
                </a:highlight>
                <a:latin typeface="Consolas" panose="020B0609020204030204" pitchFamily="49" charset="0"/>
              </a:rPr>
              <a:t>fprintf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 err="1">
                <a:latin typeface="Consolas" panose="020B0609020204030204" pitchFamily="49" charset="0"/>
              </a:rPr>
              <a:t>fptr</a:t>
            </a:r>
            <a:r>
              <a:rPr lang="en-US" altLang="zh-TW" sz="2000" b="0" dirty="0">
                <a:latin typeface="Consolas" panose="020B0609020204030204" pitchFamily="49" charset="0"/>
              </a:rPr>
              <a:t>, 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"\n"</a:t>
            </a:r>
            <a:r>
              <a:rPr lang="en-US" altLang="zh-TW" sz="2000" b="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solidFill>
                  <a:srgbClr val="C00000"/>
                </a:solidFill>
                <a:latin typeface="Consolas" panose="020B0609020204030204" pitchFamily="49" charset="0"/>
              </a:rPr>
              <a:t>fclose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 err="1">
                <a:latin typeface="Consolas" panose="020B0609020204030204" pitchFamily="49" charset="0"/>
              </a:rPr>
              <a:t>fptr</a:t>
            </a:r>
            <a:r>
              <a:rPr lang="en-US" altLang="zh-TW" sz="2000" b="0" dirty="0">
                <a:latin typeface="Consolas" panose="020B0609020204030204" pitchFamily="49" charset="0"/>
              </a:rPr>
              <a:t>); 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0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8547" name="Rectangle 3"/>
          <p:cNvSpPr>
            <a:spLocks noChangeArrowheads="1"/>
          </p:cNvSpPr>
          <p:nvPr/>
        </p:nvSpPr>
        <p:spPr bwMode="auto">
          <a:xfrm>
            <a:off x="1528763" y="990600"/>
            <a:ext cx="461962" cy="5410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1415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16</a:t>
            </a:r>
          </a:p>
        </p:txBody>
      </p:sp>
      <p:sp>
        <p:nvSpPr>
          <p:cNvPr id="108548" name="Rectangle 4"/>
          <p:cNvSpPr>
            <a:spLocks noChangeArrowheads="1"/>
          </p:cNvSpPr>
          <p:nvPr/>
        </p:nvSpPr>
        <p:spPr bwMode="auto">
          <a:xfrm>
            <a:off x="6019801" y="5486400"/>
            <a:ext cx="4543948" cy="7620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>
            <a:lvl1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en-US" sz="2000" b="0">
                <a:latin typeface="Consolas" panose="020B0609020204030204" pitchFamily="49" charset="0"/>
              </a:rPr>
              <a:t>Hello!</a:t>
            </a:r>
          </a:p>
          <a:p>
            <a:pPr eaLnBrk="1" hangingPunct="1"/>
            <a:r>
              <a:rPr lang="en-US" altLang="en-US" sz="2000" b="0">
                <a:latin typeface="Consolas" panose="020B0609020204030204" pitchFamily="49" charset="0"/>
              </a:rPr>
              <a:t>0 1 2 3 4 5 6 7 8 9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594338" y="76200"/>
            <a:ext cx="8921262" cy="838200"/>
          </a:xfrm>
        </p:spPr>
        <p:txBody>
          <a:bodyPr>
            <a:normAutofit/>
          </a:bodyPr>
          <a:lstStyle/>
          <a:p>
            <a:r>
              <a:rPr lang="en-US" altLang="zh-TW" sz="4000" b="1"/>
              <a:t>Example #5: Writing data to a file</a:t>
            </a:r>
            <a:endParaRPr lang="en-US" altLang="zh-TW" sz="2800" b="1"/>
          </a:p>
        </p:txBody>
      </p:sp>
      <p:sp>
        <p:nvSpPr>
          <p:cNvPr id="2" name="TextBox 1"/>
          <p:cNvSpPr txBox="1"/>
          <p:nvPr/>
        </p:nvSpPr>
        <p:spPr>
          <a:xfrm>
            <a:off x="6019801" y="5117068"/>
            <a:ext cx="2433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Content of "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data.txt</a:t>
            </a:r>
            <a:r>
              <a:rPr lang="en-US"/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684018004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590800" y="3726181"/>
            <a:ext cx="4267200" cy="145541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DDE72-8E1C-48AE-AAB0-105C85EE517D}" type="slidenum">
              <a:rPr lang="zh-TW" altLang="en-US"/>
              <a:pPr/>
              <a:t>27</a:t>
            </a:fld>
            <a:endParaRPr lang="en-US" altLang="zh-TW"/>
          </a:p>
        </p:txBody>
      </p:sp>
      <p:sp>
        <p:nvSpPr>
          <p:cNvPr id="108546" name="Rectangle 2"/>
          <p:cNvSpPr>
            <a:spLocks noChangeArrowheads="1"/>
          </p:cNvSpPr>
          <p:nvPr/>
        </p:nvSpPr>
        <p:spPr bwMode="auto">
          <a:xfrm>
            <a:off x="1990726" y="990600"/>
            <a:ext cx="8677275" cy="5410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#include &lt;</a:t>
            </a:r>
            <a:r>
              <a:rPr lang="en-US" altLang="zh-TW" sz="2000" b="0" dirty="0" err="1">
                <a:latin typeface="Consolas" panose="020B0609020204030204" pitchFamily="49" charset="0"/>
              </a:rPr>
              <a:t>stdio.h</a:t>
            </a:r>
            <a:r>
              <a:rPr lang="en-US" altLang="zh-TW" sz="2000" b="0" dirty="0"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main(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altLang="zh-TW" sz="2000" b="0" dirty="0">
                <a:latin typeface="Consolas" panose="020B0609020204030204" pitchFamily="49" charset="0"/>
              </a:rPr>
              <a:t>FILE *</a:t>
            </a:r>
            <a:r>
              <a:rPr lang="en-US" altLang="zh-TW" sz="2000" b="0" dirty="0" err="1">
                <a:latin typeface="Consolas" panose="020B0609020204030204" pitchFamily="49" charset="0"/>
              </a:rPr>
              <a:t>fptr</a:t>
            </a:r>
            <a:r>
              <a:rPr lang="en-US" altLang="zh-TW" sz="2000" b="0" dirty="0">
                <a:latin typeface="Consolas" panose="020B0609020204030204" pitchFamily="49" charset="0"/>
              </a:rPr>
              <a:t>;</a:t>
            </a: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    int</a:t>
            </a:r>
            <a:r>
              <a:rPr lang="en-US" altLang="zh-TW" sz="2000" b="0" dirty="0">
                <a:latin typeface="Consolas" panose="020B0609020204030204" pitchFamily="49" charset="0"/>
              </a:rPr>
              <a:t> </a:t>
            </a:r>
            <a:r>
              <a:rPr lang="en-US" altLang="zh-TW" sz="2000" b="0" dirty="0" err="1">
                <a:latin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</a:rPr>
              <a:t>fptr</a:t>
            </a:r>
            <a:r>
              <a:rPr lang="en-US" altLang="zh-TW" sz="2000" b="0" dirty="0">
                <a:latin typeface="Consolas" panose="020B0609020204030204" pitchFamily="49" charset="0"/>
              </a:rPr>
              <a:t> = </a:t>
            </a:r>
            <a:r>
              <a:rPr lang="en-US" altLang="zh-TW" sz="2000" b="0" dirty="0" err="1">
                <a:solidFill>
                  <a:srgbClr val="C00000"/>
                </a:solidFill>
                <a:latin typeface="Consolas" panose="020B0609020204030204" pitchFamily="49" charset="0"/>
              </a:rPr>
              <a:t>fopen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"data.txt"</a:t>
            </a:r>
            <a:r>
              <a:rPr lang="en-US" altLang="zh-TW" sz="2000" b="0" dirty="0">
                <a:latin typeface="Consolas" panose="020B0609020204030204" pitchFamily="49" charset="0"/>
              </a:rPr>
              <a:t>, 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"w"</a:t>
            </a:r>
            <a:r>
              <a:rPr lang="en-US" altLang="zh-TW" sz="2000" b="0" dirty="0">
                <a:latin typeface="Consolas" panose="020B0609020204030204" pitchFamily="49" charset="0"/>
              </a:rPr>
              <a:t>); </a:t>
            </a: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// open file for writing</a:t>
            </a: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highlight>
                  <a:srgbClr val="00FF00"/>
                </a:highlight>
                <a:latin typeface="Consolas" panose="020B0609020204030204" pitchFamily="49" charset="0"/>
              </a:rPr>
              <a:t>fprintf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2000" b="0" dirty="0" err="1">
                <a:highlight>
                  <a:srgbClr val="00FF00"/>
                </a:highlight>
                <a:latin typeface="Consolas" panose="020B0609020204030204" pitchFamily="49" charset="0"/>
              </a:rPr>
              <a:t>fptr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</a:rPr>
              <a:t>, </a:t>
            </a:r>
            <a:r>
              <a:rPr lang="en-US" altLang="zh-TW" sz="2000" b="0" dirty="0">
                <a:solidFill>
                  <a:srgbClr val="0099FF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"Hello!\n"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b="0" dirty="0">
                <a:latin typeface="Consolas" panose="020B0609020204030204" pitchFamily="49" charset="0"/>
              </a:rPr>
              <a:t> (</a:t>
            </a:r>
            <a:r>
              <a:rPr lang="en-US" altLang="zh-TW" sz="2000" b="0" dirty="0" err="1">
                <a:latin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0</a:t>
            </a:r>
            <a:r>
              <a:rPr lang="en-US" altLang="zh-TW" sz="2000" b="0" dirty="0">
                <a:latin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</a:rPr>
              <a:t> &lt; 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10</a:t>
            </a:r>
            <a:r>
              <a:rPr lang="en-US" altLang="zh-TW" sz="2000" b="0" dirty="0">
                <a:latin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</a:rPr>
              <a:t>++)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    </a:t>
            </a:r>
            <a:r>
              <a:rPr lang="en-US" altLang="zh-TW" sz="2000" b="0" dirty="0" err="1">
                <a:highlight>
                  <a:srgbClr val="00FF00"/>
                </a:highlight>
                <a:latin typeface="Consolas" panose="020B0609020204030204" pitchFamily="49" charset="0"/>
              </a:rPr>
              <a:t>fprintf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2000" b="0" dirty="0" err="1">
                <a:highlight>
                  <a:srgbClr val="00FF00"/>
                </a:highlight>
                <a:latin typeface="Consolas" panose="020B0609020204030204" pitchFamily="49" charset="0"/>
              </a:rPr>
              <a:t>fptr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</a:rPr>
              <a:t>, </a:t>
            </a:r>
            <a:r>
              <a:rPr lang="en-US" altLang="zh-TW" sz="2000" b="0" dirty="0">
                <a:solidFill>
                  <a:srgbClr val="0099FF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"%d "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</a:rPr>
              <a:t>, </a:t>
            </a:r>
            <a:r>
              <a:rPr lang="en-US" altLang="zh-TW" sz="2000" b="0" dirty="0" err="1">
                <a:highlight>
                  <a:srgbClr val="00FF00"/>
                </a:highlight>
                <a:latin typeface="Consolas" panose="020B0609020204030204" pitchFamily="49" charset="0"/>
              </a:rPr>
              <a:t>i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highlight>
                  <a:srgbClr val="00FF00"/>
                </a:highlight>
                <a:latin typeface="Consolas" panose="020B0609020204030204" pitchFamily="49" charset="0"/>
              </a:rPr>
              <a:t>fprintf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2000" b="0" dirty="0" err="1">
                <a:highlight>
                  <a:srgbClr val="00FF00"/>
                </a:highlight>
                <a:latin typeface="Consolas" panose="020B0609020204030204" pitchFamily="49" charset="0"/>
              </a:rPr>
              <a:t>fptr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</a:rPr>
              <a:t>, </a:t>
            </a:r>
            <a:r>
              <a:rPr lang="en-US" altLang="zh-TW" sz="2000" b="0" dirty="0">
                <a:solidFill>
                  <a:srgbClr val="0099FF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"\n"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solidFill>
                  <a:srgbClr val="C00000"/>
                </a:solidFill>
                <a:latin typeface="Consolas" panose="020B0609020204030204" pitchFamily="49" charset="0"/>
              </a:rPr>
              <a:t>fclose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 err="1">
                <a:latin typeface="Consolas" panose="020B0609020204030204" pitchFamily="49" charset="0"/>
              </a:rPr>
              <a:t>fptr</a:t>
            </a:r>
            <a:r>
              <a:rPr lang="en-US" altLang="zh-TW" sz="2000" b="0" dirty="0">
                <a:latin typeface="Consolas" panose="020B0609020204030204" pitchFamily="49" charset="0"/>
              </a:rPr>
              <a:t>); </a:t>
            </a: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// close file</a:t>
            </a: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0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8547" name="Rectangle 3"/>
          <p:cNvSpPr>
            <a:spLocks noChangeArrowheads="1"/>
          </p:cNvSpPr>
          <p:nvPr/>
        </p:nvSpPr>
        <p:spPr bwMode="auto">
          <a:xfrm>
            <a:off x="1528763" y="990600"/>
            <a:ext cx="461962" cy="5410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1415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16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594338" y="76200"/>
            <a:ext cx="8921262" cy="838200"/>
          </a:xfrm>
        </p:spPr>
        <p:txBody>
          <a:bodyPr>
            <a:normAutofit/>
          </a:bodyPr>
          <a:lstStyle/>
          <a:p>
            <a:r>
              <a:rPr lang="en-US" altLang="zh-TW"/>
              <a:t>Example #5: Writing data to a file</a:t>
            </a:r>
            <a:endParaRPr lang="en-US" altLang="zh-TW" sz="3000"/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5413248" y="1271017"/>
            <a:ext cx="6402234" cy="1563623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zh-TW" sz="2800" err="1">
                <a:latin typeface="Consolas" panose="020B0609020204030204" pitchFamily="49" charset="0"/>
                <a:cs typeface="Consolas" panose="020B0609020204030204" pitchFamily="49" charset="0"/>
              </a:rPr>
              <a:t>fprintf</a:t>
            </a:r>
            <a:r>
              <a:rPr lang="en-US" altLang="zh-TW" sz="2800"/>
              <a:t> behaves like </a:t>
            </a:r>
            <a:r>
              <a:rPr lang="en-US" altLang="zh-TW" sz="280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altLang="zh-TW" sz="280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altLang="zh-TW" sz="2800"/>
              <a:t> except that </a:t>
            </a:r>
            <a:r>
              <a:rPr lang="en-US" altLang="zh-TW" sz="2800" err="1">
                <a:latin typeface="Consolas" panose="020B0609020204030204" pitchFamily="49" charset="0"/>
                <a:cs typeface="Consolas" panose="020B0609020204030204" pitchFamily="49" charset="0"/>
              </a:rPr>
              <a:t>fprintf</a:t>
            </a:r>
            <a:r>
              <a:rPr lang="en-US" altLang="zh-TW" sz="280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altLang="zh-TW" sz="2800"/>
              <a:t> requires a "file pointer variable" as its first argument.</a:t>
            </a:r>
          </a:p>
        </p:txBody>
      </p:sp>
    </p:spTree>
    <p:extLst>
      <p:ext uri="{BB962C8B-B14F-4D97-AF65-F5344CB8AC3E}">
        <p14:creationId xmlns:p14="http://schemas.microsoft.com/office/powerpoint/2010/main" val="2515751913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BAB95-4286-93D7-73EB-6332C2773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EEA4D-96EC-A9A3-EAF6-57B96961E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338" y="76200"/>
            <a:ext cx="8921262" cy="838200"/>
          </a:xfrm>
        </p:spPr>
        <p:txBody>
          <a:bodyPr/>
          <a:lstStyle/>
          <a:p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fprintf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C2E03-E6A2-B829-7571-E7299316C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4407408"/>
            <a:ext cx="10753165" cy="1764791"/>
          </a:xfrm>
        </p:spPr>
        <p:txBody>
          <a:bodyPr>
            <a:normAutofit/>
          </a:bodyPr>
          <a:lstStyle/>
          <a:p>
            <a:r>
              <a:rPr lang="en-US" sz="3600" dirty="0"/>
              <a:t>Similar to </a:t>
            </a:r>
            <a:r>
              <a:rPr lang="en-US" sz="36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sz="3600" dirty="0"/>
              <a:t>, print data to the stream </a:t>
            </a:r>
            <a:r>
              <a:rPr lang="en-US" sz="3600" dirty="0" err="1">
                <a:solidFill>
                  <a:srgbClr val="0070C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fp</a:t>
            </a:r>
            <a:r>
              <a:rPr lang="en-US" sz="3600" dirty="0"/>
              <a:t>, file (instead of screen).</a:t>
            </a:r>
          </a:p>
          <a:p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834525-91E8-CA9F-AD4B-51BB2CA59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3FC3FA-FDCA-153D-F21D-D70FD1E6D1D6}"/>
              </a:ext>
            </a:extLst>
          </p:cNvPr>
          <p:cNvSpPr/>
          <p:nvPr/>
        </p:nvSpPr>
        <p:spPr>
          <a:xfrm>
            <a:off x="995236" y="3317070"/>
            <a:ext cx="969004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b="1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fprintf</a:t>
            </a:r>
            <a:r>
              <a:rPr lang="en-US" altLang="zh-TW" sz="3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TW" sz="3200" b="1" dirty="0">
                <a:solidFill>
                  <a:srgbClr val="0070C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FILE *</a:t>
            </a:r>
            <a:r>
              <a:rPr lang="en-US" altLang="zh-TW" sz="3200" b="1" dirty="0" err="1">
                <a:solidFill>
                  <a:srgbClr val="0070C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fp</a:t>
            </a:r>
            <a:r>
              <a:rPr lang="en-US" altLang="zh-TW" sz="3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char *format, arg1, ...);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192E1A-D800-11A4-CBD0-7218505ED333}"/>
              </a:ext>
            </a:extLst>
          </p:cNvPr>
          <p:cNvSpPr txBox="1"/>
          <p:nvPr/>
        </p:nvSpPr>
        <p:spPr>
          <a:xfrm>
            <a:off x="1754094" y="1098554"/>
            <a:ext cx="8172331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dirty="0" err="1">
                <a:solidFill>
                  <a:srgbClr val="C00000"/>
                </a:solidFill>
                <a:highlight>
                  <a:srgbClr val="CCFFCC"/>
                </a:highlight>
                <a:latin typeface="Consolas" panose="020B0609020204030204" pitchFamily="49" charset="0"/>
              </a:rPr>
              <a:t>fprintf</a:t>
            </a:r>
            <a:r>
              <a:rPr lang="en-US" altLang="zh-TW" sz="3200" dirty="0">
                <a:highlight>
                  <a:srgbClr val="CCFFCC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3200" dirty="0" err="1">
                <a:highlight>
                  <a:srgbClr val="CCFFCC"/>
                </a:highlight>
                <a:latin typeface="Consolas" panose="020B0609020204030204" pitchFamily="49" charset="0"/>
              </a:rPr>
              <a:t>fptr</a:t>
            </a:r>
            <a:r>
              <a:rPr lang="en-US" altLang="zh-TW" sz="3200" dirty="0">
                <a:highlight>
                  <a:srgbClr val="CCFFCC"/>
                </a:highlight>
                <a:latin typeface="Consolas" panose="020B0609020204030204" pitchFamily="49" charset="0"/>
              </a:rPr>
              <a:t>, </a:t>
            </a:r>
            <a:r>
              <a:rPr lang="en-US" altLang="zh-TW" sz="3200" dirty="0">
                <a:solidFill>
                  <a:srgbClr val="0099FF"/>
                </a:solidFill>
                <a:highlight>
                  <a:srgbClr val="CCFFCC"/>
                </a:highlight>
                <a:latin typeface="Consolas" panose="020B0609020204030204" pitchFamily="49" charset="0"/>
              </a:rPr>
              <a:t>"%d"</a:t>
            </a:r>
            <a:r>
              <a:rPr lang="en-US" altLang="zh-TW" sz="3200" dirty="0">
                <a:highlight>
                  <a:srgbClr val="CCFFCC"/>
                </a:highlight>
                <a:latin typeface="Consolas" panose="020B0609020204030204" pitchFamily="49" charset="0"/>
              </a:rPr>
              <a:t>, num);</a:t>
            </a:r>
          </a:p>
          <a:p>
            <a:endParaRPr lang="en-US" altLang="zh-TW" sz="2800" dirty="0">
              <a:highlight>
                <a:srgbClr val="CCFFCC"/>
              </a:highlight>
              <a:latin typeface="Consolas" panose="020B0609020204030204" pitchFamily="49" charset="0"/>
            </a:endParaRPr>
          </a:p>
          <a:p>
            <a:r>
              <a:rPr lang="en-US" altLang="zh-TW" sz="3200" dirty="0" err="1">
                <a:solidFill>
                  <a:srgbClr val="C00000"/>
                </a:solidFill>
                <a:highlight>
                  <a:srgbClr val="CCFFCC"/>
                </a:highlight>
                <a:latin typeface="Consolas" panose="020B0609020204030204" pitchFamily="49" charset="0"/>
              </a:rPr>
              <a:t>fprintf</a:t>
            </a:r>
            <a:r>
              <a:rPr lang="en-US" altLang="zh-TW" sz="3200" dirty="0">
                <a:highlight>
                  <a:srgbClr val="CCFFCC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3200" dirty="0" err="1">
                <a:highlight>
                  <a:srgbClr val="CCFFCC"/>
                </a:highlight>
                <a:latin typeface="Consolas" panose="020B0609020204030204" pitchFamily="49" charset="0"/>
              </a:rPr>
              <a:t>fptr</a:t>
            </a:r>
            <a:r>
              <a:rPr lang="en-US" altLang="zh-TW" sz="3200" dirty="0">
                <a:highlight>
                  <a:srgbClr val="CCFFCC"/>
                </a:highlight>
                <a:latin typeface="Consolas" panose="020B0609020204030204" pitchFamily="49" charset="0"/>
              </a:rPr>
              <a:t>, "Hello!\n"); </a:t>
            </a:r>
            <a:endParaRPr lang="LID4096" sz="3200" dirty="0">
              <a:highlight>
                <a:srgbClr val="CCFFCC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69159554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096000" y="3048001"/>
            <a:ext cx="533400" cy="3048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DDE72-8E1C-48AE-AAB0-105C85EE517D}" type="slidenum">
              <a:rPr lang="zh-TW" altLang="en-US"/>
              <a:pPr/>
              <a:t>29</a:t>
            </a:fld>
            <a:endParaRPr lang="en-US" altLang="zh-TW"/>
          </a:p>
        </p:txBody>
      </p:sp>
      <p:sp>
        <p:nvSpPr>
          <p:cNvPr id="108546" name="Rectangle 2"/>
          <p:cNvSpPr>
            <a:spLocks noChangeArrowheads="1"/>
          </p:cNvSpPr>
          <p:nvPr/>
        </p:nvSpPr>
        <p:spPr bwMode="auto">
          <a:xfrm>
            <a:off x="1990726" y="990600"/>
            <a:ext cx="8677275" cy="5410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#include &lt;</a:t>
            </a:r>
            <a:r>
              <a:rPr lang="en-US" altLang="zh-TW" sz="2000" b="0" dirty="0" err="1">
                <a:latin typeface="Consolas" panose="020B0609020204030204" pitchFamily="49" charset="0"/>
              </a:rPr>
              <a:t>stdio.h</a:t>
            </a:r>
            <a:r>
              <a:rPr lang="en-US" altLang="zh-TW" sz="2000" b="0" dirty="0"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main(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altLang="zh-TW" sz="2000" b="0" dirty="0">
                <a:latin typeface="Consolas" panose="020B0609020204030204" pitchFamily="49" charset="0"/>
              </a:rPr>
              <a:t>FILE *</a:t>
            </a:r>
            <a:r>
              <a:rPr lang="en-US" altLang="zh-TW" sz="2000" b="0" dirty="0" err="1">
                <a:latin typeface="Consolas" panose="020B0609020204030204" pitchFamily="49" charset="0"/>
              </a:rPr>
              <a:t>fptr</a:t>
            </a:r>
            <a:r>
              <a:rPr lang="en-US" altLang="zh-TW" sz="2000" b="0" dirty="0">
                <a:latin typeface="Consolas" panose="020B0609020204030204" pitchFamily="49" charset="0"/>
              </a:rPr>
              <a:t>;</a:t>
            </a: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    int</a:t>
            </a:r>
            <a:r>
              <a:rPr lang="en-US" altLang="zh-TW" sz="2000" b="0" dirty="0">
                <a:latin typeface="Consolas" panose="020B0609020204030204" pitchFamily="49" charset="0"/>
              </a:rPr>
              <a:t> </a:t>
            </a:r>
            <a:r>
              <a:rPr lang="en-US" altLang="zh-TW" sz="2000" b="0" dirty="0" err="1">
                <a:latin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highlight>
                  <a:srgbClr val="FFFF00"/>
                </a:highlight>
                <a:latin typeface="Consolas" panose="020B0609020204030204" pitchFamily="49" charset="0"/>
              </a:rPr>
              <a:t>fptr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zh-TW" sz="2000" b="0" dirty="0" err="1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fopen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0099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"data.txt"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altLang="zh-TW" sz="2000" b="0" dirty="0">
                <a:solidFill>
                  <a:srgbClr val="0099FF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"w"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  <a:r>
              <a:rPr lang="en-US" altLang="zh-TW" sz="2000" b="0" dirty="0">
                <a:latin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// open file for writing</a:t>
            </a:r>
            <a:endParaRPr lang="en-US" altLang="zh-TW" sz="2000" b="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</a:rPr>
              <a:t>fprintf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 err="1">
                <a:latin typeface="Consolas" panose="020B0609020204030204" pitchFamily="49" charset="0"/>
              </a:rPr>
              <a:t>fptr</a:t>
            </a:r>
            <a:r>
              <a:rPr lang="en-US" altLang="zh-TW" sz="2000" b="0" dirty="0">
                <a:latin typeface="Consolas" panose="020B0609020204030204" pitchFamily="49" charset="0"/>
              </a:rPr>
              <a:t>, 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"Hello!\n"</a:t>
            </a:r>
            <a:r>
              <a:rPr lang="en-US" altLang="zh-TW" sz="2000" b="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b="0" dirty="0">
                <a:latin typeface="Consolas" panose="020B0609020204030204" pitchFamily="49" charset="0"/>
              </a:rPr>
              <a:t> (</a:t>
            </a:r>
            <a:r>
              <a:rPr lang="en-US" altLang="zh-TW" sz="2000" b="0" dirty="0" err="1">
                <a:latin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0</a:t>
            </a:r>
            <a:r>
              <a:rPr lang="en-US" altLang="zh-TW" sz="2000" b="0" dirty="0">
                <a:latin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</a:rPr>
              <a:t> &lt; 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10</a:t>
            </a:r>
            <a:r>
              <a:rPr lang="en-US" altLang="zh-TW" sz="2000" b="0" dirty="0">
                <a:latin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</a:rPr>
              <a:t>++)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    </a:t>
            </a:r>
            <a:r>
              <a:rPr lang="en-US" altLang="zh-TW" sz="2000" b="0" dirty="0" err="1">
                <a:latin typeface="Consolas" panose="020B0609020204030204" pitchFamily="49" charset="0"/>
              </a:rPr>
              <a:t>fprintf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 err="1">
                <a:latin typeface="Consolas" panose="020B0609020204030204" pitchFamily="49" charset="0"/>
              </a:rPr>
              <a:t>fptr</a:t>
            </a:r>
            <a:r>
              <a:rPr lang="en-US" altLang="zh-TW" sz="2000" b="0" dirty="0">
                <a:latin typeface="Consolas" panose="020B0609020204030204" pitchFamily="49" charset="0"/>
              </a:rPr>
              <a:t>, 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"%d "</a:t>
            </a:r>
            <a:r>
              <a:rPr lang="en-US" altLang="zh-TW" sz="2000" b="0" dirty="0">
                <a:latin typeface="Consolas" panose="020B0609020204030204" pitchFamily="49" charset="0"/>
              </a:rPr>
              <a:t>, </a:t>
            </a:r>
            <a:r>
              <a:rPr lang="en-US" altLang="zh-TW" sz="2000" b="0" dirty="0" err="1">
                <a:latin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</a:rPr>
              <a:t>fprintf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 err="1">
                <a:latin typeface="Consolas" panose="020B0609020204030204" pitchFamily="49" charset="0"/>
              </a:rPr>
              <a:t>fptr</a:t>
            </a:r>
            <a:r>
              <a:rPr lang="en-US" altLang="zh-TW" sz="2000" b="0" dirty="0">
                <a:latin typeface="Consolas" panose="020B0609020204030204" pitchFamily="49" charset="0"/>
              </a:rPr>
              <a:t>, 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"\n"</a:t>
            </a:r>
            <a:r>
              <a:rPr lang="en-US" altLang="zh-TW" sz="2000" b="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solidFill>
                  <a:srgbClr val="C00000"/>
                </a:solidFill>
                <a:latin typeface="Consolas" panose="020B0609020204030204" pitchFamily="49" charset="0"/>
              </a:rPr>
              <a:t>fclose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 err="1">
                <a:latin typeface="Consolas" panose="020B0609020204030204" pitchFamily="49" charset="0"/>
              </a:rPr>
              <a:t>fptr</a:t>
            </a:r>
            <a:r>
              <a:rPr lang="en-US" altLang="zh-TW" sz="2000" b="0" dirty="0">
                <a:latin typeface="Consolas" panose="020B0609020204030204" pitchFamily="49" charset="0"/>
              </a:rPr>
              <a:t>); 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0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8547" name="Rectangle 3"/>
          <p:cNvSpPr>
            <a:spLocks noChangeArrowheads="1"/>
          </p:cNvSpPr>
          <p:nvPr/>
        </p:nvSpPr>
        <p:spPr bwMode="auto">
          <a:xfrm>
            <a:off x="1528763" y="990600"/>
            <a:ext cx="461962" cy="5410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1415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16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594338" y="76200"/>
            <a:ext cx="8921262" cy="838200"/>
          </a:xfrm>
        </p:spPr>
        <p:txBody>
          <a:bodyPr>
            <a:normAutofit/>
          </a:bodyPr>
          <a:lstStyle/>
          <a:p>
            <a:r>
              <a:rPr lang="en-US" altLang="zh-TW" sz="4000"/>
              <a:t>Example #5: Writing data to a file</a:t>
            </a:r>
            <a:endParaRPr lang="en-US" altLang="zh-TW" sz="2800"/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5943600" y="1295400"/>
            <a:ext cx="5262282" cy="1530095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zh-TW" sz="2800" dirty="0"/>
              <a:t>The 2</a:t>
            </a:r>
            <a:r>
              <a:rPr lang="en-US" altLang="zh-TW" sz="2800" baseline="30000" dirty="0"/>
              <a:t>nd</a:t>
            </a:r>
            <a:r>
              <a:rPr lang="en-US" altLang="zh-TW" sz="2800" dirty="0"/>
              <a:t> argument, </a:t>
            </a:r>
            <a:r>
              <a:rPr lang="en-US" altLang="zh-TW" sz="2800" dirty="0">
                <a:solidFill>
                  <a:srgbClr val="0070C0"/>
                </a:solidFill>
              </a:rPr>
              <a:t>"w"</a:t>
            </a:r>
            <a:r>
              <a:rPr lang="en-US" altLang="zh-TW" sz="2800" dirty="0"/>
              <a:t>, indicates that we are opening the file for </a:t>
            </a:r>
            <a:r>
              <a:rPr lang="en-US" altLang="zh-TW" sz="2800" b="1" u="sng" dirty="0"/>
              <a:t>writing only.</a:t>
            </a: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6736976" y="3572435"/>
            <a:ext cx="5230906" cy="2362200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zh-TW" sz="2800" dirty="0"/>
              <a:t>If the file does not exist, </a:t>
            </a:r>
            <a:r>
              <a:rPr lang="en-US" altLang="zh-TW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fopen</a:t>
            </a:r>
            <a:r>
              <a:rPr lang="en-US" altLang="zh-TW" sz="28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altLang="zh-TW" sz="2800" dirty="0"/>
              <a:t> will </a:t>
            </a:r>
            <a:r>
              <a:rPr lang="en-US" altLang="zh-TW" sz="2800" b="1" u="sng" dirty="0"/>
              <a:t>create</a:t>
            </a:r>
            <a:r>
              <a:rPr lang="en-US" altLang="zh-TW" sz="2800" dirty="0"/>
              <a:t> a new file.</a:t>
            </a:r>
          </a:p>
          <a:p>
            <a:pPr>
              <a:spcBef>
                <a:spcPct val="50000"/>
              </a:spcBef>
            </a:pPr>
            <a:endParaRPr lang="en-US" altLang="zh-TW" sz="1050" dirty="0"/>
          </a:p>
          <a:p>
            <a:pPr>
              <a:spcBef>
                <a:spcPct val="50000"/>
              </a:spcBef>
            </a:pPr>
            <a:r>
              <a:rPr lang="en-US" altLang="zh-TW" sz="2800" dirty="0"/>
              <a:t>If the file already exists, </a:t>
            </a:r>
            <a:r>
              <a:rPr lang="en-US" altLang="zh-TW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fopen</a:t>
            </a:r>
            <a:r>
              <a:rPr lang="en-US" altLang="zh-TW" sz="28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altLang="zh-TW" sz="2800" dirty="0"/>
              <a:t> will </a:t>
            </a:r>
            <a:r>
              <a:rPr lang="en-US" altLang="zh-TW" sz="2800" b="1" u="sng" dirty="0"/>
              <a:t>replace</a:t>
            </a:r>
            <a:r>
              <a:rPr lang="en-US" altLang="zh-TW" sz="2800" dirty="0"/>
              <a:t> the existing file.</a:t>
            </a:r>
          </a:p>
        </p:txBody>
      </p:sp>
    </p:spTree>
    <p:extLst>
      <p:ext uri="{BB962C8B-B14F-4D97-AF65-F5344CB8AC3E}">
        <p14:creationId xmlns:p14="http://schemas.microsoft.com/office/powerpoint/2010/main" val="37910397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4F82B-A295-4EE3-B28C-D7C9C567FC80}" type="slidenum">
              <a:rPr lang="zh-TW" altLang="en-US"/>
              <a:pPr/>
              <a:t>30</a:t>
            </a:fld>
            <a:endParaRPr lang="en-US" altLang="zh-TW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/>
              <a:t>Outline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sz="2800" dirty="0"/>
              <a:t>Introduction</a:t>
            </a:r>
          </a:p>
          <a:p>
            <a:pPr marL="933450" lvl="1" indent="-533400"/>
            <a:r>
              <a:rPr lang="en-US" altLang="zh-TW" sz="2400" dirty="0"/>
              <a:t>Opening a file</a:t>
            </a:r>
          </a:p>
          <a:p>
            <a:pPr marL="933450" lvl="1" indent="-533400"/>
            <a:r>
              <a:rPr lang="en-US" altLang="zh-TW" sz="2400" dirty="0"/>
              <a:t>Closing a file</a:t>
            </a: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sz="2800" dirty="0"/>
              <a:t>Example 1: Reading data from a file</a:t>
            </a: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sz="2800" dirty="0"/>
              <a:t>Example 2: Check if a file is opened successfully</a:t>
            </a: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sz="2800" dirty="0"/>
              <a:t>Example 3, 4: Reading numbers using </a:t>
            </a:r>
            <a:r>
              <a:rPr lang="en-US" altLang="zh-TW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fscanf</a:t>
            </a:r>
            <a:r>
              <a:rPr lang="en-US" altLang="zh-TW" sz="28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sz="2800" dirty="0"/>
              <a:t>Example 5: Writing data to a file</a:t>
            </a:r>
          </a:p>
          <a:p>
            <a:pPr marL="533400" indent="-533400">
              <a:buFont typeface="Wingdings" pitchFamily="2" charset="2"/>
              <a:buAutoNum type="arabicPeriod"/>
            </a:pPr>
            <a:endParaRPr lang="en-US" altLang="zh-TW" b="1" dirty="0"/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b="1" dirty="0"/>
              <a:t>Example 6: Handling multiple files in a program</a:t>
            </a:r>
          </a:p>
          <a:p>
            <a:pPr marL="533400" indent="-533400">
              <a:buFont typeface="Wingdings" pitchFamily="2" charset="2"/>
              <a:buAutoNum type="arabicPeriod"/>
            </a:pPr>
            <a:endParaRPr lang="en-US" altLang="zh-TW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3A4B73F-A6F2-3253-2E03-4A21A88B6FF7}"/>
              </a:ext>
            </a:extLst>
          </p:cNvPr>
          <p:cNvSpPr txBox="1"/>
          <p:nvPr/>
        </p:nvSpPr>
        <p:spPr>
          <a:xfrm>
            <a:off x="7938246" y="3581400"/>
            <a:ext cx="3825689" cy="412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zh-TW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Return value of </a:t>
            </a:r>
            <a:r>
              <a:rPr lang="en-US" altLang="zh-TW" sz="20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fscanf</a:t>
            </a:r>
            <a:r>
              <a:rPr lang="en-US" altLang="zh-TW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2B295DE-71B6-2C29-52E3-33CFB6CA93CB}"/>
              </a:ext>
            </a:extLst>
          </p:cNvPr>
          <p:cNvSpPr txBox="1"/>
          <p:nvPr/>
        </p:nvSpPr>
        <p:spPr>
          <a:xfrm>
            <a:off x="5490881" y="4056529"/>
            <a:ext cx="3825689" cy="540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zh-TW" sz="28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fprintf</a:t>
            </a:r>
            <a:r>
              <a:rPr lang="en-US" altLang="zh-TW" sz="2800" b="1" dirty="0">
                <a:solidFill>
                  <a:srgbClr val="C00000"/>
                </a:solidFill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14BC37F-DB5F-A171-C58E-245A3005B7C2}"/>
              </a:ext>
            </a:extLst>
          </p:cNvPr>
          <p:cNvSpPr txBox="1">
            <a:spLocks noChangeArrowheads="1"/>
          </p:cNvSpPr>
          <p:nvPr/>
        </p:nvSpPr>
        <p:spPr>
          <a:xfrm>
            <a:off x="6793992" y="76200"/>
            <a:ext cx="5210440" cy="28882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0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#include &lt;</a:t>
            </a:r>
            <a:r>
              <a:rPr lang="en-US" altLang="zh-TW" sz="200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stdlib.h</a:t>
            </a:r>
            <a:r>
              <a:rPr lang="en-US" altLang="zh-TW" sz="20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&gt; </a:t>
            </a:r>
          </a:p>
          <a:p>
            <a:pPr marL="0" indent="0">
              <a:buNone/>
            </a:pPr>
            <a:endParaRPr lang="en-US" altLang="zh-TW" sz="1000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TW" sz="2000" dirty="0">
                <a:latin typeface="Consolas" panose="020B0609020204030204" pitchFamily="49" charset="0"/>
              </a:rPr>
              <a:t>FILE *</a:t>
            </a:r>
            <a:r>
              <a:rPr lang="en-US" altLang="zh-TW" sz="2000" dirty="0" err="1">
                <a:latin typeface="Consolas" panose="020B0609020204030204" pitchFamily="49" charset="0"/>
              </a:rPr>
              <a:t>fptr</a:t>
            </a:r>
            <a:r>
              <a:rPr lang="en-US" altLang="zh-TW" sz="2000" dirty="0">
                <a:latin typeface="Consolas" panose="020B0609020204030204" pitchFamily="49" charset="0"/>
              </a:rPr>
              <a:t>;</a:t>
            </a:r>
            <a:endParaRPr lang="en-US" altLang="zh-TW" sz="20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en-US" altLang="zh-TW" sz="2000" dirty="0" err="1">
                <a:latin typeface="Consolas" panose="020B0609020204030204" pitchFamily="49" charset="0"/>
              </a:rPr>
              <a:t>fptr</a:t>
            </a:r>
            <a:r>
              <a:rPr lang="en-US" altLang="zh-TW" sz="2000" dirty="0">
                <a:latin typeface="Consolas" panose="020B0609020204030204" pitchFamily="49" charset="0"/>
              </a:rPr>
              <a:t> = </a:t>
            </a:r>
            <a:r>
              <a:rPr lang="en-US" altLang="zh-TW" sz="2000" dirty="0" err="1">
                <a:solidFill>
                  <a:srgbClr val="C00000"/>
                </a:solidFill>
                <a:latin typeface="Consolas" panose="020B0609020204030204" pitchFamily="49" charset="0"/>
              </a:rPr>
              <a:t>fopen</a:t>
            </a:r>
            <a:r>
              <a:rPr lang="en-US" altLang="zh-TW" sz="2000" dirty="0">
                <a:latin typeface="Consolas" panose="020B0609020204030204" pitchFamily="49" charset="0"/>
              </a:rPr>
              <a:t>(</a:t>
            </a:r>
            <a:r>
              <a:rPr lang="en-US" altLang="zh-TW" sz="2000" dirty="0">
                <a:solidFill>
                  <a:srgbClr val="0099FF"/>
                </a:solidFill>
                <a:latin typeface="Consolas" panose="020B0609020204030204" pitchFamily="49" charset="0"/>
              </a:rPr>
              <a:t>"data.txt"</a:t>
            </a:r>
            <a:r>
              <a:rPr lang="en-US" altLang="zh-TW" sz="2000" dirty="0">
                <a:latin typeface="Consolas" panose="020B0609020204030204" pitchFamily="49" charset="0"/>
              </a:rPr>
              <a:t>, </a:t>
            </a:r>
            <a:r>
              <a:rPr lang="en-US" altLang="zh-TW" sz="2000" dirty="0">
                <a:solidFill>
                  <a:srgbClr val="0099FF"/>
                </a:solidFill>
                <a:latin typeface="Consolas" panose="020B0609020204030204" pitchFamily="49" charset="0"/>
              </a:rPr>
              <a:t>"r"</a:t>
            </a:r>
            <a:r>
              <a:rPr lang="en-US" altLang="zh-TW" sz="20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2000" dirty="0">
                <a:latin typeface="Consolas" panose="020B0609020204030204" pitchFamily="49" charset="0"/>
              </a:rPr>
              <a:t> (</a:t>
            </a:r>
            <a:r>
              <a:rPr lang="en-US" altLang="zh-TW" sz="2000" dirty="0" err="1">
                <a:highlight>
                  <a:srgbClr val="00FF00"/>
                </a:highlight>
                <a:latin typeface="Consolas" panose="020B0609020204030204" pitchFamily="49" charset="0"/>
              </a:rPr>
              <a:t>fptr</a:t>
            </a:r>
            <a:r>
              <a:rPr lang="en-US" altLang="zh-TW" sz="2000" dirty="0">
                <a:highlight>
                  <a:srgbClr val="00FF00"/>
                </a:highlight>
                <a:latin typeface="Consolas" panose="020B0609020204030204" pitchFamily="49" charset="0"/>
              </a:rPr>
              <a:t> == NULL</a:t>
            </a:r>
            <a:r>
              <a:rPr lang="en-US" altLang="zh-TW" sz="2000" dirty="0">
                <a:latin typeface="Consolas" panose="020B0609020204030204" pitchFamily="49" charset="0"/>
              </a:rPr>
              <a:t>)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TW" sz="2000" dirty="0">
                <a:latin typeface="Consolas" panose="020B0609020204030204" pitchFamily="49" charset="0"/>
              </a:rPr>
              <a:t>	exit(</a:t>
            </a:r>
            <a:r>
              <a:rPr lang="en-US" altLang="zh-TW" sz="2000" dirty="0">
                <a:solidFill>
                  <a:srgbClr val="0099FF"/>
                </a:solidFill>
                <a:latin typeface="Consolas" panose="020B0609020204030204" pitchFamily="49" charset="0"/>
              </a:rPr>
              <a:t>1</a:t>
            </a:r>
            <a:r>
              <a:rPr lang="en-US" altLang="zh-TW" sz="2000" dirty="0">
                <a:latin typeface="Consolas" panose="020B0609020204030204" pitchFamily="49" charset="0"/>
              </a:rPr>
              <a:t>); </a:t>
            </a:r>
          </a:p>
          <a:p>
            <a:pPr marL="0" indent="0">
              <a:buFont typeface="Arial" pitchFamily="34" charset="0"/>
              <a:buNone/>
            </a:pPr>
            <a:r>
              <a:rPr lang="en-US" altLang="zh-TW" sz="2000" dirty="0" err="1">
                <a:solidFill>
                  <a:srgbClr val="C00000"/>
                </a:solidFill>
                <a:latin typeface="Consolas" panose="020B0609020204030204" pitchFamily="49" charset="0"/>
              </a:rPr>
              <a:t>fscanf</a:t>
            </a:r>
            <a:r>
              <a:rPr lang="en-US" altLang="zh-TW" sz="2000" dirty="0">
                <a:latin typeface="Consolas" panose="020B0609020204030204" pitchFamily="49" charset="0"/>
              </a:rPr>
              <a:t>(</a:t>
            </a:r>
            <a:r>
              <a:rPr lang="en-US" altLang="zh-TW" sz="2000" dirty="0" err="1">
                <a:latin typeface="Consolas" panose="020B0609020204030204" pitchFamily="49" charset="0"/>
              </a:rPr>
              <a:t>fptr</a:t>
            </a:r>
            <a:r>
              <a:rPr lang="en-US" altLang="zh-TW" sz="2000" dirty="0">
                <a:latin typeface="Consolas" panose="020B0609020204030204" pitchFamily="49" charset="0"/>
              </a:rPr>
              <a:t>, </a:t>
            </a:r>
            <a:r>
              <a:rPr lang="en-US" altLang="zh-TW" sz="2000" dirty="0">
                <a:solidFill>
                  <a:srgbClr val="0099FF"/>
                </a:solidFill>
                <a:latin typeface="Consolas" panose="020B0609020204030204" pitchFamily="49" charset="0"/>
              </a:rPr>
              <a:t>"%d"</a:t>
            </a:r>
            <a:r>
              <a:rPr lang="en-US" altLang="zh-TW" sz="2000" dirty="0">
                <a:latin typeface="Consolas" panose="020B0609020204030204" pitchFamily="49" charset="0"/>
              </a:rPr>
              <a:t>, &amp;num);</a:t>
            </a:r>
          </a:p>
          <a:p>
            <a:pPr marL="0" indent="0">
              <a:buFont typeface="Arial" pitchFamily="34" charset="0"/>
              <a:buNone/>
            </a:pPr>
            <a:r>
              <a:rPr lang="en-US" altLang="zh-TW" sz="2000" dirty="0" err="1">
                <a:solidFill>
                  <a:srgbClr val="C00000"/>
                </a:solidFill>
                <a:latin typeface="Consolas" panose="020B0609020204030204" pitchFamily="49" charset="0"/>
              </a:rPr>
              <a:t>fclose</a:t>
            </a:r>
            <a:r>
              <a:rPr lang="en-US" altLang="zh-TW" sz="2000" dirty="0">
                <a:latin typeface="Consolas" panose="020B0609020204030204" pitchFamily="49" charset="0"/>
              </a:rPr>
              <a:t>(</a:t>
            </a:r>
            <a:r>
              <a:rPr lang="en-US" altLang="zh-TW" sz="2000" dirty="0" err="1">
                <a:latin typeface="Consolas" panose="020B0609020204030204" pitchFamily="49" charset="0"/>
              </a:rPr>
              <a:t>fptr</a:t>
            </a:r>
            <a:r>
              <a:rPr lang="en-US" altLang="zh-TW" sz="2000" dirty="0">
                <a:latin typeface="Consolas" panose="020B0609020204030204" pitchFamily="49" charset="0"/>
              </a:rPr>
              <a:t>);</a:t>
            </a:r>
            <a:endParaRPr lang="en-US" altLang="zh-TW" sz="2000" b="1" i="1" dirty="0">
              <a:solidFill>
                <a:srgbClr val="0070C0"/>
              </a:solidFill>
              <a:ea typeface="新細明體" pitchFamily="18" charset="-120"/>
            </a:endParaRPr>
          </a:p>
          <a:p>
            <a:pPr marL="0" indent="0">
              <a:buFont typeface="Arial" pitchFamily="34" charset="0"/>
              <a:buNone/>
            </a:pPr>
            <a:endParaRPr lang="en-US" altLang="zh-TW" sz="1200" dirty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45429933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4338" y="76200"/>
            <a:ext cx="8997462" cy="838200"/>
          </a:xfrm>
        </p:spPr>
        <p:txBody>
          <a:bodyPr>
            <a:noAutofit/>
          </a:bodyPr>
          <a:lstStyle/>
          <a:p>
            <a:r>
              <a:rPr lang="en-US" altLang="zh-TW" sz="3200" b="1"/>
              <a:t>Example #6: Dealing with multiple files in a program.</a:t>
            </a:r>
            <a:endParaRPr lang="en-US" sz="32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9224" y="3990902"/>
            <a:ext cx="10808208" cy="2257497"/>
          </a:xfrm>
        </p:spPr>
        <p:txBody>
          <a:bodyPr>
            <a:normAutofit/>
          </a:bodyPr>
          <a:lstStyle/>
          <a:p>
            <a:r>
              <a:rPr lang="en-US" b="1" dirty="0"/>
              <a:t>Objective</a:t>
            </a:r>
            <a:r>
              <a:rPr lang="en-US" dirty="0"/>
              <a:t>: Read the data from "input.txt" </a:t>
            </a:r>
            <a:r>
              <a:rPr lang="en-US" dirty="0">
                <a:highlight>
                  <a:srgbClr val="CCFFCC"/>
                </a:highlight>
              </a:rPr>
              <a:t>and output the </a:t>
            </a:r>
            <a:r>
              <a:rPr lang="en-US" b="1" u="sng" dirty="0">
                <a:highlight>
                  <a:srgbClr val="CCFFCC"/>
                </a:highlight>
              </a:rPr>
              <a:t>max in each row </a:t>
            </a:r>
            <a:r>
              <a:rPr lang="en-US" dirty="0"/>
              <a:t>as shown above to "output.txt".</a:t>
            </a:r>
          </a:p>
          <a:p>
            <a:endParaRPr lang="en-US" dirty="0"/>
          </a:p>
          <a:p>
            <a:r>
              <a:rPr lang="en-US" dirty="0"/>
              <a:t>We assume the input file format is valid.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464474" y="1577224"/>
            <a:ext cx="2061637" cy="22724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>
            <a:lvl1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en-US" sz="2800" b="0" dirty="0">
                <a:latin typeface="Consolas" panose="020B0609020204030204" pitchFamily="49" charset="0"/>
              </a:rPr>
              <a:t>10</a:t>
            </a:r>
          </a:p>
          <a:p>
            <a:pPr eaLnBrk="1" hangingPunct="1"/>
            <a:r>
              <a:rPr lang="en-US" altLang="en-US" sz="2800" b="0" u="sng" dirty="0">
                <a:latin typeface="Consolas" panose="020B0609020204030204" pitchFamily="49" charset="0"/>
              </a:rPr>
              <a:t>456</a:t>
            </a:r>
            <a:r>
              <a:rPr lang="en-US" altLang="en-US" sz="2800" b="0" dirty="0">
                <a:latin typeface="Consolas" panose="020B0609020204030204" pitchFamily="49" charset="0"/>
              </a:rPr>
              <a:t> 333</a:t>
            </a:r>
          </a:p>
          <a:p>
            <a:pPr eaLnBrk="1" hangingPunct="1"/>
            <a:r>
              <a:rPr lang="en-US" altLang="en-US" sz="2800" b="0" dirty="0">
                <a:latin typeface="Consolas" panose="020B0609020204030204" pitchFamily="49" charset="0"/>
              </a:rPr>
              <a:t>10 </a:t>
            </a:r>
            <a:r>
              <a:rPr lang="en-US" altLang="en-US" sz="2800" b="0" u="sng" dirty="0">
                <a:latin typeface="Consolas" panose="020B0609020204030204" pitchFamily="49" charset="0"/>
              </a:rPr>
              <a:t>23</a:t>
            </a:r>
          </a:p>
          <a:p>
            <a:pPr eaLnBrk="1" hangingPunct="1"/>
            <a:r>
              <a:rPr lang="en-US" altLang="en-US" sz="2800" b="0" u="sng" dirty="0">
                <a:latin typeface="Consolas" panose="020B0609020204030204" pitchFamily="49" charset="0"/>
              </a:rPr>
              <a:t>571</a:t>
            </a:r>
            <a:r>
              <a:rPr lang="en-US" altLang="en-US" sz="2800" b="0" dirty="0">
                <a:latin typeface="Consolas" panose="020B0609020204030204" pitchFamily="49" charset="0"/>
              </a:rPr>
              <a:t> 323</a:t>
            </a:r>
          </a:p>
          <a:p>
            <a:pPr eaLnBrk="1" hangingPunct="1"/>
            <a:r>
              <a:rPr lang="en-US" altLang="en-US" sz="2800" b="0" dirty="0">
                <a:latin typeface="Consolas" panose="020B0609020204030204" pitchFamily="49" charset="0"/>
              </a:rPr>
              <a:t>…</a:t>
            </a:r>
          </a:p>
          <a:p>
            <a:pPr eaLnBrk="1" hangingPunct="1"/>
            <a:endParaRPr lang="en-US" altLang="en-US" sz="2800" b="0" dirty="0">
              <a:latin typeface="Consolas" panose="020B06090202040302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261719" y="1104962"/>
            <a:ext cx="14469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output.txt</a:t>
            </a:r>
          </a:p>
        </p:txBody>
      </p:sp>
      <p:sp>
        <p:nvSpPr>
          <p:cNvPr id="7" name="Right Brace 6"/>
          <p:cNvSpPr/>
          <p:nvPr/>
        </p:nvSpPr>
        <p:spPr>
          <a:xfrm>
            <a:off x="4579724" y="2171734"/>
            <a:ext cx="493373" cy="1558260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/>
          <p:cNvCxnSpPr>
            <a:cxnSpLocks/>
          </p:cNvCxnSpPr>
          <p:nvPr/>
        </p:nvCxnSpPr>
        <p:spPr>
          <a:xfrm>
            <a:off x="1801481" y="1638318"/>
            <a:ext cx="662993" cy="186642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52894" y="1285874"/>
            <a:ext cx="15212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# of data sets in the file (N)</a:t>
            </a:r>
          </a:p>
        </p:txBody>
      </p:sp>
      <p:cxnSp>
        <p:nvCxnSpPr>
          <p:cNvPr id="16" name="Straight Arrow Connector 15"/>
          <p:cNvCxnSpPr>
            <a:cxnSpLocks/>
          </p:cNvCxnSpPr>
          <p:nvPr/>
        </p:nvCxnSpPr>
        <p:spPr>
          <a:xfrm flipV="1">
            <a:off x="1908288" y="2360471"/>
            <a:ext cx="556186" cy="458963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059" y="2204677"/>
            <a:ext cx="19104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Each row contains one set of data </a:t>
            </a:r>
          </a:p>
          <a:p>
            <a:pPr algn="r"/>
            <a:r>
              <a:rPr lang="en-US" dirty="0"/>
              <a:t>(two integers)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4783" y="2742175"/>
            <a:ext cx="958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 rows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9047842" y="1566627"/>
            <a:ext cx="1874690" cy="22724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>
            <a:lvl1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en-US" sz="2800" b="0">
                <a:latin typeface="Consolas" panose="020B0609020204030204" pitchFamily="49" charset="0"/>
              </a:rPr>
              <a:t>10</a:t>
            </a:r>
          </a:p>
          <a:p>
            <a:pPr eaLnBrk="1" hangingPunct="1"/>
            <a:r>
              <a:rPr lang="en-US" altLang="en-US" sz="2800" b="0">
                <a:latin typeface="Consolas" panose="020B0609020204030204" pitchFamily="49" charset="0"/>
              </a:rPr>
              <a:t>456</a:t>
            </a:r>
          </a:p>
          <a:p>
            <a:pPr eaLnBrk="1" hangingPunct="1"/>
            <a:r>
              <a:rPr lang="en-US" altLang="en-US" sz="2800" b="0">
                <a:latin typeface="Consolas" panose="020B0609020204030204" pitchFamily="49" charset="0"/>
              </a:rPr>
              <a:t>23</a:t>
            </a:r>
          </a:p>
          <a:p>
            <a:pPr eaLnBrk="1" hangingPunct="1"/>
            <a:r>
              <a:rPr lang="en-US" altLang="en-US" sz="2800" b="0">
                <a:latin typeface="Consolas" panose="020B0609020204030204" pitchFamily="49" charset="0"/>
              </a:rPr>
              <a:t>571</a:t>
            </a:r>
          </a:p>
          <a:p>
            <a:pPr eaLnBrk="1" hangingPunct="1"/>
            <a:r>
              <a:rPr lang="en-US" altLang="en-US" sz="2800" b="0">
                <a:latin typeface="Consolas" panose="020B0609020204030204" pitchFamily="49" charset="0"/>
              </a:rPr>
              <a:t>…</a:t>
            </a:r>
          </a:p>
          <a:p>
            <a:pPr eaLnBrk="1" hangingPunct="1"/>
            <a:endParaRPr lang="en-US" altLang="en-US" sz="2800" b="0">
              <a:latin typeface="Consolas" panose="020B0609020204030204" pitchFamily="49" charset="0"/>
            </a:endParaRPr>
          </a:p>
        </p:txBody>
      </p:sp>
      <p:cxnSp>
        <p:nvCxnSpPr>
          <p:cNvPr id="25" name="Straight Arrow Connector 24"/>
          <p:cNvCxnSpPr>
            <a:cxnSpLocks/>
          </p:cNvCxnSpPr>
          <p:nvPr/>
        </p:nvCxnSpPr>
        <p:spPr>
          <a:xfrm flipV="1">
            <a:off x="8476342" y="2261721"/>
            <a:ext cx="571500" cy="205933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667375" y="1867489"/>
            <a:ext cx="20375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Each row contains the </a:t>
            </a:r>
            <a:r>
              <a:rPr lang="en-US" b="1" dirty="0"/>
              <a:t>largest number </a:t>
            </a:r>
            <a:r>
              <a:rPr lang="en-US" dirty="0"/>
              <a:t>of a data set in input.txt.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321808" y="2271729"/>
            <a:ext cx="1256820" cy="4857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2483452" y="1087918"/>
            <a:ext cx="12529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input.txt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8476342" y="1655844"/>
            <a:ext cx="571500" cy="70366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932067" y="1106927"/>
            <a:ext cx="14299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# of data sets in the file (N)</a:t>
            </a:r>
          </a:p>
        </p:txBody>
      </p:sp>
    </p:spTree>
    <p:extLst>
      <p:ext uri="{BB962C8B-B14F-4D97-AF65-F5344CB8AC3E}">
        <p14:creationId xmlns:p14="http://schemas.microsoft.com/office/powerpoint/2010/main" val="3276479647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DDE72-8E1C-48AE-AAB0-105C85EE517D}" type="slidenum">
              <a:rPr lang="zh-TW" altLang="en-US"/>
              <a:pPr/>
              <a:t>32</a:t>
            </a:fld>
            <a:endParaRPr lang="en-US" altLang="zh-TW"/>
          </a:p>
        </p:txBody>
      </p:sp>
      <p:sp>
        <p:nvSpPr>
          <p:cNvPr id="108546" name="Rectangle 2"/>
          <p:cNvSpPr>
            <a:spLocks noChangeArrowheads="1"/>
          </p:cNvSpPr>
          <p:nvPr/>
        </p:nvSpPr>
        <p:spPr bwMode="auto">
          <a:xfrm>
            <a:off x="2546919" y="990600"/>
            <a:ext cx="8121082" cy="5410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#include &lt;</a:t>
            </a:r>
            <a:r>
              <a:rPr lang="en-US" altLang="zh-TW" sz="2000" b="0" dirty="0" err="1">
                <a:latin typeface="Consolas" panose="020B0609020204030204" pitchFamily="49" charset="0"/>
              </a:rPr>
              <a:t>stdio.h</a:t>
            </a:r>
            <a:r>
              <a:rPr lang="en-US" altLang="zh-TW" sz="2000" b="0" dirty="0"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#include &lt;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</a:rPr>
              <a:t>stdlib.h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main(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altLang="zh-TW" sz="2000" b="0" dirty="0">
                <a:highlight>
                  <a:srgbClr val="00FFFF"/>
                </a:highlight>
                <a:latin typeface="Consolas" panose="020B0609020204030204" pitchFamily="49" charset="0"/>
              </a:rPr>
              <a:t>FILE *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</a:rPr>
              <a:t>fin</a:t>
            </a:r>
            <a:r>
              <a:rPr lang="en-US" altLang="zh-TW" sz="2000" b="0" dirty="0">
                <a:latin typeface="Consolas" panose="020B0609020204030204" pitchFamily="49" charset="0"/>
              </a:rPr>
              <a:t>, </a:t>
            </a:r>
            <a:r>
              <a:rPr lang="en-US" altLang="zh-TW" sz="2000" b="0" dirty="0">
                <a:highlight>
                  <a:srgbClr val="00FFFF"/>
                </a:highlight>
                <a:latin typeface="Consolas" panose="020B0609020204030204" pitchFamily="49" charset="0"/>
              </a:rPr>
              <a:t>*</a:t>
            </a:r>
            <a:r>
              <a:rPr lang="en-US" altLang="zh-TW" sz="2000" b="0" dirty="0" err="1">
                <a:highlight>
                  <a:srgbClr val="FFFF00"/>
                </a:highlight>
                <a:latin typeface="Consolas" panose="020B0609020204030204" pitchFamily="49" charset="0"/>
              </a:rPr>
              <a:t>fout</a:t>
            </a:r>
            <a:r>
              <a:rPr lang="en-US" altLang="zh-TW" sz="2000" b="0" dirty="0">
                <a:latin typeface="Consolas" panose="020B0609020204030204" pitchFamily="49" charset="0"/>
              </a:rPr>
              <a:t>;   </a:t>
            </a: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// For input and output streams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    int</a:t>
            </a:r>
            <a:r>
              <a:rPr lang="en-US" altLang="zh-TW" sz="2000" b="0" dirty="0">
                <a:latin typeface="Consolas" panose="020B0609020204030204" pitchFamily="49" charset="0"/>
              </a:rPr>
              <a:t> </a:t>
            </a:r>
            <a:r>
              <a:rPr lang="en-US" altLang="zh-TW" sz="2000" b="0" dirty="0" err="1">
                <a:latin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</a:rPr>
              <a:t>, N, num1, num2, max;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</a:rPr>
              <a:t>fin</a:t>
            </a:r>
            <a:r>
              <a:rPr lang="en-US" altLang="zh-TW" sz="2000" b="0" dirty="0">
                <a:latin typeface="Consolas" panose="020B0609020204030204" pitchFamily="49" charset="0"/>
              </a:rPr>
              <a:t> = </a:t>
            </a:r>
            <a:r>
              <a:rPr lang="en-US" altLang="zh-TW" sz="2000" b="0" dirty="0" err="1">
                <a:latin typeface="Consolas" panose="020B0609020204030204" pitchFamily="49" charset="0"/>
              </a:rPr>
              <a:t>fopen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"input.txt"</a:t>
            </a:r>
            <a:r>
              <a:rPr lang="en-US" altLang="zh-TW" sz="2000" b="0" dirty="0">
                <a:latin typeface="Consolas" panose="020B0609020204030204" pitchFamily="49" charset="0"/>
              </a:rPr>
              <a:t>, </a:t>
            </a:r>
            <a:r>
              <a:rPr lang="en-US" altLang="zh-TW" sz="2000" b="0" dirty="0">
                <a:solidFill>
                  <a:srgbClr val="0099FF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"r"</a:t>
            </a:r>
            <a:r>
              <a:rPr lang="en-US" altLang="zh-TW" sz="2000" b="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highlight>
                  <a:srgbClr val="FFFF00"/>
                </a:highlight>
                <a:latin typeface="Consolas" panose="020B0609020204030204" pitchFamily="49" charset="0"/>
              </a:rPr>
              <a:t>fout</a:t>
            </a:r>
            <a:r>
              <a:rPr lang="en-US" altLang="zh-TW" sz="2000" b="0" dirty="0">
                <a:latin typeface="Consolas" panose="020B0609020204030204" pitchFamily="49" charset="0"/>
              </a:rPr>
              <a:t> = </a:t>
            </a:r>
            <a:r>
              <a:rPr lang="en-US" altLang="zh-TW" sz="2000" b="0" dirty="0" err="1">
                <a:latin typeface="Consolas" panose="020B0609020204030204" pitchFamily="49" charset="0"/>
              </a:rPr>
              <a:t>fopen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"output.txt"</a:t>
            </a:r>
            <a:r>
              <a:rPr lang="en-US" altLang="zh-TW" sz="2000" b="0" dirty="0">
                <a:latin typeface="Consolas" panose="020B0609020204030204" pitchFamily="49" charset="0"/>
              </a:rPr>
              <a:t>, </a:t>
            </a:r>
            <a:r>
              <a:rPr lang="en-US" altLang="zh-TW" sz="2000" b="0" dirty="0">
                <a:solidFill>
                  <a:srgbClr val="0099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"w"</a:t>
            </a:r>
            <a:r>
              <a:rPr lang="en-US" altLang="zh-TW" sz="2000" b="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2000" b="0" dirty="0">
                <a:latin typeface="Consolas" panose="020B0609020204030204" pitchFamily="49" charset="0"/>
              </a:rPr>
              <a:t> (fin == NULL || </a:t>
            </a:r>
            <a:r>
              <a:rPr lang="en-US" altLang="zh-TW" sz="2000" b="0" dirty="0" err="1">
                <a:latin typeface="Consolas" panose="020B0609020204030204" pitchFamily="49" charset="0"/>
              </a:rPr>
              <a:t>fout</a:t>
            </a:r>
            <a:r>
              <a:rPr lang="en-US" altLang="zh-TW" sz="2000" b="0" dirty="0">
                <a:latin typeface="Consolas" panose="020B0609020204030204" pitchFamily="49" charset="0"/>
              </a:rPr>
              <a:t> == NULL)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    </a:t>
            </a:r>
            <a:r>
              <a:rPr lang="en-US" altLang="zh-TW" sz="2000" b="0" dirty="0" err="1">
                <a:latin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"Failed to open input or output file.\n"</a:t>
            </a:r>
            <a:r>
              <a:rPr lang="en-US" altLang="zh-TW" sz="2000" b="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    exit(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1</a:t>
            </a:r>
            <a:r>
              <a:rPr lang="en-US" altLang="zh-TW" sz="2000" b="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}</a:t>
            </a:r>
          </a:p>
        </p:txBody>
      </p:sp>
      <p:sp>
        <p:nvSpPr>
          <p:cNvPr id="108547" name="Rectangle 3"/>
          <p:cNvSpPr>
            <a:spLocks noChangeArrowheads="1"/>
          </p:cNvSpPr>
          <p:nvPr/>
        </p:nvSpPr>
        <p:spPr bwMode="auto">
          <a:xfrm>
            <a:off x="2077335" y="990600"/>
            <a:ext cx="461962" cy="5410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1415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16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594338" y="76200"/>
            <a:ext cx="8921262" cy="838200"/>
          </a:xfrm>
        </p:spPr>
        <p:txBody>
          <a:bodyPr>
            <a:noAutofit/>
          </a:bodyPr>
          <a:lstStyle/>
          <a:p>
            <a:r>
              <a:rPr lang="en-US" altLang="zh-TW" sz="3200"/>
              <a:t>Example #6: Dealing with multiple files in a program.</a:t>
            </a:r>
            <a:endParaRPr lang="en-US" altLang="zh-TW" sz="2000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9E5733F1-F399-63E6-34EF-DF8BD9D20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1143000"/>
            <a:ext cx="4778114" cy="1223010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HK" altLang="zh-TW" sz="2400" dirty="0"/>
              <a:t>Note that </a:t>
            </a:r>
            <a:r>
              <a:rPr lang="en-HK" altLang="zh-TW" sz="2400" dirty="0">
                <a:highlight>
                  <a:srgbClr val="00FFFF"/>
                </a:highlight>
              </a:rPr>
              <a:t>*</a:t>
            </a:r>
            <a:r>
              <a:rPr lang="en-HK" altLang="zh-TW" sz="2400" dirty="0"/>
              <a:t> is needed for defining both </a:t>
            </a:r>
            <a:r>
              <a:rPr lang="en-HK" altLang="zh-TW" sz="2400" dirty="0">
                <a:solidFill>
                  <a:srgbClr val="0070C0"/>
                </a:solidFill>
              </a:rPr>
              <a:t>fin</a:t>
            </a:r>
            <a:r>
              <a:rPr lang="en-HK" altLang="zh-TW" sz="2400" dirty="0"/>
              <a:t> an </a:t>
            </a:r>
            <a:r>
              <a:rPr lang="en-HK" altLang="zh-TW" sz="2400" dirty="0" err="1">
                <a:solidFill>
                  <a:srgbClr val="0070C0"/>
                </a:solidFill>
              </a:rPr>
              <a:t>fout</a:t>
            </a:r>
            <a:r>
              <a:rPr lang="en-HK" altLang="zh-TW" sz="2400" dirty="0"/>
              <a:t>. This is a </a:t>
            </a:r>
            <a:r>
              <a:rPr lang="en-HK" altLang="zh-TW" sz="24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pointer</a:t>
            </a:r>
            <a:r>
              <a:rPr lang="en-HK" altLang="zh-TW" sz="2400" dirty="0"/>
              <a:t> syntax to be discussed later</a:t>
            </a:r>
            <a:r>
              <a:rPr lang="en-US" altLang="zh-TW" sz="2400" dirty="0"/>
              <a:t>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E0A1FF-B4BA-3B16-AE0B-537F353B14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043" y="2664582"/>
            <a:ext cx="1796630" cy="22724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>
            <a:lvl1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en-US" sz="2800" b="0" dirty="0">
                <a:latin typeface="Consolas" panose="020B0609020204030204" pitchFamily="49" charset="0"/>
              </a:rPr>
              <a:t>10</a:t>
            </a:r>
          </a:p>
          <a:p>
            <a:pPr eaLnBrk="1" hangingPunct="1"/>
            <a:r>
              <a:rPr lang="en-US" altLang="en-US" sz="2800" b="0" u="sng" dirty="0">
                <a:latin typeface="Consolas" panose="020B0609020204030204" pitchFamily="49" charset="0"/>
              </a:rPr>
              <a:t>456</a:t>
            </a:r>
            <a:r>
              <a:rPr lang="en-US" altLang="en-US" sz="2800" b="0" dirty="0">
                <a:latin typeface="Consolas" panose="020B0609020204030204" pitchFamily="49" charset="0"/>
              </a:rPr>
              <a:t> 333</a:t>
            </a:r>
          </a:p>
          <a:p>
            <a:pPr eaLnBrk="1" hangingPunct="1"/>
            <a:r>
              <a:rPr lang="en-US" altLang="en-US" sz="2800" b="0" dirty="0">
                <a:latin typeface="Consolas" panose="020B0609020204030204" pitchFamily="49" charset="0"/>
              </a:rPr>
              <a:t>10 </a:t>
            </a:r>
            <a:r>
              <a:rPr lang="en-US" altLang="en-US" sz="2800" b="0" u="sng" dirty="0">
                <a:latin typeface="Consolas" panose="020B0609020204030204" pitchFamily="49" charset="0"/>
              </a:rPr>
              <a:t>23</a:t>
            </a:r>
          </a:p>
          <a:p>
            <a:pPr eaLnBrk="1" hangingPunct="1"/>
            <a:r>
              <a:rPr lang="en-US" altLang="en-US" sz="2800" b="0" u="sng" dirty="0">
                <a:latin typeface="Consolas" panose="020B0609020204030204" pitchFamily="49" charset="0"/>
              </a:rPr>
              <a:t>571</a:t>
            </a:r>
            <a:r>
              <a:rPr lang="en-US" altLang="en-US" sz="2800" b="0" dirty="0">
                <a:latin typeface="Consolas" panose="020B0609020204030204" pitchFamily="49" charset="0"/>
              </a:rPr>
              <a:t> 323</a:t>
            </a:r>
          </a:p>
          <a:p>
            <a:pPr eaLnBrk="1" hangingPunct="1"/>
            <a:r>
              <a:rPr lang="en-US" altLang="en-US" sz="2800" b="0" dirty="0">
                <a:latin typeface="Consolas" panose="020B0609020204030204" pitchFamily="49" charset="0"/>
              </a:rPr>
              <a:t>…</a:t>
            </a:r>
          </a:p>
          <a:p>
            <a:pPr eaLnBrk="1" hangingPunct="1"/>
            <a:endParaRPr lang="en-US" altLang="en-US" sz="2800" b="0" dirty="0"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0DB907-0484-566D-C86D-AE1615CAED0C}"/>
              </a:ext>
            </a:extLst>
          </p:cNvPr>
          <p:cNvSpPr txBox="1"/>
          <p:nvPr/>
        </p:nvSpPr>
        <p:spPr>
          <a:xfrm>
            <a:off x="10515600" y="2081068"/>
            <a:ext cx="14469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output.txt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DBB735-C50D-0BFA-B548-6E877ED843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15600" y="2580833"/>
            <a:ext cx="1449348" cy="22724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>
            <a:lvl1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en-US" sz="2800" b="0">
                <a:latin typeface="Consolas" panose="020B0609020204030204" pitchFamily="49" charset="0"/>
              </a:rPr>
              <a:t>10</a:t>
            </a:r>
          </a:p>
          <a:p>
            <a:pPr eaLnBrk="1" hangingPunct="1"/>
            <a:r>
              <a:rPr lang="en-US" altLang="en-US" sz="2800" b="0">
                <a:latin typeface="Consolas" panose="020B0609020204030204" pitchFamily="49" charset="0"/>
              </a:rPr>
              <a:t>456</a:t>
            </a:r>
          </a:p>
          <a:p>
            <a:pPr eaLnBrk="1" hangingPunct="1"/>
            <a:r>
              <a:rPr lang="en-US" altLang="en-US" sz="2800" b="0">
                <a:latin typeface="Consolas" panose="020B0609020204030204" pitchFamily="49" charset="0"/>
              </a:rPr>
              <a:t>23</a:t>
            </a:r>
          </a:p>
          <a:p>
            <a:pPr eaLnBrk="1" hangingPunct="1"/>
            <a:r>
              <a:rPr lang="en-US" altLang="en-US" sz="2800" b="0">
                <a:latin typeface="Consolas" panose="020B0609020204030204" pitchFamily="49" charset="0"/>
              </a:rPr>
              <a:t>571</a:t>
            </a:r>
          </a:p>
          <a:p>
            <a:pPr eaLnBrk="1" hangingPunct="1"/>
            <a:r>
              <a:rPr lang="en-US" altLang="en-US" sz="2800" b="0">
                <a:latin typeface="Consolas" panose="020B0609020204030204" pitchFamily="49" charset="0"/>
              </a:rPr>
              <a:t>…</a:t>
            </a:r>
          </a:p>
          <a:p>
            <a:pPr eaLnBrk="1" hangingPunct="1"/>
            <a:endParaRPr lang="en-US" altLang="en-US" sz="2800" b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13CAB2-1B15-4A4B-5E2E-B8DC489CC479}"/>
              </a:ext>
            </a:extLst>
          </p:cNvPr>
          <p:cNvSpPr txBox="1"/>
          <p:nvPr/>
        </p:nvSpPr>
        <p:spPr>
          <a:xfrm>
            <a:off x="170020" y="2175276"/>
            <a:ext cx="12529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input.txt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E2743D-3345-AE0C-79ED-7F1D75773E5F}"/>
              </a:ext>
            </a:extLst>
          </p:cNvPr>
          <p:cNvSpPr txBox="1"/>
          <p:nvPr/>
        </p:nvSpPr>
        <p:spPr>
          <a:xfrm>
            <a:off x="333480" y="1468958"/>
            <a:ext cx="1089512" cy="461665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>
              <a:spcBef>
                <a:spcPct val="50000"/>
              </a:spcBef>
              <a:defRPr sz="24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sz="2800" b="1" dirty="0"/>
              <a:t>fin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743595-F333-4A02-E286-1E8BCA1A3D7C}"/>
              </a:ext>
            </a:extLst>
          </p:cNvPr>
          <p:cNvSpPr txBox="1"/>
          <p:nvPr/>
        </p:nvSpPr>
        <p:spPr>
          <a:xfrm>
            <a:off x="10694311" y="1456588"/>
            <a:ext cx="1089512" cy="461665"/>
          </a:xfrm>
          <a:prstGeom prst="rect">
            <a:avLst/>
          </a:prstGeom>
          <a:solidFill>
            <a:srgbClr val="FF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>
            <a:defPPr>
              <a:defRPr lang="en-US"/>
            </a:defPPr>
            <a:lvl1pPr>
              <a:spcBef>
                <a:spcPct val="50000"/>
              </a:spcBef>
              <a:defRPr sz="24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sz="2800" b="1" dirty="0" err="1"/>
              <a:t>fout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7642251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DDE72-8E1C-48AE-AAB0-105C85EE517D}" type="slidenum">
              <a:rPr lang="zh-TW" altLang="en-US"/>
              <a:pPr/>
              <a:t>33</a:t>
            </a:fld>
            <a:endParaRPr lang="en-US" altLang="zh-TW"/>
          </a:p>
        </p:txBody>
      </p:sp>
      <p:sp>
        <p:nvSpPr>
          <p:cNvPr id="108546" name="Rectangle 2"/>
          <p:cNvSpPr>
            <a:spLocks noChangeArrowheads="1"/>
          </p:cNvSpPr>
          <p:nvPr/>
        </p:nvSpPr>
        <p:spPr bwMode="auto">
          <a:xfrm>
            <a:off x="2888518" y="655320"/>
            <a:ext cx="7495033" cy="5791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// Read # of data sets from the input file and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    // write the number to the output file</a:t>
            </a: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highlight>
                  <a:srgbClr val="00FF00"/>
                </a:highlight>
                <a:latin typeface="Consolas" panose="020B0609020204030204" pitchFamily="49" charset="0"/>
              </a:rPr>
              <a:t>fscanf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</a:rPr>
              <a:t>(fin, </a:t>
            </a:r>
            <a:r>
              <a:rPr lang="en-US" altLang="zh-TW" sz="2000" b="0" dirty="0">
                <a:solidFill>
                  <a:srgbClr val="0099FF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"%d"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</a:rPr>
              <a:t>, &amp;N);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highlight>
                  <a:srgbClr val="FFFF00"/>
                </a:highlight>
                <a:latin typeface="Consolas" panose="020B0609020204030204" pitchFamily="49" charset="0"/>
              </a:rPr>
              <a:t>fprintf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2000" b="0" dirty="0" err="1">
                <a:highlight>
                  <a:srgbClr val="FFFF00"/>
                </a:highlight>
                <a:latin typeface="Consolas" panose="020B0609020204030204" pitchFamily="49" charset="0"/>
              </a:rPr>
              <a:t>fout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altLang="zh-TW" sz="2000" b="0" dirty="0">
                <a:solidFill>
                  <a:srgbClr val="0099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"%d\n"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, N);</a:t>
            </a:r>
            <a:r>
              <a:rPr lang="en-US" altLang="zh-TW" sz="2000" b="0" dirty="0">
                <a:latin typeface="Consolas" panose="020B0609020204030204" pitchFamily="49" charset="0"/>
              </a:rPr>
              <a:t> 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b="0" dirty="0">
                <a:latin typeface="Consolas" panose="020B0609020204030204" pitchFamily="49" charset="0"/>
              </a:rPr>
              <a:t> (</a:t>
            </a:r>
            <a:r>
              <a:rPr lang="en-US" altLang="zh-TW" sz="2000" b="0" dirty="0" err="1">
                <a:latin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0</a:t>
            </a:r>
            <a:r>
              <a:rPr lang="en-US" altLang="zh-TW" sz="2000" b="0" dirty="0">
                <a:latin typeface="Consolas" panose="020B0609020204030204" pitchFamily="49" charset="0"/>
              </a:rPr>
              <a:t>; </a:t>
            </a:r>
            <a:r>
              <a:rPr lang="en-US" altLang="zh-TW" sz="2000" b="0" dirty="0" err="1">
                <a:latin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</a:rPr>
              <a:t> &lt; N; </a:t>
            </a:r>
            <a:r>
              <a:rPr lang="en-US" altLang="zh-TW" sz="2000" b="0" dirty="0" err="1">
                <a:latin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</a:rPr>
              <a:t>++)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    </a:t>
            </a:r>
            <a:r>
              <a:rPr lang="en-US" altLang="zh-TW" sz="2000" b="0" dirty="0" err="1">
                <a:highlight>
                  <a:srgbClr val="00FF00"/>
                </a:highlight>
                <a:latin typeface="Consolas" panose="020B0609020204030204" pitchFamily="49" charset="0"/>
              </a:rPr>
              <a:t>fscanf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</a:rPr>
              <a:t>(fin, </a:t>
            </a:r>
            <a:r>
              <a:rPr lang="en-US" altLang="zh-TW" sz="2000" b="0" dirty="0">
                <a:solidFill>
                  <a:srgbClr val="0099FF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"%</a:t>
            </a:r>
            <a:r>
              <a:rPr lang="en-US" altLang="zh-TW" sz="2000" b="0" dirty="0" err="1">
                <a:solidFill>
                  <a:srgbClr val="0099FF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d%d</a:t>
            </a:r>
            <a:r>
              <a:rPr lang="en-US" altLang="zh-TW" sz="2000" b="0" dirty="0">
                <a:solidFill>
                  <a:srgbClr val="0099FF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"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</a:rPr>
              <a:t>, &amp;num1, &amp;num2);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2000" b="0" dirty="0">
                <a:latin typeface="Consolas" panose="020B0609020204030204" pitchFamily="49" charset="0"/>
              </a:rPr>
              <a:t> (num1 &gt; num2)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        max = num1;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        max = num2;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    </a:t>
            </a:r>
            <a:r>
              <a:rPr lang="en-US" altLang="zh-TW" sz="2000" b="0" dirty="0" err="1">
                <a:highlight>
                  <a:srgbClr val="FFFF00"/>
                </a:highlight>
                <a:latin typeface="Consolas" panose="020B0609020204030204" pitchFamily="49" charset="0"/>
              </a:rPr>
              <a:t>fprintf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2000" b="0" dirty="0" err="1">
                <a:highlight>
                  <a:srgbClr val="FFFF00"/>
                </a:highlight>
                <a:latin typeface="Consolas" panose="020B0609020204030204" pitchFamily="49" charset="0"/>
              </a:rPr>
              <a:t>fout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altLang="zh-TW" sz="2000" b="0" dirty="0">
                <a:solidFill>
                  <a:srgbClr val="0099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"%d\n"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, max);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}   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highlight>
                  <a:srgbClr val="00FF00"/>
                </a:highlight>
                <a:latin typeface="Consolas" panose="020B0609020204030204" pitchFamily="49" charset="0"/>
              </a:rPr>
              <a:t>fclose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</a:rPr>
              <a:t>(fin);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highlight>
                  <a:srgbClr val="FFFF00"/>
                </a:highlight>
                <a:latin typeface="Consolas" panose="020B0609020204030204" pitchFamily="49" charset="0"/>
              </a:rPr>
              <a:t>fclose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2000" b="0" dirty="0" err="1">
                <a:highlight>
                  <a:srgbClr val="FFFF00"/>
                </a:highlight>
                <a:latin typeface="Consolas" panose="020B0609020204030204" pitchFamily="49" charset="0"/>
              </a:rPr>
              <a:t>fout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0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8547" name="Rectangle 3"/>
          <p:cNvSpPr>
            <a:spLocks noChangeArrowheads="1"/>
          </p:cNvSpPr>
          <p:nvPr/>
        </p:nvSpPr>
        <p:spPr bwMode="auto">
          <a:xfrm>
            <a:off x="2426556" y="655320"/>
            <a:ext cx="461962" cy="5791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18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20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21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22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23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24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25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26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27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28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29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30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31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32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33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594338" y="76200"/>
            <a:ext cx="8921262" cy="457200"/>
          </a:xfrm>
        </p:spPr>
        <p:txBody>
          <a:bodyPr>
            <a:noAutofit/>
          </a:bodyPr>
          <a:lstStyle/>
          <a:p>
            <a:r>
              <a:rPr lang="en-US" altLang="zh-TW" sz="2800"/>
              <a:t>Example #6: Dealing with multiple files in a program.</a:t>
            </a:r>
            <a:endParaRPr lang="en-US" altLang="zh-TW" sz="18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C1B581-542E-942E-1F6F-41266182E5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042" y="2664582"/>
            <a:ext cx="2061637" cy="22724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>
            <a:lvl1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en-US" sz="2800" b="0" dirty="0">
                <a:latin typeface="Consolas" panose="020B0609020204030204" pitchFamily="49" charset="0"/>
              </a:rPr>
              <a:t>10</a:t>
            </a:r>
          </a:p>
          <a:p>
            <a:pPr eaLnBrk="1" hangingPunct="1"/>
            <a:r>
              <a:rPr lang="en-US" altLang="en-US" sz="2800" b="0" u="sng" dirty="0">
                <a:latin typeface="Consolas" panose="020B0609020204030204" pitchFamily="49" charset="0"/>
              </a:rPr>
              <a:t>456</a:t>
            </a:r>
            <a:r>
              <a:rPr lang="en-US" altLang="en-US" sz="2800" b="0" dirty="0">
                <a:latin typeface="Consolas" panose="020B0609020204030204" pitchFamily="49" charset="0"/>
              </a:rPr>
              <a:t> 333</a:t>
            </a:r>
          </a:p>
          <a:p>
            <a:pPr eaLnBrk="1" hangingPunct="1"/>
            <a:r>
              <a:rPr lang="en-US" altLang="en-US" sz="2800" b="0" dirty="0">
                <a:latin typeface="Consolas" panose="020B0609020204030204" pitchFamily="49" charset="0"/>
              </a:rPr>
              <a:t>10 </a:t>
            </a:r>
            <a:r>
              <a:rPr lang="en-US" altLang="en-US" sz="2800" b="0" u="sng" dirty="0">
                <a:latin typeface="Consolas" panose="020B0609020204030204" pitchFamily="49" charset="0"/>
              </a:rPr>
              <a:t>23</a:t>
            </a:r>
          </a:p>
          <a:p>
            <a:pPr eaLnBrk="1" hangingPunct="1"/>
            <a:r>
              <a:rPr lang="en-US" altLang="en-US" sz="2800" b="0" u="sng" dirty="0">
                <a:latin typeface="Consolas" panose="020B0609020204030204" pitchFamily="49" charset="0"/>
              </a:rPr>
              <a:t>571</a:t>
            </a:r>
            <a:r>
              <a:rPr lang="en-US" altLang="en-US" sz="2800" b="0" dirty="0">
                <a:latin typeface="Consolas" panose="020B0609020204030204" pitchFamily="49" charset="0"/>
              </a:rPr>
              <a:t> 323</a:t>
            </a:r>
          </a:p>
          <a:p>
            <a:pPr eaLnBrk="1" hangingPunct="1"/>
            <a:r>
              <a:rPr lang="en-US" altLang="en-US" sz="2800" b="0" dirty="0">
                <a:latin typeface="Consolas" panose="020B0609020204030204" pitchFamily="49" charset="0"/>
              </a:rPr>
              <a:t>…</a:t>
            </a:r>
          </a:p>
          <a:p>
            <a:pPr eaLnBrk="1" hangingPunct="1"/>
            <a:endParaRPr lang="en-US" altLang="en-US" sz="2800" b="0" dirty="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1189B8-A0F7-3E0D-8CB1-B86CF2289A6D}"/>
              </a:ext>
            </a:extLst>
          </p:cNvPr>
          <p:cNvSpPr txBox="1"/>
          <p:nvPr/>
        </p:nvSpPr>
        <p:spPr>
          <a:xfrm>
            <a:off x="10304135" y="2119168"/>
            <a:ext cx="14469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output.txt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BC207B-0811-B18F-F41A-E2578BE745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90258" y="2580833"/>
            <a:ext cx="1874690" cy="22724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>
            <a:lvl1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en-US" sz="2800" b="0">
                <a:latin typeface="Consolas" panose="020B0609020204030204" pitchFamily="49" charset="0"/>
              </a:rPr>
              <a:t>10</a:t>
            </a:r>
          </a:p>
          <a:p>
            <a:pPr eaLnBrk="1" hangingPunct="1"/>
            <a:r>
              <a:rPr lang="en-US" altLang="en-US" sz="2800" b="0">
                <a:latin typeface="Consolas" panose="020B0609020204030204" pitchFamily="49" charset="0"/>
              </a:rPr>
              <a:t>456</a:t>
            </a:r>
          </a:p>
          <a:p>
            <a:pPr eaLnBrk="1" hangingPunct="1"/>
            <a:r>
              <a:rPr lang="en-US" altLang="en-US" sz="2800" b="0">
                <a:latin typeface="Consolas" panose="020B0609020204030204" pitchFamily="49" charset="0"/>
              </a:rPr>
              <a:t>23</a:t>
            </a:r>
          </a:p>
          <a:p>
            <a:pPr eaLnBrk="1" hangingPunct="1"/>
            <a:r>
              <a:rPr lang="en-US" altLang="en-US" sz="2800" b="0">
                <a:latin typeface="Consolas" panose="020B0609020204030204" pitchFamily="49" charset="0"/>
              </a:rPr>
              <a:t>571</a:t>
            </a:r>
          </a:p>
          <a:p>
            <a:pPr eaLnBrk="1" hangingPunct="1"/>
            <a:r>
              <a:rPr lang="en-US" altLang="en-US" sz="2800" b="0">
                <a:latin typeface="Consolas" panose="020B0609020204030204" pitchFamily="49" charset="0"/>
              </a:rPr>
              <a:t>…</a:t>
            </a:r>
          </a:p>
          <a:p>
            <a:pPr eaLnBrk="1" hangingPunct="1"/>
            <a:endParaRPr lang="en-US" altLang="en-US" sz="2800" b="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8CC9B3-1762-A205-15B3-8605CF536941}"/>
              </a:ext>
            </a:extLst>
          </p:cNvPr>
          <p:cNvSpPr txBox="1"/>
          <p:nvPr/>
        </p:nvSpPr>
        <p:spPr>
          <a:xfrm>
            <a:off x="170020" y="2175276"/>
            <a:ext cx="12529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input.txt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9C97E2-8F55-0BFD-A053-6B01C113BDA4}"/>
              </a:ext>
            </a:extLst>
          </p:cNvPr>
          <p:cNvSpPr txBox="1"/>
          <p:nvPr/>
        </p:nvSpPr>
        <p:spPr>
          <a:xfrm>
            <a:off x="333480" y="1468958"/>
            <a:ext cx="1089512" cy="461665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>
              <a:spcBef>
                <a:spcPct val="50000"/>
              </a:spcBef>
              <a:defRPr sz="24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sz="2800" b="1" dirty="0"/>
              <a:t>fin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BBC855-C141-423E-49BB-3A6B0170E544}"/>
              </a:ext>
            </a:extLst>
          </p:cNvPr>
          <p:cNvSpPr txBox="1"/>
          <p:nvPr/>
        </p:nvSpPr>
        <p:spPr>
          <a:xfrm>
            <a:off x="10522554" y="1468957"/>
            <a:ext cx="1089512" cy="461665"/>
          </a:xfrm>
          <a:prstGeom prst="rect">
            <a:avLst/>
          </a:prstGeom>
          <a:solidFill>
            <a:srgbClr val="FF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>
            <a:defPPr>
              <a:defRPr lang="en-US"/>
            </a:defPPr>
            <a:lvl1pPr>
              <a:spcBef>
                <a:spcPct val="50000"/>
              </a:spcBef>
              <a:defRPr sz="24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sz="2800" b="1" dirty="0" err="1"/>
              <a:t>fout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90952018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7709-8093-4ED7-963D-6E92D5798EED}" type="slidenum">
              <a:rPr lang="zh-TW" altLang="en-US"/>
              <a:pPr/>
              <a:t>34</a:t>
            </a:fld>
            <a:endParaRPr lang="en-US" altLang="zh-TW"/>
          </a:p>
        </p:txBody>
      </p:sp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/>
              <a:t>Summary</a:t>
            </a:r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785" y="1066800"/>
            <a:ext cx="6599246" cy="5105400"/>
          </a:xfrm>
        </p:spPr>
        <p:txBody>
          <a:bodyPr>
            <a:normAutofit lnSpcReduction="10000"/>
          </a:bodyPr>
          <a:lstStyle/>
          <a:p>
            <a:r>
              <a:rPr lang="en-US" altLang="zh-TW" dirty="0">
                <a:ea typeface="新細明體" pitchFamily="18" charset="-120"/>
              </a:rPr>
              <a:t>Steps for performing File I/O</a:t>
            </a:r>
          </a:p>
          <a:p>
            <a:pPr lvl="1"/>
            <a:r>
              <a:rPr lang="en-US" altLang="zh-TW" dirty="0">
                <a:ea typeface="新細明體" pitchFamily="18" charset="-120"/>
              </a:rPr>
              <a:t>Open a file using: </a:t>
            </a:r>
            <a:r>
              <a:rPr lang="en-US" altLang="zh-TW" dirty="0" err="1">
                <a:solidFill>
                  <a:srgbClr val="C00000"/>
                </a:solidFill>
                <a:ea typeface="新細明體" pitchFamily="18" charset="-120"/>
              </a:rPr>
              <a:t>fopen</a:t>
            </a:r>
            <a:r>
              <a:rPr lang="en-US" altLang="zh-TW" dirty="0">
                <a:ea typeface="新細明體" pitchFamily="18" charset="-120"/>
              </a:rPr>
              <a:t>(…)</a:t>
            </a:r>
          </a:p>
          <a:p>
            <a:pPr lvl="1"/>
            <a:r>
              <a:rPr lang="en-US" altLang="zh-TW" dirty="0">
                <a:ea typeface="新細明體" pitchFamily="18" charset="-120"/>
              </a:rPr>
              <a:t>Check if a file is opened successfully</a:t>
            </a:r>
          </a:p>
          <a:p>
            <a:pPr lvl="2"/>
            <a:r>
              <a:rPr lang="en-US" altLang="zh-TW" sz="2200" b="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2200" b="0" dirty="0">
                <a:latin typeface="Consolas" panose="020B0609020204030204" pitchFamily="49" charset="0"/>
              </a:rPr>
              <a:t> (</a:t>
            </a:r>
            <a:r>
              <a:rPr lang="en-US" altLang="zh-TW" sz="2200" b="0" dirty="0" err="1">
                <a:latin typeface="Consolas" panose="020B0609020204030204" pitchFamily="49" charset="0"/>
              </a:rPr>
              <a:t>fptr</a:t>
            </a:r>
            <a:r>
              <a:rPr lang="en-US" altLang="zh-TW" sz="2200" b="0" dirty="0">
                <a:latin typeface="Consolas" panose="020B0609020204030204" pitchFamily="49" charset="0"/>
              </a:rPr>
              <a:t> == </a:t>
            </a:r>
            <a:r>
              <a:rPr lang="en-US" altLang="zh-TW" sz="2200" b="0" dirty="0">
                <a:highlight>
                  <a:srgbClr val="00FF00"/>
                </a:highlight>
                <a:latin typeface="Consolas" panose="020B0609020204030204" pitchFamily="49" charset="0"/>
              </a:rPr>
              <a:t>NULL</a:t>
            </a:r>
            <a:r>
              <a:rPr lang="en-US" altLang="zh-TW" sz="2200" b="0" dirty="0">
                <a:latin typeface="Consolas" panose="020B0609020204030204" pitchFamily="49" charset="0"/>
              </a:rPr>
              <a:t>) exit(</a:t>
            </a:r>
            <a:r>
              <a:rPr lang="en-US" altLang="zh-TW" sz="2200" b="0" dirty="0">
                <a:solidFill>
                  <a:srgbClr val="0099FF"/>
                </a:solidFill>
                <a:latin typeface="Consolas" panose="020B0609020204030204" pitchFamily="49" charset="0"/>
              </a:rPr>
              <a:t>1</a:t>
            </a:r>
            <a:r>
              <a:rPr lang="en-US" altLang="zh-TW" sz="2200" b="0" dirty="0">
                <a:latin typeface="Consolas" panose="020B0609020204030204" pitchFamily="49" charset="0"/>
              </a:rPr>
              <a:t>); </a:t>
            </a:r>
          </a:p>
          <a:p>
            <a:pPr lvl="1"/>
            <a:r>
              <a:rPr lang="en-US" altLang="zh-TW" sz="2800" dirty="0">
                <a:ea typeface="新細明體" pitchFamily="18" charset="-120"/>
              </a:rPr>
              <a:t>Using </a:t>
            </a:r>
            <a:r>
              <a:rPr lang="en-US" altLang="zh-TW" sz="2800" dirty="0" err="1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fscanf</a:t>
            </a:r>
            <a:r>
              <a:rPr lang="en-US" altLang="zh-TW" sz="28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()</a:t>
            </a:r>
            <a:r>
              <a:rPr lang="en-US" altLang="zh-TW" sz="2800" dirty="0">
                <a:ea typeface="新細明體" pitchFamily="18" charset="-120"/>
              </a:rPr>
              <a:t> and </a:t>
            </a:r>
            <a:r>
              <a:rPr lang="en-US" altLang="zh-TW" sz="2800" dirty="0" err="1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fprintf</a:t>
            </a:r>
            <a:r>
              <a:rPr lang="en-US" altLang="zh-TW" sz="28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()</a:t>
            </a:r>
            <a:r>
              <a:rPr lang="en-US" altLang="zh-TW" sz="2800" dirty="0">
                <a:ea typeface="新細明體" pitchFamily="18" charset="-120"/>
              </a:rPr>
              <a:t> to read/write numbers.</a:t>
            </a:r>
            <a:endParaRPr lang="en-US" altLang="zh-TW" sz="2600" b="0" dirty="0">
              <a:latin typeface="Consolas" panose="020B0609020204030204" pitchFamily="49" charset="0"/>
            </a:endParaRPr>
          </a:p>
          <a:p>
            <a:pPr lvl="1"/>
            <a:r>
              <a:rPr lang="en-US" altLang="zh-TW" dirty="0">
                <a:ea typeface="新細明體" pitchFamily="18" charset="-120"/>
              </a:rPr>
              <a:t>When done, close the file: </a:t>
            </a:r>
            <a:r>
              <a:rPr lang="en-US" altLang="zh-TW" dirty="0" err="1">
                <a:solidFill>
                  <a:srgbClr val="C00000"/>
                </a:solidFill>
                <a:ea typeface="新細明體" pitchFamily="18" charset="-120"/>
              </a:rPr>
              <a:t>fclose</a:t>
            </a:r>
            <a:r>
              <a:rPr lang="en-US" altLang="zh-TW" dirty="0">
                <a:ea typeface="新細明體" pitchFamily="18" charset="-120"/>
              </a:rPr>
              <a:t>(…)</a:t>
            </a:r>
          </a:p>
          <a:p>
            <a:pPr lvl="7"/>
            <a:endParaRPr lang="en-US" altLang="zh-TW" sz="900" dirty="0">
              <a:solidFill>
                <a:srgbClr val="C00000"/>
              </a:solidFill>
              <a:ea typeface="新細明體" pitchFamily="18" charset="-120"/>
            </a:endParaRPr>
          </a:p>
          <a:p>
            <a:r>
              <a:rPr lang="en-US" altLang="zh-TW" b="1" dirty="0">
                <a:ea typeface="新細明體" pitchFamily="18" charset="-120"/>
              </a:rPr>
              <a:t>Return value </a:t>
            </a:r>
            <a:r>
              <a:rPr lang="en-US" altLang="zh-TW" dirty="0">
                <a:ea typeface="新細明體" pitchFamily="18" charset="-120"/>
              </a:rPr>
              <a:t>of </a:t>
            </a:r>
            <a:r>
              <a:rPr lang="en-US" altLang="zh-TW" dirty="0" err="1">
                <a:ea typeface="新細明體" pitchFamily="18" charset="-120"/>
              </a:rPr>
              <a:t>fscanf</a:t>
            </a:r>
            <a:r>
              <a:rPr lang="en-US" altLang="zh-TW" dirty="0">
                <a:ea typeface="新細明體" pitchFamily="18" charset="-120"/>
              </a:rPr>
              <a:t>()</a:t>
            </a:r>
          </a:p>
          <a:p>
            <a:pPr lvl="1"/>
            <a:r>
              <a:rPr lang="en-US" altLang="zh-TW" dirty="0">
                <a:ea typeface="新細明體" pitchFamily="18" charset="-120"/>
              </a:rPr>
              <a:t>Return # of reading values</a:t>
            </a:r>
          </a:p>
          <a:p>
            <a:pPr lvl="1"/>
            <a:r>
              <a:rPr lang="en-US" altLang="zh-TW" dirty="0">
                <a:ea typeface="新細明體" pitchFamily="18" charset="-120"/>
              </a:rPr>
              <a:t>Return EOF. Failed to read</a:t>
            </a:r>
          </a:p>
          <a:p>
            <a:pPr marL="533400" indent="-533400">
              <a:buFont typeface="Wingdings" pitchFamily="2" charset="2"/>
              <a:buAutoNum type="arabicPeriod"/>
            </a:pPr>
            <a:endParaRPr lang="en-US" altLang="zh-TW" sz="2400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32C3139-E7E2-00B7-FAB3-28632F083EB9}"/>
              </a:ext>
            </a:extLst>
          </p:cNvPr>
          <p:cNvSpPr txBox="1">
            <a:spLocks noChangeArrowheads="1"/>
          </p:cNvSpPr>
          <p:nvPr/>
        </p:nvSpPr>
        <p:spPr>
          <a:xfrm>
            <a:off x="6803136" y="1210056"/>
            <a:ext cx="5210440" cy="28882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000" dirty="0">
                <a:solidFill>
                  <a:srgbClr val="000000"/>
                </a:solidFill>
                <a:highlight>
                  <a:srgbClr val="CCFFCC"/>
                </a:highlight>
                <a:latin typeface="Consolas" panose="020B0609020204030204" pitchFamily="49" charset="0"/>
              </a:rPr>
              <a:t>#include &lt;</a:t>
            </a:r>
            <a:r>
              <a:rPr lang="en-US" altLang="zh-TW" sz="2000" dirty="0" err="1">
                <a:solidFill>
                  <a:srgbClr val="000000"/>
                </a:solidFill>
                <a:highlight>
                  <a:srgbClr val="CCFFCC"/>
                </a:highlight>
                <a:latin typeface="Consolas" panose="020B0609020204030204" pitchFamily="49" charset="0"/>
              </a:rPr>
              <a:t>stdlib.h</a:t>
            </a:r>
            <a:r>
              <a:rPr lang="en-US" altLang="zh-TW" sz="2000" dirty="0">
                <a:solidFill>
                  <a:srgbClr val="000000"/>
                </a:solidFill>
                <a:highlight>
                  <a:srgbClr val="CCFFCC"/>
                </a:highlight>
                <a:latin typeface="Consolas" panose="020B0609020204030204" pitchFamily="49" charset="0"/>
              </a:rPr>
              <a:t>&gt; </a:t>
            </a:r>
          </a:p>
          <a:p>
            <a:pPr marL="0" indent="0">
              <a:buNone/>
            </a:pPr>
            <a:endParaRPr lang="en-US" altLang="zh-TW" sz="1000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TW" sz="2000" dirty="0">
                <a:latin typeface="Consolas" panose="020B0609020204030204" pitchFamily="49" charset="0"/>
              </a:rPr>
              <a:t>FILE *</a:t>
            </a:r>
            <a:r>
              <a:rPr lang="en-US" altLang="zh-TW" sz="2000" dirty="0" err="1">
                <a:latin typeface="Consolas" panose="020B0609020204030204" pitchFamily="49" charset="0"/>
              </a:rPr>
              <a:t>fptr</a:t>
            </a:r>
            <a:r>
              <a:rPr lang="en-US" altLang="zh-TW" sz="2000" dirty="0">
                <a:latin typeface="Consolas" panose="020B0609020204030204" pitchFamily="49" charset="0"/>
              </a:rPr>
              <a:t>;</a:t>
            </a:r>
            <a:endParaRPr lang="en-US" altLang="zh-TW" sz="20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en-US" altLang="zh-TW" sz="2000" dirty="0" err="1">
                <a:latin typeface="Consolas" panose="020B0609020204030204" pitchFamily="49" charset="0"/>
              </a:rPr>
              <a:t>fptr</a:t>
            </a:r>
            <a:r>
              <a:rPr lang="en-US" altLang="zh-TW" sz="2000" dirty="0">
                <a:latin typeface="Consolas" panose="020B0609020204030204" pitchFamily="49" charset="0"/>
              </a:rPr>
              <a:t> = </a:t>
            </a:r>
            <a:r>
              <a:rPr lang="en-US" altLang="zh-TW" sz="2000" dirty="0" err="1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fopen</a:t>
            </a:r>
            <a:r>
              <a:rPr lang="en-US" altLang="zh-TW" sz="2000" dirty="0">
                <a:latin typeface="Consolas" panose="020B0609020204030204" pitchFamily="49" charset="0"/>
              </a:rPr>
              <a:t>(</a:t>
            </a:r>
            <a:r>
              <a:rPr lang="en-US" altLang="zh-TW" sz="2000" dirty="0">
                <a:solidFill>
                  <a:srgbClr val="0099FF"/>
                </a:solidFill>
                <a:latin typeface="Consolas" panose="020B0609020204030204" pitchFamily="49" charset="0"/>
              </a:rPr>
              <a:t>"data.txt"</a:t>
            </a:r>
            <a:r>
              <a:rPr lang="en-US" altLang="zh-TW" sz="2000" dirty="0">
                <a:latin typeface="Consolas" panose="020B0609020204030204" pitchFamily="49" charset="0"/>
              </a:rPr>
              <a:t>, </a:t>
            </a:r>
            <a:r>
              <a:rPr lang="en-US" altLang="zh-TW" sz="2000" dirty="0">
                <a:solidFill>
                  <a:srgbClr val="0099FF"/>
                </a:solidFill>
                <a:latin typeface="Consolas" panose="020B0609020204030204" pitchFamily="49" charset="0"/>
              </a:rPr>
              <a:t>"r"</a:t>
            </a:r>
            <a:r>
              <a:rPr lang="en-US" altLang="zh-TW" sz="20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2000" dirty="0">
                <a:latin typeface="Consolas" panose="020B0609020204030204" pitchFamily="49" charset="0"/>
              </a:rPr>
              <a:t> (</a:t>
            </a:r>
            <a:r>
              <a:rPr lang="en-US" altLang="zh-TW" sz="2000" dirty="0" err="1">
                <a:highlight>
                  <a:srgbClr val="00FF00"/>
                </a:highlight>
                <a:latin typeface="Consolas" panose="020B0609020204030204" pitchFamily="49" charset="0"/>
              </a:rPr>
              <a:t>fptr</a:t>
            </a:r>
            <a:r>
              <a:rPr lang="en-US" altLang="zh-TW" sz="2000" dirty="0">
                <a:highlight>
                  <a:srgbClr val="00FF00"/>
                </a:highlight>
                <a:latin typeface="Consolas" panose="020B0609020204030204" pitchFamily="49" charset="0"/>
              </a:rPr>
              <a:t> == NULL</a:t>
            </a:r>
            <a:r>
              <a:rPr lang="en-US" altLang="zh-TW" sz="2000" dirty="0">
                <a:latin typeface="Consolas" panose="020B0609020204030204" pitchFamily="49" charset="0"/>
              </a:rPr>
              <a:t>)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TW" sz="2000" dirty="0">
                <a:latin typeface="Consolas" panose="020B0609020204030204" pitchFamily="49" charset="0"/>
              </a:rPr>
              <a:t>	exit(</a:t>
            </a:r>
            <a:r>
              <a:rPr lang="en-US" altLang="zh-TW" sz="2000" dirty="0">
                <a:solidFill>
                  <a:srgbClr val="0099FF"/>
                </a:solidFill>
                <a:latin typeface="Consolas" panose="020B0609020204030204" pitchFamily="49" charset="0"/>
              </a:rPr>
              <a:t>1</a:t>
            </a:r>
            <a:r>
              <a:rPr lang="en-US" altLang="zh-TW" sz="2000" dirty="0">
                <a:latin typeface="Consolas" panose="020B0609020204030204" pitchFamily="49" charset="0"/>
              </a:rPr>
              <a:t>); </a:t>
            </a:r>
          </a:p>
          <a:p>
            <a:pPr marL="0" indent="0">
              <a:buFont typeface="Arial" pitchFamily="34" charset="0"/>
              <a:buNone/>
            </a:pPr>
            <a:r>
              <a:rPr lang="en-US" altLang="zh-TW" sz="2000" dirty="0" err="1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fscanf</a:t>
            </a:r>
            <a:r>
              <a:rPr lang="en-US" altLang="zh-TW" sz="2000" dirty="0">
                <a:latin typeface="Consolas" panose="020B0609020204030204" pitchFamily="49" charset="0"/>
              </a:rPr>
              <a:t>(</a:t>
            </a:r>
            <a:r>
              <a:rPr lang="en-US" altLang="zh-TW" sz="2000" dirty="0" err="1">
                <a:latin typeface="Consolas" panose="020B0609020204030204" pitchFamily="49" charset="0"/>
              </a:rPr>
              <a:t>fptr</a:t>
            </a:r>
            <a:r>
              <a:rPr lang="en-US" altLang="zh-TW" sz="2000" dirty="0">
                <a:latin typeface="Consolas" panose="020B0609020204030204" pitchFamily="49" charset="0"/>
              </a:rPr>
              <a:t>, </a:t>
            </a:r>
            <a:r>
              <a:rPr lang="en-US" altLang="zh-TW" sz="2000" dirty="0">
                <a:solidFill>
                  <a:srgbClr val="0099FF"/>
                </a:solidFill>
                <a:latin typeface="Consolas" panose="020B0609020204030204" pitchFamily="49" charset="0"/>
              </a:rPr>
              <a:t>"%d"</a:t>
            </a:r>
            <a:r>
              <a:rPr lang="en-US" altLang="zh-TW" sz="2000" dirty="0">
                <a:latin typeface="Consolas" panose="020B0609020204030204" pitchFamily="49" charset="0"/>
              </a:rPr>
              <a:t>, &amp;num);</a:t>
            </a:r>
          </a:p>
          <a:p>
            <a:pPr marL="0" indent="0">
              <a:buFont typeface="Arial" pitchFamily="34" charset="0"/>
              <a:buNone/>
            </a:pPr>
            <a:r>
              <a:rPr lang="en-US" altLang="zh-TW" sz="2000" dirty="0" err="1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fclose</a:t>
            </a:r>
            <a:r>
              <a:rPr lang="en-US" altLang="zh-TW" sz="2000" dirty="0">
                <a:latin typeface="Consolas" panose="020B0609020204030204" pitchFamily="49" charset="0"/>
              </a:rPr>
              <a:t>(</a:t>
            </a:r>
            <a:r>
              <a:rPr lang="en-US" altLang="zh-TW" sz="2000" dirty="0" err="1">
                <a:latin typeface="Consolas" panose="020B0609020204030204" pitchFamily="49" charset="0"/>
              </a:rPr>
              <a:t>fptr</a:t>
            </a:r>
            <a:r>
              <a:rPr lang="en-US" altLang="zh-TW" sz="2000" dirty="0">
                <a:latin typeface="Consolas" panose="020B0609020204030204" pitchFamily="49" charset="0"/>
              </a:rPr>
              <a:t>);</a:t>
            </a:r>
            <a:endParaRPr lang="en-US" altLang="zh-TW" sz="2000" b="1" i="1" dirty="0">
              <a:solidFill>
                <a:srgbClr val="0070C0"/>
              </a:solidFill>
              <a:ea typeface="新細明體" pitchFamily="18" charset="-120"/>
            </a:endParaRPr>
          </a:p>
          <a:p>
            <a:pPr marL="0" indent="0">
              <a:buFont typeface="Arial" pitchFamily="34" charset="0"/>
              <a:buNone/>
            </a:pPr>
            <a:endParaRPr lang="en-US" altLang="zh-TW" sz="1200" dirty="0">
              <a:ea typeface="新細明體" pitchFamily="18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41AC14-0AF6-1D04-54DD-E1261BD8BE8C}"/>
              </a:ext>
            </a:extLst>
          </p:cNvPr>
          <p:cNvSpPr txBox="1"/>
          <p:nvPr/>
        </p:nvSpPr>
        <p:spPr>
          <a:xfrm>
            <a:off x="7763492" y="4513784"/>
            <a:ext cx="3748594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3600" b="1" dirty="0"/>
              <a:t>Project Part Two</a:t>
            </a:r>
            <a:endParaRPr lang="zh-CN" altLang="en-US" sz="3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3BCB4C-5FE5-0BD4-54F2-33021C20946F}"/>
              </a:ext>
            </a:extLst>
          </p:cNvPr>
          <p:cNvSpPr txBox="1"/>
          <p:nvPr/>
        </p:nvSpPr>
        <p:spPr>
          <a:xfrm>
            <a:off x="7148267" y="5386334"/>
            <a:ext cx="49499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800" b="1" dirty="0" err="1">
                <a:latin typeface="Consolas" panose="020B0609020204030204" pitchFamily="49" charset="0"/>
              </a:rPr>
              <a:t>fscanf</a:t>
            </a:r>
            <a:r>
              <a:rPr lang="en-US" altLang="zh-TW" sz="2800" b="1" dirty="0">
                <a:latin typeface="Consolas" panose="020B0609020204030204" pitchFamily="49" charset="0"/>
              </a:rPr>
              <a:t>(</a:t>
            </a:r>
            <a:r>
              <a:rPr lang="en-US" altLang="zh-TW" sz="2800" b="1" dirty="0" err="1">
                <a:latin typeface="Consolas" panose="020B0609020204030204" pitchFamily="49" charset="0"/>
              </a:rPr>
              <a:t>fptr</a:t>
            </a:r>
            <a:r>
              <a:rPr lang="en-US" altLang="zh-TW" sz="2800" b="1" dirty="0">
                <a:latin typeface="Consolas" panose="020B0609020204030204" pitchFamily="49" charset="0"/>
              </a:rPr>
              <a:t>, </a:t>
            </a:r>
            <a:r>
              <a:rPr lang="en-US" altLang="zh-TW" sz="2800" b="1" dirty="0">
                <a:solidFill>
                  <a:srgbClr val="0099FF"/>
                </a:solidFill>
                <a:latin typeface="Consolas" panose="020B0609020204030204" pitchFamily="49" charset="0"/>
              </a:rPr>
              <a:t>"%c</a:t>
            </a:r>
            <a:r>
              <a:rPr lang="en-US" altLang="zh-TW" sz="2800" b="1" dirty="0">
                <a:solidFill>
                  <a:srgbClr val="0099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2800" b="1" dirty="0">
                <a:solidFill>
                  <a:srgbClr val="0099FF"/>
                </a:solidFill>
                <a:latin typeface="Consolas" panose="020B0609020204030204" pitchFamily="49" charset="0"/>
              </a:rPr>
              <a:t>"</a:t>
            </a:r>
            <a:r>
              <a:rPr lang="en-US" altLang="zh-TW" sz="2800" b="1" dirty="0">
                <a:latin typeface="Consolas" panose="020B0609020204030204" pitchFamily="49" charset="0"/>
              </a:rPr>
              <a:t>, &amp;</a:t>
            </a:r>
            <a:r>
              <a:rPr lang="en-US" altLang="zh-TW" sz="2800" b="1" dirty="0" err="1">
                <a:latin typeface="Consolas" panose="020B0609020204030204" pitchFamily="49" charset="0"/>
              </a:rPr>
              <a:t>ch</a:t>
            </a:r>
            <a:r>
              <a:rPr lang="en-US" altLang="zh-TW" sz="2800" b="1" dirty="0">
                <a:latin typeface="Consolas" panose="020B0609020204030204" pitchFamily="49" charset="0"/>
              </a:rPr>
              <a:t>) 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36900311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Reading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C: How to Program, 8</a:t>
            </a:r>
            <a:r>
              <a:rPr lang="en-US" baseline="30000"/>
              <a:t>th</a:t>
            </a:r>
            <a:r>
              <a:rPr lang="en-US"/>
              <a:t> </a:t>
            </a:r>
            <a:r>
              <a:rPr lang="en-US" err="1"/>
              <a:t>ed</a:t>
            </a:r>
            <a:r>
              <a:rPr lang="en-US"/>
              <a:t>, </a:t>
            </a:r>
            <a:r>
              <a:rPr lang="en-US" err="1"/>
              <a:t>Deitel</a:t>
            </a:r>
            <a:r>
              <a:rPr lang="en-US"/>
              <a:t> and </a:t>
            </a:r>
            <a:r>
              <a:rPr lang="en-US" err="1"/>
              <a:t>Deitel</a:t>
            </a:r>
            <a:endParaRPr lang="en-US"/>
          </a:p>
          <a:p>
            <a:r>
              <a:rPr lang="en-US"/>
              <a:t>Chapter 11 C File Processing</a:t>
            </a:r>
          </a:p>
          <a:p>
            <a:pPr lvl="1"/>
            <a:r>
              <a:rPr lang="en-US"/>
              <a:t>Sections 11.1 – 11.2: File Concepts</a:t>
            </a:r>
          </a:p>
          <a:p>
            <a:pPr lvl="1"/>
            <a:r>
              <a:rPr lang="en-US"/>
              <a:t>Sections 11.3: Basic File Operations</a:t>
            </a:r>
          </a:p>
          <a:p>
            <a:pPr lvl="1"/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092020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4338" y="76200"/>
            <a:ext cx="8921262" cy="838200"/>
          </a:xfrm>
        </p:spPr>
        <p:txBody>
          <a:bodyPr>
            <a:normAutofit/>
          </a:bodyPr>
          <a:lstStyle/>
          <a:p>
            <a:r>
              <a:rPr lang="en-US" sz="3600"/>
              <a:t>Appendix: About filenames 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On Windows/MacOS, the file extension of known file types is hidden by default.</a:t>
            </a:r>
          </a:p>
          <a:p>
            <a:pPr lvl="1"/>
            <a:r>
              <a:rPr lang="en-US" sz="2400" dirty="0"/>
              <a:t>A file named </a:t>
            </a:r>
            <a:r>
              <a:rPr lang="en-US" altLang="zh-CN" sz="2400" dirty="0"/>
              <a:t>"</a:t>
            </a:r>
            <a:r>
              <a:rPr lang="en-US" sz="2400" dirty="0"/>
              <a:t>input.txt</a:t>
            </a:r>
            <a:r>
              <a:rPr lang="en-US" altLang="zh-CN" sz="2400" dirty="0"/>
              <a:t>"</a:t>
            </a:r>
            <a:r>
              <a:rPr lang="en-US" sz="2400" dirty="0"/>
              <a:t> may appear as </a:t>
            </a:r>
            <a:r>
              <a:rPr lang="en-US" altLang="zh-CN" sz="2400" dirty="0"/>
              <a:t>"</a:t>
            </a:r>
            <a:r>
              <a:rPr lang="en-US" sz="2400" dirty="0"/>
              <a:t>input</a:t>
            </a:r>
            <a:r>
              <a:rPr lang="en-US" altLang="zh-CN" sz="2400" dirty="0"/>
              <a:t>"</a:t>
            </a:r>
            <a:r>
              <a:rPr lang="en-US" sz="2400" dirty="0"/>
              <a:t> in Windows Explorer or Mac Finder.</a:t>
            </a:r>
          </a:p>
          <a:p>
            <a:endParaRPr lang="en-US" sz="2400" dirty="0"/>
          </a:p>
          <a:p>
            <a:r>
              <a:rPr lang="en-US" sz="2400" dirty="0"/>
              <a:t>When we create a sample data file using Notepad, Notepad will automatically append the ".txt" extension to our file; we do not need to enter ".txt" when giving a file name in Notepad.</a:t>
            </a:r>
          </a:p>
          <a:p>
            <a:endParaRPr lang="en-US" sz="2400" dirty="0"/>
          </a:p>
          <a:p>
            <a:r>
              <a:rPr lang="en-US" sz="2400" dirty="0"/>
              <a:t>If we use </a:t>
            </a:r>
            <a:r>
              <a:rPr lang="en-US" altLang="zh-CN" sz="2400" dirty="0" err="1"/>
              <a:t>CLion</a:t>
            </a:r>
            <a:r>
              <a:rPr lang="en-US" sz="2400" dirty="0"/>
              <a:t>, when we execute our program by clicking “Run”, the default "working folder" of our program is the one with the .c source file or .exe executable file</a:t>
            </a:r>
          </a:p>
          <a:p>
            <a:pPr lvl="1"/>
            <a:r>
              <a:rPr lang="en-US" sz="2400" dirty="0"/>
              <a:t>The input and output files should be located </a:t>
            </a:r>
            <a:r>
              <a:rPr lang="en-US" sz="3200" b="1" u="sng" dirty="0"/>
              <a:t>in the same folder</a:t>
            </a:r>
            <a:endParaRPr lang="en-US" sz="2400" b="1" u="sng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208864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4338" y="76200"/>
            <a:ext cx="8921262" cy="838200"/>
          </a:xfrm>
        </p:spPr>
        <p:txBody>
          <a:bodyPr/>
          <a:lstStyle/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Appendix: </a:t>
            </a:r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fopen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4088" y="1604666"/>
            <a:ext cx="11045951" cy="4567535"/>
          </a:xfrm>
        </p:spPr>
        <p:txBody>
          <a:bodyPr>
            <a:normAutofit fontScale="92500" lnSpcReduction="10000"/>
          </a:bodyPr>
          <a:lstStyle/>
          <a:p>
            <a:r>
              <a:rPr lang="en-US" sz="3000" dirty="0"/>
              <a:t>Open the file with the name specified in </a:t>
            </a:r>
            <a:r>
              <a:rPr lang="en-US" sz="30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filename</a:t>
            </a:r>
            <a:r>
              <a:rPr lang="en-US" sz="3000" dirty="0"/>
              <a:t>.</a:t>
            </a:r>
          </a:p>
          <a:p>
            <a:r>
              <a:rPr lang="en-US" sz="30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mode</a:t>
            </a:r>
            <a:r>
              <a:rPr lang="en-US" sz="3000" dirty="0"/>
              <a:t> specifies how the file should be opened</a:t>
            </a:r>
          </a:p>
          <a:p>
            <a:pPr lvl="1"/>
            <a:r>
              <a:rPr lang="en-US" sz="2600" dirty="0"/>
              <a:t>If </a:t>
            </a:r>
            <a:r>
              <a:rPr lang="en-US" sz="2600" dirty="0">
                <a:latin typeface="Consolas" panose="020B0609020204030204" pitchFamily="49" charset="0"/>
                <a:cs typeface="Consolas" panose="020B0609020204030204" pitchFamily="49" charset="0"/>
              </a:rPr>
              <a:t>mode</a:t>
            </a:r>
            <a:r>
              <a:rPr lang="en-US" sz="2600" dirty="0"/>
              <a:t> is </a:t>
            </a:r>
            <a:r>
              <a:rPr lang="en-US" sz="26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"r"</a:t>
            </a:r>
            <a:r>
              <a:rPr lang="en-US" sz="2600" dirty="0"/>
              <a:t>, the file is opened for input only.</a:t>
            </a:r>
          </a:p>
          <a:p>
            <a:pPr lvl="1"/>
            <a:r>
              <a:rPr lang="en-US" sz="2600" dirty="0"/>
              <a:t>If </a:t>
            </a:r>
            <a:r>
              <a:rPr lang="en-US" sz="2600" dirty="0">
                <a:latin typeface="Consolas" panose="020B0609020204030204" pitchFamily="49" charset="0"/>
                <a:cs typeface="Consolas" panose="020B0609020204030204" pitchFamily="49" charset="0"/>
              </a:rPr>
              <a:t>mode</a:t>
            </a:r>
            <a:r>
              <a:rPr lang="en-US" sz="2600" dirty="0"/>
              <a:t> is </a:t>
            </a:r>
            <a:r>
              <a:rPr lang="en-US" sz="26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"w"</a:t>
            </a:r>
            <a:r>
              <a:rPr lang="en-US" sz="2600" dirty="0"/>
              <a:t>, the file is opened for output only. With this mode,</a:t>
            </a:r>
            <a:r>
              <a:rPr lang="en-US" sz="2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600" dirty="0" err="1">
                <a:latin typeface="Consolas" panose="020B0609020204030204" pitchFamily="49" charset="0"/>
                <a:cs typeface="Consolas" panose="020B0609020204030204" pitchFamily="49" charset="0"/>
              </a:rPr>
              <a:t>fopen</a:t>
            </a:r>
            <a:r>
              <a:rPr lang="en-US" sz="26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sz="2600" dirty="0"/>
              <a:t> will always create a new file. If a file with the same name exists, the file will be replaced.</a:t>
            </a:r>
          </a:p>
          <a:p>
            <a:pPr lvl="1"/>
            <a:r>
              <a:rPr lang="en-US" sz="2600" dirty="0"/>
              <a:t>There are other modes, but those are less common modes. </a:t>
            </a:r>
          </a:p>
          <a:p>
            <a:pPr marL="914400" lvl="2" indent="0">
              <a:buNone/>
            </a:pPr>
            <a:r>
              <a:rPr lang="en-US" altLang="zh-CN" sz="2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"a", "r+", "w+", "</a:t>
            </a:r>
            <a:r>
              <a:rPr lang="en-US" altLang="zh-CN" sz="2200" b="1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rb</a:t>
            </a:r>
            <a:r>
              <a:rPr lang="en-US" altLang="zh-CN" sz="2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"…</a:t>
            </a:r>
            <a:endParaRPr lang="en-US" sz="2200" dirty="0"/>
          </a:p>
          <a:p>
            <a:pPr lvl="1"/>
            <a:endParaRPr lang="en-US" sz="1500" dirty="0"/>
          </a:p>
          <a:p>
            <a:pPr>
              <a:lnSpc>
                <a:spcPct val="90000"/>
              </a:lnSpc>
            </a:pPr>
            <a:r>
              <a:rPr lang="en-US" altLang="zh-TW" sz="3000" dirty="0"/>
              <a:t>The function returns a non-</a:t>
            </a:r>
            <a:r>
              <a:rPr lang="en-US" altLang="zh-TW" sz="30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NULL</a:t>
            </a:r>
            <a:r>
              <a:rPr lang="en-US" altLang="zh-TW" sz="3000" dirty="0"/>
              <a:t> pointer (of type </a:t>
            </a:r>
            <a:r>
              <a:rPr lang="en-US" altLang="zh-TW" sz="30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FILE</a:t>
            </a:r>
            <a:r>
              <a:rPr lang="en-US" altLang="zh-TW" sz="3000" b="1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30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US" altLang="zh-TW" sz="3000" dirty="0"/>
              <a:t>, usually referred to as a </a:t>
            </a:r>
            <a:r>
              <a:rPr lang="en-US" altLang="zh-TW" sz="3000" i="1" dirty="0">
                <a:solidFill>
                  <a:srgbClr val="990000"/>
                </a:solidFill>
              </a:rPr>
              <a:t>stream</a:t>
            </a:r>
            <a:r>
              <a:rPr lang="en-US" altLang="zh-TW" sz="3000" dirty="0"/>
              <a:t>) if the file can be opened successfully. Otherwise the function returns </a:t>
            </a:r>
            <a:r>
              <a:rPr lang="en-US" altLang="zh-TW" sz="30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NULL</a:t>
            </a:r>
            <a:r>
              <a:rPr lang="en-US" altLang="zh-TW" sz="3000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677238" y="1143001"/>
            <a:ext cx="883836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altLang="zh-TW" sz="2400" b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FILE * </a:t>
            </a:r>
            <a:r>
              <a:rPr lang="fr-FR" altLang="zh-TW" sz="2400" b="1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fopen</a:t>
            </a:r>
            <a:r>
              <a:rPr lang="fr-FR" altLang="zh-TW" sz="2400" b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(char *</a:t>
            </a:r>
            <a:r>
              <a:rPr lang="fr-FR" altLang="zh-TW" sz="2400" b="1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filename</a:t>
            </a:r>
            <a:r>
              <a:rPr lang="fr-FR" altLang="zh-TW" sz="2400" b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char *mode);</a:t>
            </a:r>
          </a:p>
        </p:txBody>
      </p:sp>
    </p:spTree>
    <p:extLst>
      <p:ext uri="{BB962C8B-B14F-4D97-AF65-F5344CB8AC3E}">
        <p14:creationId xmlns:p14="http://schemas.microsoft.com/office/powerpoint/2010/main" val="3991833874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4338" y="76200"/>
            <a:ext cx="8921262" cy="838200"/>
          </a:xfrm>
        </p:spPr>
        <p:txBody>
          <a:bodyPr/>
          <a:lstStyle/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Appendix: </a:t>
            </a:r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fclose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4339" y="1752600"/>
            <a:ext cx="9552197" cy="4419600"/>
          </a:xfrm>
        </p:spPr>
        <p:txBody>
          <a:bodyPr>
            <a:normAutofit/>
          </a:bodyPr>
          <a:lstStyle/>
          <a:p>
            <a:r>
              <a:rPr lang="en-US" dirty="0"/>
              <a:t>Releases the "resource" associated the file stream.</a:t>
            </a:r>
          </a:p>
          <a:p>
            <a:pPr lvl="7"/>
            <a:endParaRPr lang="en-US" dirty="0"/>
          </a:p>
          <a:p>
            <a:r>
              <a:rPr lang="en-US" dirty="0"/>
              <a:t>If the file stream is an </a:t>
            </a:r>
            <a:r>
              <a:rPr lang="en-US" b="1" u="sng" dirty="0"/>
              <a:t>output</a:t>
            </a:r>
            <a:r>
              <a:rPr lang="en-US" dirty="0"/>
              <a:t> stream, then the function also causes the buffered data associated with the stream </a:t>
            </a:r>
            <a:r>
              <a:rPr lang="en-US" b="1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fp</a:t>
            </a:r>
            <a:r>
              <a:rPr lang="en-US" dirty="0"/>
              <a:t> to be written to the disk.</a:t>
            </a:r>
          </a:p>
          <a:p>
            <a:pPr lvl="8"/>
            <a:endParaRPr lang="en-US" dirty="0"/>
          </a:p>
          <a:p>
            <a:r>
              <a:rPr lang="en-US" dirty="0"/>
              <a:t>Not closing a stream after use may cause </a:t>
            </a:r>
            <a:r>
              <a:rPr lang="en-US" b="1" dirty="0"/>
              <a:t>loss of data</a:t>
            </a:r>
            <a:r>
              <a:rPr lang="en-US" dirty="0"/>
              <a:t>.</a:t>
            </a:r>
          </a:p>
          <a:p>
            <a:pPr lvl="8"/>
            <a:endParaRPr lang="en-US" dirty="0"/>
          </a:p>
          <a:p>
            <a:r>
              <a:rPr lang="en-US" b="1" dirty="0"/>
              <a:t>MUST </a:t>
            </a:r>
            <a:r>
              <a:rPr lang="en-US" b="1" dirty="0" err="1"/>
              <a:t>fclose</a:t>
            </a:r>
            <a:r>
              <a:rPr lang="en-US" b="1" dirty="0"/>
              <a:t>(`)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677238" y="1143001"/>
            <a:ext cx="883836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altLang="zh-TW" sz="2400" b="1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FR" altLang="zh-TW" sz="2400" b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FR" altLang="zh-TW" sz="2400" b="1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fclose</a:t>
            </a:r>
            <a:r>
              <a:rPr lang="fr-FR" altLang="zh-TW" sz="2400" b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(FILE *</a:t>
            </a:r>
            <a:r>
              <a:rPr lang="fr-FR" altLang="zh-TW" sz="2400" b="1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fp</a:t>
            </a:r>
            <a:r>
              <a:rPr lang="fr-FR" altLang="zh-TW" sz="2400" b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704575027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fld id="{D57D4AF3-C87A-4502-BF52-E55236C70EF1}" type="slidenum">
              <a:rPr kumimoji="0" lang="en-US" altLang="zh-TW" smtClean="0">
                <a:latin typeface="Calibri" panose="020F0502020204030204" pitchFamily="34" charset="0"/>
              </a:rPr>
              <a:pPr eaLnBrk="1" hangingPunct="1"/>
              <a:t>39</a:t>
            </a:fld>
            <a:endParaRPr kumimoji="0" lang="en-US" altLang="zh-TW">
              <a:latin typeface="Calibri" panose="020F0502020204030204" pitchFamily="34" charset="0"/>
            </a:endParaRPr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3400"/>
              <a:t>Appendix: Special streams: </a:t>
            </a:r>
            <a:r>
              <a:rPr lang="en-US" altLang="zh-TW" sz="3400" b="1" err="1">
                <a:solidFill>
                  <a:srgbClr val="0070C0"/>
                </a:solidFill>
                <a:latin typeface="Consolas" panose="020B0609020204030204" pitchFamily="49" charset="0"/>
              </a:rPr>
              <a:t>stdin</a:t>
            </a:r>
            <a:r>
              <a:rPr lang="en-US" altLang="zh-TW" sz="3400">
                <a:solidFill>
                  <a:srgbClr val="0070C0"/>
                </a:solidFill>
              </a:rPr>
              <a:t> </a:t>
            </a:r>
            <a:r>
              <a:rPr lang="en-US" altLang="zh-TW" sz="3400"/>
              <a:t>and </a:t>
            </a:r>
            <a:r>
              <a:rPr lang="en-US" altLang="zh-TW" sz="3400" b="1" err="1">
                <a:solidFill>
                  <a:srgbClr val="0070C0"/>
                </a:solidFill>
                <a:latin typeface="Consolas" panose="020B0609020204030204" pitchFamily="49" charset="0"/>
              </a:rPr>
              <a:t>stdout</a:t>
            </a:r>
            <a:endParaRPr lang="en-US" altLang="zh-TW" sz="3400">
              <a:solidFill>
                <a:srgbClr val="0070C0"/>
              </a:solidFill>
            </a:endParaRP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The special streams </a:t>
            </a:r>
            <a:r>
              <a:rPr lang="en-US" altLang="zh-TW" b="1" err="1">
                <a:solidFill>
                  <a:srgbClr val="0070C0"/>
                </a:solidFill>
                <a:latin typeface="Consolas" panose="020B0609020204030204" pitchFamily="49" charset="0"/>
              </a:rPr>
              <a:t>stdin</a:t>
            </a:r>
            <a:r>
              <a:rPr lang="en-US" altLang="zh-TW">
                <a:solidFill>
                  <a:srgbClr val="0070C0"/>
                </a:solidFill>
              </a:rPr>
              <a:t> </a:t>
            </a:r>
            <a:r>
              <a:rPr lang="en-US" altLang="zh-TW"/>
              <a:t>and </a:t>
            </a:r>
            <a:r>
              <a:rPr lang="en-US" altLang="zh-TW" b="1" err="1">
                <a:solidFill>
                  <a:srgbClr val="0070C0"/>
                </a:solidFill>
                <a:latin typeface="Consolas" panose="020B0609020204030204" pitchFamily="49" charset="0"/>
              </a:rPr>
              <a:t>stdout</a:t>
            </a:r>
            <a:r>
              <a:rPr lang="en-US" altLang="zh-TW"/>
              <a:t> are predefined and pre-opened in a C program for standard (console) I/O.</a:t>
            </a:r>
          </a:p>
          <a:p>
            <a:pPr lvl="4" eaLnBrk="1" hangingPunct="1"/>
            <a:endParaRPr lang="en-US" altLang="zh-TW"/>
          </a:p>
          <a:p>
            <a:pPr lvl="1" eaLnBrk="1" hangingPunct="1"/>
            <a:r>
              <a:rPr lang="en-US" altLang="zh-TW" b="1" err="1">
                <a:solidFill>
                  <a:srgbClr val="0000FF"/>
                </a:solidFill>
                <a:latin typeface="Consolas" panose="020B0609020204030204" pitchFamily="49" charset="0"/>
              </a:rPr>
              <a:t>fprintf</a:t>
            </a:r>
            <a:r>
              <a:rPr lang="en-US" altLang="zh-TW" b="1">
                <a:solidFill>
                  <a:srgbClr val="0000FF"/>
                </a:solidFill>
                <a:latin typeface="Consolas" panose="020B0609020204030204" pitchFamily="49" charset="0"/>
              </a:rPr>
              <a:t>(</a:t>
            </a:r>
            <a:r>
              <a:rPr lang="en-US" altLang="zh-TW" b="1" err="1">
                <a:solidFill>
                  <a:srgbClr val="FF0000"/>
                </a:solidFill>
                <a:latin typeface="Consolas" panose="020B0609020204030204" pitchFamily="49" charset="0"/>
              </a:rPr>
              <a:t>stdout</a:t>
            </a:r>
            <a:r>
              <a:rPr lang="en-US" altLang="zh-TW" b="1">
                <a:solidFill>
                  <a:srgbClr val="0000FF"/>
                </a:solidFill>
                <a:latin typeface="Consolas" panose="020B0609020204030204" pitchFamily="49" charset="0"/>
              </a:rPr>
              <a:t>, …)</a:t>
            </a:r>
            <a:r>
              <a:rPr lang="en-US" altLang="zh-TW"/>
              <a:t> is equivalent to </a:t>
            </a:r>
            <a:r>
              <a:rPr lang="en-US" altLang="zh-TW" b="1" err="1">
                <a:solidFill>
                  <a:srgbClr val="0000FF"/>
                </a:solidFill>
                <a:latin typeface="Consolas" panose="020B0609020204030204" pitchFamily="49" charset="0"/>
              </a:rPr>
              <a:t>printf</a:t>
            </a:r>
            <a:r>
              <a:rPr lang="en-US" altLang="zh-TW" b="1">
                <a:solidFill>
                  <a:srgbClr val="0000FF"/>
                </a:solidFill>
                <a:latin typeface="Consolas" panose="020B0609020204030204" pitchFamily="49" charset="0"/>
              </a:rPr>
              <a:t>(…)</a:t>
            </a:r>
          </a:p>
          <a:p>
            <a:pPr lvl="4" eaLnBrk="1" hangingPunct="1"/>
            <a:endParaRPr lang="en-US" altLang="zh-TW" sz="2100" b="1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lvl="1" eaLnBrk="1" hangingPunct="1"/>
            <a:r>
              <a:rPr lang="en-US" altLang="zh-TW" b="1" err="1">
                <a:solidFill>
                  <a:srgbClr val="0000FF"/>
                </a:solidFill>
                <a:latin typeface="Consolas" panose="020B0609020204030204" pitchFamily="49" charset="0"/>
              </a:rPr>
              <a:t>fscanf</a:t>
            </a:r>
            <a:r>
              <a:rPr lang="en-US" altLang="zh-TW" b="1">
                <a:solidFill>
                  <a:srgbClr val="0000FF"/>
                </a:solidFill>
                <a:latin typeface="Consolas" panose="020B0609020204030204" pitchFamily="49" charset="0"/>
              </a:rPr>
              <a:t>(</a:t>
            </a:r>
            <a:r>
              <a:rPr lang="en-US" altLang="zh-TW" b="1" err="1">
                <a:solidFill>
                  <a:srgbClr val="FF0000"/>
                </a:solidFill>
                <a:latin typeface="Consolas" panose="020B0609020204030204" pitchFamily="49" charset="0"/>
              </a:rPr>
              <a:t>stdin</a:t>
            </a:r>
            <a:r>
              <a:rPr lang="en-US" altLang="zh-TW" b="1">
                <a:solidFill>
                  <a:srgbClr val="0000FF"/>
                </a:solidFill>
                <a:latin typeface="Consolas" panose="020B0609020204030204" pitchFamily="49" charset="0"/>
              </a:rPr>
              <a:t>, …)</a:t>
            </a:r>
            <a:r>
              <a:rPr lang="en-US" altLang="zh-TW"/>
              <a:t> is equivalent to </a:t>
            </a:r>
            <a:r>
              <a:rPr lang="en-US" altLang="zh-TW" b="1" err="1">
                <a:solidFill>
                  <a:srgbClr val="0000FF"/>
                </a:solidFill>
                <a:latin typeface="Consolas" panose="020B0609020204030204" pitchFamily="49" charset="0"/>
              </a:rPr>
              <a:t>scanf</a:t>
            </a:r>
            <a:r>
              <a:rPr lang="en-US" altLang="zh-TW" b="1">
                <a:solidFill>
                  <a:srgbClr val="0000FF"/>
                </a:solidFill>
                <a:latin typeface="Consolas" panose="020B0609020204030204" pitchFamily="49" charset="0"/>
              </a:rPr>
              <a:t>(…)</a:t>
            </a: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49464709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418"/>
  <p:tag name="DEFAULTHEIGHT" val="31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962</TotalTime>
  <Words>4314</Words>
  <Application>Microsoft Macintosh PowerPoint</Application>
  <PresentationFormat>宽屏</PresentationFormat>
  <Paragraphs>885</Paragraphs>
  <Slides>39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46" baseType="lpstr">
      <vt:lpstr>Helvetica</vt:lpstr>
      <vt:lpstr>Calibri</vt:lpstr>
      <vt:lpstr>Wingdings</vt:lpstr>
      <vt:lpstr>PMingLiU</vt:lpstr>
      <vt:lpstr>Consolas</vt:lpstr>
      <vt:lpstr>Arial</vt:lpstr>
      <vt:lpstr>Office Theme</vt:lpstr>
      <vt:lpstr>Function &amp; Variable Scope</vt:lpstr>
      <vt:lpstr>PowerPoint 演示文稿</vt:lpstr>
      <vt:lpstr>File Input/Output </vt:lpstr>
      <vt:lpstr>Outline</vt:lpstr>
      <vt:lpstr>1. File I/O (Introduction)</vt:lpstr>
      <vt:lpstr>1.1. File I/O is similar to Console I/O</vt:lpstr>
      <vt:lpstr>Example #1: Reading data from a file</vt:lpstr>
      <vt:lpstr>1.2. Steps involving in File I/O</vt:lpstr>
      <vt:lpstr>Example #1: Reading data from a file</vt:lpstr>
      <vt:lpstr>Example #1: Reading data from a file</vt:lpstr>
      <vt:lpstr>Example #1: Reading data from a file</vt:lpstr>
      <vt:lpstr>fscanf()</vt:lpstr>
      <vt:lpstr>Example #1: Reading data from a file</vt:lpstr>
      <vt:lpstr>1.2. Steps involving in File I/O</vt:lpstr>
      <vt:lpstr>Outline</vt:lpstr>
      <vt:lpstr>Example #2: Checking if a file is opened successfully</vt:lpstr>
      <vt:lpstr>Example #2: Checking if a file is opened successfully</vt:lpstr>
      <vt:lpstr>Outline</vt:lpstr>
      <vt:lpstr>Example #3: Reading all integers from a file</vt:lpstr>
      <vt:lpstr>Example #3: Reading all integers from a file</vt:lpstr>
      <vt:lpstr>fscanf()</vt:lpstr>
      <vt:lpstr>Example #4: Reading all numbers from a file</vt:lpstr>
      <vt:lpstr>Example #4: Reading all numbers from a file</vt:lpstr>
      <vt:lpstr>Outline</vt:lpstr>
      <vt:lpstr>Project Part Two: read char from file</vt:lpstr>
      <vt:lpstr>Example #5: Writing data to a file</vt:lpstr>
      <vt:lpstr>Example #5: Writing data to a file</vt:lpstr>
      <vt:lpstr>fprintf()</vt:lpstr>
      <vt:lpstr>Example #5: Writing data to a file</vt:lpstr>
      <vt:lpstr>Outline</vt:lpstr>
      <vt:lpstr>Example #6: Dealing with multiple files in a program.</vt:lpstr>
      <vt:lpstr>Example #6: Dealing with multiple files in a program.</vt:lpstr>
      <vt:lpstr>Example #6: Dealing with multiple files in a program.</vt:lpstr>
      <vt:lpstr>Summary</vt:lpstr>
      <vt:lpstr>Reading Assignment</vt:lpstr>
      <vt:lpstr>Appendix: About filenames …</vt:lpstr>
      <vt:lpstr>Appendix: fopen()</vt:lpstr>
      <vt:lpstr>Appendix: fclose()</vt:lpstr>
      <vt:lpstr>Appendix: Special streams: stdin and stdout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 Input/Output </dc:title>
  <cp:lastModifiedBy>LIU, Zeyu</cp:lastModifiedBy>
  <cp:revision>2</cp:revision>
  <dcterms:created xsi:type="dcterms:W3CDTF">2011-07-19T12:51:33Z</dcterms:created>
  <dcterms:modified xsi:type="dcterms:W3CDTF">2025-11-03T08:24:12Z</dcterms:modified>
</cp:coreProperties>
</file>